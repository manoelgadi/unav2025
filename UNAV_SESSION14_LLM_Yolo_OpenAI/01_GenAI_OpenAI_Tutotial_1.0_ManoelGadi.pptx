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3" r:id="rId3"/>
    <p:sldId id="258" r:id="rId4"/>
    <p:sldId id="259" r:id="rId5"/>
    <p:sldId id="260" r:id="rId6"/>
    <p:sldId id="261" r:id="rId7"/>
    <p:sldId id="262" r:id="rId8"/>
    <p:sldId id="264" r:id="rId9"/>
    <p:sldId id="265" r:id="rId10"/>
    <p:sldId id="266" r:id="rId11"/>
    <p:sldId id="267" r:id="rId12"/>
    <p:sldId id="268" r:id="rId1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50" d="100"/>
          <a:sy n="150" d="100"/>
        </p:scale>
        <p:origin x="2886" y="1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10151" y="6132017"/>
            <a:ext cx="1548693" cy="516195"/>
          </a:xfrm>
          <a:prstGeom prst="rect">
            <a:avLst/>
          </a:prstGeom>
        </p:spPr>
      </p:pic>
      <p:pic>
        <p:nvPicPr>
          <p:cNvPr id="17" name="bg object 17"/>
          <p:cNvPicPr/>
          <p:nvPr/>
        </p:nvPicPr>
        <p:blipFill>
          <a:blip r:embed="rId3" cstate="print"/>
          <a:stretch>
            <a:fillRect/>
          </a:stretch>
        </p:blipFill>
        <p:spPr>
          <a:xfrm>
            <a:off x="6045797" y="1877235"/>
            <a:ext cx="5719954" cy="3598305"/>
          </a:xfrm>
          <a:prstGeom prst="rect">
            <a:avLst/>
          </a:prstGeom>
        </p:spPr>
      </p:pic>
      <p:pic>
        <p:nvPicPr>
          <p:cNvPr id="18" name="bg object 18"/>
          <p:cNvPicPr/>
          <p:nvPr/>
        </p:nvPicPr>
        <p:blipFill>
          <a:blip r:embed="rId4" cstate="print"/>
          <a:stretch>
            <a:fillRect/>
          </a:stretch>
        </p:blipFill>
        <p:spPr>
          <a:xfrm>
            <a:off x="365374" y="2426787"/>
            <a:ext cx="5461298" cy="2584075"/>
          </a:xfrm>
          <a:prstGeom prst="rect">
            <a:avLst/>
          </a:prstGeom>
        </p:spPr>
      </p:pic>
      <p:sp>
        <p:nvSpPr>
          <p:cNvPr id="2" name="Holder 2"/>
          <p:cNvSpPr>
            <a:spLocks noGrp="1"/>
          </p:cNvSpPr>
          <p:nvPr>
            <p:ph type="title"/>
          </p:nvPr>
        </p:nvSpPr>
        <p:spPr/>
        <p:txBody>
          <a:bodyPr lIns="0" tIns="0" rIns="0" bIns="0"/>
          <a:lstStyle>
            <a:lvl1pPr>
              <a:defRPr sz="28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210151" y="6132017"/>
            <a:ext cx="1548693" cy="516195"/>
          </a:xfrm>
          <a:prstGeom prst="rect">
            <a:avLst/>
          </a:prstGeom>
        </p:spPr>
      </p:pic>
      <p:sp>
        <p:nvSpPr>
          <p:cNvPr id="2" name="Holder 2"/>
          <p:cNvSpPr>
            <a:spLocks noGrp="1"/>
          </p:cNvSpPr>
          <p:nvPr>
            <p:ph type="title"/>
          </p:nvPr>
        </p:nvSpPr>
        <p:spPr>
          <a:xfrm>
            <a:off x="252100" y="149992"/>
            <a:ext cx="11687799" cy="1182252"/>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http://www.techventurebootcamp.org/"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jpg"/><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hyperlink" Target="http://www.techventurebootcamp.org/" TargetMode="External"/><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hyperlink" Target="http://www.techventurebootcamp.org/toolkits"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
            <a:ext cx="12192635" cy="6858000"/>
            <a:chOff x="0" y="-1"/>
            <a:chExt cx="12192635" cy="6858000"/>
          </a:xfrm>
        </p:grpSpPr>
        <p:sp>
          <p:nvSpPr>
            <p:cNvPr id="3" name="object 3"/>
            <p:cNvSpPr/>
            <p:nvPr/>
          </p:nvSpPr>
          <p:spPr>
            <a:xfrm>
              <a:off x="7978272" y="-1"/>
              <a:ext cx="4213860" cy="5911850"/>
            </a:xfrm>
            <a:custGeom>
              <a:avLst/>
              <a:gdLst/>
              <a:ahLst/>
              <a:cxnLst/>
              <a:rect l="l" t="t" r="r" b="b"/>
              <a:pathLst>
                <a:path w="4213859" h="5911850">
                  <a:moveTo>
                    <a:pt x="4213799" y="5911799"/>
                  </a:moveTo>
                  <a:lnTo>
                    <a:pt x="0" y="5911799"/>
                  </a:lnTo>
                  <a:lnTo>
                    <a:pt x="0" y="0"/>
                  </a:lnTo>
                  <a:lnTo>
                    <a:pt x="4213799" y="0"/>
                  </a:lnTo>
                  <a:lnTo>
                    <a:pt x="4213799" y="5911799"/>
                  </a:lnTo>
                  <a:close/>
                </a:path>
              </a:pathLst>
            </a:custGeom>
            <a:solidFill>
              <a:srgbClr val="6CC101"/>
            </a:solidFill>
          </p:spPr>
          <p:txBody>
            <a:bodyPr wrap="square" lIns="0" tIns="0" rIns="0" bIns="0" rtlCol="0"/>
            <a:lstStyle/>
            <a:p>
              <a:endParaRPr/>
            </a:p>
          </p:txBody>
        </p:sp>
        <p:sp>
          <p:nvSpPr>
            <p:cNvPr id="4" name="object 4"/>
            <p:cNvSpPr/>
            <p:nvPr/>
          </p:nvSpPr>
          <p:spPr>
            <a:xfrm>
              <a:off x="0" y="314972"/>
              <a:ext cx="7978775" cy="6543040"/>
            </a:xfrm>
            <a:custGeom>
              <a:avLst/>
              <a:gdLst/>
              <a:ahLst/>
              <a:cxnLst/>
              <a:rect l="l" t="t" r="r" b="b"/>
              <a:pathLst>
                <a:path w="7978775" h="6543040">
                  <a:moveTo>
                    <a:pt x="0" y="6543026"/>
                  </a:moveTo>
                  <a:lnTo>
                    <a:pt x="0" y="0"/>
                  </a:lnTo>
                  <a:lnTo>
                    <a:pt x="7978200" y="0"/>
                  </a:lnTo>
                  <a:lnTo>
                    <a:pt x="7978200" y="6543026"/>
                  </a:lnTo>
                  <a:lnTo>
                    <a:pt x="0" y="6543026"/>
                  </a:lnTo>
                  <a:close/>
                </a:path>
              </a:pathLst>
            </a:custGeom>
            <a:solidFill>
              <a:srgbClr val="002060"/>
            </a:solidFill>
          </p:spPr>
          <p:txBody>
            <a:bodyPr wrap="square" lIns="0" tIns="0" rIns="0" bIns="0" rtlCol="0"/>
            <a:lstStyle/>
            <a:p>
              <a:endParaRPr/>
            </a:p>
          </p:txBody>
        </p:sp>
        <p:pic>
          <p:nvPicPr>
            <p:cNvPr id="5" name="object 5"/>
            <p:cNvPicPr/>
            <p:nvPr/>
          </p:nvPicPr>
          <p:blipFill>
            <a:blip r:embed="rId2" cstate="print"/>
            <a:stretch>
              <a:fillRect/>
            </a:stretch>
          </p:blipFill>
          <p:spPr>
            <a:xfrm>
              <a:off x="7959006" y="259227"/>
              <a:ext cx="4232993" cy="3448050"/>
            </a:xfrm>
            <a:prstGeom prst="rect">
              <a:avLst/>
            </a:prstGeom>
          </p:spPr>
        </p:pic>
      </p:grpSp>
      <p:sp>
        <p:nvSpPr>
          <p:cNvPr id="6" name="object 6"/>
          <p:cNvSpPr txBox="1">
            <a:spLocks noGrp="1"/>
          </p:cNvSpPr>
          <p:nvPr>
            <p:ph type="title"/>
          </p:nvPr>
        </p:nvSpPr>
        <p:spPr>
          <a:prstGeom prst="rect">
            <a:avLst/>
          </a:prstGeom>
        </p:spPr>
        <p:txBody>
          <a:bodyPr vert="horz" wrap="square" lIns="0" tIns="225201" rIns="0" bIns="0" rtlCol="0">
            <a:spAutoFit/>
          </a:bodyPr>
          <a:lstStyle/>
          <a:p>
            <a:pPr marL="8289925">
              <a:lnSpc>
                <a:spcPct val="100000"/>
              </a:lnSpc>
              <a:spcBef>
                <a:spcPts val="100"/>
              </a:spcBef>
            </a:pPr>
            <a:r>
              <a:rPr sz="3200" spc="90" dirty="0">
                <a:latin typeface="Verdana"/>
                <a:cs typeface="Verdana"/>
              </a:rPr>
              <a:t>Welcome</a:t>
            </a:r>
            <a:r>
              <a:rPr sz="3200" spc="-275" dirty="0">
                <a:latin typeface="Verdana"/>
                <a:cs typeface="Verdana"/>
              </a:rPr>
              <a:t> </a:t>
            </a:r>
            <a:r>
              <a:rPr sz="3200" dirty="0">
                <a:latin typeface="Verdana"/>
                <a:cs typeface="Verdana"/>
              </a:rPr>
              <a:t>to</a:t>
            </a:r>
            <a:r>
              <a:rPr sz="3200" spc="-275" dirty="0">
                <a:latin typeface="Verdana"/>
                <a:cs typeface="Verdana"/>
              </a:rPr>
              <a:t> </a:t>
            </a:r>
            <a:r>
              <a:rPr sz="3200" spc="25" dirty="0">
                <a:latin typeface="Verdana"/>
                <a:cs typeface="Verdana"/>
              </a:rPr>
              <a:t>the</a:t>
            </a:r>
            <a:endParaRPr sz="3200">
              <a:latin typeface="Verdana"/>
              <a:cs typeface="Verdana"/>
            </a:endParaRPr>
          </a:p>
        </p:txBody>
      </p:sp>
      <p:sp>
        <p:nvSpPr>
          <p:cNvPr id="7" name="object 7"/>
          <p:cNvSpPr txBox="1"/>
          <p:nvPr/>
        </p:nvSpPr>
        <p:spPr>
          <a:xfrm>
            <a:off x="9084424" y="1485174"/>
            <a:ext cx="2167255" cy="1305560"/>
          </a:xfrm>
          <a:prstGeom prst="rect">
            <a:avLst/>
          </a:prstGeom>
        </p:spPr>
        <p:txBody>
          <a:bodyPr vert="horz" wrap="square" lIns="0" tIns="12700" rIns="0" bIns="0" rtlCol="0">
            <a:spAutoFit/>
          </a:bodyPr>
          <a:lstStyle/>
          <a:p>
            <a:pPr marL="12700" marR="5080" indent="219710">
              <a:lnSpc>
                <a:spcPct val="100000"/>
              </a:lnSpc>
              <a:spcBef>
                <a:spcPts val="100"/>
              </a:spcBef>
            </a:pPr>
            <a:r>
              <a:rPr sz="4200" b="1" spc="-305" dirty="0">
                <a:latin typeface="Verdana"/>
                <a:cs typeface="Verdana"/>
              </a:rPr>
              <a:t>GenAI </a:t>
            </a:r>
            <a:r>
              <a:rPr sz="4200" b="1" spc="-204" dirty="0">
                <a:latin typeface="Verdana"/>
                <a:cs typeface="Verdana"/>
              </a:rPr>
              <a:t>Tutorial</a:t>
            </a:r>
            <a:endParaRPr sz="4200">
              <a:latin typeface="Verdana"/>
              <a:cs typeface="Verdana"/>
            </a:endParaRPr>
          </a:p>
        </p:txBody>
      </p:sp>
      <p:grpSp>
        <p:nvGrpSpPr>
          <p:cNvPr id="8" name="object 8"/>
          <p:cNvGrpSpPr/>
          <p:nvPr/>
        </p:nvGrpSpPr>
        <p:grpSpPr>
          <a:xfrm>
            <a:off x="0" y="1"/>
            <a:ext cx="12192000" cy="6858000"/>
            <a:chOff x="0" y="1"/>
            <a:chExt cx="12192000" cy="6858000"/>
          </a:xfrm>
        </p:grpSpPr>
        <p:pic>
          <p:nvPicPr>
            <p:cNvPr id="9" name="object 9"/>
            <p:cNvPicPr/>
            <p:nvPr/>
          </p:nvPicPr>
          <p:blipFill>
            <a:blip r:embed="rId3" cstate="print"/>
            <a:stretch>
              <a:fillRect/>
            </a:stretch>
          </p:blipFill>
          <p:spPr>
            <a:xfrm>
              <a:off x="0" y="1"/>
              <a:ext cx="4084233" cy="629947"/>
            </a:xfrm>
            <a:prstGeom prst="rect">
              <a:avLst/>
            </a:prstGeom>
          </p:spPr>
        </p:pic>
        <p:pic>
          <p:nvPicPr>
            <p:cNvPr id="10" name="object 10"/>
            <p:cNvPicPr/>
            <p:nvPr/>
          </p:nvPicPr>
          <p:blipFill>
            <a:blip r:embed="rId4" cstate="print"/>
            <a:stretch>
              <a:fillRect/>
            </a:stretch>
          </p:blipFill>
          <p:spPr>
            <a:xfrm>
              <a:off x="948585" y="1265872"/>
              <a:ext cx="3286624" cy="1052399"/>
            </a:xfrm>
            <a:prstGeom prst="rect">
              <a:avLst/>
            </a:prstGeom>
          </p:spPr>
        </p:pic>
        <p:pic>
          <p:nvPicPr>
            <p:cNvPr id="11" name="object 11"/>
            <p:cNvPicPr/>
            <p:nvPr/>
          </p:nvPicPr>
          <p:blipFill>
            <a:blip r:embed="rId5" cstate="print"/>
            <a:stretch>
              <a:fillRect/>
            </a:stretch>
          </p:blipFill>
          <p:spPr>
            <a:xfrm>
              <a:off x="0" y="5146160"/>
              <a:ext cx="12192000" cy="1711840"/>
            </a:xfrm>
            <a:prstGeom prst="rect">
              <a:avLst/>
            </a:prstGeom>
          </p:spPr>
        </p:pic>
        <p:pic>
          <p:nvPicPr>
            <p:cNvPr id="12" name="object 12"/>
            <p:cNvPicPr/>
            <p:nvPr/>
          </p:nvPicPr>
          <p:blipFill>
            <a:blip r:embed="rId6" cstate="print"/>
            <a:stretch>
              <a:fillRect/>
            </a:stretch>
          </p:blipFill>
          <p:spPr>
            <a:xfrm>
              <a:off x="1011871" y="3496701"/>
              <a:ext cx="2947968" cy="923400"/>
            </a:xfrm>
            <a:prstGeom prst="rect">
              <a:avLst/>
            </a:prstGeom>
          </p:spPr>
        </p:pic>
      </p:grpSp>
      <p:sp>
        <p:nvSpPr>
          <p:cNvPr id="13" name="object 13"/>
          <p:cNvSpPr txBox="1"/>
          <p:nvPr/>
        </p:nvSpPr>
        <p:spPr>
          <a:xfrm>
            <a:off x="8217968" y="3741152"/>
            <a:ext cx="3898900" cy="848360"/>
          </a:xfrm>
          <a:prstGeom prst="rect">
            <a:avLst/>
          </a:prstGeom>
        </p:spPr>
        <p:txBody>
          <a:bodyPr vert="horz" wrap="square" lIns="0" tIns="12700" rIns="0" bIns="0" rtlCol="0">
            <a:spAutoFit/>
          </a:bodyPr>
          <a:lstStyle/>
          <a:p>
            <a:pPr algn="ctr">
              <a:lnSpc>
                <a:spcPct val="100000"/>
              </a:lnSpc>
              <a:spcBef>
                <a:spcPts val="100"/>
              </a:spcBef>
            </a:pPr>
            <a:r>
              <a:rPr lang="en-GB" sz="1800" b="1" spc="-110" dirty="0">
                <a:latin typeface="Verdana"/>
                <a:cs typeface="Verdana"/>
              </a:rPr>
              <a:t>Manoel Gadi</a:t>
            </a:r>
            <a:endParaRPr sz="1800" dirty="0">
              <a:latin typeface="Verdana"/>
              <a:cs typeface="Verdana"/>
            </a:endParaRPr>
          </a:p>
          <a:p>
            <a:pPr algn="ctr">
              <a:lnSpc>
                <a:spcPct val="100000"/>
              </a:lnSpc>
            </a:pPr>
            <a:r>
              <a:rPr sz="1800" dirty="0">
                <a:latin typeface="Verdana"/>
                <a:cs typeface="Verdana"/>
              </a:rPr>
              <a:t>Dean</a:t>
            </a:r>
            <a:r>
              <a:rPr sz="1800" spc="-110" dirty="0">
                <a:latin typeface="Verdana"/>
                <a:cs typeface="Verdana"/>
              </a:rPr>
              <a:t> </a:t>
            </a:r>
            <a:r>
              <a:rPr sz="1800" spc="-125" dirty="0">
                <a:latin typeface="Verdana"/>
                <a:cs typeface="Verdana"/>
              </a:rPr>
              <a:t>&amp;</a:t>
            </a:r>
            <a:r>
              <a:rPr sz="1800" spc="-105" dirty="0">
                <a:latin typeface="Verdana"/>
                <a:cs typeface="Verdana"/>
              </a:rPr>
              <a:t> </a:t>
            </a:r>
            <a:r>
              <a:rPr sz="1800" spc="-10" dirty="0">
                <a:latin typeface="Verdana"/>
                <a:cs typeface="Verdana"/>
              </a:rPr>
              <a:t>Professor</a:t>
            </a:r>
            <a:endParaRPr sz="1800" dirty="0">
              <a:latin typeface="Verdana"/>
              <a:cs typeface="Verdana"/>
            </a:endParaRPr>
          </a:p>
          <a:p>
            <a:pPr algn="ctr">
              <a:lnSpc>
                <a:spcPct val="100000"/>
              </a:lnSpc>
            </a:pPr>
            <a:r>
              <a:rPr sz="1800" spc="-95" dirty="0">
                <a:latin typeface="Verdana"/>
                <a:cs typeface="Verdana"/>
              </a:rPr>
              <a:t>IE</a:t>
            </a:r>
            <a:r>
              <a:rPr sz="1800" spc="-135" dirty="0">
                <a:latin typeface="Verdana"/>
                <a:cs typeface="Verdana"/>
              </a:rPr>
              <a:t> </a:t>
            </a:r>
            <a:r>
              <a:rPr sz="1800" dirty="0">
                <a:latin typeface="Verdana"/>
                <a:cs typeface="Verdana"/>
              </a:rPr>
              <a:t>School</a:t>
            </a:r>
            <a:r>
              <a:rPr sz="1800" spc="-135" dirty="0">
                <a:latin typeface="Verdana"/>
                <a:cs typeface="Verdana"/>
              </a:rPr>
              <a:t> </a:t>
            </a:r>
            <a:r>
              <a:rPr sz="1800" dirty="0">
                <a:latin typeface="Verdana"/>
                <a:cs typeface="Verdana"/>
              </a:rPr>
              <a:t>of</a:t>
            </a:r>
            <a:r>
              <a:rPr sz="1800" spc="-130" dirty="0">
                <a:latin typeface="Verdana"/>
                <a:cs typeface="Verdana"/>
              </a:rPr>
              <a:t> </a:t>
            </a:r>
            <a:r>
              <a:rPr sz="1800" dirty="0">
                <a:latin typeface="Verdana"/>
                <a:cs typeface="Verdana"/>
              </a:rPr>
              <a:t>Science</a:t>
            </a:r>
            <a:r>
              <a:rPr sz="1800" spc="-135" dirty="0">
                <a:latin typeface="Verdana"/>
                <a:cs typeface="Verdana"/>
              </a:rPr>
              <a:t> </a:t>
            </a:r>
            <a:r>
              <a:rPr sz="1800" spc="-125" dirty="0">
                <a:latin typeface="Verdana"/>
                <a:cs typeface="Verdana"/>
              </a:rPr>
              <a:t>&amp;</a:t>
            </a:r>
            <a:r>
              <a:rPr sz="1800" spc="-130" dirty="0">
                <a:latin typeface="Verdana"/>
                <a:cs typeface="Verdana"/>
              </a:rPr>
              <a:t> </a:t>
            </a:r>
            <a:r>
              <a:rPr sz="1800" spc="-10" dirty="0">
                <a:latin typeface="Verdana"/>
                <a:cs typeface="Verdana"/>
              </a:rPr>
              <a:t>Technology</a:t>
            </a:r>
            <a:endParaRPr sz="1800" dirty="0">
              <a:latin typeface="Verdana"/>
              <a:cs typeface="Verdana"/>
            </a:endParaRPr>
          </a:p>
        </p:txBody>
      </p:sp>
      <p:sp>
        <p:nvSpPr>
          <p:cNvPr id="15" name="TextBox 14">
            <a:extLst>
              <a:ext uri="{FF2B5EF4-FFF2-40B4-BE49-F238E27FC236}">
                <a16:creationId xmlns:a16="http://schemas.microsoft.com/office/drawing/2014/main" id="{4771EF36-9211-368E-006F-5E4DA619B483}"/>
              </a:ext>
            </a:extLst>
          </p:cNvPr>
          <p:cNvSpPr txBox="1"/>
          <p:nvPr/>
        </p:nvSpPr>
        <p:spPr>
          <a:xfrm>
            <a:off x="1660286" y="4735072"/>
            <a:ext cx="6110748" cy="369332"/>
          </a:xfrm>
          <a:prstGeom prst="rect">
            <a:avLst/>
          </a:prstGeom>
          <a:noFill/>
        </p:spPr>
        <p:txBody>
          <a:bodyPr wrap="square">
            <a:spAutoFit/>
          </a:bodyPr>
          <a:lstStyle/>
          <a:p>
            <a:r>
              <a:rPr lang="en-GB" spc="-25" dirty="0">
                <a:solidFill>
                  <a:schemeClr val="bg1"/>
                </a:solidFill>
              </a:rPr>
              <a:t>http</a:t>
            </a:r>
            <a:r>
              <a:rPr lang="en-GB" spc="-25" dirty="0">
                <a:solidFill>
                  <a:schemeClr val="bg1"/>
                </a:solidFill>
                <a:hlinkClick r:id="rId7">
                  <a:extLst>
                    <a:ext uri="{A12FA001-AC4F-418D-AE19-62706E023703}">
                      <ahyp:hlinkClr xmlns:ahyp="http://schemas.microsoft.com/office/drawing/2018/hyperlinkcolor" val="tx"/>
                    </a:ext>
                  </a:extLst>
                </a:hlinkClick>
              </a:rPr>
              <a:t>s://www.techventurebootcamp.org/</a:t>
            </a:r>
            <a:endParaRPr lang="en-GB"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46DB8F-EC97-DB87-6BE3-65AE924A3BC5}"/>
              </a:ext>
            </a:extLst>
          </p:cNvPr>
          <p:cNvSpPr txBox="1"/>
          <p:nvPr/>
        </p:nvSpPr>
        <p:spPr>
          <a:xfrm>
            <a:off x="685800" y="934283"/>
            <a:ext cx="8763000" cy="4801314"/>
          </a:xfrm>
          <a:prstGeom prst="rect">
            <a:avLst/>
          </a:prstGeom>
          <a:noFill/>
        </p:spPr>
        <p:txBody>
          <a:bodyPr wrap="square">
            <a:spAutoFit/>
          </a:bodyPr>
          <a:lstStyle/>
          <a:p>
            <a:pPr algn="just"/>
            <a:endParaRPr lang="en-US" noProof="0" dirty="0"/>
          </a:p>
          <a:p>
            <a:pPr algn="just"/>
            <a:r>
              <a:rPr lang="en-US" noProof="0" dirty="0"/>
              <a:t>IE Professor with </a:t>
            </a:r>
            <a:r>
              <a:rPr lang="en-US" noProof="0" dirty="0" err="1"/>
              <a:t>Phd</a:t>
            </a:r>
            <a:r>
              <a:rPr lang="en-US" noProof="0" dirty="0"/>
              <a:t> in Cryptocurrency, </a:t>
            </a:r>
            <a:r>
              <a:rPr lang="en-US" b="1" noProof="0" dirty="0"/>
              <a:t>Manoel Gadi </a:t>
            </a:r>
            <a:r>
              <a:rPr lang="en-US" noProof="0" dirty="0"/>
              <a:t>is a highly experienced analytics and business intelligence professional with a strong background in the financial sector. He holds a Master of Science in Computer Engineering from the University of São Paulo, Brazil, and an MBA from IE Business School in Madrid, and a PDH in cryptocurrency and AI from Universidad de Alcalá.  </a:t>
            </a:r>
          </a:p>
          <a:p>
            <a:pPr algn="just"/>
            <a:endParaRPr lang="en-US" noProof="0" dirty="0"/>
          </a:p>
          <a:p>
            <a:pPr algn="just"/>
            <a:r>
              <a:rPr lang="en-US" noProof="0" dirty="0"/>
              <a:t>Throughout his career, Prof. Gadi has held key positions at prominent financial institutions, including Banco Santander and Citibank Brazil, where he specialized in leveraging data analytics for risk management, marketing, and sales optimization. </a:t>
            </a:r>
          </a:p>
          <a:p>
            <a:pPr algn="just"/>
            <a:endParaRPr lang="en-US" noProof="0" dirty="0"/>
          </a:p>
          <a:p>
            <a:pPr algn="just"/>
            <a:r>
              <a:rPr lang="en-US" noProof="0" dirty="0"/>
              <a:t>He possesses deep expertise in risk analytics, model management, Big Data, machine learning, and financial analytics, with a particular focus on credit risk modeling. </a:t>
            </a:r>
          </a:p>
          <a:p>
            <a:pPr algn="just"/>
            <a:endParaRPr lang="en-US" noProof="0" dirty="0"/>
          </a:p>
          <a:p>
            <a:pPr algn="just"/>
            <a:r>
              <a:rPr lang="en-US" noProof="0" dirty="0"/>
              <a:t>Currently, Prof. Gadi leads </a:t>
            </a:r>
            <a:r>
              <a:rPr lang="en-US" noProof="0" dirty="0" err="1"/>
              <a:t>SunCaged</a:t>
            </a:r>
            <a:r>
              <a:rPr lang="en-US" noProof="0" dirty="0"/>
              <a:t> Analytics Consulting Europe SL, providing specialized analytics consulting services. </a:t>
            </a:r>
          </a:p>
        </p:txBody>
      </p:sp>
      <p:pic>
        <p:nvPicPr>
          <p:cNvPr id="2050" name="Picture 2" descr="manoel gadi from u-tad.com">
            <a:extLst>
              <a:ext uri="{FF2B5EF4-FFF2-40B4-BE49-F238E27FC236}">
                <a16:creationId xmlns:a16="http://schemas.microsoft.com/office/drawing/2014/main" id="{AF7A39DC-53B0-D0B6-72FD-8A72BA471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0" y="381000"/>
            <a:ext cx="175260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797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8041" y="758216"/>
            <a:ext cx="2068830" cy="375920"/>
          </a:xfrm>
          <a:prstGeom prst="rect">
            <a:avLst/>
          </a:prstGeom>
        </p:spPr>
        <p:txBody>
          <a:bodyPr vert="horz" wrap="square" lIns="0" tIns="12700" rIns="0" bIns="0" rtlCol="0">
            <a:spAutoFit/>
          </a:bodyPr>
          <a:lstStyle/>
          <a:p>
            <a:pPr marL="12700">
              <a:lnSpc>
                <a:spcPct val="100000"/>
              </a:lnSpc>
              <a:spcBef>
                <a:spcPts val="100"/>
              </a:spcBef>
            </a:pPr>
            <a:r>
              <a:rPr sz="2300" dirty="0">
                <a:latin typeface="Arial MT"/>
                <a:cs typeface="Arial MT"/>
              </a:rPr>
              <a:t>Using</a:t>
            </a:r>
            <a:r>
              <a:rPr sz="2300" spc="-25" dirty="0">
                <a:latin typeface="Arial MT"/>
                <a:cs typeface="Arial MT"/>
              </a:rPr>
              <a:t> </a:t>
            </a:r>
            <a:r>
              <a:rPr sz="2300" spc="-10" dirty="0">
                <a:latin typeface="Arial MT"/>
                <a:cs typeface="Arial MT"/>
              </a:rPr>
              <a:t>ChatGPT</a:t>
            </a:r>
            <a:endParaRPr sz="2300">
              <a:latin typeface="Arial MT"/>
              <a:cs typeface="Arial MT"/>
            </a:endParaRPr>
          </a:p>
        </p:txBody>
      </p:sp>
      <p:sp>
        <p:nvSpPr>
          <p:cNvPr id="3" name="object 3"/>
          <p:cNvSpPr txBox="1">
            <a:spLocks noGrp="1"/>
          </p:cNvSpPr>
          <p:nvPr>
            <p:ph type="title"/>
          </p:nvPr>
        </p:nvSpPr>
        <p:spPr>
          <a:xfrm>
            <a:off x="6958434" y="605804"/>
            <a:ext cx="3514090" cy="726440"/>
          </a:xfrm>
          <a:prstGeom prst="rect">
            <a:avLst/>
          </a:prstGeom>
        </p:spPr>
        <p:txBody>
          <a:bodyPr vert="horz" wrap="square" lIns="0" tIns="12700" rIns="0" bIns="0" rtlCol="0">
            <a:spAutoFit/>
          </a:bodyPr>
          <a:lstStyle/>
          <a:p>
            <a:pPr marL="12700" marR="5080">
              <a:lnSpc>
                <a:spcPct val="100000"/>
              </a:lnSpc>
              <a:spcBef>
                <a:spcPts val="100"/>
              </a:spcBef>
            </a:pPr>
            <a:r>
              <a:rPr sz="2300" dirty="0">
                <a:latin typeface="Arial MT"/>
                <a:cs typeface="Arial MT"/>
              </a:rPr>
              <a:t>Also</a:t>
            </a:r>
            <a:r>
              <a:rPr sz="2300" spc="-55" dirty="0">
                <a:latin typeface="Arial MT"/>
                <a:cs typeface="Arial MT"/>
              </a:rPr>
              <a:t> </a:t>
            </a:r>
            <a:r>
              <a:rPr sz="2300" dirty="0">
                <a:latin typeface="Arial MT"/>
                <a:cs typeface="Arial MT"/>
              </a:rPr>
              <a:t>available</a:t>
            </a:r>
            <a:r>
              <a:rPr sz="2300" spc="-55" dirty="0">
                <a:latin typeface="Arial MT"/>
                <a:cs typeface="Arial MT"/>
              </a:rPr>
              <a:t> </a:t>
            </a:r>
            <a:r>
              <a:rPr sz="2300" spc="-25" dirty="0">
                <a:latin typeface="Arial MT"/>
                <a:cs typeface="Arial MT"/>
              </a:rPr>
              <a:t>to </a:t>
            </a:r>
            <a:r>
              <a:rPr sz="2300" dirty="0">
                <a:latin typeface="Arial MT"/>
                <a:cs typeface="Arial MT"/>
              </a:rPr>
              <a:t>developers</a:t>
            </a:r>
            <a:r>
              <a:rPr sz="2300" spc="-10" dirty="0">
                <a:latin typeface="Arial MT"/>
                <a:cs typeface="Arial MT"/>
              </a:rPr>
              <a:t> </a:t>
            </a:r>
            <a:r>
              <a:rPr sz="2300" dirty="0">
                <a:latin typeface="Arial MT"/>
                <a:cs typeface="Arial MT"/>
              </a:rPr>
              <a:t>via</a:t>
            </a:r>
            <a:r>
              <a:rPr sz="2300" spc="5" dirty="0">
                <a:latin typeface="Arial MT"/>
                <a:cs typeface="Arial MT"/>
              </a:rPr>
              <a:t> </a:t>
            </a:r>
            <a:r>
              <a:rPr sz="2300" spc="-10" dirty="0">
                <a:latin typeface="Arial MT"/>
                <a:cs typeface="Arial MT"/>
              </a:rPr>
              <a:t>OpenAI</a:t>
            </a:r>
            <a:r>
              <a:rPr sz="2300" spc="-125" dirty="0">
                <a:latin typeface="Arial MT"/>
                <a:cs typeface="Arial MT"/>
              </a:rPr>
              <a:t> </a:t>
            </a:r>
            <a:r>
              <a:rPr sz="2300" spc="-25" dirty="0">
                <a:latin typeface="Arial MT"/>
                <a:cs typeface="Arial MT"/>
              </a:rPr>
              <a:t>API</a:t>
            </a:r>
            <a:endParaRPr sz="23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98586" y="6429693"/>
            <a:ext cx="212915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From</a:t>
            </a:r>
            <a:r>
              <a:rPr sz="1400" spc="-90" dirty="0">
                <a:latin typeface="Arial MT"/>
                <a:cs typeface="Arial MT"/>
              </a:rPr>
              <a:t> </a:t>
            </a:r>
            <a:r>
              <a:rPr sz="1400" dirty="0">
                <a:latin typeface="Arial MT"/>
                <a:cs typeface="Arial MT"/>
              </a:rPr>
              <a:t>Andrew</a:t>
            </a:r>
            <a:r>
              <a:rPr sz="1400" spc="-20" dirty="0">
                <a:latin typeface="Arial MT"/>
                <a:cs typeface="Arial MT"/>
              </a:rPr>
              <a:t> </a:t>
            </a:r>
            <a:r>
              <a:rPr sz="1400" dirty="0">
                <a:latin typeface="Arial MT"/>
                <a:cs typeface="Arial MT"/>
              </a:rPr>
              <a:t>Ng,</a:t>
            </a:r>
            <a:r>
              <a:rPr sz="1400" spc="-15" dirty="0">
                <a:latin typeface="Arial MT"/>
                <a:cs typeface="Arial MT"/>
              </a:rPr>
              <a:t> </a:t>
            </a:r>
            <a:r>
              <a:rPr sz="1400" spc="-10" dirty="0">
                <a:latin typeface="Arial MT"/>
                <a:cs typeface="Arial MT"/>
              </a:rPr>
              <a:t>Stanford</a:t>
            </a:r>
            <a:endParaRPr sz="1400">
              <a:latin typeface="Arial MT"/>
              <a:cs typeface="Arial MT"/>
            </a:endParaRPr>
          </a:p>
        </p:txBody>
      </p:sp>
      <p:pic>
        <p:nvPicPr>
          <p:cNvPr id="3" name="object 3"/>
          <p:cNvPicPr/>
          <p:nvPr/>
        </p:nvPicPr>
        <p:blipFill>
          <a:blip r:embed="rId2" cstate="print"/>
          <a:stretch>
            <a:fillRect/>
          </a:stretch>
        </p:blipFill>
        <p:spPr>
          <a:xfrm>
            <a:off x="7791418" y="1388715"/>
            <a:ext cx="3849490" cy="3905783"/>
          </a:xfrm>
          <a:prstGeom prst="rect">
            <a:avLst/>
          </a:prstGeom>
        </p:spPr>
      </p:pic>
      <p:pic>
        <p:nvPicPr>
          <p:cNvPr id="4" name="object 4"/>
          <p:cNvPicPr/>
          <p:nvPr/>
        </p:nvPicPr>
        <p:blipFill>
          <a:blip r:embed="rId3" cstate="print"/>
          <a:stretch>
            <a:fillRect/>
          </a:stretch>
        </p:blipFill>
        <p:spPr>
          <a:xfrm>
            <a:off x="355100" y="1416303"/>
            <a:ext cx="6647669" cy="3981196"/>
          </a:xfrm>
          <a:prstGeom prst="rect">
            <a:avLst/>
          </a:prstGeom>
        </p:spPr>
      </p:pic>
      <p:sp>
        <p:nvSpPr>
          <p:cNvPr id="5" name="object 5"/>
          <p:cNvSpPr txBox="1">
            <a:spLocks noGrp="1"/>
          </p:cNvSpPr>
          <p:nvPr>
            <p:ph type="title"/>
          </p:nvPr>
        </p:nvSpPr>
        <p:spPr>
          <a:prstGeom prst="rect">
            <a:avLst/>
          </a:prstGeom>
        </p:spPr>
        <p:txBody>
          <a:bodyPr vert="horz" wrap="square" lIns="0" tIns="12700" rIns="0" bIns="0" rtlCol="0">
            <a:spAutoFit/>
          </a:bodyPr>
          <a:lstStyle/>
          <a:p>
            <a:pPr marL="114300">
              <a:lnSpc>
                <a:spcPct val="100000"/>
              </a:lnSpc>
              <a:spcBef>
                <a:spcPts val="100"/>
              </a:spcBef>
            </a:pPr>
            <a:r>
              <a:rPr dirty="0">
                <a:latin typeface="Arial MT"/>
                <a:cs typeface="Arial MT"/>
              </a:rPr>
              <a:t>Why</a:t>
            </a:r>
            <a:r>
              <a:rPr spc="-90" dirty="0">
                <a:latin typeface="Arial MT"/>
                <a:cs typeface="Arial MT"/>
              </a:rPr>
              <a:t> </a:t>
            </a:r>
            <a:r>
              <a:rPr spc="-10" dirty="0">
                <a:latin typeface="Arial MT"/>
                <a:cs typeface="Arial MT"/>
              </a:rPr>
              <a:t>are</a:t>
            </a:r>
            <a:r>
              <a:rPr spc="-180" dirty="0">
                <a:latin typeface="Arial MT"/>
                <a:cs typeface="Arial MT"/>
              </a:rPr>
              <a:t> </a:t>
            </a:r>
            <a:r>
              <a:rPr dirty="0">
                <a:latin typeface="Arial MT"/>
                <a:cs typeface="Arial MT"/>
              </a:rPr>
              <a:t>AI</a:t>
            </a:r>
            <a:r>
              <a:rPr spc="-195" dirty="0">
                <a:latin typeface="Arial MT"/>
                <a:cs typeface="Arial MT"/>
              </a:rPr>
              <a:t> </a:t>
            </a:r>
            <a:r>
              <a:rPr dirty="0">
                <a:latin typeface="Arial MT"/>
                <a:cs typeface="Arial MT"/>
              </a:rPr>
              <a:t>Applications</a:t>
            </a:r>
            <a:r>
              <a:rPr spc="-60" dirty="0">
                <a:latin typeface="Arial MT"/>
                <a:cs typeface="Arial MT"/>
              </a:rPr>
              <a:t> </a:t>
            </a:r>
            <a:r>
              <a:rPr dirty="0">
                <a:latin typeface="Arial MT"/>
                <a:cs typeface="Arial MT"/>
              </a:rPr>
              <a:t>not</a:t>
            </a:r>
            <a:r>
              <a:rPr spc="-55" dirty="0">
                <a:latin typeface="Arial MT"/>
                <a:cs typeface="Arial MT"/>
              </a:rPr>
              <a:t> </a:t>
            </a:r>
            <a:r>
              <a:rPr dirty="0">
                <a:latin typeface="Arial MT"/>
                <a:cs typeface="Arial MT"/>
              </a:rPr>
              <a:t>yet</a:t>
            </a:r>
            <a:r>
              <a:rPr spc="-60" dirty="0">
                <a:latin typeface="Arial MT"/>
                <a:cs typeface="Arial MT"/>
              </a:rPr>
              <a:t> </a:t>
            </a:r>
            <a:r>
              <a:rPr dirty="0">
                <a:latin typeface="Arial MT"/>
                <a:cs typeface="Arial MT"/>
              </a:rPr>
              <a:t>widely</a:t>
            </a:r>
            <a:r>
              <a:rPr spc="-60" dirty="0">
                <a:latin typeface="Arial MT"/>
                <a:cs typeface="Arial MT"/>
              </a:rPr>
              <a:t> </a:t>
            </a:r>
            <a:r>
              <a:rPr spc="-10" dirty="0">
                <a:latin typeface="Arial MT"/>
                <a:cs typeface="Arial MT"/>
              </a:rPr>
              <a:t>adopted?</a:t>
            </a:r>
          </a:p>
          <a:p>
            <a:pPr marL="114300">
              <a:lnSpc>
                <a:spcPct val="100000"/>
              </a:lnSpc>
              <a:spcBef>
                <a:spcPts val="30"/>
              </a:spcBef>
            </a:pPr>
            <a:r>
              <a:rPr sz="2000" dirty="0">
                <a:latin typeface="Arial MT"/>
                <a:cs typeface="Arial MT"/>
              </a:rPr>
              <a:t>The</a:t>
            </a:r>
            <a:r>
              <a:rPr sz="2000" spc="-60" dirty="0">
                <a:latin typeface="Arial MT"/>
                <a:cs typeface="Arial MT"/>
              </a:rPr>
              <a:t> </a:t>
            </a:r>
            <a:r>
              <a:rPr sz="2000" dirty="0">
                <a:latin typeface="Arial MT"/>
                <a:cs typeface="Arial MT"/>
              </a:rPr>
              <a:t>long</a:t>
            </a:r>
            <a:r>
              <a:rPr sz="2000" spc="-45" dirty="0">
                <a:latin typeface="Arial MT"/>
                <a:cs typeface="Arial MT"/>
              </a:rPr>
              <a:t> </a:t>
            </a:r>
            <a:r>
              <a:rPr sz="2000" dirty="0">
                <a:latin typeface="Arial MT"/>
                <a:cs typeface="Arial MT"/>
              </a:rPr>
              <a:t>tail</a:t>
            </a:r>
            <a:r>
              <a:rPr sz="2000" spc="-45" dirty="0">
                <a:latin typeface="Arial MT"/>
                <a:cs typeface="Arial MT"/>
              </a:rPr>
              <a:t> </a:t>
            </a:r>
            <a:r>
              <a:rPr sz="2000" dirty="0">
                <a:latin typeface="Arial MT"/>
                <a:cs typeface="Arial MT"/>
              </a:rPr>
              <a:t>of</a:t>
            </a:r>
            <a:r>
              <a:rPr sz="2000" spc="-135" dirty="0">
                <a:latin typeface="Arial MT"/>
                <a:cs typeface="Arial MT"/>
              </a:rPr>
              <a:t> </a:t>
            </a:r>
            <a:r>
              <a:rPr sz="2000" dirty="0">
                <a:latin typeface="Arial MT"/>
                <a:cs typeface="Arial MT"/>
              </a:rPr>
              <a:t>AI</a:t>
            </a:r>
            <a:r>
              <a:rPr sz="2000" spc="-50" dirty="0">
                <a:latin typeface="Arial MT"/>
                <a:cs typeface="Arial MT"/>
              </a:rPr>
              <a:t> </a:t>
            </a:r>
            <a:r>
              <a:rPr sz="2000" dirty="0">
                <a:latin typeface="Arial MT"/>
                <a:cs typeface="Arial MT"/>
              </a:rPr>
              <a:t>applications</a:t>
            </a:r>
            <a:r>
              <a:rPr sz="2000" spc="-45" dirty="0">
                <a:latin typeface="Arial MT"/>
                <a:cs typeface="Arial MT"/>
              </a:rPr>
              <a:t> </a:t>
            </a:r>
            <a:r>
              <a:rPr sz="2000" dirty="0">
                <a:latin typeface="Arial MT"/>
                <a:cs typeface="Arial MT"/>
              </a:rPr>
              <a:t>will</a:t>
            </a:r>
            <a:r>
              <a:rPr sz="2000" spc="-45" dirty="0">
                <a:latin typeface="Arial MT"/>
                <a:cs typeface="Arial MT"/>
              </a:rPr>
              <a:t> </a:t>
            </a:r>
            <a:r>
              <a:rPr sz="2000" dirty="0">
                <a:latin typeface="Arial MT"/>
                <a:cs typeface="Arial MT"/>
              </a:rPr>
              <a:t>change</a:t>
            </a:r>
            <a:r>
              <a:rPr sz="2000" spc="-45" dirty="0">
                <a:latin typeface="Arial MT"/>
                <a:cs typeface="Arial MT"/>
              </a:rPr>
              <a:t> </a:t>
            </a:r>
            <a:r>
              <a:rPr sz="2000" dirty="0">
                <a:latin typeface="Arial MT"/>
                <a:cs typeface="Arial MT"/>
              </a:rPr>
              <a:t>due</a:t>
            </a:r>
            <a:r>
              <a:rPr sz="2000" spc="-45" dirty="0">
                <a:latin typeface="Arial MT"/>
                <a:cs typeface="Arial MT"/>
              </a:rPr>
              <a:t> </a:t>
            </a:r>
            <a:r>
              <a:rPr sz="2000" dirty="0">
                <a:latin typeface="Arial MT"/>
                <a:cs typeface="Arial MT"/>
              </a:rPr>
              <a:t>to</a:t>
            </a:r>
            <a:r>
              <a:rPr sz="2000" spc="-45" dirty="0">
                <a:latin typeface="Arial MT"/>
                <a:cs typeface="Arial MT"/>
              </a:rPr>
              <a:t> </a:t>
            </a:r>
            <a:r>
              <a:rPr sz="2000" dirty="0">
                <a:latin typeface="Arial MT"/>
                <a:cs typeface="Arial MT"/>
              </a:rPr>
              <a:t>low</a:t>
            </a:r>
            <a:r>
              <a:rPr sz="2000" spc="-50" dirty="0">
                <a:latin typeface="Arial MT"/>
                <a:cs typeface="Arial MT"/>
              </a:rPr>
              <a:t> </a:t>
            </a:r>
            <a:r>
              <a:rPr sz="2000" dirty="0">
                <a:latin typeface="Arial MT"/>
                <a:cs typeface="Arial MT"/>
              </a:rPr>
              <a:t>code</a:t>
            </a:r>
            <a:r>
              <a:rPr sz="2000" spc="-45" dirty="0">
                <a:latin typeface="Arial MT"/>
                <a:cs typeface="Arial MT"/>
              </a:rPr>
              <a:t> </a:t>
            </a:r>
            <a:r>
              <a:rPr sz="2000" dirty="0">
                <a:latin typeface="Arial MT"/>
                <a:cs typeface="Arial MT"/>
              </a:rPr>
              <a:t>and</a:t>
            </a:r>
            <a:r>
              <a:rPr sz="2000" spc="-45" dirty="0">
                <a:latin typeface="Arial MT"/>
                <a:cs typeface="Arial MT"/>
              </a:rPr>
              <a:t> </a:t>
            </a:r>
            <a:r>
              <a:rPr sz="2000" spc="-10" dirty="0">
                <a:latin typeface="Arial MT"/>
                <a:cs typeface="Arial MT"/>
              </a:rPr>
              <a:t>prompt-</a:t>
            </a:r>
            <a:r>
              <a:rPr sz="2000" dirty="0">
                <a:latin typeface="Arial MT"/>
                <a:cs typeface="Arial MT"/>
              </a:rPr>
              <a:t>based</a:t>
            </a:r>
            <a:r>
              <a:rPr sz="2000" spc="-45" dirty="0">
                <a:latin typeface="Arial MT"/>
                <a:cs typeface="Arial MT"/>
              </a:rPr>
              <a:t> </a:t>
            </a:r>
            <a:r>
              <a:rPr sz="2000" spc="-10" dirty="0">
                <a:latin typeface="Arial MT"/>
                <a:cs typeface="Arial MT"/>
              </a:rPr>
              <a:t>development</a:t>
            </a:r>
            <a:endParaRPr sz="2000">
              <a:latin typeface="Arial MT"/>
              <a:cs typeface="Arial MT"/>
            </a:endParaRPr>
          </a:p>
        </p:txBody>
      </p:sp>
      <p:sp>
        <p:nvSpPr>
          <p:cNvPr id="6" name="object 6"/>
          <p:cNvSpPr txBox="1"/>
          <p:nvPr/>
        </p:nvSpPr>
        <p:spPr>
          <a:xfrm>
            <a:off x="7962900" y="3619498"/>
            <a:ext cx="3569335" cy="307975"/>
          </a:xfrm>
          <a:prstGeom prst="rect">
            <a:avLst/>
          </a:prstGeom>
          <a:solidFill>
            <a:srgbClr val="4472C4"/>
          </a:solidFill>
          <a:ln w="25399">
            <a:solidFill>
              <a:srgbClr val="1B3052"/>
            </a:solidFill>
          </a:ln>
        </p:spPr>
        <p:txBody>
          <a:bodyPr vert="horz" wrap="square" lIns="0" tIns="40005" rIns="0" bIns="0" rtlCol="0">
            <a:spAutoFit/>
          </a:bodyPr>
          <a:lstStyle/>
          <a:p>
            <a:pPr marL="613410">
              <a:lnSpc>
                <a:spcPct val="100000"/>
              </a:lnSpc>
              <a:spcBef>
                <a:spcPts val="315"/>
              </a:spcBef>
            </a:pPr>
            <a:r>
              <a:rPr sz="1400" dirty="0">
                <a:solidFill>
                  <a:srgbClr val="FFFFFF"/>
                </a:solidFill>
                <a:latin typeface="Arial MT"/>
                <a:cs typeface="Arial MT"/>
              </a:rPr>
              <a:t>OpenAI,</a:t>
            </a:r>
            <a:r>
              <a:rPr sz="1400" spc="-25" dirty="0">
                <a:solidFill>
                  <a:srgbClr val="FFFFFF"/>
                </a:solidFill>
                <a:latin typeface="Arial MT"/>
                <a:cs typeface="Arial MT"/>
              </a:rPr>
              <a:t> </a:t>
            </a:r>
            <a:r>
              <a:rPr sz="1400" dirty="0">
                <a:solidFill>
                  <a:srgbClr val="FFFFFF"/>
                </a:solidFill>
                <a:latin typeface="Arial MT"/>
                <a:cs typeface="Arial MT"/>
              </a:rPr>
              <a:t>Bard,</a:t>
            </a:r>
            <a:r>
              <a:rPr sz="1400" spc="-25" dirty="0">
                <a:solidFill>
                  <a:srgbClr val="FFFFFF"/>
                </a:solidFill>
                <a:latin typeface="Arial MT"/>
                <a:cs typeface="Arial MT"/>
              </a:rPr>
              <a:t> </a:t>
            </a:r>
            <a:r>
              <a:rPr sz="1400" dirty="0">
                <a:solidFill>
                  <a:srgbClr val="FFFFFF"/>
                </a:solidFill>
                <a:latin typeface="Arial MT"/>
                <a:cs typeface="Arial MT"/>
              </a:rPr>
              <a:t>and</a:t>
            </a:r>
            <a:r>
              <a:rPr sz="1400" spc="-25" dirty="0">
                <a:solidFill>
                  <a:srgbClr val="FFFFFF"/>
                </a:solidFill>
                <a:latin typeface="Arial MT"/>
                <a:cs typeface="Arial MT"/>
              </a:rPr>
              <a:t> </a:t>
            </a:r>
            <a:r>
              <a:rPr sz="1400" dirty="0">
                <a:solidFill>
                  <a:srgbClr val="FFFFFF"/>
                </a:solidFill>
                <a:latin typeface="Arial MT"/>
                <a:cs typeface="Arial MT"/>
              </a:rPr>
              <a:t>more</a:t>
            </a:r>
            <a:r>
              <a:rPr sz="1400" spc="-95" dirty="0">
                <a:solidFill>
                  <a:srgbClr val="FFFFFF"/>
                </a:solidFill>
                <a:latin typeface="Arial MT"/>
                <a:cs typeface="Arial MT"/>
              </a:rPr>
              <a:t> </a:t>
            </a:r>
            <a:r>
              <a:rPr sz="1400" spc="-20" dirty="0">
                <a:solidFill>
                  <a:srgbClr val="FFFFFF"/>
                </a:solidFill>
                <a:latin typeface="Arial MT"/>
                <a:cs typeface="Arial MT"/>
              </a:rPr>
              <a:t>APIs</a:t>
            </a:r>
            <a:endParaRPr sz="14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18399" y="2688563"/>
            <a:ext cx="6499774" cy="3889194"/>
          </a:xfrm>
          <a:prstGeom prst="rect">
            <a:avLst/>
          </a:prstGeom>
        </p:spPr>
      </p:pic>
      <p:grpSp>
        <p:nvGrpSpPr>
          <p:cNvPr id="3" name="object 3"/>
          <p:cNvGrpSpPr/>
          <p:nvPr/>
        </p:nvGrpSpPr>
        <p:grpSpPr>
          <a:xfrm>
            <a:off x="1132112" y="4299687"/>
            <a:ext cx="1709420" cy="1245235"/>
            <a:chOff x="1132112" y="4299687"/>
            <a:chExt cx="1709420" cy="1245235"/>
          </a:xfrm>
        </p:grpSpPr>
        <p:sp>
          <p:nvSpPr>
            <p:cNvPr id="4" name="object 4"/>
            <p:cNvSpPr/>
            <p:nvPr/>
          </p:nvSpPr>
          <p:spPr>
            <a:xfrm>
              <a:off x="1136874" y="4304450"/>
              <a:ext cx="1699895" cy="1235710"/>
            </a:xfrm>
            <a:custGeom>
              <a:avLst/>
              <a:gdLst/>
              <a:ahLst/>
              <a:cxnLst/>
              <a:rect l="l" t="t" r="r" b="b"/>
              <a:pathLst>
                <a:path w="1699895" h="1235710">
                  <a:moveTo>
                    <a:pt x="849749" y="1235399"/>
                  </a:moveTo>
                  <a:lnTo>
                    <a:pt x="793878" y="1234086"/>
                  </a:lnTo>
                  <a:lnTo>
                    <a:pt x="738972" y="1230198"/>
                  </a:lnTo>
                  <a:lnTo>
                    <a:pt x="685143" y="1223819"/>
                  </a:lnTo>
                  <a:lnTo>
                    <a:pt x="632502" y="1215028"/>
                  </a:lnTo>
                  <a:lnTo>
                    <a:pt x="581163" y="1203909"/>
                  </a:lnTo>
                  <a:lnTo>
                    <a:pt x="531236" y="1190541"/>
                  </a:lnTo>
                  <a:lnTo>
                    <a:pt x="482834" y="1175007"/>
                  </a:lnTo>
                  <a:lnTo>
                    <a:pt x="436070" y="1157388"/>
                  </a:lnTo>
                  <a:lnTo>
                    <a:pt x="391053" y="1137765"/>
                  </a:lnTo>
                  <a:lnTo>
                    <a:pt x="347898" y="1116219"/>
                  </a:lnTo>
                  <a:lnTo>
                    <a:pt x="306716" y="1092833"/>
                  </a:lnTo>
                  <a:lnTo>
                    <a:pt x="267618" y="1067687"/>
                  </a:lnTo>
                  <a:lnTo>
                    <a:pt x="230716" y="1040863"/>
                  </a:lnTo>
                  <a:lnTo>
                    <a:pt x="196124" y="1012442"/>
                  </a:lnTo>
                  <a:lnTo>
                    <a:pt x="163952" y="982505"/>
                  </a:lnTo>
                  <a:lnTo>
                    <a:pt x="134313" y="951135"/>
                  </a:lnTo>
                  <a:lnTo>
                    <a:pt x="107318" y="918412"/>
                  </a:lnTo>
                  <a:lnTo>
                    <a:pt x="83079" y="884417"/>
                  </a:lnTo>
                  <a:lnTo>
                    <a:pt x="61710" y="849233"/>
                  </a:lnTo>
                  <a:lnTo>
                    <a:pt x="43320" y="812941"/>
                  </a:lnTo>
                  <a:lnTo>
                    <a:pt x="28023" y="775621"/>
                  </a:lnTo>
                  <a:lnTo>
                    <a:pt x="15931" y="737356"/>
                  </a:lnTo>
                  <a:lnTo>
                    <a:pt x="7155" y="698226"/>
                  </a:lnTo>
                  <a:lnTo>
                    <a:pt x="1807" y="658313"/>
                  </a:lnTo>
                  <a:lnTo>
                    <a:pt x="0" y="617699"/>
                  </a:lnTo>
                  <a:lnTo>
                    <a:pt x="1807" y="577086"/>
                  </a:lnTo>
                  <a:lnTo>
                    <a:pt x="7155" y="537173"/>
                  </a:lnTo>
                  <a:lnTo>
                    <a:pt x="15931" y="498043"/>
                  </a:lnTo>
                  <a:lnTo>
                    <a:pt x="28023" y="459778"/>
                  </a:lnTo>
                  <a:lnTo>
                    <a:pt x="43320" y="422458"/>
                  </a:lnTo>
                  <a:lnTo>
                    <a:pt x="61710" y="386166"/>
                  </a:lnTo>
                  <a:lnTo>
                    <a:pt x="83079" y="350982"/>
                  </a:lnTo>
                  <a:lnTo>
                    <a:pt x="107318" y="316987"/>
                  </a:lnTo>
                  <a:lnTo>
                    <a:pt x="134313" y="284264"/>
                  </a:lnTo>
                  <a:lnTo>
                    <a:pt x="163952" y="252894"/>
                  </a:lnTo>
                  <a:lnTo>
                    <a:pt x="196124" y="222957"/>
                  </a:lnTo>
                  <a:lnTo>
                    <a:pt x="230716" y="194536"/>
                  </a:lnTo>
                  <a:lnTo>
                    <a:pt x="267618" y="167712"/>
                  </a:lnTo>
                  <a:lnTo>
                    <a:pt x="306716" y="142566"/>
                  </a:lnTo>
                  <a:lnTo>
                    <a:pt x="347898" y="119180"/>
                  </a:lnTo>
                  <a:lnTo>
                    <a:pt x="391053" y="97634"/>
                  </a:lnTo>
                  <a:lnTo>
                    <a:pt x="436070" y="78011"/>
                  </a:lnTo>
                  <a:lnTo>
                    <a:pt x="482834" y="60392"/>
                  </a:lnTo>
                  <a:lnTo>
                    <a:pt x="531236" y="44858"/>
                  </a:lnTo>
                  <a:lnTo>
                    <a:pt x="581163" y="31490"/>
                  </a:lnTo>
                  <a:lnTo>
                    <a:pt x="632502" y="20371"/>
                  </a:lnTo>
                  <a:lnTo>
                    <a:pt x="685143" y="11580"/>
                  </a:lnTo>
                  <a:lnTo>
                    <a:pt x="738972" y="5201"/>
                  </a:lnTo>
                  <a:lnTo>
                    <a:pt x="793878" y="1313"/>
                  </a:lnTo>
                  <a:lnTo>
                    <a:pt x="849749" y="0"/>
                  </a:lnTo>
                  <a:lnTo>
                    <a:pt x="905621" y="1313"/>
                  </a:lnTo>
                  <a:lnTo>
                    <a:pt x="960527" y="5201"/>
                  </a:lnTo>
                  <a:lnTo>
                    <a:pt x="1014356" y="11580"/>
                  </a:lnTo>
                  <a:lnTo>
                    <a:pt x="1066997" y="20371"/>
                  </a:lnTo>
                  <a:lnTo>
                    <a:pt x="1118336" y="31490"/>
                  </a:lnTo>
                  <a:lnTo>
                    <a:pt x="1168263" y="44858"/>
                  </a:lnTo>
                  <a:lnTo>
                    <a:pt x="1216665" y="60392"/>
                  </a:lnTo>
                  <a:lnTo>
                    <a:pt x="1263429" y="78011"/>
                  </a:lnTo>
                  <a:lnTo>
                    <a:pt x="1308445" y="97634"/>
                  </a:lnTo>
                  <a:lnTo>
                    <a:pt x="1351601" y="119180"/>
                  </a:lnTo>
                  <a:lnTo>
                    <a:pt x="1392783" y="142566"/>
                  </a:lnTo>
                  <a:lnTo>
                    <a:pt x="1431881" y="167712"/>
                  </a:lnTo>
                  <a:lnTo>
                    <a:pt x="1468783" y="194536"/>
                  </a:lnTo>
                  <a:lnTo>
                    <a:pt x="1503375" y="222957"/>
                  </a:lnTo>
                  <a:lnTo>
                    <a:pt x="1535547" y="252894"/>
                  </a:lnTo>
                  <a:lnTo>
                    <a:pt x="1565186" y="284264"/>
                  </a:lnTo>
                  <a:lnTo>
                    <a:pt x="1592181" y="316987"/>
                  </a:lnTo>
                  <a:lnTo>
                    <a:pt x="1616420" y="350982"/>
                  </a:lnTo>
                  <a:lnTo>
                    <a:pt x="1637789" y="386166"/>
                  </a:lnTo>
                  <a:lnTo>
                    <a:pt x="1656179" y="422458"/>
                  </a:lnTo>
                  <a:lnTo>
                    <a:pt x="1671476" y="459778"/>
                  </a:lnTo>
                  <a:lnTo>
                    <a:pt x="1683568" y="498043"/>
                  </a:lnTo>
                  <a:lnTo>
                    <a:pt x="1692344" y="537173"/>
                  </a:lnTo>
                  <a:lnTo>
                    <a:pt x="1697692" y="577086"/>
                  </a:lnTo>
                  <a:lnTo>
                    <a:pt x="1699499" y="617699"/>
                  </a:lnTo>
                  <a:lnTo>
                    <a:pt x="1697692" y="658313"/>
                  </a:lnTo>
                  <a:lnTo>
                    <a:pt x="1692344" y="698226"/>
                  </a:lnTo>
                  <a:lnTo>
                    <a:pt x="1683568" y="737356"/>
                  </a:lnTo>
                  <a:lnTo>
                    <a:pt x="1671476" y="775621"/>
                  </a:lnTo>
                  <a:lnTo>
                    <a:pt x="1656179" y="812941"/>
                  </a:lnTo>
                  <a:lnTo>
                    <a:pt x="1637789" y="849233"/>
                  </a:lnTo>
                  <a:lnTo>
                    <a:pt x="1616420" y="884417"/>
                  </a:lnTo>
                  <a:lnTo>
                    <a:pt x="1592181" y="918412"/>
                  </a:lnTo>
                  <a:lnTo>
                    <a:pt x="1565186" y="951135"/>
                  </a:lnTo>
                  <a:lnTo>
                    <a:pt x="1535547" y="982505"/>
                  </a:lnTo>
                  <a:lnTo>
                    <a:pt x="1503375" y="1012442"/>
                  </a:lnTo>
                  <a:lnTo>
                    <a:pt x="1468783" y="1040863"/>
                  </a:lnTo>
                  <a:lnTo>
                    <a:pt x="1431881" y="1067687"/>
                  </a:lnTo>
                  <a:lnTo>
                    <a:pt x="1392783" y="1092833"/>
                  </a:lnTo>
                  <a:lnTo>
                    <a:pt x="1351601" y="1116219"/>
                  </a:lnTo>
                  <a:lnTo>
                    <a:pt x="1308445" y="1137765"/>
                  </a:lnTo>
                  <a:lnTo>
                    <a:pt x="1263429" y="1157388"/>
                  </a:lnTo>
                  <a:lnTo>
                    <a:pt x="1216665" y="1175007"/>
                  </a:lnTo>
                  <a:lnTo>
                    <a:pt x="1168263" y="1190541"/>
                  </a:lnTo>
                  <a:lnTo>
                    <a:pt x="1118336" y="1203909"/>
                  </a:lnTo>
                  <a:lnTo>
                    <a:pt x="1066997" y="1215028"/>
                  </a:lnTo>
                  <a:lnTo>
                    <a:pt x="1014356" y="1223819"/>
                  </a:lnTo>
                  <a:lnTo>
                    <a:pt x="960527" y="1230198"/>
                  </a:lnTo>
                  <a:lnTo>
                    <a:pt x="905621" y="1234086"/>
                  </a:lnTo>
                  <a:lnTo>
                    <a:pt x="849749" y="1235399"/>
                  </a:lnTo>
                  <a:close/>
                </a:path>
              </a:pathLst>
            </a:custGeom>
            <a:solidFill>
              <a:srgbClr val="E7E6E6"/>
            </a:solidFill>
          </p:spPr>
          <p:txBody>
            <a:bodyPr wrap="square" lIns="0" tIns="0" rIns="0" bIns="0" rtlCol="0"/>
            <a:lstStyle/>
            <a:p>
              <a:endParaRPr/>
            </a:p>
          </p:txBody>
        </p:sp>
        <p:sp>
          <p:nvSpPr>
            <p:cNvPr id="5" name="object 5"/>
            <p:cNvSpPr/>
            <p:nvPr/>
          </p:nvSpPr>
          <p:spPr>
            <a:xfrm>
              <a:off x="1136874" y="4304450"/>
              <a:ext cx="1699895" cy="1235710"/>
            </a:xfrm>
            <a:custGeom>
              <a:avLst/>
              <a:gdLst/>
              <a:ahLst/>
              <a:cxnLst/>
              <a:rect l="l" t="t" r="r" b="b"/>
              <a:pathLst>
                <a:path w="1699895" h="1235710">
                  <a:moveTo>
                    <a:pt x="0" y="617699"/>
                  </a:moveTo>
                  <a:lnTo>
                    <a:pt x="1807" y="577086"/>
                  </a:lnTo>
                  <a:lnTo>
                    <a:pt x="7155" y="537173"/>
                  </a:lnTo>
                  <a:lnTo>
                    <a:pt x="15931" y="498043"/>
                  </a:lnTo>
                  <a:lnTo>
                    <a:pt x="28023" y="459778"/>
                  </a:lnTo>
                  <a:lnTo>
                    <a:pt x="43320" y="422458"/>
                  </a:lnTo>
                  <a:lnTo>
                    <a:pt x="61710" y="386166"/>
                  </a:lnTo>
                  <a:lnTo>
                    <a:pt x="83079" y="350982"/>
                  </a:lnTo>
                  <a:lnTo>
                    <a:pt x="107318" y="316987"/>
                  </a:lnTo>
                  <a:lnTo>
                    <a:pt x="134313" y="284264"/>
                  </a:lnTo>
                  <a:lnTo>
                    <a:pt x="163952" y="252894"/>
                  </a:lnTo>
                  <a:lnTo>
                    <a:pt x="196124" y="222957"/>
                  </a:lnTo>
                  <a:lnTo>
                    <a:pt x="230716" y="194536"/>
                  </a:lnTo>
                  <a:lnTo>
                    <a:pt x="267618" y="167712"/>
                  </a:lnTo>
                  <a:lnTo>
                    <a:pt x="306716" y="142566"/>
                  </a:lnTo>
                  <a:lnTo>
                    <a:pt x="347898" y="119180"/>
                  </a:lnTo>
                  <a:lnTo>
                    <a:pt x="391053" y="97634"/>
                  </a:lnTo>
                  <a:lnTo>
                    <a:pt x="436070" y="78011"/>
                  </a:lnTo>
                  <a:lnTo>
                    <a:pt x="482834" y="60392"/>
                  </a:lnTo>
                  <a:lnTo>
                    <a:pt x="531236" y="44858"/>
                  </a:lnTo>
                  <a:lnTo>
                    <a:pt x="581163" y="31490"/>
                  </a:lnTo>
                  <a:lnTo>
                    <a:pt x="632502" y="20371"/>
                  </a:lnTo>
                  <a:lnTo>
                    <a:pt x="685143" y="11580"/>
                  </a:lnTo>
                  <a:lnTo>
                    <a:pt x="738972" y="5201"/>
                  </a:lnTo>
                  <a:lnTo>
                    <a:pt x="793878" y="1313"/>
                  </a:lnTo>
                  <a:lnTo>
                    <a:pt x="849749" y="0"/>
                  </a:lnTo>
                  <a:lnTo>
                    <a:pt x="905621" y="1313"/>
                  </a:lnTo>
                  <a:lnTo>
                    <a:pt x="960527" y="5201"/>
                  </a:lnTo>
                  <a:lnTo>
                    <a:pt x="1014356" y="11580"/>
                  </a:lnTo>
                  <a:lnTo>
                    <a:pt x="1066997" y="20371"/>
                  </a:lnTo>
                  <a:lnTo>
                    <a:pt x="1118336" y="31490"/>
                  </a:lnTo>
                  <a:lnTo>
                    <a:pt x="1168263" y="44858"/>
                  </a:lnTo>
                  <a:lnTo>
                    <a:pt x="1216665" y="60392"/>
                  </a:lnTo>
                  <a:lnTo>
                    <a:pt x="1263429" y="78011"/>
                  </a:lnTo>
                  <a:lnTo>
                    <a:pt x="1308445" y="97634"/>
                  </a:lnTo>
                  <a:lnTo>
                    <a:pt x="1351601" y="119180"/>
                  </a:lnTo>
                  <a:lnTo>
                    <a:pt x="1392783" y="142566"/>
                  </a:lnTo>
                  <a:lnTo>
                    <a:pt x="1431881" y="167712"/>
                  </a:lnTo>
                  <a:lnTo>
                    <a:pt x="1468783" y="194536"/>
                  </a:lnTo>
                  <a:lnTo>
                    <a:pt x="1503375" y="222957"/>
                  </a:lnTo>
                  <a:lnTo>
                    <a:pt x="1535547" y="252894"/>
                  </a:lnTo>
                  <a:lnTo>
                    <a:pt x="1565186" y="284264"/>
                  </a:lnTo>
                  <a:lnTo>
                    <a:pt x="1592181" y="316987"/>
                  </a:lnTo>
                  <a:lnTo>
                    <a:pt x="1616420" y="350982"/>
                  </a:lnTo>
                  <a:lnTo>
                    <a:pt x="1637789" y="386166"/>
                  </a:lnTo>
                  <a:lnTo>
                    <a:pt x="1656179" y="422458"/>
                  </a:lnTo>
                  <a:lnTo>
                    <a:pt x="1671476" y="459778"/>
                  </a:lnTo>
                  <a:lnTo>
                    <a:pt x="1683568" y="498043"/>
                  </a:lnTo>
                  <a:lnTo>
                    <a:pt x="1692344" y="537173"/>
                  </a:lnTo>
                  <a:lnTo>
                    <a:pt x="1697692" y="577086"/>
                  </a:lnTo>
                  <a:lnTo>
                    <a:pt x="1699499" y="617699"/>
                  </a:lnTo>
                  <a:lnTo>
                    <a:pt x="1697692" y="658313"/>
                  </a:lnTo>
                  <a:lnTo>
                    <a:pt x="1692344" y="698226"/>
                  </a:lnTo>
                  <a:lnTo>
                    <a:pt x="1683568" y="737356"/>
                  </a:lnTo>
                  <a:lnTo>
                    <a:pt x="1671476" y="775621"/>
                  </a:lnTo>
                  <a:lnTo>
                    <a:pt x="1656179" y="812941"/>
                  </a:lnTo>
                  <a:lnTo>
                    <a:pt x="1637789" y="849233"/>
                  </a:lnTo>
                  <a:lnTo>
                    <a:pt x="1616420" y="884417"/>
                  </a:lnTo>
                  <a:lnTo>
                    <a:pt x="1592181" y="918412"/>
                  </a:lnTo>
                  <a:lnTo>
                    <a:pt x="1565186" y="951135"/>
                  </a:lnTo>
                  <a:lnTo>
                    <a:pt x="1535547" y="982505"/>
                  </a:lnTo>
                  <a:lnTo>
                    <a:pt x="1503375" y="1012442"/>
                  </a:lnTo>
                  <a:lnTo>
                    <a:pt x="1468783" y="1040863"/>
                  </a:lnTo>
                  <a:lnTo>
                    <a:pt x="1431881" y="1067687"/>
                  </a:lnTo>
                  <a:lnTo>
                    <a:pt x="1392783" y="1092833"/>
                  </a:lnTo>
                  <a:lnTo>
                    <a:pt x="1351601" y="1116219"/>
                  </a:lnTo>
                  <a:lnTo>
                    <a:pt x="1308445" y="1137765"/>
                  </a:lnTo>
                  <a:lnTo>
                    <a:pt x="1263429" y="1157388"/>
                  </a:lnTo>
                  <a:lnTo>
                    <a:pt x="1216665" y="1175007"/>
                  </a:lnTo>
                  <a:lnTo>
                    <a:pt x="1168263" y="1190541"/>
                  </a:lnTo>
                  <a:lnTo>
                    <a:pt x="1118336" y="1203909"/>
                  </a:lnTo>
                  <a:lnTo>
                    <a:pt x="1066997" y="1215028"/>
                  </a:lnTo>
                  <a:lnTo>
                    <a:pt x="1014356" y="1223819"/>
                  </a:lnTo>
                  <a:lnTo>
                    <a:pt x="960527" y="1230198"/>
                  </a:lnTo>
                  <a:lnTo>
                    <a:pt x="905621" y="1234086"/>
                  </a:lnTo>
                  <a:lnTo>
                    <a:pt x="849749" y="1235399"/>
                  </a:lnTo>
                  <a:lnTo>
                    <a:pt x="793878" y="1234086"/>
                  </a:lnTo>
                  <a:lnTo>
                    <a:pt x="738972" y="1230198"/>
                  </a:lnTo>
                  <a:lnTo>
                    <a:pt x="685143" y="1223819"/>
                  </a:lnTo>
                  <a:lnTo>
                    <a:pt x="632502" y="1215028"/>
                  </a:lnTo>
                  <a:lnTo>
                    <a:pt x="581163" y="1203909"/>
                  </a:lnTo>
                  <a:lnTo>
                    <a:pt x="531236" y="1190541"/>
                  </a:lnTo>
                  <a:lnTo>
                    <a:pt x="482834" y="1175007"/>
                  </a:lnTo>
                  <a:lnTo>
                    <a:pt x="436070" y="1157388"/>
                  </a:lnTo>
                  <a:lnTo>
                    <a:pt x="391053" y="1137765"/>
                  </a:lnTo>
                  <a:lnTo>
                    <a:pt x="347898" y="1116219"/>
                  </a:lnTo>
                  <a:lnTo>
                    <a:pt x="306716" y="1092833"/>
                  </a:lnTo>
                  <a:lnTo>
                    <a:pt x="267618" y="1067687"/>
                  </a:lnTo>
                  <a:lnTo>
                    <a:pt x="230716" y="1040863"/>
                  </a:lnTo>
                  <a:lnTo>
                    <a:pt x="196124" y="1012442"/>
                  </a:lnTo>
                  <a:lnTo>
                    <a:pt x="163952" y="982505"/>
                  </a:lnTo>
                  <a:lnTo>
                    <a:pt x="134313" y="951135"/>
                  </a:lnTo>
                  <a:lnTo>
                    <a:pt x="107318" y="918412"/>
                  </a:lnTo>
                  <a:lnTo>
                    <a:pt x="83079" y="884417"/>
                  </a:lnTo>
                  <a:lnTo>
                    <a:pt x="61710" y="849233"/>
                  </a:lnTo>
                  <a:lnTo>
                    <a:pt x="43320" y="812941"/>
                  </a:lnTo>
                  <a:lnTo>
                    <a:pt x="28023" y="775621"/>
                  </a:lnTo>
                  <a:lnTo>
                    <a:pt x="15931" y="737356"/>
                  </a:lnTo>
                  <a:lnTo>
                    <a:pt x="7155" y="698226"/>
                  </a:lnTo>
                  <a:lnTo>
                    <a:pt x="1807" y="658313"/>
                  </a:lnTo>
                  <a:lnTo>
                    <a:pt x="0" y="617699"/>
                  </a:lnTo>
                  <a:close/>
                </a:path>
              </a:pathLst>
            </a:custGeom>
            <a:ln w="9524">
              <a:solidFill>
                <a:srgbClr val="44546A"/>
              </a:solidFill>
            </a:ln>
          </p:spPr>
          <p:txBody>
            <a:bodyPr wrap="square" lIns="0" tIns="0" rIns="0" bIns="0" rtlCol="0"/>
            <a:lstStyle/>
            <a:p>
              <a:endParaRPr/>
            </a:p>
          </p:txBody>
        </p:sp>
      </p:grpSp>
      <p:sp>
        <p:nvSpPr>
          <p:cNvPr id="6" name="object 6"/>
          <p:cNvSpPr txBox="1"/>
          <p:nvPr/>
        </p:nvSpPr>
        <p:spPr>
          <a:xfrm>
            <a:off x="1479611" y="4351666"/>
            <a:ext cx="1014094" cy="1122680"/>
          </a:xfrm>
          <a:prstGeom prst="rect">
            <a:avLst/>
          </a:prstGeom>
        </p:spPr>
        <p:txBody>
          <a:bodyPr vert="horz" wrap="square" lIns="0" tIns="12700" rIns="0" bIns="0" rtlCol="0">
            <a:spAutoFit/>
          </a:bodyPr>
          <a:lstStyle/>
          <a:p>
            <a:pPr marL="12700" marR="5080" indent="-1270" algn="ctr">
              <a:lnSpc>
                <a:spcPct val="100000"/>
              </a:lnSpc>
              <a:spcBef>
                <a:spcPts val="100"/>
              </a:spcBef>
            </a:pPr>
            <a:r>
              <a:rPr sz="1800" dirty="0">
                <a:latin typeface="Calibri"/>
                <a:cs typeface="Calibri"/>
              </a:rPr>
              <a:t>User</a:t>
            </a:r>
            <a:r>
              <a:rPr sz="1800" spc="-20" dirty="0">
                <a:latin typeface="Calibri"/>
                <a:cs typeface="Calibri"/>
              </a:rPr>
              <a:t> </a:t>
            </a:r>
            <a:r>
              <a:rPr sz="1800" spc="-25" dirty="0">
                <a:latin typeface="Calibri"/>
                <a:cs typeface="Calibri"/>
              </a:rPr>
              <a:t>on </a:t>
            </a:r>
            <a:r>
              <a:rPr sz="1800" dirty="0">
                <a:latin typeface="Calibri"/>
                <a:cs typeface="Calibri"/>
              </a:rPr>
              <a:t>App</a:t>
            </a:r>
            <a:r>
              <a:rPr sz="1800" spc="-45" dirty="0">
                <a:latin typeface="Calibri"/>
                <a:cs typeface="Calibri"/>
              </a:rPr>
              <a:t> </a:t>
            </a:r>
            <a:r>
              <a:rPr sz="1800" spc="-25" dirty="0">
                <a:latin typeface="Calibri"/>
                <a:cs typeface="Calibri"/>
              </a:rPr>
              <a:t>on </a:t>
            </a:r>
            <a:r>
              <a:rPr sz="1800" dirty="0">
                <a:latin typeface="Calibri"/>
                <a:cs typeface="Calibri"/>
              </a:rPr>
              <a:t>mobile</a:t>
            </a:r>
            <a:r>
              <a:rPr sz="1800" spc="-85" dirty="0">
                <a:latin typeface="Calibri"/>
                <a:cs typeface="Calibri"/>
              </a:rPr>
              <a:t> </a:t>
            </a:r>
            <a:r>
              <a:rPr sz="1800" spc="-25" dirty="0">
                <a:latin typeface="Calibri"/>
                <a:cs typeface="Calibri"/>
              </a:rPr>
              <a:t>or </a:t>
            </a:r>
            <a:r>
              <a:rPr sz="1800" spc="-20" dirty="0">
                <a:latin typeface="Calibri"/>
                <a:cs typeface="Calibri"/>
              </a:rPr>
              <a:t>browser</a:t>
            </a:r>
            <a:r>
              <a:rPr sz="1800" spc="-20" dirty="0">
                <a:latin typeface="Arial MT"/>
                <a:cs typeface="Arial MT"/>
              </a:rPr>
              <a:t>…</a:t>
            </a:r>
            <a:endParaRPr sz="1800">
              <a:latin typeface="Arial MT"/>
              <a:cs typeface="Arial MT"/>
            </a:endParaRPr>
          </a:p>
        </p:txBody>
      </p:sp>
      <p:sp>
        <p:nvSpPr>
          <p:cNvPr id="7" name="object 7"/>
          <p:cNvSpPr txBox="1"/>
          <p:nvPr/>
        </p:nvSpPr>
        <p:spPr>
          <a:xfrm>
            <a:off x="1067900" y="653725"/>
            <a:ext cx="1769110" cy="1168400"/>
          </a:xfrm>
          <a:prstGeom prst="rect">
            <a:avLst/>
          </a:prstGeom>
          <a:solidFill>
            <a:srgbClr val="E7E6E6"/>
          </a:solidFill>
          <a:ln w="9524">
            <a:solidFill>
              <a:srgbClr val="44546A"/>
            </a:solidFill>
          </a:ln>
        </p:spPr>
        <p:txBody>
          <a:bodyPr vert="horz" wrap="square" lIns="0" tIns="163195" rIns="0" bIns="0" rtlCol="0">
            <a:spAutoFit/>
          </a:bodyPr>
          <a:lstStyle/>
          <a:p>
            <a:pPr marL="310515" marR="304165" algn="ctr">
              <a:lnSpc>
                <a:spcPct val="100000"/>
              </a:lnSpc>
              <a:spcBef>
                <a:spcPts val="1285"/>
              </a:spcBef>
            </a:pPr>
            <a:r>
              <a:rPr sz="1800" dirty="0">
                <a:latin typeface="Calibri"/>
                <a:cs typeface="Calibri"/>
              </a:rPr>
              <a:t>Server</a:t>
            </a:r>
            <a:r>
              <a:rPr sz="1800" spc="-45" dirty="0">
                <a:latin typeface="Calibri"/>
                <a:cs typeface="Calibri"/>
              </a:rPr>
              <a:t> </a:t>
            </a:r>
            <a:r>
              <a:rPr sz="1800" spc="-20" dirty="0">
                <a:latin typeface="Calibri"/>
                <a:cs typeface="Calibri"/>
              </a:rPr>
              <a:t>with </a:t>
            </a:r>
            <a:r>
              <a:rPr sz="1800" dirty="0">
                <a:latin typeface="Calibri"/>
                <a:cs typeface="Calibri"/>
              </a:rPr>
              <a:t>your</a:t>
            </a:r>
            <a:r>
              <a:rPr sz="1800" spc="-70" dirty="0">
                <a:latin typeface="Calibri"/>
                <a:cs typeface="Calibri"/>
              </a:rPr>
              <a:t> </a:t>
            </a:r>
            <a:r>
              <a:rPr sz="1800" dirty="0">
                <a:latin typeface="Calibri"/>
                <a:cs typeface="Calibri"/>
              </a:rPr>
              <a:t>code</a:t>
            </a:r>
            <a:r>
              <a:rPr sz="1800" spc="-70" dirty="0">
                <a:latin typeface="Calibri"/>
                <a:cs typeface="Calibri"/>
              </a:rPr>
              <a:t> </a:t>
            </a:r>
            <a:r>
              <a:rPr sz="1800" spc="-25" dirty="0">
                <a:latin typeface="Calibri"/>
                <a:cs typeface="Calibri"/>
              </a:rPr>
              <a:t>in </a:t>
            </a:r>
            <a:r>
              <a:rPr sz="1800" spc="-10" dirty="0">
                <a:latin typeface="Calibri"/>
                <a:cs typeface="Calibri"/>
              </a:rPr>
              <a:t>Cloud</a:t>
            </a:r>
            <a:endParaRPr sz="1800">
              <a:latin typeface="Calibri"/>
              <a:cs typeface="Calibri"/>
            </a:endParaRPr>
          </a:p>
        </p:txBody>
      </p:sp>
      <p:sp>
        <p:nvSpPr>
          <p:cNvPr id="8" name="object 8"/>
          <p:cNvSpPr txBox="1"/>
          <p:nvPr/>
        </p:nvSpPr>
        <p:spPr>
          <a:xfrm>
            <a:off x="6554150" y="732924"/>
            <a:ext cx="1435100" cy="1009650"/>
          </a:xfrm>
          <a:prstGeom prst="rect">
            <a:avLst/>
          </a:prstGeom>
          <a:solidFill>
            <a:srgbClr val="E7E6E6"/>
          </a:solidFill>
          <a:ln w="9524">
            <a:solidFill>
              <a:srgbClr val="44546A"/>
            </a:solidFill>
          </a:ln>
        </p:spPr>
        <p:txBody>
          <a:bodyPr vert="horz" wrap="square" lIns="0" tIns="220979" rIns="0" bIns="0" rtlCol="0">
            <a:spAutoFit/>
          </a:bodyPr>
          <a:lstStyle/>
          <a:p>
            <a:pPr marL="563245" marR="105410" indent="-452120">
              <a:lnSpc>
                <a:spcPct val="100000"/>
              </a:lnSpc>
              <a:spcBef>
                <a:spcPts val="1739"/>
              </a:spcBef>
            </a:pPr>
            <a:r>
              <a:rPr sz="1800" dirty="0">
                <a:latin typeface="Calibri"/>
                <a:cs typeface="Calibri"/>
              </a:rPr>
              <a:t>Open</a:t>
            </a:r>
            <a:r>
              <a:rPr sz="1800" spc="-35" dirty="0">
                <a:latin typeface="Calibri"/>
                <a:cs typeface="Calibri"/>
              </a:rPr>
              <a:t> </a:t>
            </a:r>
            <a:r>
              <a:rPr sz="1800" dirty="0">
                <a:latin typeface="Calibri"/>
                <a:cs typeface="Calibri"/>
              </a:rPr>
              <a:t>AI</a:t>
            </a:r>
            <a:r>
              <a:rPr sz="1800" spc="-35" dirty="0">
                <a:latin typeface="Calibri"/>
                <a:cs typeface="Calibri"/>
              </a:rPr>
              <a:t> </a:t>
            </a:r>
            <a:r>
              <a:rPr sz="1800" spc="-20" dirty="0">
                <a:latin typeface="Calibri"/>
                <a:cs typeface="Calibri"/>
              </a:rPr>
              <a:t>with </a:t>
            </a:r>
            <a:r>
              <a:rPr sz="1800" spc="-25" dirty="0">
                <a:latin typeface="Calibri"/>
                <a:cs typeface="Calibri"/>
              </a:rPr>
              <a:t>API</a:t>
            </a:r>
            <a:endParaRPr sz="1800">
              <a:latin typeface="Calibri"/>
              <a:cs typeface="Calibri"/>
            </a:endParaRPr>
          </a:p>
        </p:txBody>
      </p:sp>
      <p:sp>
        <p:nvSpPr>
          <p:cNvPr id="9" name="object 9"/>
          <p:cNvSpPr txBox="1"/>
          <p:nvPr/>
        </p:nvSpPr>
        <p:spPr>
          <a:xfrm>
            <a:off x="3864697" y="565206"/>
            <a:ext cx="1741170" cy="574040"/>
          </a:xfrm>
          <a:prstGeom prst="rect">
            <a:avLst/>
          </a:prstGeom>
        </p:spPr>
        <p:txBody>
          <a:bodyPr vert="horz" wrap="square" lIns="0" tIns="12700" rIns="0" bIns="0" rtlCol="0">
            <a:spAutoFit/>
          </a:bodyPr>
          <a:lstStyle/>
          <a:p>
            <a:pPr marL="12700" marR="5080" indent="307340">
              <a:lnSpc>
                <a:spcPct val="100000"/>
              </a:lnSpc>
              <a:spcBef>
                <a:spcPts val="100"/>
              </a:spcBef>
            </a:pPr>
            <a:r>
              <a:rPr sz="1800" dirty="0">
                <a:latin typeface="Calibri"/>
                <a:cs typeface="Calibri"/>
              </a:rPr>
              <a:t>Calls</a:t>
            </a:r>
            <a:r>
              <a:rPr sz="1800" spc="-20" dirty="0">
                <a:latin typeface="Calibri"/>
                <a:cs typeface="Calibri"/>
              </a:rPr>
              <a:t> </a:t>
            </a:r>
            <a:r>
              <a:rPr sz="1800" dirty="0">
                <a:latin typeface="Calibri"/>
                <a:cs typeface="Calibri"/>
              </a:rPr>
              <a:t>API</a:t>
            </a:r>
            <a:r>
              <a:rPr sz="1800" spc="-20" dirty="0">
                <a:latin typeface="Calibri"/>
                <a:cs typeface="Calibri"/>
              </a:rPr>
              <a:t> </a:t>
            </a:r>
            <a:r>
              <a:rPr sz="1800" spc="-25" dirty="0">
                <a:latin typeface="Calibri"/>
                <a:cs typeface="Calibri"/>
              </a:rPr>
              <a:t>for </a:t>
            </a:r>
            <a:r>
              <a:rPr sz="1800" spc="-10" dirty="0">
                <a:latin typeface="Calibri"/>
                <a:cs typeface="Calibri"/>
              </a:rPr>
              <a:t>sentiment</a:t>
            </a:r>
            <a:r>
              <a:rPr sz="1800" spc="-55" dirty="0">
                <a:latin typeface="Calibri"/>
                <a:cs typeface="Calibri"/>
              </a:rPr>
              <a:t> </a:t>
            </a:r>
            <a:r>
              <a:rPr sz="1800" spc="-10" dirty="0">
                <a:latin typeface="Calibri"/>
                <a:cs typeface="Calibri"/>
              </a:rPr>
              <a:t>analysis</a:t>
            </a:r>
            <a:endParaRPr sz="1800">
              <a:latin typeface="Calibri"/>
              <a:cs typeface="Calibri"/>
            </a:endParaRPr>
          </a:p>
        </p:txBody>
      </p:sp>
      <p:grpSp>
        <p:nvGrpSpPr>
          <p:cNvPr id="10" name="object 10"/>
          <p:cNvGrpSpPr/>
          <p:nvPr/>
        </p:nvGrpSpPr>
        <p:grpSpPr>
          <a:xfrm>
            <a:off x="2873048" y="1155693"/>
            <a:ext cx="3644900" cy="164465"/>
            <a:chOff x="2873048" y="1155693"/>
            <a:chExt cx="3644900" cy="164465"/>
          </a:xfrm>
        </p:grpSpPr>
        <p:sp>
          <p:nvSpPr>
            <p:cNvPr id="11" name="object 11"/>
            <p:cNvSpPr/>
            <p:nvPr/>
          </p:nvSpPr>
          <p:spPr>
            <a:xfrm>
              <a:off x="2966971" y="1237675"/>
              <a:ext cx="3359150" cy="0"/>
            </a:xfrm>
            <a:custGeom>
              <a:avLst/>
              <a:gdLst/>
              <a:ahLst/>
              <a:cxnLst/>
              <a:rect l="l" t="t" r="r" b="b"/>
              <a:pathLst>
                <a:path w="3359150">
                  <a:moveTo>
                    <a:pt x="0" y="0"/>
                  </a:moveTo>
                  <a:lnTo>
                    <a:pt x="3358727" y="0"/>
                  </a:lnTo>
                </a:path>
              </a:pathLst>
            </a:custGeom>
            <a:ln w="38099">
              <a:solidFill>
                <a:srgbClr val="44546A"/>
              </a:solidFill>
            </a:ln>
          </p:spPr>
          <p:txBody>
            <a:bodyPr wrap="square" lIns="0" tIns="0" rIns="0" bIns="0" rtlCol="0"/>
            <a:lstStyle/>
            <a:p>
              <a:endParaRPr/>
            </a:p>
          </p:txBody>
        </p:sp>
        <p:pic>
          <p:nvPicPr>
            <p:cNvPr id="12" name="object 12"/>
            <p:cNvPicPr/>
            <p:nvPr/>
          </p:nvPicPr>
          <p:blipFill>
            <a:blip r:embed="rId3" cstate="print"/>
            <a:stretch>
              <a:fillRect/>
            </a:stretch>
          </p:blipFill>
          <p:spPr>
            <a:xfrm>
              <a:off x="2873048" y="1175778"/>
              <a:ext cx="155819" cy="123793"/>
            </a:xfrm>
            <a:prstGeom prst="rect">
              <a:avLst/>
            </a:prstGeom>
          </p:spPr>
        </p:pic>
        <p:pic>
          <p:nvPicPr>
            <p:cNvPr id="13" name="object 13"/>
            <p:cNvPicPr/>
            <p:nvPr/>
          </p:nvPicPr>
          <p:blipFill>
            <a:blip r:embed="rId4" cstate="print"/>
            <a:stretch>
              <a:fillRect/>
            </a:stretch>
          </p:blipFill>
          <p:spPr>
            <a:xfrm>
              <a:off x="6306650" y="1155693"/>
              <a:ext cx="211001" cy="163962"/>
            </a:xfrm>
            <a:prstGeom prst="rect">
              <a:avLst/>
            </a:prstGeom>
          </p:spPr>
        </p:pic>
      </p:grpSp>
      <p:sp>
        <p:nvSpPr>
          <p:cNvPr id="14" name="object 14"/>
          <p:cNvSpPr txBox="1"/>
          <p:nvPr/>
        </p:nvSpPr>
        <p:spPr>
          <a:xfrm>
            <a:off x="8710200" y="249656"/>
            <a:ext cx="2019935" cy="57404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Calls</a:t>
            </a:r>
            <a:r>
              <a:rPr sz="1800" spc="-55" dirty="0">
                <a:latin typeface="Calibri"/>
                <a:cs typeface="Calibri"/>
              </a:rPr>
              <a:t> </a:t>
            </a:r>
            <a:r>
              <a:rPr sz="1800" dirty="0">
                <a:latin typeface="Calibri"/>
                <a:cs typeface="Calibri"/>
              </a:rPr>
              <a:t>OpenAI</a:t>
            </a:r>
            <a:r>
              <a:rPr sz="1800" spc="-55" dirty="0">
                <a:latin typeface="Calibri"/>
                <a:cs typeface="Calibri"/>
              </a:rPr>
              <a:t> </a:t>
            </a:r>
            <a:r>
              <a:rPr sz="1800" dirty="0">
                <a:latin typeface="Calibri"/>
                <a:cs typeface="Calibri"/>
              </a:rPr>
              <a:t>with</a:t>
            </a:r>
            <a:r>
              <a:rPr sz="1800" spc="-55" dirty="0">
                <a:latin typeface="Calibri"/>
                <a:cs typeface="Calibri"/>
              </a:rPr>
              <a:t> </a:t>
            </a:r>
            <a:r>
              <a:rPr sz="1800" spc="-25" dirty="0">
                <a:latin typeface="Calibri"/>
                <a:cs typeface="Calibri"/>
              </a:rPr>
              <a:t>API</a:t>
            </a:r>
            <a:endParaRPr sz="1800">
              <a:latin typeface="Calibri"/>
              <a:cs typeface="Calibri"/>
            </a:endParaRPr>
          </a:p>
          <a:p>
            <a:pPr marL="12700">
              <a:lnSpc>
                <a:spcPct val="100000"/>
              </a:lnSpc>
            </a:pPr>
            <a:r>
              <a:rPr sz="1800" spc="-10" dirty="0">
                <a:latin typeface="Calibri"/>
                <a:cs typeface="Calibri"/>
              </a:rPr>
              <a:t>—</a:t>
            </a:r>
            <a:r>
              <a:rPr sz="1800" spc="-50" dirty="0">
                <a:latin typeface="Calibri"/>
                <a:cs typeface="Calibri"/>
              </a:rPr>
              <a:t>-</a:t>
            </a:r>
            <a:endParaRPr sz="1800">
              <a:latin typeface="Calibri"/>
              <a:cs typeface="Calibri"/>
            </a:endParaRPr>
          </a:p>
        </p:txBody>
      </p:sp>
      <p:sp>
        <p:nvSpPr>
          <p:cNvPr id="15" name="object 15"/>
          <p:cNvSpPr txBox="1"/>
          <p:nvPr/>
        </p:nvSpPr>
        <p:spPr>
          <a:xfrm>
            <a:off x="8800724" y="798296"/>
            <a:ext cx="2513330" cy="1671320"/>
          </a:xfrm>
          <a:prstGeom prst="rect">
            <a:avLst/>
          </a:prstGeom>
        </p:spPr>
        <p:txBody>
          <a:bodyPr vert="horz" wrap="square" lIns="0" tIns="12700" rIns="0" bIns="0" rtlCol="0">
            <a:spAutoFit/>
          </a:bodyPr>
          <a:lstStyle/>
          <a:p>
            <a:pPr marL="379095" indent="-366395">
              <a:lnSpc>
                <a:spcPct val="100000"/>
              </a:lnSpc>
              <a:spcBef>
                <a:spcPts val="100"/>
              </a:spcBef>
              <a:buFont typeface="Arial MT"/>
              <a:buChar char="●"/>
              <a:tabLst>
                <a:tab pos="379095" algn="l"/>
              </a:tabLst>
            </a:pPr>
            <a:r>
              <a:rPr sz="1800" spc="-10" dirty="0">
                <a:latin typeface="Calibri"/>
                <a:cs typeface="Calibri"/>
              </a:rPr>
              <a:t>sentiment</a:t>
            </a:r>
            <a:endParaRPr sz="1800">
              <a:latin typeface="Calibri"/>
              <a:cs typeface="Calibri"/>
            </a:endParaRPr>
          </a:p>
          <a:p>
            <a:pPr marL="379095" indent="-366395">
              <a:lnSpc>
                <a:spcPct val="100000"/>
              </a:lnSpc>
              <a:buFont typeface="Arial MT"/>
              <a:buChar char="●"/>
              <a:tabLst>
                <a:tab pos="379095" algn="l"/>
              </a:tabLst>
            </a:pPr>
            <a:r>
              <a:rPr sz="1800" spc="-10" dirty="0">
                <a:latin typeface="Calibri"/>
                <a:cs typeface="Calibri"/>
              </a:rPr>
              <a:t>recommendation</a:t>
            </a:r>
            <a:endParaRPr sz="1800">
              <a:latin typeface="Calibri"/>
              <a:cs typeface="Calibri"/>
            </a:endParaRPr>
          </a:p>
          <a:p>
            <a:pPr marL="379095" indent="-366395">
              <a:lnSpc>
                <a:spcPct val="100000"/>
              </a:lnSpc>
              <a:buFont typeface="Arial MT"/>
              <a:buChar char="●"/>
              <a:tabLst>
                <a:tab pos="379095" algn="l"/>
              </a:tabLst>
            </a:pPr>
            <a:r>
              <a:rPr sz="1800" dirty="0">
                <a:latin typeface="Calibri"/>
                <a:cs typeface="Calibri"/>
              </a:rPr>
              <a:t>AI</a:t>
            </a:r>
            <a:r>
              <a:rPr sz="1800" spc="-30" dirty="0">
                <a:latin typeface="Calibri"/>
                <a:cs typeface="Calibri"/>
              </a:rPr>
              <a:t> </a:t>
            </a:r>
            <a:r>
              <a:rPr sz="1800" dirty="0">
                <a:latin typeface="Calibri"/>
                <a:cs typeface="Calibri"/>
              </a:rPr>
              <a:t>services</a:t>
            </a:r>
            <a:r>
              <a:rPr sz="1800" spc="-25" dirty="0">
                <a:latin typeface="Calibri"/>
                <a:cs typeface="Calibri"/>
              </a:rPr>
              <a:t> </a:t>
            </a:r>
            <a:r>
              <a:rPr sz="1800" dirty="0">
                <a:latin typeface="Calibri"/>
                <a:cs typeface="Calibri"/>
              </a:rPr>
              <a:t>/</a:t>
            </a:r>
            <a:r>
              <a:rPr sz="1800" spc="-25" dirty="0">
                <a:latin typeface="Calibri"/>
                <a:cs typeface="Calibri"/>
              </a:rPr>
              <a:t> </a:t>
            </a:r>
            <a:r>
              <a:rPr sz="1800" spc="-10" dirty="0">
                <a:latin typeface="Calibri"/>
                <a:cs typeface="Calibri"/>
              </a:rPr>
              <a:t>prediction</a:t>
            </a:r>
            <a:endParaRPr sz="1800">
              <a:latin typeface="Calibri"/>
              <a:cs typeface="Calibri"/>
            </a:endParaRPr>
          </a:p>
          <a:p>
            <a:pPr marL="379095" indent="-366395">
              <a:lnSpc>
                <a:spcPct val="100000"/>
              </a:lnSpc>
              <a:buFont typeface="Arial MT"/>
              <a:buChar char="●"/>
              <a:tabLst>
                <a:tab pos="379095" algn="l"/>
              </a:tabLst>
            </a:pPr>
            <a:r>
              <a:rPr sz="1800" spc="-10" dirty="0">
                <a:latin typeface="Calibri"/>
                <a:cs typeface="Calibri"/>
              </a:rPr>
              <a:t>translation</a:t>
            </a:r>
            <a:endParaRPr sz="1800">
              <a:latin typeface="Calibri"/>
              <a:cs typeface="Calibri"/>
            </a:endParaRPr>
          </a:p>
          <a:p>
            <a:pPr marL="379095" indent="-366395">
              <a:lnSpc>
                <a:spcPct val="100000"/>
              </a:lnSpc>
              <a:buFont typeface="Arial MT"/>
              <a:buChar char="●"/>
              <a:tabLst>
                <a:tab pos="379095" algn="l"/>
              </a:tabLst>
            </a:pPr>
            <a:r>
              <a:rPr sz="1800" spc="-20" dirty="0">
                <a:latin typeface="Calibri"/>
                <a:cs typeface="Calibri"/>
              </a:rPr>
              <a:t>presentation</a:t>
            </a:r>
            <a:r>
              <a:rPr sz="1800" spc="20" dirty="0">
                <a:latin typeface="Calibri"/>
                <a:cs typeface="Calibri"/>
              </a:rPr>
              <a:t> </a:t>
            </a:r>
            <a:r>
              <a:rPr sz="1800" spc="-20" dirty="0">
                <a:latin typeface="Calibri"/>
                <a:cs typeface="Calibri"/>
              </a:rPr>
              <a:t>layer</a:t>
            </a:r>
            <a:endParaRPr sz="1800">
              <a:latin typeface="Calibri"/>
              <a:cs typeface="Calibri"/>
            </a:endParaRPr>
          </a:p>
          <a:p>
            <a:pPr marL="379095" indent="-366395">
              <a:lnSpc>
                <a:spcPct val="100000"/>
              </a:lnSpc>
              <a:buChar char="●"/>
              <a:tabLst>
                <a:tab pos="379095" algn="l"/>
              </a:tabLst>
            </a:pPr>
            <a:r>
              <a:rPr sz="1800" spc="-25" dirty="0">
                <a:latin typeface="Arial MT"/>
                <a:cs typeface="Arial MT"/>
              </a:rPr>
              <a:t>…</a:t>
            </a:r>
            <a:r>
              <a:rPr sz="1800" spc="-25" dirty="0">
                <a:latin typeface="Calibri"/>
                <a:cs typeface="Calibri"/>
              </a:rPr>
              <a:t>.</a:t>
            </a:r>
            <a:endParaRPr sz="1800">
              <a:latin typeface="Calibri"/>
              <a:cs typeface="Calibri"/>
            </a:endParaRPr>
          </a:p>
        </p:txBody>
      </p:sp>
      <p:grpSp>
        <p:nvGrpSpPr>
          <p:cNvPr id="16" name="object 16"/>
          <p:cNvGrpSpPr/>
          <p:nvPr/>
        </p:nvGrpSpPr>
        <p:grpSpPr>
          <a:xfrm>
            <a:off x="1892667" y="1858268"/>
            <a:ext cx="173355" cy="2409825"/>
            <a:chOff x="1892667" y="1858268"/>
            <a:chExt cx="173355" cy="2409825"/>
          </a:xfrm>
        </p:grpSpPr>
        <p:sp>
          <p:nvSpPr>
            <p:cNvPr id="17" name="object 17"/>
            <p:cNvSpPr/>
            <p:nvPr/>
          </p:nvSpPr>
          <p:spPr>
            <a:xfrm>
              <a:off x="1953964" y="1952184"/>
              <a:ext cx="29845" cy="2124075"/>
            </a:xfrm>
            <a:custGeom>
              <a:avLst/>
              <a:gdLst/>
              <a:ahLst/>
              <a:cxnLst/>
              <a:rect l="l" t="t" r="r" b="b"/>
              <a:pathLst>
                <a:path w="29844" h="2124075">
                  <a:moveTo>
                    <a:pt x="0" y="0"/>
                  </a:moveTo>
                  <a:lnTo>
                    <a:pt x="29509" y="2123662"/>
                  </a:lnTo>
                </a:path>
              </a:pathLst>
            </a:custGeom>
            <a:ln w="38099">
              <a:solidFill>
                <a:srgbClr val="44546A"/>
              </a:solidFill>
            </a:ln>
          </p:spPr>
          <p:txBody>
            <a:bodyPr wrap="square" lIns="0" tIns="0" rIns="0" bIns="0" rtlCol="0"/>
            <a:lstStyle/>
            <a:p>
              <a:endParaRPr/>
            </a:p>
          </p:txBody>
        </p:sp>
        <p:pic>
          <p:nvPicPr>
            <p:cNvPr id="18" name="object 18"/>
            <p:cNvPicPr/>
            <p:nvPr/>
          </p:nvPicPr>
          <p:blipFill>
            <a:blip r:embed="rId5" cstate="print"/>
            <a:stretch>
              <a:fillRect/>
            </a:stretch>
          </p:blipFill>
          <p:spPr>
            <a:xfrm>
              <a:off x="1892667" y="1858268"/>
              <a:ext cx="123784" cy="156403"/>
            </a:xfrm>
            <a:prstGeom prst="rect">
              <a:avLst/>
            </a:prstGeom>
          </p:spPr>
        </p:pic>
        <p:pic>
          <p:nvPicPr>
            <p:cNvPr id="19" name="object 19"/>
            <p:cNvPicPr/>
            <p:nvPr/>
          </p:nvPicPr>
          <p:blipFill>
            <a:blip r:embed="rId6" cstate="print"/>
            <a:stretch>
              <a:fillRect/>
            </a:stretch>
          </p:blipFill>
          <p:spPr>
            <a:xfrm>
              <a:off x="1901498" y="4055922"/>
              <a:ext cx="163949" cy="211859"/>
            </a:xfrm>
            <a:prstGeom prst="rect">
              <a:avLst/>
            </a:prstGeom>
          </p:spPr>
        </p:pic>
      </p:grpSp>
      <p:grpSp>
        <p:nvGrpSpPr>
          <p:cNvPr id="20" name="object 20"/>
          <p:cNvGrpSpPr/>
          <p:nvPr/>
        </p:nvGrpSpPr>
        <p:grpSpPr>
          <a:xfrm>
            <a:off x="3093820" y="1735382"/>
            <a:ext cx="3107055" cy="2620010"/>
            <a:chOff x="3093820" y="1735382"/>
            <a:chExt cx="3107055" cy="2620010"/>
          </a:xfrm>
        </p:grpSpPr>
        <p:sp>
          <p:nvSpPr>
            <p:cNvPr id="21" name="object 21"/>
            <p:cNvSpPr/>
            <p:nvPr/>
          </p:nvSpPr>
          <p:spPr>
            <a:xfrm>
              <a:off x="3170164" y="1865744"/>
              <a:ext cx="2879090" cy="2422525"/>
            </a:xfrm>
            <a:custGeom>
              <a:avLst/>
              <a:gdLst/>
              <a:ahLst/>
              <a:cxnLst/>
              <a:rect l="l" t="t" r="r" b="b"/>
              <a:pathLst>
                <a:path w="2879090" h="2422525">
                  <a:moveTo>
                    <a:pt x="0" y="2421969"/>
                  </a:moveTo>
                  <a:lnTo>
                    <a:pt x="2878759" y="0"/>
                  </a:lnTo>
                </a:path>
              </a:pathLst>
            </a:custGeom>
            <a:ln w="38099">
              <a:solidFill>
                <a:srgbClr val="44546A"/>
              </a:solidFill>
              <a:prstDash val="lgDash"/>
            </a:ln>
          </p:spPr>
          <p:txBody>
            <a:bodyPr wrap="square" lIns="0" tIns="0" rIns="0" bIns="0" rtlCol="0"/>
            <a:lstStyle/>
            <a:p>
              <a:endParaRPr/>
            </a:p>
          </p:txBody>
        </p:sp>
        <p:pic>
          <p:nvPicPr>
            <p:cNvPr id="22" name="object 22"/>
            <p:cNvPicPr/>
            <p:nvPr/>
          </p:nvPicPr>
          <p:blipFill>
            <a:blip r:embed="rId7" cstate="print"/>
            <a:stretch>
              <a:fillRect/>
            </a:stretch>
          </p:blipFill>
          <p:spPr>
            <a:xfrm>
              <a:off x="3093820" y="4208294"/>
              <a:ext cx="155764" cy="146672"/>
            </a:xfrm>
            <a:prstGeom prst="rect">
              <a:avLst/>
            </a:prstGeom>
          </p:spPr>
        </p:pic>
        <p:pic>
          <p:nvPicPr>
            <p:cNvPr id="23" name="object 23"/>
            <p:cNvPicPr/>
            <p:nvPr/>
          </p:nvPicPr>
          <p:blipFill>
            <a:blip r:embed="rId8" cstate="print"/>
            <a:stretch>
              <a:fillRect/>
            </a:stretch>
          </p:blipFill>
          <p:spPr>
            <a:xfrm>
              <a:off x="5989359" y="1735382"/>
              <a:ext cx="210919" cy="197566"/>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270925" y="1379899"/>
            <a:ext cx="5292574" cy="3207075"/>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http</a:t>
            </a:r>
            <a:r>
              <a:rPr spc="-25" dirty="0">
                <a:hlinkClick r:id="rId3"/>
              </a:rPr>
              <a:t>s://www.techventurebootcamp.org/</a:t>
            </a:r>
          </a:p>
        </p:txBody>
      </p:sp>
      <p:sp>
        <p:nvSpPr>
          <p:cNvPr id="4" name="object 4"/>
          <p:cNvSpPr txBox="1"/>
          <p:nvPr/>
        </p:nvSpPr>
        <p:spPr>
          <a:xfrm>
            <a:off x="7304599" y="6188156"/>
            <a:ext cx="447675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http</a:t>
            </a:r>
            <a:r>
              <a:rPr sz="1800" spc="-10" dirty="0">
                <a:latin typeface="Calibri"/>
                <a:cs typeface="Calibri"/>
                <a:hlinkClick r:id="rId4"/>
              </a:rPr>
              <a:t>s://www.techventurebootcamp.org/toolkits</a:t>
            </a:r>
            <a:endParaRPr sz="1800">
              <a:latin typeface="Calibri"/>
              <a:cs typeface="Calibri"/>
            </a:endParaRPr>
          </a:p>
        </p:txBody>
      </p:sp>
      <p:grpSp>
        <p:nvGrpSpPr>
          <p:cNvPr id="5" name="object 5"/>
          <p:cNvGrpSpPr/>
          <p:nvPr/>
        </p:nvGrpSpPr>
        <p:grpSpPr>
          <a:xfrm>
            <a:off x="179074" y="1379900"/>
            <a:ext cx="5706745" cy="3444240"/>
            <a:chOff x="179074" y="1379900"/>
            <a:chExt cx="5706745" cy="3444240"/>
          </a:xfrm>
        </p:grpSpPr>
        <p:pic>
          <p:nvPicPr>
            <p:cNvPr id="6" name="object 6"/>
            <p:cNvPicPr/>
            <p:nvPr/>
          </p:nvPicPr>
          <p:blipFill>
            <a:blip r:embed="rId5" cstate="print"/>
            <a:stretch>
              <a:fillRect/>
            </a:stretch>
          </p:blipFill>
          <p:spPr>
            <a:xfrm>
              <a:off x="179074" y="1379900"/>
              <a:ext cx="5558174" cy="3443999"/>
            </a:xfrm>
            <a:prstGeom prst="rect">
              <a:avLst/>
            </a:prstGeom>
          </p:spPr>
        </p:pic>
        <p:sp>
          <p:nvSpPr>
            <p:cNvPr id="7" name="object 7"/>
            <p:cNvSpPr/>
            <p:nvPr/>
          </p:nvSpPr>
          <p:spPr>
            <a:xfrm>
              <a:off x="4576450" y="1547725"/>
              <a:ext cx="454025" cy="334010"/>
            </a:xfrm>
            <a:custGeom>
              <a:avLst/>
              <a:gdLst/>
              <a:ahLst/>
              <a:cxnLst/>
              <a:rect l="l" t="t" r="r" b="b"/>
              <a:pathLst>
                <a:path w="454025" h="334010">
                  <a:moveTo>
                    <a:pt x="0" y="166799"/>
                  </a:moveTo>
                  <a:lnTo>
                    <a:pt x="5989" y="128554"/>
                  </a:lnTo>
                  <a:lnTo>
                    <a:pt x="23052" y="93445"/>
                  </a:lnTo>
                  <a:lnTo>
                    <a:pt x="49825" y="62475"/>
                  </a:lnTo>
                  <a:lnTo>
                    <a:pt x="84948" y="36644"/>
                  </a:lnTo>
                  <a:lnTo>
                    <a:pt x="127059" y="16953"/>
                  </a:lnTo>
                  <a:lnTo>
                    <a:pt x="174796" y="4405"/>
                  </a:lnTo>
                  <a:lnTo>
                    <a:pt x="226799" y="0"/>
                  </a:lnTo>
                  <a:lnTo>
                    <a:pt x="278803" y="4405"/>
                  </a:lnTo>
                  <a:lnTo>
                    <a:pt x="326540" y="16953"/>
                  </a:lnTo>
                  <a:lnTo>
                    <a:pt x="368651" y="36644"/>
                  </a:lnTo>
                  <a:lnTo>
                    <a:pt x="403774" y="62475"/>
                  </a:lnTo>
                  <a:lnTo>
                    <a:pt x="430547" y="93445"/>
                  </a:lnTo>
                  <a:lnTo>
                    <a:pt x="447610" y="128554"/>
                  </a:lnTo>
                  <a:lnTo>
                    <a:pt x="453599" y="166799"/>
                  </a:lnTo>
                  <a:lnTo>
                    <a:pt x="447610" y="205045"/>
                  </a:lnTo>
                  <a:lnTo>
                    <a:pt x="430547" y="240154"/>
                  </a:lnTo>
                  <a:lnTo>
                    <a:pt x="403774" y="271124"/>
                  </a:lnTo>
                  <a:lnTo>
                    <a:pt x="368651" y="296955"/>
                  </a:lnTo>
                  <a:lnTo>
                    <a:pt x="326540" y="316646"/>
                  </a:lnTo>
                  <a:lnTo>
                    <a:pt x="278803" y="329194"/>
                  </a:lnTo>
                  <a:lnTo>
                    <a:pt x="226799" y="333599"/>
                  </a:lnTo>
                  <a:lnTo>
                    <a:pt x="174796" y="329194"/>
                  </a:lnTo>
                  <a:lnTo>
                    <a:pt x="127059" y="316646"/>
                  </a:lnTo>
                  <a:lnTo>
                    <a:pt x="84948" y="296955"/>
                  </a:lnTo>
                  <a:lnTo>
                    <a:pt x="49825" y="271124"/>
                  </a:lnTo>
                  <a:lnTo>
                    <a:pt x="23052" y="240154"/>
                  </a:lnTo>
                  <a:lnTo>
                    <a:pt x="5989" y="205045"/>
                  </a:lnTo>
                  <a:lnTo>
                    <a:pt x="0" y="166799"/>
                  </a:lnTo>
                  <a:close/>
                </a:path>
              </a:pathLst>
            </a:custGeom>
            <a:ln w="28574">
              <a:solidFill>
                <a:srgbClr val="FF0000"/>
              </a:solidFill>
            </a:ln>
          </p:spPr>
          <p:txBody>
            <a:bodyPr wrap="square" lIns="0" tIns="0" rIns="0" bIns="0" rtlCol="0"/>
            <a:lstStyle/>
            <a:p>
              <a:endParaRPr/>
            </a:p>
          </p:txBody>
        </p:sp>
        <p:sp>
          <p:nvSpPr>
            <p:cNvPr id="8" name="object 8"/>
            <p:cNvSpPr/>
            <p:nvPr/>
          </p:nvSpPr>
          <p:spPr>
            <a:xfrm>
              <a:off x="4963621" y="1586442"/>
              <a:ext cx="873760" cy="10160"/>
            </a:xfrm>
            <a:custGeom>
              <a:avLst/>
              <a:gdLst/>
              <a:ahLst/>
              <a:cxnLst/>
              <a:rect l="l" t="t" r="r" b="b"/>
              <a:pathLst>
                <a:path w="873760" h="10159">
                  <a:moveTo>
                    <a:pt x="0" y="10137"/>
                  </a:moveTo>
                  <a:lnTo>
                    <a:pt x="873753" y="0"/>
                  </a:lnTo>
                </a:path>
              </a:pathLst>
            </a:custGeom>
            <a:ln w="9524">
              <a:solidFill>
                <a:srgbClr val="FF0000"/>
              </a:solidFill>
            </a:ln>
          </p:spPr>
          <p:txBody>
            <a:bodyPr wrap="square" lIns="0" tIns="0" rIns="0" bIns="0" rtlCol="0"/>
            <a:lstStyle/>
            <a:p>
              <a:endParaRPr/>
            </a:p>
          </p:txBody>
        </p:sp>
        <p:sp>
          <p:nvSpPr>
            <p:cNvPr id="9" name="object 9"/>
            <p:cNvSpPr/>
            <p:nvPr/>
          </p:nvSpPr>
          <p:spPr>
            <a:xfrm>
              <a:off x="5837193" y="1570710"/>
              <a:ext cx="43815" cy="31750"/>
            </a:xfrm>
            <a:custGeom>
              <a:avLst/>
              <a:gdLst/>
              <a:ahLst/>
              <a:cxnLst/>
              <a:rect l="l" t="t" r="r" b="b"/>
              <a:pathLst>
                <a:path w="43814" h="31750">
                  <a:moveTo>
                    <a:pt x="364" y="31463"/>
                  </a:moveTo>
                  <a:lnTo>
                    <a:pt x="0" y="0"/>
                  </a:lnTo>
                  <a:lnTo>
                    <a:pt x="43404" y="15230"/>
                  </a:lnTo>
                  <a:lnTo>
                    <a:pt x="364" y="31463"/>
                  </a:lnTo>
                  <a:close/>
                </a:path>
              </a:pathLst>
            </a:custGeom>
            <a:solidFill>
              <a:srgbClr val="FF0000"/>
            </a:solidFill>
          </p:spPr>
          <p:txBody>
            <a:bodyPr wrap="square" lIns="0" tIns="0" rIns="0" bIns="0" rtlCol="0"/>
            <a:lstStyle/>
            <a:p>
              <a:endParaRPr/>
            </a:p>
          </p:txBody>
        </p:sp>
        <p:sp>
          <p:nvSpPr>
            <p:cNvPr id="10" name="object 10"/>
            <p:cNvSpPr/>
            <p:nvPr/>
          </p:nvSpPr>
          <p:spPr>
            <a:xfrm>
              <a:off x="5837193" y="1570710"/>
              <a:ext cx="43815" cy="31750"/>
            </a:xfrm>
            <a:custGeom>
              <a:avLst/>
              <a:gdLst/>
              <a:ahLst/>
              <a:cxnLst/>
              <a:rect l="l" t="t" r="r" b="b"/>
              <a:pathLst>
                <a:path w="43814" h="31750">
                  <a:moveTo>
                    <a:pt x="364" y="31463"/>
                  </a:moveTo>
                  <a:lnTo>
                    <a:pt x="43404" y="15230"/>
                  </a:lnTo>
                  <a:lnTo>
                    <a:pt x="0" y="0"/>
                  </a:lnTo>
                  <a:lnTo>
                    <a:pt x="364" y="31463"/>
                  </a:lnTo>
                  <a:close/>
                </a:path>
              </a:pathLst>
            </a:custGeom>
            <a:ln w="9524">
              <a:solidFill>
                <a:srgbClr val="FF0000"/>
              </a:solidFill>
            </a:ln>
          </p:spPr>
          <p:txBody>
            <a:bodyPr wrap="square" lIns="0" tIns="0" rIns="0" bIns="0" rtlCol="0"/>
            <a:lstStyle/>
            <a: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3300" y="214300"/>
            <a:ext cx="9128447" cy="6173301"/>
          </a:xfrm>
          <a:prstGeom prst="rect">
            <a:avLst/>
          </a:prstGeom>
        </p:spPr>
      </p:pic>
      <p:sp>
        <p:nvSpPr>
          <p:cNvPr id="3" name="object 3"/>
          <p:cNvSpPr txBox="1"/>
          <p:nvPr/>
        </p:nvSpPr>
        <p:spPr>
          <a:xfrm>
            <a:off x="10124825" y="684862"/>
            <a:ext cx="1728470" cy="1945639"/>
          </a:xfrm>
          <a:prstGeom prst="rect">
            <a:avLst/>
          </a:prstGeom>
        </p:spPr>
        <p:txBody>
          <a:bodyPr vert="horz" wrap="square" lIns="0" tIns="12700" rIns="0" bIns="0" rtlCol="0">
            <a:spAutoFit/>
          </a:bodyPr>
          <a:lstStyle/>
          <a:p>
            <a:pPr marL="12700">
              <a:lnSpc>
                <a:spcPct val="100000"/>
              </a:lnSpc>
              <a:spcBef>
                <a:spcPts val="100"/>
              </a:spcBef>
            </a:pPr>
            <a:r>
              <a:rPr sz="1400" spc="-10" dirty="0">
                <a:latin typeface="Calibri"/>
                <a:cs typeface="Calibri"/>
              </a:rPr>
              <a:t>platform.openai.com</a:t>
            </a:r>
            <a:endParaRPr sz="1400">
              <a:latin typeface="Calibri"/>
              <a:cs typeface="Calibri"/>
            </a:endParaRPr>
          </a:p>
          <a:p>
            <a:pPr marL="12700" marR="116839">
              <a:lnSpc>
                <a:spcPct val="100000"/>
              </a:lnSpc>
              <a:spcBef>
                <a:spcPts val="1680"/>
              </a:spcBef>
            </a:pPr>
            <a:r>
              <a:rPr sz="1400" dirty="0">
                <a:latin typeface="Calibri"/>
                <a:cs typeface="Calibri"/>
              </a:rPr>
              <a:t>This</a:t>
            </a:r>
            <a:r>
              <a:rPr sz="1400" spc="-50" dirty="0">
                <a:latin typeface="Calibri"/>
                <a:cs typeface="Calibri"/>
              </a:rPr>
              <a:t> </a:t>
            </a:r>
            <a:r>
              <a:rPr sz="1400" dirty="0">
                <a:latin typeface="Calibri"/>
                <a:cs typeface="Calibri"/>
              </a:rPr>
              <a:t>is</a:t>
            </a:r>
            <a:r>
              <a:rPr sz="1400" spc="-45" dirty="0">
                <a:latin typeface="Calibri"/>
                <a:cs typeface="Calibri"/>
              </a:rPr>
              <a:t> </a:t>
            </a:r>
            <a:r>
              <a:rPr sz="1400" dirty="0">
                <a:latin typeface="Calibri"/>
                <a:cs typeface="Calibri"/>
              </a:rPr>
              <a:t>where</a:t>
            </a:r>
            <a:r>
              <a:rPr sz="1400" spc="-50" dirty="0">
                <a:latin typeface="Calibri"/>
                <a:cs typeface="Calibri"/>
              </a:rPr>
              <a:t> </a:t>
            </a:r>
            <a:r>
              <a:rPr sz="1400" dirty="0">
                <a:latin typeface="Calibri"/>
                <a:cs typeface="Calibri"/>
              </a:rPr>
              <a:t>you</a:t>
            </a:r>
            <a:r>
              <a:rPr sz="1400" spc="-45" dirty="0">
                <a:latin typeface="Calibri"/>
                <a:cs typeface="Calibri"/>
              </a:rPr>
              <a:t> </a:t>
            </a:r>
            <a:r>
              <a:rPr sz="1400" spc="-25" dirty="0">
                <a:latin typeface="Calibri"/>
                <a:cs typeface="Calibri"/>
              </a:rPr>
              <a:t>get </a:t>
            </a:r>
            <a:r>
              <a:rPr sz="1400" dirty="0">
                <a:latin typeface="Calibri"/>
                <a:cs typeface="Calibri"/>
              </a:rPr>
              <a:t>sign</a:t>
            </a:r>
            <a:r>
              <a:rPr sz="1400" spc="-35" dirty="0">
                <a:latin typeface="Calibri"/>
                <a:cs typeface="Calibri"/>
              </a:rPr>
              <a:t> </a:t>
            </a:r>
            <a:r>
              <a:rPr sz="1400" dirty="0">
                <a:latin typeface="Calibri"/>
                <a:cs typeface="Calibri"/>
              </a:rPr>
              <a:t>up</a:t>
            </a:r>
            <a:r>
              <a:rPr sz="1400" spc="-35" dirty="0">
                <a:latin typeface="Calibri"/>
                <a:cs typeface="Calibri"/>
              </a:rPr>
              <a:t> </a:t>
            </a:r>
            <a:r>
              <a:rPr sz="1400" dirty="0">
                <a:latin typeface="Calibri"/>
                <a:cs typeface="Calibri"/>
              </a:rPr>
              <a:t>for</a:t>
            </a:r>
            <a:r>
              <a:rPr sz="1400" spc="-30" dirty="0">
                <a:latin typeface="Calibri"/>
                <a:cs typeface="Calibri"/>
              </a:rPr>
              <a:t> </a:t>
            </a:r>
            <a:r>
              <a:rPr sz="1400" dirty="0">
                <a:latin typeface="Calibri"/>
                <a:cs typeface="Calibri"/>
              </a:rPr>
              <a:t>an</a:t>
            </a:r>
            <a:r>
              <a:rPr sz="1400" spc="-35" dirty="0">
                <a:latin typeface="Calibri"/>
                <a:cs typeface="Calibri"/>
              </a:rPr>
              <a:t> </a:t>
            </a:r>
            <a:r>
              <a:rPr sz="1400" spc="-10" dirty="0">
                <a:latin typeface="Calibri"/>
                <a:cs typeface="Calibri"/>
              </a:rPr>
              <a:t>account </a:t>
            </a:r>
            <a:r>
              <a:rPr sz="1400" dirty="0">
                <a:latin typeface="Calibri"/>
                <a:cs typeface="Calibri"/>
              </a:rPr>
              <a:t>and</a:t>
            </a:r>
            <a:r>
              <a:rPr sz="1400" spc="-45" dirty="0">
                <a:latin typeface="Calibri"/>
                <a:cs typeface="Calibri"/>
              </a:rPr>
              <a:t> </a:t>
            </a:r>
            <a:r>
              <a:rPr sz="1400" dirty="0">
                <a:latin typeface="Calibri"/>
                <a:cs typeface="Calibri"/>
              </a:rPr>
              <a:t>get</a:t>
            </a:r>
            <a:r>
              <a:rPr sz="1400" spc="-45" dirty="0">
                <a:latin typeface="Calibri"/>
                <a:cs typeface="Calibri"/>
              </a:rPr>
              <a:t> </a:t>
            </a:r>
            <a:r>
              <a:rPr sz="1400" spc="-20" dirty="0">
                <a:latin typeface="Calibri"/>
                <a:cs typeface="Calibri"/>
              </a:rPr>
              <a:t>key.</a:t>
            </a:r>
            <a:endParaRPr sz="1400">
              <a:latin typeface="Calibri"/>
              <a:cs typeface="Calibri"/>
            </a:endParaRPr>
          </a:p>
          <a:p>
            <a:pPr>
              <a:lnSpc>
                <a:spcPct val="100000"/>
              </a:lnSpc>
              <a:spcBef>
                <a:spcPts val="1650"/>
              </a:spcBef>
            </a:pPr>
            <a:endParaRPr sz="1400">
              <a:latin typeface="Calibri"/>
              <a:cs typeface="Calibri"/>
            </a:endParaRPr>
          </a:p>
          <a:p>
            <a:pPr marL="12700" marR="5080">
              <a:lnSpc>
                <a:spcPct val="100000"/>
              </a:lnSpc>
            </a:pPr>
            <a:r>
              <a:rPr sz="1400" dirty="0">
                <a:latin typeface="Calibri"/>
                <a:cs typeface="Calibri"/>
              </a:rPr>
              <a:t>All</a:t>
            </a:r>
            <a:r>
              <a:rPr sz="1400" spc="-35" dirty="0">
                <a:latin typeface="Calibri"/>
                <a:cs typeface="Calibri"/>
              </a:rPr>
              <a:t> </a:t>
            </a:r>
            <a:r>
              <a:rPr sz="1400" dirty="0">
                <a:latin typeface="Calibri"/>
                <a:cs typeface="Calibri"/>
              </a:rPr>
              <a:t>the</a:t>
            </a:r>
            <a:r>
              <a:rPr sz="1400" spc="-30" dirty="0">
                <a:latin typeface="Calibri"/>
                <a:cs typeface="Calibri"/>
              </a:rPr>
              <a:t> </a:t>
            </a:r>
            <a:r>
              <a:rPr sz="1400" spc="-10" dirty="0">
                <a:latin typeface="Calibri"/>
                <a:cs typeface="Calibri"/>
              </a:rPr>
              <a:t>tutorials</a:t>
            </a:r>
            <a:r>
              <a:rPr sz="1400" spc="-35" dirty="0">
                <a:latin typeface="Calibri"/>
                <a:cs typeface="Calibri"/>
              </a:rPr>
              <a:t> </a:t>
            </a:r>
            <a:r>
              <a:rPr sz="1400" dirty="0">
                <a:latin typeface="Calibri"/>
                <a:cs typeface="Calibri"/>
              </a:rPr>
              <a:t>you</a:t>
            </a:r>
            <a:r>
              <a:rPr sz="1400" spc="-30" dirty="0">
                <a:latin typeface="Calibri"/>
                <a:cs typeface="Calibri"/>
              </a:rPr>
              <a:t> </a:t>
            </a:r>
            <a:r>
              <a:rPr sz="1400" spc="-20" dirty="0">
                <a:latin typeface="Calibri"/>
                <a:cs typeface="Calibri"/>
              </a:rPr>
              <a:t>will </a:t>
            </a:r>
            <a:r>
              <a:rPr sz="1400" dirty="0">
                <a:latin typeface="Calibri"/>
                <a:cs typeface="Calibri"/>
              </a:rPr>
              <a:t>need</a:t>
            </a:r>
            <a:r>
              <a:rPr sz="1400" spc="-50" dirty="0">
                <a:latin typeface="Calibri"/>
                <a:cs typeface="Calibri"/>
              </a:rPr>
              <a:t> </a:t>
            </a:r>
            <a:r>
              <a:rPr sz="1400" dirty="0">
                <a:latin typeface="Calibri"/>
                <a:cs typeface="Calibri"/>
              </a:rPr>
              <a:t>are</a:t>
            </a:r>
            <a:r>
              <a:rPr sz="1400" spc="-50" dirty="0">
                <a:latin typeface="Calibri"/>
                <a:cs typeface="Calibri"/>
              </a:rPr>
              <a:t> </a:t>
            </a:r>
            <a:r>
              <a:rPr sz="1400" spc="-20" dirty="0">
                <a:latin typeface="Calibri"/>
                <a:cs typeface="Calibri"/>
              </a:rPr>
              <a:t>here:</a:t>
            </a:r>
            <a:endParaRPr sz="1400">
              <a:latin typeface="Calibri"/>
              <a:cs typeface="Calibri"/>
            </a:endParaRPr>
          </a:p>
        </p:txBody>
      </p:sp>
      <p:cxnSp>
        <p:nvCxnSpPr>
          <p:cNvPr id="4" name="Straight Arrow Connector 3">
            <a:extLst>
              <a:ext uri="{FF2B5EF4-FFF2-40B4-BE49-F238E27FC236}">
                <a16:creationId xmlns:a16="http://schemas.microsoft.com/office/drawing/2014/main" id="{3A53F23F-1F99-9836-7F9D-82724D533348}"/>
              </a:ext>
            </a:extLst>
          </p:cNvPr>
          <p:cNvCxnSpPr>
            <a:cxnSpLocks/>
          </p:cNvCxnSpPr>
          <p:nvPr/>
        </p:nvCxnSpPr>
        <p:spPr>
          <a:xfrm flipV="1">
            <a:off x="8077200" y="1143000"/>
            <a:ext cx="711200" cy="173038"/>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D6D141EB-8B85-E31C-BAE6-0CBEC711D919}"/>
              </a:ext>
            </a:extLst>
          </p:cNvPr>
          <p:cNvSpPr txBox="1"/>
          <p:nvPr/>
        </p:nvSpPr>
        <p:spPr>
          <a:xfrm>
            <a:off x="7769102" y="1143000"/>
            <a:ext cx="308098" cy="369332"/>
          </a:xfrm>
          <a:prstGeom prst="rect">
            <a:avLst/>
          </a:prstGeom>
          <a:noFill/>
        </p:spPr>
        <p:txBody>
          <a:bodyPr wrap="none" rtlCol="0">
            <a:spAutoFit/>
          </a:bodyPr>
          <a:lstStyle/>
          <a:p>
            <a:r>
              <a:rPr lang="en-GB" dirty="0">
                <a:solidFill>
                  <a:schemeClr val="accent5">
                    <a:lumMod val="60000"/>
                    <a:lumOff val="40000"/>
                  </a:schemeClr>
                </a:solidFill>
                <a:highlight>
                  <a:srgbClr val="FFFF00"/>
                </a:highlight>
              </a:rPr>
              <a:t>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9344E-B03B-79C2-734D-D91F2E74E35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14142AF-89FD-6301-74C5-6417E906B258}"/>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7D24E725-D7BC-3FE0-1DA4-58E5C7CF0727}"/>
              </a:ext>
            </a:extLst>
          </p:cNvPr>
          <p:cNvPicPr>
            <a:picLocks noChangeAspect="1"/>
          </p:cNvPicPr>
          <p:nvPr/>
        </p:nvPicPr>
        <p:blipFill>
          <a:blip r:embed="rId2"/>
          <a:stretch>
            <a:fillRect/>
          </a:stretch>
        </p:blipFill>
        <p:spPr>
          <a:xfrm>
            <a:off x="147018" y="0"/>
            <a:ext cx="11897963" cy="6858000"/>
          </a:xfrm>
          <a:prstGeom prst="rect">
            <a:avLst/>
          </a:prstGeom>
        </p:spPr>
      </p:pic>
      <p:cxnSp>
        <p:nvCxnSpPr>
          <p:cNvPr id="31" name="Straight Arrow Connector 30">
            <a:extLst>
              <a:ext uri="{FF2B5EF4-FFF2-40B4-BE49-F238E27FC236}">
                <a16:creationId xmlns:a16="http://schemas.microsoft.com/office/drawing/2014/main" id="{CD207B79-4989-C521-67CE-45B58A10A636}"/>
              </a:ext>
            </a:extLst>
          </p:cNvPr>
          <p:cNvCxnSpPr>
            <a:cxnSpLocks/>
          </p:cNvCxnSpPr>
          <p:nvPr/>
        </p:nvCxnSpPr>
        <p:spPr>
          <a:xfrm flipV="1">
            <a:off x="10804525" y="594518"/>
            <a:ext cx="711200" cy="173038"/>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 name="TextBox 31">
            <a:extLst>
              <a:ext uri="{FF2B5EF4-FFF2-40B4-BE49-F238E27FC236}">
                <a16:creationId xmlns:a16="http://schemas.microsoft.com/office/drawing/2014/main" id="{7F09CB9C-FBB5-8B50-ADDC-A0E109FDBBBC}"/>
              </a:ext>
            </a:extLst>
          </p:cNvPr>
          <p:cNvSpPr txBox="1"/>
          <p:nvPr/>
        </p:nvSpPr>
        <p:spPr>
          <a:xfrm>
            <a:off x="10556875" y="634144"/>
            <a:ext cx="308098" cy="369332"/>
          </a:xfrm>
          <a:prstGeom prst="rect">
            <a:avLst/>
          </a:prstGeom>
          <a:noFill/>
        </p:spPr>
        <p:txBody>
          <a:bodyPr wrap="none" rtlCol="0">
            <a:spAutoFit/>
          </a:bodyPr>
          <a:lstStyle/>
          <a:p>
            <a:r>
              <a:rPr lang="en-GB" dirty="0">
                <a:solidFill>
                  <a:schemeClr val="accent5">
                    <a:lumMod val="60000"/>
                    <a:lumOff val="40000"/>
                  </a:schemeClr>
                </a:solidFill>
                <a:highlight>
                  <a:srgbClr val="FFFF00"/>
                </a:highlight>
              </a:rPr>
              <a:t>1</a:t>
            </a:r>
          </a:p>
        </p:txBody>
      </p:sp>
    </p:spTree>
    <p:extLst>
      <p:ext uri="{BB962C8B-B14F-4D97-AF65-F5344CB8AC3E}">
        <p14:creationId xmlns:p14="http://schemas.microsoft.com/office/powerpoint/2010/main" val="3525939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3CAB-FCC7-2B9C-F623-DE373CA1C943}"/>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6A8D846-4311-C41E-9215-826BF78494DC}"/>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3D4DF2A7-A342-3C67-37CC-2BFF331D5594}"/>
              </a:ext>
            </a:extLst>
          </p:cNvPr>
          <p:cNvPicPr>
            <a:picLocks noChangeAspect="1"/>
          </p:cNvPicPr>
          <p:nvPr/>
        </p:nvPicPr>
        <p:blipFill>
          <a:blip r:embed="rId2"/>
          <a:stretch>
            <a:fillRect/>
          </a:stretch>
        </p:blipFill>
        <p:spPr>
          <a:xfrm>
            <a:off x="0" y="411462"/>
            <a:ext cx="12192000" cy="6035076"/>
          </a:xfrm>
          <a:prstGeom prst="rect">
            <a:avLst/>
          </a:prstGeom>
        </p:spPr>
      </p:pic>
      <p:cxnSp>
        <p:nvCxnSpPr>
          <p:cNvPr id="6" name="Straight Arrow Connector 5">
            <a:extLst>
              <a:ext uri="{FF2B5EF4-FFF2-40B4-BE49-F238E27FC236}">
                <a16:creationId xmlns:a16="http://schemas.microsoft.com/office/drawing/2014/main" id="{40815705-3F8D-BA3D-4511-A306A907BACD}"/>
              </a:ext>
            </a:extLst>
          </p:cNvPr>
          <p:cNvCxnSpPr>
            <a:cxnSpLocks/>
          </p:cNvCxnSpPr>
          <p:nvPr/>
        </p:nvCxnSpPr>
        <p:spPr>
          <a:xfrm flipV="1">
            <a:off x="10941050" y="730250"/>
            <a:ext cx="711200" cy="173038"/>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7791780B-D7F0-8382-B73C-9F693804E5C4}"/>
              </a:ext>
            </a:extLst>
          </p:cNvPr>
          <p:cNvSpPr txBox="1"/>
          <p:nvPr/>
        </p:nvSpPr>
        <p:spPr>
          <a:xfrm>
            <a:off x="10699750" y="752511"/>
            <a:ext cx="308098" cy="369332"/>
          </a:xfrm>
          <a:prstGeom prst="rect">
            <a:avLst/>
          </a:prstGeom>
          <a:noFill/>
        </p:spPr>
        <p:txBody>
          <a:bodyPr wrap="none" rtlCol="0">
            <a:spAutoFit/>
          </a:bodyPr>
          <a:lstStyle/>
          <a:p>
            <a:r>
              <a:rPr lang="en-GB" dirty="0">
                <a:solidFill>
                  <a:schemeClr val="accent5">
                    <a:lumMod val="60000"/>
                    <a:lumOff val="40000"/>
                  </a:schemeClr>
                </a:solidFill>
                <a:highlight>
                  <a:srgbClr val="FFFF00"/>
                </a:highlight>
              </a:rPr>
              <a:t>1</a:t>
            </a:r>
          </a:p>
        </p:txBody>
      </p:sp>
      <p:cxnSp>
        <p:nvCxnSpPr>
          <p:cNvPr id="8" name="Straight Arrow Connector 7">
            <a:extLst>
              <a:ext uri="{FF2B5EF4-FFF2-40B4-BE49-F238E27FC236}">
                <a16:creationId xmlns:a16="http://schemas.microsoft.com/office/drawing/2014/main" id="{103DA618-9FB9-B414-C10F-3CCECE151BA4}"/>
              </a:ext>
            </a:extLst>
          </p:cNvPr>
          <p:cNvCxnSpPr>
            <a:cxnSpLocks/>
          </p:cNvCxnSpPr>
          <p:nvPr/>
        </p:nvCxnSpPr>
        <p:spPr>
          <a:xfrm flipH="1">
            <a:off x="1492250" y="3210445"/>
            <a:ext cx="412750" cy="85205"/>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D1DF49BA-18B3-30CE-700A-7428108FF7E9}"/>
              </a:ext>
            </a:extLst>
          </p:cNvPr>
          <p:cNvSpPr txBox="1"/>
          <p:nvPr/>
        </p:nvSpPr>
        <p:spPr>
          <a:xfrm>
            <a:off x="1861953" y="3025779"/>
            <a:ext cx="308098" cy="369332"/>
          </a:xfrm>
          <a:prstGeom prst="rect">
            <a:avLst/>
          </a:prstGeom>
          <a:noFill/>
        </p:spPr>
        <p:txBody>
          <a:bodyPr wrap="none" rtlCol="0">
            <a:spAutoFit/>
          </a:bodyPr>
          <a:lstStyle/>
          <a:p>
            <a:r>
              <a:rPr lang="en-GB" dirty="0">
                <a:solidFill>
                  <a:schemeClr val="accent5">
                    <a:lumMod val="60000"/>
                    <a:lumOff val="40000"/>
                  </a:schemeClr>
                </a:solidFill>
                <a:highlight>
                  <a:srgbClr val="FFFF00"/>
                </a:highlight>
              </a:rPr>
              <a:t>2</a:t>
            </a:r>
          </a:p>
        </p:txBody>
      </p:sp>
      <p:cxnSp>
        <p:nvCxnSpPr>
          <p:cNvPr id="11" name="Straight Arrow Connector 10">
            <a:extLst>
              <a:ext uri="{FF2B5EF4-FFF2-40B4-BE49-F238E27FC236}">
                <a16:creationId xmlns:a16="http://schemas.microsoft.com/office/drawing/2014/main" id="{1A7C601E-A754-425E-CB05-30F63F71C8AD}"/>
              </a:ext>
            </a:extLst>
          </p:cNvPr>
          <p:cNvCxnSpPr>
            <a:cxnSpLocks/>
          </p:cNvCxnSpPr>
          <p:nvPr/>
        </p:nvCxnSpPr>
        <p:spPr>
          <a:xfrm flipH="1">
            <a:off x="4552950" y="2498170"/>
            <a:ext cx="646051" cy="27043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0" name="Picture 19">
            <a:extLst>
              <a:ext uri="{FF2B5EF4-FFF2-40B4-BE49-F238E27FC236}">
                <a16:creationId xmlns:a16="http://schemas.microsoft.com/office/drawing/2014/main" id="{FF41098D-2BDA-6147-22AF-0F6B9E52FFF0}"/>
              </a:ext>
            </a:extLst>
          </p:cNvPr>
          <p:cNvPicPr>
            <a:picLocks noChangeAspect="1"/>
          </p:cNvPicPr>
          <p:nvPr/>
        </p:nvPicPr>
        <p:blipFill>
          <a:blip r:embed="rId3"/>
          <a:stretch>
            <a:fillRect/>
          </a:stretch>
        </p:blipFill>
        <p:spPr>
          <a:xfrm>
            <a:off x="8299849" y="4449501"/>
            <a:ext cx="2761851" cy="2143284"/>
          </a:xfrm>
          <a:prstGeom prst="rect">
            <a:avLst/>
          </a:prstGeom>
        </p:spPr>
      </p:pic>
      <p:sp>
        <p:nvSpPr>
          <p:cNvPr id="21" name="TextBox 20">
            <a:extLst>
              <a:ext uri="{FF2B5EF4-FFF2-40B4-BE49-F238E27FC236}">
                <a16:creationId xmlns:a16="http://schemas.microsoft.com/office/drawing/2014/main" id="{03E2314C-1B7F-3F51-2996-156A67FB68E8}"/>
              </a:ext>
            </a:extLst>
          </p:cNvPr>
          <p:cNvSpPr txBox="1"/>
          <p:nvPr/>
        </p:nvSpPr>
        <p:spPr>
          <a:xfrm>
            <a:off x="5197352" y="2281238"/>
            <a:ext cx="308098" cy="369332"/>
          </a:xfrm>
          <a:prstGeom prst="rect">
            <a:avLst/>
          </a:prstGeom>
          <a:noFill/>
        </p:spPr>
        <p:txBody>
          <a:bodyPr wrap="square" rtlCol="0">
            <a:spAutoFit/>
          </a:bodyPr>
          <a:lstStyle/>
          <a:p>
            <a:r>
              <a:rPr lang="en-GB" dirty="0">
                <a:solidFill>
                  <a:schemeClr val="accent5">
                    <a:lumMod val="60000"/>
                    <a:lumOff val="40000"/>
                  </a:schemeClr>
                </a:solidFill>
                <a:highlight>
                  <a:srgbClr val="FFFF00"/>
                </a:highlight>
              </a:rPr>
              <a:t>3</a:t>
            </a:r>
          </a:p>
        </p:txBody>
      </p:sp>
      <p:cxnSp>
        <p:nvCxnSpPr>
          <p:cNvPr id="22" name="Straight Arrow Connector 21">
            <a:extLst>
              <a:ext uri="{FF2B5EF4-FFF2-40B4-BE49-F238E27FC236}">
                <a16:creationId xmlns:a16="http://schemas.microsoft.com/office/drawing/2014/main" id="{9C65F2F1-C5F8-A522-5AD7-BE6E6DA13A44}"/>
              </a:ext>
            </a:extLst>
          </p:cNvPr>
          <p:cNvCxnSpPr>
            <a:cxnSpLocks/>
          </p:cNvCxnSpPr>
          <p:nvPr/>
        </p:nvCxnSpPr>
        <p:spPr>
          <a:xfrm flipH="1">
            <a:off x="8731250" y="4815920"/>
            <a:ext cx="646051" cy="27043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 name="TextBox 22">
            <a:extLst>
              <a:ext uri="{FF2B5EF4-FFF2-40B4-BE49-F238E27FC236}">
                <a16:creationId xmlns:a16="http://schemas.microsoft.com/office/drawing/2014/main" id="{21E0FB43-7CD9-AB3B-FB81-89BE05067C2A}"/>
              </a:ext>
            </a:extLst>
          </p:cNvPr>
          <p:cNvSpPr txBox="1"/>
          <p:nvPr/>
        </p:nvSpPr>
        <p:spPr>
          <a:xfrm>
            <a:off x="9375652" y="4598988"/>
            <a:ext cx="308098" cy="369332"/>
          </a:xfrm>
          <a:prstGeom prst="rect">
            <a:avLst/>
          </a:prstGeom>
          <a:noFill/>
        </p:spPr>
        <p:txBody>
          <a:bodyPr wrap="square" rtlCol="0">
            <a:spAutoFit/>
          </a:bodyPr>
          <a:lstStyle/>
          <a:p>
            <a:r>
              <a:rPr lang="en-GB" dirty="0">
                <a:solidFill>
                  <a:schemeClr val="accent5">
                    <a:lumMod val="60000"/>
                    <a:lumOff val="40000"/>
                  </a:schemeClr>
                </a:solidFill>
                <a:highlight>
                  <a:srgbClr val="FFFF00"/>
                </a:highlight>
              </a:rPr>
              <a:t>4</a:t>
            </a:r>
          </a:p>
        </p:txBody>
      </p:sp>
    </p:spTree>
    <p:extLst>
      <p:ext uri="{BB962C8B-B14F-4D97-AF65-F5344CB8AC3E}">
        <p14:creationId xmlns:p14="http://schemas.microsoft.com/office/powerpoint/2010/main" val="1720302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3BCBA-B704-F38E-E848-1A19C64CF046}"/>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821B619-D586-CA45-8B5A-0FA32048B8D2}"/>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43D4225D-FC0F-86D3-417D-B84E6E616499}"/>
              </a:ext>
            </a:extLst>
          </p:cNvPr>
          <p:cNvPicPr>
            <a:picLocks noChangeAspect="1"/>
          </p:cNvPicPr>
          <p:nvPr/>
        </p:nvPicPr>
        <p:blipFill>
          <a:blip r:embed="rId2"/>
          <a:stretch>
            <a:fillRect/>
          </a:stretch>
        </p:blipFill>
        <p:spPr>
          <a:xfrm>
            <a:off x="0" y="99042"/>
            <a:ext cx="12192000" cy="6659915"/>
          </a:xfrm>
          <a:prstGeom prst="rect">
            <a:avLst/>
          </a:prstGeom>
        </p:spPr>
      </p:pic>
      <p:cxnSp>
        <p:nvCxnSpPr>
          <p:cNvPr id="6" name="Straight Arrow Connector 5">
            <a:extLst>
              <a:ext uri="{FF2B5EF4-FFF2-40B4-BE49-F238E27FC236}">
                <a16:creationId xmlns:a16="http://schemas.microsoft.com/office/drawing/2014/main" id="{C780D9D4-099E-0801-335A-263090E7180F}"/>
              </a:ext>
            </a:extLst>
          </p:cNvPr>
          <p:cNvCxnSpPr>
            <a:cxnSpLocks/>
          </p:cNvCxnSpPr>
          <p:nvPr/>
        </p:nvCxnSpPr>
        <p:spPr>
          <a:xfrm flipV="1">
            <a:off x="9874250" y="854868"/>
            <a:ext cx="711200" cy="173038"/>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B83F5C48-E73B-146F-8ED0-818B2BEEAC0A}"/>
              </a:ext>
            </a:extLst>
          </p:cNvPr>
          <p:cNvSpPr txBox="1"/>
          <p:nvPr/>
        </p:nvSpPr>
        <p:spPr>
          <a:xfrm>
            <a:off x="9626600" y="894494"/>
            <a:ext cx="308098" cy="369332"/>
          </a:xfrm>
          <a:prstGeom prst="rect">
            <a:avLst/>
          </a:prstGeom>
          <a:noFill/>
        </p:spPr>
        <p:txBody>
          <a:bodyPr wrap="none" rtlCol="0">
            <a:spAutoFit/>
          </a:bodyPr>
          <a:lstStyle/>
          <a:p>
            <a:r>
              <a:rPr lang="en-GB" dirty="0">
                <a:solidFill>
                  <a:schemeClr val="accent5">
                    <a:lumMod val="60000"/>
                    <a:lumOff val="40000"/>
                  </a:schemeClr>
                </a:solidFill>
                <a:highlight>
                  <a:srgbClr val="FFFF00"/>
                </a:highlight>
              </a:rPr>
              <a:t>2</a:t>
            </a:r>
          </a:p>
        </p:txBody>
      </p:sp>
      <p:cxnSp>
        <p:nvCxnSpPr>
          <p:cNvPr id="11" name="Straight Arrow Connector 10">
            <a:extLst>
              <a:ext uri="{FF2B5EF4-FFF2-40B4-BE49-F238E27FC236}">
                <a16:creationId xmlns:a16="http://schemas.microsoft.com/office/drawing/2014/main" id="{E94CEEE4-4D5F-E245-838A-920A79027915}"/>
              </a:ext>
            </a:extLst>
          </p:cNvPr>
          <p:cNvCxnSpPr>
            <a:cxnSpLocks/>
          </p:cNvCxnSpPr>
          <p:nvPr/>
        </p:nvCxnSpPr>
        <p:spPr>
          <a:xfrm flipV="1">
            <a:off x="3841750" y="4715668"/>
            <a:ext cx="711200" cy="173038"/>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D5456932-BDA5-A48D-4D79-CCC5C7625FF0}"/>
              </a:ext>
            </a:extLst>
          </p:cNvPr>
          <p:cNvSpPr txBox="1"/>
          <p:nvPr/>
        </p:nvSpPr>
        <p:spPr>
          <a:xfrm>
            <a:off x="3594100" y="4755294"/>
            <a:ext cx="308098" cy="369332"/>
          </a:xfrm>
          <a:prstGeom prst="rect">
            <a:avLst/>
          </a:prstGeom>
          <a:noFill/>
        </p:spPr>
        <p:txBody>
          <a:bodyPr wrap="none" rtlCol="0">
            <a:spAutoFit/>
          </a:bodyPr>
          <a:lstStyle/>
          <a:p>
            <a:r>
              <a:rPr lang="en-GB" dirty="0">
                <a:solidFill>
                  <a:schemeClr val="accent5">
                    <a:lumMod val="60000"/>
                    <a:lumOff val="40000"/>
                  </a:schemeClr>
                </a:solidFill>
                <a:highlight>
                  <a:srgbClr val="FFFF00"/>
                </a:highlight>
              </a:rPr>
              <a:t>3</a:t>
            </a:r>
          </a:p>
        </p:txBody>
      </p:sp>
      <p:pic>
        <p:nvPicPr>
          <p:cNvPr id="14" name="Picture 13">
            <a:extLst>
              <a:ext uri="{FF2B5EF4-FFF2-40B4-BE49-F238E27FC236}">
                <a16:creationId xmlns:a16="http://schemas.microsoft.com/office/drawing/2014/main" id="{4177DD0F-60C1-E0FD-7AB9-BB35C0627461}"/>
              </a:ext>
            </a:extLst>
          </p:cNvPr>
          <p:cNvPicPr>
            <a:picLocks noChangeAspect="1"/>
          </p:cNvPicPr>
          <p:nvPr/>
        </p:nvPicPr>
        <p:blipFill>
          <a:blip r:embed="rId3"/>
          <a:stretch>
            <a:fillRect/>
          </a:stretch>
        </p:blipFill>
        <p:spPr>
          <a:xfrm>
            <a:off x="9058154" y="3840492"/>
            <a:ext cx="2899481" cy="2471408"/>
          </a:xfrm>
          <a:prstGeom prst="rect">
            <a:avLst/>
          </a:prstGeom>
        </p:spPr>
      </p:pic>
      <p:cxnSp>
        <p:nvCxnSpPr>
          <p:cNvPr id="15" name="Straight Arrow Connector 14">
            <a:extLst>
              <a:ext uri="{FF2B5EF4-FFF2-40B4-BE49-F238E27FC236}">
                <a16:creationId xmlns:a16="http://schemas.microsoft.com/office/drawing/2014/main" id="{9FBFE661-8470-4A94-7A94-CC25690B08DE}"/>
              </a:ext>
            </a:extLst>
          </p:cNvPr>
          <p:cNvCxnSpPr>
            <a:cxnSpLocks/>
            <a:stCxn id="16" idx="1"/>
          </p:cNvCxnSpPr>
          <p:nvPr/>
        </p:nvCxnSpPr>
        <p:spPr>
          <a:xfrm flipH="1" flipV="1">
            <a:off x="7797800" y="6381441"/>
            <a:ext cx="301504" cy="106332"/>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8D095055-E957-27FB-6079-D174AA55302E}"/>
              </a:ext>
            </a:extLst>
          </p:cNvPr>
          <p:cNvSpPr txBox="1"/>
          <p:nvPr/>
        </p:nvSpPr>
        <p:spPr>
          <a:xfrm>
            <a:off x="8099304" y="6303107"/>
            <a:ext cx="308098" cy="369332"/>
          </a:xfrm>
          <a:prstGeom prst="rect">
            <a:avLst/>
          </a:prstGeom>
          <a:noFill/>
        </p:spPr>
        <p:txBody>
          <a:bodyPr wrap="none" rtlCol="0">
            <a:spAutoFit/>
          </a:bodyPr>
          <a:lstStyle/>
          <a:p>
            <a:r>
              <a:rPr lang="en-GB" dirty="0">
                <a:solidFill>
                  <a:schemeClr val="accent5">
                    <a:lumMod val="60000"/>
                    <a:lumOff val="40000"/>
                  </a:schemeClr>
                </a:solidFill>
                <a:highlight>
                  <a:srgbClr val="FFFF00"/>
                </a:highlight>
              </a:rPr>
              <a:t>4</a:t>
            </a:r>
          </a:p>
        </p:txBody>
      </p:sp>
      <p:cxnSp>
        <p:nvCxnSpPr>
          <p:cNvPr id="19" name="Straight Arrow Connector 18">
            <a:extLst>
              <a:ext uri="{FF2B5EF4-FFF2-40B4-BE49-F238E27FC236}">
                <a16:creationId xmlns:a16="http://schemas.microsoft.com/office/drawing/2014/main" id="{85743EC2-0AF1-F297-C72B-5B7ACEC39840}"/>
              </a:ext>
            </a:extLst>
          </p:cNvPr>
          <p:cNvCxnSpPr>
            <a:cxnSpLocks/>
          </p:cNvCxnSpPr>
          <p:nvPr/>
        </p:nvCxnSpPr>
        <p:spPr>
          <a:xfrm flipV="1">
            <a:off x="11236617" y="5323280"/>
            <a:ext cx="234365" cy="184666"/>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TextBox 19">
            <a:extLst>
              <a:ext uri="{FF2B5EF4-FFF2-40B4-BE49-F238E27FC236}">
                <a16:creationId xmlns:a16="http://schemas.microsoft.com/office/drawing/2014/main" id="{D1A8E2CD-B5F6-59F0-1EA4-01772D766EF0}"/>
              </a:ext>
            </a:extLst>
          </p:cNvPr>
          <p:cNvSpPr txBox="1"/>
          <p:nvPr/>
        </p:nvSpPr>
        <p:spPr>
          <a:xfrm>
            <a:off x="10950244" y="5473122"/>
            <a:ext cx="308098" cy="369332"/>
          </a:xfrm>
          <a:prstGeom prst="rect">
            <a:avLst/>
          </a:prstGeom>
          <a:noFill/>
        </p:spPr>
        <p:txBody>
          <a:bodyPr wrap="none" rtlCol="0">
            <a:spAutoFit/>
          </a:bodyPr>
          <a:lstStyle/>
          <a:p>
            <a:r>
              <a:rPr lang="en-GB" dirty="0">
                <a:solidFill>
                  <a:schemeClr val="accent5">
                    <a:lumMod val="60000"/>
                    <a:lumOff val="40000"/>
                  </a:schemeClr>
                </a:solidFill>
                <a:highlight>
                  <a:srgbClr val="FFFF00"/>
                </a:highlight>
              </a:rPr>
              <a:t>5</a:t>
            </a:r>
          </a:p>
        </p:txBody>
      </p:sp>
      <p:pic>
        <p:nvPicPr>
          <p:cNvPr id="26" name="Picture 25">
            <a:extLst>
              <a:ext uri="{FF2B5EF4-FFF2-40B4-BE49-F238E27FC236}">
                <a16:creationId xmlns:a16="http://schemas.microsoft.com/office/drawing/2014/main" id="{FBDDC6D6-6ED0-503C-0385-70C50D61A877}"/>
              </a:ext>
            </a:extLst>
          </p:cNvPr>
          <p:cNvPicPr>
            <a:picLocks noChangeAspect="1"/>
          </p:cNvPicPr>
          <p:nvPr/>
        </p:nvPicPr>
        <p:blipFill>
          <a:blip r:embed="rId4"/>
          <a:stretch>
            <a:fillRect/>
          </a:stretch>
        </p:blipFill>
        <p:spPr>
          <a:xfrm>
            <a:off x="8614588" y="6381442"/>
            <a:ext cx="3577412" cy="197498"/>
          </a:xfrm>
          <a:prstGeom prst="rect">
            <a:avLst/>
          </a:prstGeom>
        </p:spPr>
      </p:pic>
      <p:cxnSp>
        <p:nvCxnSpPr>
          <p:cNvPr id="27" name="Straight Arrow Connector 26">
            <a:extLst>
              <a:ext uri="{FF2B5EF4-FFF2-40B4-BE49-F238E27FC236}">
                <a16:creationId xmlns:a16="http://schemas.microsoft.com/office/drawing/2014/main" id="{CBC3EB9B-B471-E9E0-E4E3-D6A61D5D4895}"/>
              </a:ext>
            </a:extLst>
          </p:cNvPr>
          <p:cNvCxnSpPr>
            <a:cxnSpLocks/>
          </p:cNvCxnSpPr>
          <p:nvPr/>
        </p:nvCxnSpPr>
        <p:spPr>
          <a:xfrm flipH="1">
            <a:off x="9112250" y="6118607"/>
            <a:ext cx="514350" cy="262834"/>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BE592ED7-B0E3-FC72-E05D-6EC492F5224E}"/>
              </a:ext>
            </a:extLst>
          </p:cNvPr>
          <p:cNvSpPr txBox="1"/>
          <p:nvPr/>
        </p:nvSpPr>
        <p:spPr>
          <a:xfrm>
            <a:off x="9566152" y="5870703"/>
            <a:ext cx="308098" cy="369332"/>
          </a:xfrm>
          <a:prstGeom prst="rect">
            <a:avLst/>
          </a:prstGeom>
          <a:noFill/>
        </p:spPr>
        <p:txBody>
          <a:bodyPr wrap="none" rtlCol="0">
            <a:spAutoFit/>
          </a:bodyPr>
          <a:lstStyle/>
          <a:p>
            <a:r>
              <a:rPr lang="en-GB" dirty="0">
                <a:solidFill>
                  <a:schemeClr val="accent5">
                    <a:lumMod val="60000"/>
                    <a:lumOff val="40000"/>
                  </a:schemeClr>
                </a:solidFill>
                <a:highlight>
                  <a:srgbClr val="FFFF00"/>
                </a:highlight>
              </a:rPr>
              <a:t>6</a:t>
            </a:r>
          </a:p>
        </p:txBody>
      </p:sp>
      <p:sp>
        <p:nvSpPr>
          <p:cNvPr id="33" name="TextBox 32">
            <a:extLst>
              <a:ext uri="{FF2B5EF4-FFF2-40B4-BE49-F238E27FC236}">
                <a16:creationId xmlns:a16="http://schemas.microsoft.com/office/drawing/2014/main" id="{FCFC5B1B-21E7-FEED-B770-D4C8BCF399A3}"/>
              </a:ext>
            </a:extLst>
          </p:cNvPr>
          <p:cNvSpPr txBox="1"/>
          <p:nvPr/>
        </p:nvSpPr>
        <p:spPr>
          <a:xfrm>
            <a:off x="1447800" y="2774950"/>
            <a:ext cx="308098" cy="369332"/>
          </a:xfrm>
          <a:prstGeom prst="rect">
            <a:avLst/>
          </a:prstGeom>
          <a:noFill/>
        </p:spPr>
        <p:txBody>
          <a:bodyPr wrap="none" rtlCol="0">
            <a:spAutoFit/>
          </a:bodyPr>
          <a:lstStyle/>
          <a:p>
            <a:r>
              <a:rPr lang="en-GB" dirty="0">
                <a:solidFill>
                  <a:schemeClr val="accent5">
                    <a:lumMod val="60000"/>
                    <a:lumOff val="40000"/>
                  </a:schemeClr>
                </a:solidFill>
                <a:highlight>
                  <a:srgbClr val="FFFF00"/>
                </a:highlight>
              </a:rPr>
              <a:t>1</a:t>
            </a:r>
          </a:p>
        </p:txBody>
      </p:sp>
      <p:cxnSp>
        <p:nvCxnSpPr>
          <p:cNvPr id="34" name="Straight Arrow Connector 33">
            <a:extLst>
              <a:ext uri="{FF2B5EF4-FFF2-40B4-BE49-F238E27FC236}">
                <a16:creationId xmlns:a16="http://schemas.microsoft.com/office/drawing/2014/main" id="{DBC99892-8A21-2E35-EEDB-676864253CED}"/>
              </a:ext>
            </a:extLst>
          </p:cNvPr>
          <p:cNvCxnSpPr>
            <a:cxnSpLocks/>
            <a:stCxn id="33" idx="1"/>
          </p:cNvCxnSpPr>
          <p:nvPr/>
        </p:nvCxnSpPr>
        <p:spPr>
          <a:xfrm flipH="1" flipV="1">
            <a:off x="1238250" y="2731690"/>
            <a:ext cx="209550" cy="227926"/>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85474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2A193-1F5B-1C62-7E89-4142ACA956B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510E829-76FA-2DD7-A4E8-2FFC4B9E6464}"/>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DF01E962-C78A-5C9A-DC87-33E6F57B1FC1}"/>
              </a:ext>
            </a:extLst>
          </p:cNvPr>
          <p:cNvPicPr>
            <a:picLocks noChangeAspect="1"/>
          </p:cNvPicPr>
          <p:nvPr/>
        </p:nvPicPr>
        <p:blipFill>
          <a:blip r:embed="rId2"/>
          <a:stretch>
            <a:fillRect/>
          </a:stretch>
        </p:blipFill>
        <p:spPr>
          <a:xfrm>
            <a:off x="1751740" y="0"/>
            <a:ext cx="8688519" cy="6858000"/>
          </a:xfrm>
          <a:prstGeom prst="rect">
            <a:avLst/>
          </a:prstGeom>
        </p:spPr>
      </p:pic>
    </p:spTree>
    <p:extLst>
      <p:ext uri="{BB962C8B-B14F-4D97-AF65-F5344CB8AC3E}">
        <p14:creationId xmlns:p14="http://schemas.microsoft.com/office/powerpoint/2010/main" val="90579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65A4E-3961-3365-1985-2F9C70801B8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9BD5566-9F62-6A64-F90B-6FD0D398A8F9}"/>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56227FC8-4ED9-13F5-1B64-1C76DD941825}"/>
              </a:ext>
            </a:extLst>
          </p:cNvPr>
          <p:cNvPicPr>
            <a:picLocks noChangeAspect="1"/>
          </p:cNvPicPr>
          <p:nvPr/>
        </p:nvPicPr>
        <p:blipFill>
          <a:blip r:embed="rId2"/>
          <a:stretch>
            <a:fillRect/>
          </a:stretch>
        </p:blipFill>
        <p:spPr>
          <a:xfrm>
            <a:off x="1685435" y="0"/>
            <a:ext cx="8821129" cy="6858000"/>
          </a:xfrm>
          <a:prstGeom prst="rect">
            <a:avLst/>
          </a:prstGeom>
        </p:spPr>
      </p:pic>
    </p:spTree>
    <p:extLst>
      <p:ext uri="{BB962C8B-B14F-4D97-AF65-F5344CB8AC3E}">
        <p14:creationId xmlns:p14="http://schemas.microsoft.com/office/powerpoint/2010/main" val="1178053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319</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 MT</vt:lpstr>
      <vt:lpstr>Calibri</vt:lpstr>
      <vt:lpstr>Verdana</vt:lpstr>
      <vt:lpstr>Office Theme</vt:lpstr>
      <vt:lpstr>Welcome to the</vt:lpstr>
      <vt:lpstr>PowerPoint Presentation</vt:lpstr>
      <vt:lpstr>Also available to developers via OpenAI API</vt:lpstr>
      <vt:lpstr>Why are AI Applications not yet widely adopted? The long tail of AI applications will change due to low code and prompt-based development</vt:lpstr>
      <vt:lpstr>PowerPoint Presentation</vt:lpstr>
      <vt:lpstr>https://www.techventurebootcamp.org/</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GenAI_OpenAI_Tutotial_1.0</dc:title>
  <cp:lastModifiedBy>Manoel Gadi</cp:lastModifiedBy>
  <cp:revision>3</cp:revision>
  <dcterms:created xsi:type="dcterms:W3CDTF">2025-02-27T14:24:57Z</dcterms:created>
  <dcterms:modified xsi:type="dcterms:W3CDTF">2025-10-02T16:46:40Z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2025-02-27T00:00:00Z</vt:filetime>
  </property>
  <property fmtid="{D5CDD505-2E9C-101B-9397-08002B2CF9AE}" pid="3" name="Creator">
    <vt:lpwstr>Google</vt:lpwstr>
  </property>
  <property fmtid="{D5CDD505-2E9C-101B-9397-08002B2CF9AE}" pid="4" name="LastSaved">
    <vt:filetime>2025-02-27T00:00:00Z</vt:filetime>
  </property>
</Properties>
</file>
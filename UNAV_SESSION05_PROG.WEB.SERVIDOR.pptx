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Lst>
  <p:notesMasterIdLst>
    <p:notesMasterId r:id="rId138"/>
  </p:notesMasterIdLst>
  <p:sldIdLst>
    <p:sldId id="256" r:id="rId2"/>
    <p:sldId id="264" r:id="rId3"/>
    <p:sldId id="257" r:id="rId4"/>
    <p:sldId id="258" r:id="rId5"/>
    <p:sldId id="259" r:id="rId6"/>
    <p:sldId id="260" r:id="rId7"/>
    <p:sldId id="405" r:id="rId8"/>
    <p:sldId id="451" r:id="rId9"/>
    <p:sldId id="452" r:id="rId10"/>
    <p:sldId id="453" r:id="rId11"/>
    <p:sldId id="454" r:id="rId12"/>
    <p:sldId id="455" r:id="rId13"/>
    <p:sldId id="428" r:id="rId14"/>
    <p:sldId id="386" r:id="rId15"/>
    <p:sldId id="387" r:id="rId16"/>
    <p:sldId id="388" r:id="rId17"/>
    <p:sldId id="389" r:id="rId18"/>
    <p:sldId id="390" r:id="rId19"/>
    <p:sldId id="391" r:id="rId20"/>
    <p:sldId id="392" r:id="rId21"/>
    <p:sldId id="393" r:id="rId22"/>
    <p:sldId id="394" r:id="rId23"/>
    <p:sldId id="395" r:id="rId24"/>
    <p:sldId id="396" r:id="rId25"/>
    <p:sldId id="423" r:id="rId26"/>
    <p:sldId id="425" r:id="rId27"/>
    <p:sldId id="426" r:id="rId28"/>
    <p:sldId id="427" r:id="rId29"/>
    <p:sldId id="429" r:id="rId30"/>
    <p:sldId id="457" r:id="rId31"/>
    <p:sldId id="440" r:id="rId32"/>
    <p:sldId id="442" r:id="rId33"/>
    <p:sldId id="443" r:id="rId34"/>
    <p:sldId id="444" r:id="rId35"/>
    <p:sldId id="445" r:id="rId36"/>
    <p:sldId id="447" r:id="rId37"/>
    <p:sldId id="449" r:id="rId38"/>
    <p:sldId id="456" r:id="rId39"/>
    <p:sldId id="448" r:id="rId40"/>
    <p:sldId id="433" r:id="rId41"/>
    <p:sldId id="358" r:id="rId42"/>
    <p:sldId id="458" r:id="rId43"/>
    <p:sldId id="461" r:id="rId44"/>
    <p:sldId id="462" r:id="rId45"/>
    <p:sldId id="463" r:id="rId46"/>
    <p:sldId id="464" r:id="rId47"/>
    <p:sldId id="465" r:id="rId48"/>
    <p:sldId id="466" r:id="rId49"/>
    <p:sldId id="467" r:id="rId50"/>
    <p:sldId id="468" r:id="rId51"/>
    <p:sldId id="469" r:id="rId52"/>
    <p:sldId id="470" r:id="rId53"/>
    <p:sldId id="471" r:id="rId54"/>
    <p:sldId id="472" r:id="rId55"/>
    <p:sldId id="473" r:id="rId56"/>
    <p:sldId id="474" r:id="rId57"/>
    <p:sldId id="475" r:id="rId58"/>
    <p:sldId id="476" r:id="rId59"/>
    <p:sldId id="477" r:id="rId60"/>
    <p:sldId id="478" r:id="rId61"/>
    <p:sldId id="479" r:id="rId62"/>
    <p:sldId id="480" r:id="rId63"/>
    <p:sldId id="481" r:id="rId64"/>
    <p:sldId id="482" r:id="rId65"/>
    <p:sldId id="483" r:id="rId66"/>
    <p:sldId id="360" r:id="rId67"/>
    <p:sldId id="361" r:id="rId68"/>
    <p:sldId id="362" r:id="rId69"/>
    <p:sldId id="363" r:id="rId70"/>
    <p:sldId id="364" r:id="rId71"/>
    <p:sldId id="365" r:id="rId72"/>
    <p:sldId id="366" r:id="rId73"/>
    <p:sldId id="367" r:id="rId74"/>
    <p:sldId id="368" r:id="rId75"/>
    <p:sldId id="369" r:id="rId76"/>
    <p:sldId id="370" r:id="rId77"/>
    <p:sldId id="371" r:id="rId78"/>
    <p:sldId id="372" r:id="rId79"/>
    <p:sldId id="373" r:id="rId80"/>
    <p:sldId id="374" r:id="rId81"/>
    <p:sldId id="375" r:id="rId82"/>
    <p:sldId id="376" r:id="rId83"/>
    <p:sldId id="377" r:id="rId84"/>
    <p:sldId id="261" r:id="rId85"/>
    <p:sldId id="268" r:id="rId86"/>
    <p:sldId id="263" r:id="rId87"/>
    <p:sldId id="267" r:id="rId88"/>
    <p:sldId id="262" r:id="rId89"/>
    <p:sldId id="337" r:id="rId90"/>
    <p:sldId id="484" r:id="rId91"/>
    <p:sldId id="485" r:id="rId92"/>
    <p:sldId id="486" r:id="rId93"/>
    <p:sldId id="487" r:id="rId94"/>
    <p:sldId id="488" r:id="rId95"/>
    <p:sldId id="489" r:id="rId96"/>
    <p:sldId id="293" r:id="rId97"/>
    <p:sldId id="294" r:id="rId98"/>
    <p:sldId id="295" r:id="rId99"/>
    <p:sldId id="296" r:id="rId100"/>
    <p:sldId id="297" r:id="rId101"/>
    <p:sldId id="298" r:id="rId102"/>
    <p:sldId id="299" r:id="rId103"/>
    <p:sldId id="300" r:id="rId104"/>
    <p:sldId id="345" r:id="rId105"/>
    <p:sldId id="346" r:id="rId106"/>
    <p:sldId id="347" r:id="rId107"/>
    <p:sldId id="348" r:id="rId108"/>
    <p:sldId id="349" r:id="rId109"/>
    <p:sldId id="350" r:id="rId110"/>
    <p:sldId id="351" r:id="rId111"/>
    <p:sldId id="328" r:id="rId112"/>
    <p:sldId id="329" r:id="rId113"/>
    <p:sldId id="330" r:id="rId114"/>
    <p:sldId id="338" r:id="rId115"/>
    <p:sldId id="339" r:id="rId116"/>
    <p:sldId id="340" r:id="rId117"/>
    <p:sldId id="341" r:id="rId118"/>
    <p:sldId id="342" r:id="rId119"/>
    <p:sldId id="343" r:id="rId120"/>
    <p:sldId id="344" r:id="rId121"/>
    <p:sldId id="421" r:id="rId122"/>
    <p:sldId id="406" r:id="rId123"/>
    <p:sldId id="407" r:id="rId124"/>
    <p:sldId id="408" r:id="rId125"/>
    <p:sldId id="409" r:id="rId126"/>
    <p:sldId id="410" r:id="rId127"/>
    <p:sldId id="411" r:id="rId128"/>
    <p:sldId id="412" r:id="rId129"/>
    <p:sldId id="413" r:id="rId130"/>
    <p:sldId id="414" r:id="rId131"/>
    <p:sldId id="415" r:id="rId132"/>
    <p:sldId id="416" r:id="rId133"/>
    <p:sldId id="417" r:id="rId134"/>
    <p:sldId id="418" r:id="rId135"/>
    <p:sldId id="419" r:id="rId136"/>
    <p:sldId id="420" r:id="rId13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D86A97-554A-44AE-BD85-B71A436C5D0D}" type="datetimeFigureOut">
              <a:rPr lang="en-GB" smtClean="0"/>
              <a:pPr/>
              <a:t>22/09/2025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940197-3691-4D67-BF5E-915F7C98FCA0}"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c26b06de0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c26b06de0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c26b06de06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c26b06de06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c26b06de06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c26b06de0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26b06de06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26b06de06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c26b06de06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c26b06de06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c26b06de06_1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c26b06de06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9cd31fab9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9cd31fab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c3a339b9a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c3a339b9a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9cd31fab9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9cd31fab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c22db4110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c22db4110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100"/>
              </a:spcBef>
              <a:spcAft>
                <a:spcPts val="0"/>
              </a:spcAft>
              <a:buClr>
                <a:schemeClr val="dk1"/>
              </a:buClr>
              <a:buSzPts val="1100"/>
              <a:buFont typeface="Arial"/>
              <a:buNone/>
            </a:pPr>
            <a:r>
              <a:rPr lang="es" sz="1700">
                <a:solidFill>
                  <a:schemeClr val="dk1"/>
                </a:solidFill>
                <a:latin typeface="Roboto"/>
                <a:ea typeface="Roboto"/>
                <a:cs typeface="Roboto"/>
                <a:sym typeface="Roboto"/>
              </a:rPr>
              <a:t>Arquitectura</a:t>
            </a:r>
            <a:endParaRPr>
              <a:solidFill>
                <a:schemeClr val="dk1"/>
              </a:solidFill>
            </a:endParaRPr>
          </a:p>
          <a:p>
            <a:pPr marL="0" lvl="0" indent="0" algn="l" rtl="0">
              <a:lnSpc>
                <a:spcPct val="115000"/>
              </a:lnSpc>
              <a:spcBef>
                <a:spcPts val="1100"/>
              </a:spcBef>
              <a:spcAft>
                <a:spcPts val="0"/>
              </a:spcAft>
              <a:buClr>
                <a:schemeClr val="dk1"/>
              </a:buClr>
              <a:buSzPts val="1100"/>
              <a:buFont typeface="Arial"/>
              <a:buNone/>
            </a:pPr>
            <a:r>
              <a:rPr lang="es" sz="1600" b="1">
                <a:solidFill>
                  <a:srgbClr val="292929"/>
                </a:solidFill>
                <a:highlight>
                  <a:schemeClr val="lt1"/>
                </a:highlight>
                <a:latin typeface="Georgia"/>
                <a:ea typeface="Georgia"/>
                <a:cs typeface="Georgia"/>
                <a:sym typeface="Georgia"/>
              </a:rPr>
              <a:t>Modelo Vista Template</a:t>
            </a:r>
            <a:r>
              <a:rPr lang="es" sz="1600">
                <a:solidFill>
                  <a:srgbClr val="292929"/>
                </a:solidFill>
                <a:highlight>
                  <a:schemeClr val="lt1"/>
                </a:highlight>
                <a:latin typeface="Georgia"/>
                <a:ea typeface="Georgia"/>
                <a:cs typeface="Georgia"/>
                <a:sym typeface="Georgia"/>
              </a:rPr>
              <a:t> es ligeramente diferente de </a:t>
            </a:r>
            <a:r>
              <a:rPr lang="es" sz="1600" b="1">
                <a:solidFill>
                  <a:srgbClr val="292929"/>
                </a:solidFill>
                <a:highlight>
                  <a:schemeClr val="lt1"/>
                </a:highlight>
                <a:latin typeface="Georgia"/>
                <a:ea typeface="Georgia"/>
                <a:cs typeface="Georgia"/>
                <a:sym typeface="Georgia"/>
              </a:rPr>
              <a:t>MVC</a:t>
            </a:r>
            <a:r>
              <a:rPr lang="es" sz="1600">
                <a:solidFill>
                  <a:srgbClr val="292929"/>
                </a:solidFill>
                <a:highlight>
                  <a:schemeClr val="lt1"/>
                </a:highlight>
                <a:latin typeface="Georgia"/>
                <a:ea typeface="Georgia"/>
                <a:cs typeface="Georgia"/>
                <a:sym typeface="Georgia"/>
              </a:rPr>
              <a:t> . De hecho, la principal diferencia entre los dos patrones es que </a:t>
            </a:r>
            <a:r>
              <a:rPr lang="es" sz="1600" b="1">
                <a:solidFill>
                  <a:srgbClr val="292929"/>
                </a:solidFill>
                <a:highlight>
                  <a:schemeClr val="lt1"/>
                </a:highlight>
                <a:latin typeface="Georgia"/>
                <a:ea typeface="Georgia"/>
                <a:cs typeface="Georgia"/>
                <a:sym typeface="Georgia"/>
              </a:rPr>
              <a:t>Django</a:t>
            </a:r>
            <a:r>
              <a:rPr lang="es" sz="1600">
                <a:solidFill>
                  <a:srgbClr val="292929"/>
                </a:solidFill>
                <a:highlight>
                  <a:schemeClr val="lt1"/>
                </a:highlight>
                <a:latin typeface="Georgia"/>
                <a:ea typeface="Georgia"/>
                <a:cs typeface="Georgia"/>
                <a:sym typeface="Georgia"/>
              </a:rPr>
              <a:t> mismo se encarga de la parte del controlador , dejándonos con la plantilla</a:t>
            </a:r>
            <a:endParaRPr sz="1600">
              <a:solidFill>
                <a:srgbClr val="292929"/>
              </a:solidFill>
              <a:highlight>
                <a:schemeClr val="lt1"/>
              </a:highlight>
              <a:latin typeface="Georgia"/>
              <a:ea typeface="Georgia"/>
              <a:cs typeface="Georgia"/>
              <a:sym typeface="Georgia"/>
            </a:endParaRPr>
          </a:p>
          <a:p>
            <a:pPr marL="0" lvl="0" indent="0" algn="l" rtl="0">
              <a:lnSpc>
                <a:spcPct val="115000"/>
              </a:lnSpc>
              <a:spcBef>
                <a:spcPts val="1200"/>
              </a:spcBef>
              <a:spcAft>
                <a:spcPts val="0"/>
              </a:spcAft>
              <a:buClr>
                <a:srgbClr val="C0791B"/>
              </a:buClr>
              <a:buSzPts val="1100"/>
              <a:buFont typeface="Arial"/>
              <a:buNone/>
            </a:pPr>
            <a:r>
              <a:rPr lang="es" sz="1700">
                <a:solidFill>
                  <a:srgbClr val="C0791B"/>
                </a:solidFill>
                <a:latin typeface="Roboto"/>
                <a:ea typeface="Roboto"/>
                <a:cs typeface="Roboto"/>
                <a:sym typeface="Roboto"/>
              </a:rPr>
              <a:t>Modelo Vista Controlador es  </a:t>
            </a:r>
            <a:r>
              <a:rPr lang="es" sz="1200">
                <a:solidFill>
                  <a:srgbClr val="202124"/>
                </a:solidFill>
                <a:highlight>
                  <a:srgbClr val="FFFFFF"/>
                </a:highlight>
              </a:rPr>
              <a:t>es un patrón de arquitectura que separa una aplicación en tres componentes lógicos principales: el modelo, la vista y el controlador. ... </a:t>
            </a:r>
            <a:endParaRPr sz="1200" b="1">
              <a:solidFill>
                <a:srgbClr val="202124"/>
              </a:solidFill>
              <a:highlight>
                <a:srgbClr val="FFFFFF"/>
              </a:highlight>
            </a:endParaRPr>
          </a:p>
          <a:p>
            <a:pPr marL="0" lvl="0" indent="0" algn="l" rtl="0">
              <a:lnSpc>
                <a:spcPct val="115000"/>
              </a:lnSpc>
              <a:spcBef>
                <a:spcPts val="1100"/>
              </a:spcBef>
              <a:spcAft>
                <a:spcPts val="0"/>
              </a:spcAft>
              <a:buClr>
                <a:srgbClr val="C0791B"/>
              </a:buClr>
              <a:buSzPts val="1100"/>
              <a:buFont typeface="Arial"/>
              <a:buNone/>
            </a:pPr>
            <a:r>
              <a:rPr lang="es" sz="1200">
                <a:solidFill>
                  <a:srgbClr val="202124"/>
                </a:solidFill>
                <a:highlight>
                  <a:srgbClr val="FFFFFF"/>
                </a:highlight>
              </a:rPr>
              <a:t>El paradigma de comunicación servidor-aplicación que utiliza django es:</a:t>
            </a:r>
            <a:endParaRPr sz="1200">
              <a:solidFill>
                <a:srgbClr val="202124"/>
              </a:solidFill>
              <a:highlight>
                <a:srgbClr val="FFFFFF"/>
              </a:highlight>
            </a:endParaRPr>
          </a:p>
          <a:p>
            <a:pPr marL="0" lvl="0" indent="0" algn="l" rtl="0">
              <a:spcBef>
                <a:spcPts val="1100"/>
              </a:spcBef>
              <a:spcAft>
                <a:spcPts val="0"/>
              </a:spcAft>
              <a:buClr>
                <a:schemeClr val="dk1"/>
              </a:buClr>
              <a:buFont typeface="Arial"/>
              <a:buNone/>
            </a:pPr>
            <a:r>
              <a:rPr lang="es" sz="1800">
                <a:solidFill>
                  <a:schemeClr val="dk1"/>
                </a:solidFill>
                <a:latin typeface="Calibri"/>
                <a:ea typeface="Calibri"/>
                <a:cs typeface="Calibri"/>
                <a:sym typeface="Calibri"/>
              </a:rPr>
              <a:t>WSGI ejecuta el intérprete de Python en el inicio del servidor web, ya sea como parte del proceso del servidor web o como un proceso separado , y carga el script en él. Cada solicitud da como resultado una función específica en el script que se llama, y el entorno de solicitud se pasa como argumentos a la función. Todos los Frameworks de Python usan WSGI.</a:t>
            </a:r>
            <a:endParaRPr sz="18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600">
              <a:solidFill>
                <a:srgbClr val="292929"/>
              </a:solidFill>
              <a:highlight>
                <a:schemeClr val="lt1"/>
              </a:highlight>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s" sz="1600">
                <a:solidFill>
                  <a:srgbClr val="292929"/>
                </a:solidFill>
                <a:highlight>
                  <a:schemeClr val="lt1"/>
                </a:highlight>
                <a:latin typeface="Georgia"/>
                <a:ea typeface="Georgia"/>
                <a:cs typeface="Georgia"/>
                <a:sym typeface="Georgia"/>
              </a:rPr>
              <a:t>en cambio en Express :</a:t>
            </a:r>
            <a:endParaRPr sz="1600">
              <a:solidFill>
                <a:srgbClr val="292929"/>
              </a:solidFill>
              <a:highlight>
                <a:schemeClr val="lt1"/>
              </a:highlight>
              <a:latin typeface="Georgia"/>
              <a:ea typeface="Georgia"/>
              <a:cs typeface="Georgia"/>
              <a:sym typeface="Georgia"/>
            </a:endParaRPr>
          </a:p>
          <a:p>
            <a:pPr marL="0" lvl="0" indent="0" algn="l" rtl="0">
              <a:spcBef>
                <a:spcPts val="1200"/>
              </a:spcBef>
              <a:spcAft>
                <a:spcPts val="0"/>
              </a:spcAft>
              <a:buClr>
                <a:schemeClr val="dk1"/>
              </a:buClr>
              <a:buFont typeface="Arial"/>
              <a:buNone/>
            </a:pPr>
            <a:r>
              <a:rPr lang="es" sz="1800">
                <a:solidFill>
                  <a:schemeClr val="dk1"/>
                </a:solidFill>
                <a:latin typeface="Calibri"/>
                <a:ea typeface="Calibri"/>
                <a:cs typeface="Calibri"/>
                <a:sym typeface="Calibri"/>
              </a:rPr>
              <a:t>CGI (Common Gateway Interface) ejecuta el script como un proceso separado para cada solicitud y usa variables de entorno, stdin y stdout para "comunicarse" con él.</a:t>
            </a:r>
            <a:endParaRPr sz="1600">
              <a:solidFill>
                <a:srgbClr val="292929"/>
              </a:solidFill>
              <a:highlight>
                <a:schemeClr val="lt1"/>
              </a:highlight>
              <a:latin typeface="Georgia"/>
              <a:ea typeface="Georgia"/>
              <a:cs typeface="Georgia"/>
              <a:sym typeface="Georgia"/>
            </a:endParaRPr>
          </a:p>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c22db41103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c22db4110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100"/>
              </a:spcBef>
              <a:spcAft>
                <a:spcPts val="0"/>
              </a:spcAft>
              <a:buClr>
                <a:schemeClr val="dk1"/>
              </a:buClr>
              <a:buSzPts val="1100"/>
              <a:buFont typeface="Arial"/>
              <a:buNone/>
            </a:pPr>
            <a:r>
              <a:rPr lang="es" sz="1050">
                <a:solidFill>
                  <a:srgbClr val="666666"/>
                </a:solidFill>
                <a:highlight>
                  <a:schemeClr val="lt1"/>
                </a:highlight>
              </a:rPr>
              <a:t>Analizando lo que se ha creado dentro de la carpeta </a:t>
            </a:r>
            <a:r>
              <a:rPr lang="es" sz="950">
                <a:solidFill>
                  <a:srgbClr val="C7254E"/>
                </a:solidFill>
                <a:highlight>
                  <a:srgbClr val="F9F2F4"/>
                </a:highlight>
                <a:latin typeface="Courier New"/>
                <a:ea typeface="Courier New"/>
                <a:cs typeface="Courier New"/>
                <a:sym typeface="Courier New"/>
              </a:rPr>
              <a:t>quickstart</a:t>
            </a:r>
            <a:r>
              <a:rPr lang="es" sz="1050">
                <a:solidFill>
                  <a:srgbClr val="666666"/>
                </a:solidFill>
                <a:highlight>
                  <a:schemeClr val="lt1"/>
                </a:highlight>
              </a:rPr>
              <a:t> podemos ver como es la estructura de una aplicación Django:</a:t>
            </a:r>
            <a:endParaRPr sz="1050">
              <a:solidFill>
                <a:srgbClr val="666666"/>
              </a:solidFill>
              <a:highlight>
                <a:schemeClr val="lt1"/>
              </a:highlight>
            </a:endParaRPr>
          </a:p>
          <a:p>
            <a:pPr marL="457200" lvl="0" indent="-295275" algn="l" rtl="0">
              <a:lnSpc>
                <a:spcPct val="115000"/>
              </a:lnSpc>
              <a:spcBef>
                <a:spcPts val="110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models.py</a:t>
            </a:r>
            <a:r>
              <a:rPr lang="es" sz="1050">
                <a:solidFill>
                  <a:srgbClr val="666666"/>
                </a:solidFill>
                <a:highlight>
                  <a:schemeClr val="lt1"/>
                </a:highlight>
              </a:rPr>
              <a:t>: fichero con la información sobre los modelos de datos que usa nuestra aplicación.</a:t>
            </a:r>
            <a:endParaRPr sz="1050">
              <a:solidFill>
                <a:srgbClr val="666666"/>
              </a:solidFill>
              <a:highlight>
                <a:schemeClr val="lt1"/>
              </a:highlight>
            </a:endParaRPr>
          </a:p>
          <a:p>
            <a:pPr marL="457200" lvl="0" indent="-295275" algn="l" rtl="0">
              <a:lnSpc>
                <a:spcPct val="115000"/>
              </a:lnSpc>
              <a:spcBef>
                <a:spcPts val="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views.py</a:t>
            </a:r>
            <a:r>
              <a:rPr lang="es" sz="1050">
                <a:solidFill>
                  <a:srgbClr val="666666"/>
                </a:solidFill>
                <a:highlight>
                  <a:schemeClr val="lt1"/>
                </a:highlight>
              </a:rPr>
              <a:t>: archivo que contiene todas las vistas empleadas por la aplicación.</a:t>
            </a:r>
            <a:endParaRPr sz="1050">
              <a:solidFill>
                <a:srgbClr val="666666"/>
              </a:solidFill>
              <a:highlight>
                <a:schemeClr val="lt1"/>
              </a:highlight>
            </a:endParaRPr>
          </a:p>
          <a:p>
            <a:pPr marL="457200" lvl="0" indent="-295275" algn="l" rtl="0">
              <a:lnSpc>
                <a:spcPct val="115000"/>
              </a:lnSpc>
              <a:spcBef>
                <a:spcPts val="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tests.py</a:t>
            </a:r>
            <a:r>
              <a:rPr lang="es" sz="1050">
                <a:solidFill>
                  <a:srgbClr val="666666"/>
                </a:solidFill>
                <a:highlight>
                  <a:schemeClr val="lt1"/>
                </a:highlight>
              </a:rPr>
              <a:t>: fichero para desarrollar posibles tests para la aplicación.</a:t>
            </a:r>
            <a:endParaRPr sz="1050">
              <a:solidFill>
                <a:srgbClr val="666666"/>
              </a:solidFill>
              <a:highlight>
                <a:schemeClr val="lt1"/>
              </a:highlight>
            </a:endParaRPr>
          </a:p>
          <a:p>
            <a:pPr marL="457200" lvl="0" indent="-295275" algn="l" rtl="0">
              <a:lnSpc>
                <a:spcPct val="115000"/>
              </a:lnSpc>
              <a:spcBef>
                <a:spcPts val="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migrations</a:t>
            </a:r>
            <a:r>
              <a:rPr lang="es" sz="1050">
                <a:solidFill>
                  <a:srgbClr val="666666"/>
                </a:solidFill>
                <a:highlight>
                  <a:schemeClr val="lt1"/>
                </a:highlight>
              </a:rPr>
              <a:t>: directorio encargado de detectar cambios en las bases de datos que usa la aplicación.</a:t>
            </a:r>
            <a:endParaRPr sz="1050">
              <a:solidFill>
                <a:srgbClr val="666666"/>
              </a:solidFill>
              <a:highlight>
                <a:schemeClr val="lt1"/>
              </a:highlight>
            </a:endParaRPr>
          </a:p>
          <a:p>
            <a:pPr marL="0" lvl="0" indent="0" algn="l" rtl="0">
              <a:lnSpc>
                <a:spcPct val="115000"/>
              </a:lnSpc>
              <a:spcBef>
                <a:spcPts val="2200"/>
              </a:spcBef>
              <a:spcAft>
                <a:spcPts val="0"/>
              </a:spcAft>
              <a:buClr>
                <a:schemeClr val="dk1"/>
              </a:buClr>
              <a:buSzPts val="1100"/>
              <a:buFont typeface="Arial"/>
              <a:buNone/>
            </a:pPr>
            <a:r>
              <a:rPr lang="es" sz="1050">
                <a:solidFill>
                  <a:srgbClr val="666666"/>
                </a:solidFill>
                <a:highlight>
                  <a:schemeClr val="lt1"/>
                </a:highlight>
              </a:rPr>
              <a:t>Es muy recomendable crear ficheros adicionales, especialmente estos dos:</a:t>
            </a:r>
            <a:endParaRPr sz="1050">
              <a:solidFill>
                <a:srgbClr val="666666"/>
              </a:solidFill>
              <a:highlight>
                <a:schemeClr val="lt1"/>
              </a:highlight>
            </a:endParaRPr>
          </a:p>
          <a:p>
            <a:pPr marL="457200" lvl="0" indent="-295275" algn="l" rtl="0">
              <a:lnSpc>
                <a:spcPct val="115000"/>
              </a:lnSpc>
              <a:spcBef>
                <a:spcPts val="110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urls.py</a:t>
            </a:r>
            <a:r>
              <a:rPr lang="es" sz="1050">
                <a:solidFill>
                  <a:srgbClr val="666666"/>
                </a:solidFill>
                <a:highlight>
                  <a:schemeClr val="lt1"/>
                </a:highlight>
              </a:rPr>
              <a:t>: fichero con las posibles urls o endpoints de la API.</a:t>
            </a:r>
            <a:endParaRPr sz="1050">
              <a:solidFill>
                <a:srgbClr val="666666"/>
              </a:solidFill>
              <a:highlight>
                <a:schemeClr val="lt1"/>
              </a:highlight>
            </a:endParaRPr>
          </a:p>
          <a:p>
            <a:pPr marL="457200" lvl="0" indent="-295275" algn="l" rtl="0">
              <a:lnSpc>
                <a:spcPct val="115000"/>
              </a:lnSpc>
              <a:spcBef>
                <a:spcPts val="0"/>
              </a:spcBef>
              <a:spcAft>
                <a:spcPts val="0"/>
              </a:spcAft>
              <a:buClr>
                <a:srgbClr val="666666"/>
              </a:buClr>
              <a:buSzPts val="1050"/>
              <a:buChar char="●"/>
            </a:pPr>
            <a:r>
              <a:rPr lang="es" sz="950">
                <a:solidFill>
                  <a:srgbClr val="C7254E"/>
                </a:solidFill>
                <a:highlight>
                  <a:srgbClr val="F9F2F4"/>
                </a:highlight>
                <a:latin typeface="Courier New"/>
                <a:ea typeface="Courier New"/>
                <a:cs typeface="Courier New"/>
                <a:sym typeface="Courier New"/>
              </a:rPr>
              <a:t>queries.py</a:t>
            </a:r>
            <a:r>
              <a:rPr lang="es" sz="1050">
                <a:solidFill>
                  <a:srgbClr val="666666"/>
                </a:solidFill>
                <a:highlight>
                  <a:schemeClr val="lt1"/>
                </a:highlight>
              </a:rPr>
              <a:t>: archivo con las distintas llamadas a las bases de datos.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c3c512a86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c3c512a8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 sz="1600">
                <a:solidFill>
                  <a:srgbClr val="292929"/>
                </a:solidFill>
                <a:highlight>
                  <a:srgbClr val="FFFFFF"/>
                </a:highlight>
                <a:latin typeface="Georgia"/>
                <a:ea typeface="Georgia"/>
                <a:cs typeface="Georgia"/>
                <a:sym typeface="Georgia"/>
              </a:rPr>
              <a:t>La estructura inicial del proyecto contiene en la raíz un archivo</a:t>
            </a:r>
            <a:r>
              <a:rPr lang="es" sz="1600" b="1" i="1">
                <a:solidFill>
                  <a:srgbClr val="292929"/>
                </a:solidFill>
                <a:highlight>
                  <a:srgbClr val="FFFFFF"/>
                </a:highlight>
                <a:latin typeface="Georgia"/>
                <a:ea typeface="Georgia"/>
                <a:cs typeface="Georgia"/>
                <a:sym typeface="Georgia"/>
              </a:rPr>
              <a:t> package.json </a:t>
            </a:r>
            <a:r>
              <a:rPr lang="es" sz="1600">
                <a:solidFill>
                  <a:srgbClr val="292929"/>
                </a:solidFill>
                <a:highlight>
                  <a:srgbClr val="FFFFFF"/>
                </a:highlight>
                <a:latin typeface="Georgia"/>
                <a:ea typeface="Georgia"/>
                <a:cs typeface="Georgia"/>
                <a:sym typeface="Georgia"/>
              </a:rPr>
              <a:t>donde vamos a especificar la información de nuestro paquete con sus dependencias, </a:t>
            </a:r>
            <a:endParaRPr sz="1600">
              <a:solidFill>
                <a:srgbClr val="292929"/>
              </a:solidFill>
              <a:highlight>
                <a:srgbClr val="FFFFFF"/>
              </a:highlight>
              <a:latin typeface="Georgia"/>
              <a:ea typeface="Georgia"/>
              <a:cs typeface="Georgia"/>
              <a:sym typeface="Georgia"/>
            </a:endParaRPr>
          </a:p>
          <a:p>
            <a:pPr marL="0" lvl="0" indent="0" algn="l" rtl="0">
              <a:lnSpc>
                <a:spcPct val="115000"/>
              </a:lnSpc>
              <a:spcBef>
                <a:spcPts val="1200"/>
              </a:spcBef>
              <a:spcAft>
                <a:spcPts val="0"/>
              </a:spcAft>
              <a:buNone/>
            </a:pPr>
            <a:r>
              <a:rPr lang="es" sz="1600">
                <a:solidFill>
                  <a:srgbClr val="292929"/>
                </a:solidFill>
                <a:highlight>
                  <a:srgbClr val="FFFFFF"/>
                </a:highlight>
                <a:latin typeface="Georgia"/>
                <a:ea typeface="Georgia"/>
                <a:cs typeface="Georgia"/>
                <a:sym typeface="Georgia"/>
              </a:rPr>
              <a:t>un archivo</a:t>
            </a:r>
            <a:r>
              <a:rPr lang="es" sz="1600" b="1" i="1">
                <a:solidFill>
                  <a:srgbClr val="292929"/>
                </a:solidFill>
                <a:highlight>
                  <a:srgbClr val="FFFFFF"/>
                </a:highlight>
                <a:latin typeface="Georgia"/>
                <a:ea typeface="Georgia"/>
                <a:cs typeface="Georgia"/>
                <a:sym typeface="Georgia"/>
              </a:rPr>
              <a:t> index.js</a:t>
            </a:r>
            <a:r>
              <a:rPr lang="es" sz="1600">
                <a:solidFill>
                  <a:srgbClr val="292929"/>
                </a:solidFill>
                <a:highlight>
                  <a:srgbClr val="FFFFFF"/>
                </a:highlight>
                <a:latin typeface="Georgia"/>
                <a:ea typeface="Georgia"/>
                <a:cs typeface="Georgia"/>
                <a:sym typeface="Georgia"/>
              </a:rPr>
              <a:t> para la conexión a la base de datos y configuración general, </a:t>
            </a:r>
            <a:endParaRPr sz="1600">
              <a:solidFill>
                <a:srgbClr val="292929"/>
              </a:solidFill>
              <a:highlight>
                <a:srgbClr val="FFFFFF"/>
              </a:highlight>
              <a:latin typeface="Georgia"/>
              <a:ea typeface="Georgia"/>
              <a:cs typeface="Georgia"/>
              <a:sym typeface="Georgia"/>
            </a:endParaRPr>
          </a:p>
          <a:p>
            <a:pPr marL="0" lvl="0" indent="0" algn="l" rtl="0">
              <a:lnSpc>
                <a:spcPct val="115000"/>
              </a:lnSpc>
              <a:spcBef>
                <a:spcPts val="1200"/>
              </a:spcBef>
              <a:spcAft>
                <a:spcPts val="0"/>
              </a:spcAft>
              <a:buNone/>
            </a:pPr>
            <a:r>
              <a:rPr lang="es" sz="1600">
                <a:solidFill>
                  <a:srgbClr val="292929"/>
                </a:solidFill>
                <a:highlight>
                  <a:srgbClr val="FFFFFF"/>
                </a:highlight>
                <a:latin typeface="Georgia"/>
                <a:ea typeface="Georgia"/>
                <a:cs typeface="Georgia"/>
                <a:sym typeface="Georgia"/>
              </a:rPr>
              <a:t>un </a:t>
            </a:r>
            <a:r>
              <a:rPr lang="es" sz="1600" b="1" i="1">
                <a:solidFill>
                  <a:srgbClr val="292929"/>
                </a:solidFill>
                <a:highlight>
                  <a:srgbClr val="FFFFFF"/>
                </a:highlight>
                <a:latin typeface="Georgia"/>
                <a:ea typeface="Georgia"/>
                <a:cs typeface="Georgia"/>
                <a:sym typeface="Georgia"/>
              </a:rPr>
              <a:t>app.js </a:t>
            </a:r>
            <a:r>
              <a:rPr lang="es" sz="1600">
                <a:solidFill>
                  <a:srgbClr val="292929"/>
                </a:solidFill>
                <a:highlight>
                  <a:srgbClr val="FFFFFF"/>
                </a:highlight>
                <a:latin typeface="Georgia"/>
                <a:ea typeface="Georgia"/>
                <a:cs typeface="Georgia"/>
                <a:sym typeface="Georgia"/>
              </a:rPr>
              <a:t>para crear el servidor web con NodeJS y la configuración de express, </a:t>
            </a:r>
            <a:endParaRPr sz="1600">
              <a:solidFill>
                <a:srgbClr val="292929"/>
              </a:solidFill>
              <a:highlight>
                <a:srgbClr val="FFFFFF"/>
              </a:highlight>
              <a:latin typeface="Georgia"/>
              <a:ea typeface="Georgia"/>
              <a:cs typeface="Georgia"/>
              <a:sym typeface="Georgia"/>
            </a:endParaRPr>
          </a:p>
          <a:p>
            <a:pPr marL="0" lvl="0" indent="0" algn="l" rtl="0">
              <a:lnSpc>
                <a:spcPct val="115000"/>
              </a:lnSpc>
              <a:spcBef>
                <a:spcPts val="1200"/>
              </a:spcBef>
              <a:spcAft>
                <a:spcPts val="0"/>
              </a:spcAft>
              <a:buNone/>
            </a:pPr>
            <a:r>
              <a:rPr lang="es" sz="1600">
                <a:solidFill>
                  <a:srgbClr val="292929"/>
                </a:solidFill>
                <a:highlight>
                  <a:srgbClr val="FFFFFF"/>
                </a:highlight>
                <a:latin typeface="Georgia"/>
                <a:ea typeface="Georgia"/>
                <a:cs typeface="Georgia"/>
                <a:sym typeface="Georgia"/>
              </a:rPr>
              <a:t>un directorio para nuestros </a:t>
            </a:r>
            <a:r>
              <a:rPr lang="es" sz="1600" b="1" i="1">
                <a:solidFill>
                  <a:srgbClr val="292929"/>
                </a:solidFill>
                <a:highlight>
                  <a:srgbClr val="FFFFFF"/>
                </a:highlight>
                <a:latin typeface="Georgia"/>
                <a:ea typeface="Georgia"/>
                <a:cs typeface="Georgia"/>
                <a:sym typeface="Georgia"/>
              </a:rPr>
              <a:t>middlewares</a:t>
            </a:r>
            <a:r>
              <a:rPr lang="es" sz="1600">
                <a:solidFill>
                  <a:srgbClr val="292929"/>
                </a:solidFill>
                <a:highlight>
                  <a:srgbClr val="FFFFFF"/>
                </a:highlight>
                <a:latin typeface="Georgia"/>
                <a:ea typeface="Georgia"/>
                <a:cs typeface="Georgia"/>
                <a:sym typeface="Georgia"/>
              </a:rPr>
              <a:t>, un directorio de models para crear los modelos y esquemas, </a:t>
            </a:r>
            <a:endParaRPr sz="1600">
              <a:solidFill>
                <a:srgbClr val="292929"/>
              </a:solidFill>
              <a:highlight>
                <a:srgbClr val="FFFFFF"/>
              </a:highlight>
              <a:latin typeface="Georgia"/>
              <a:ea typeface="Georgia"/>
              <a:cs typeface="Georgia"/>
              <a:sym typeface="Georgia"/>
            </a:endParaRPr>
          </a:p>
          <a:p>
            <a:pPr marL="0" lvl="0" indent="0" algn="l" rtl="0">
              <a:lnSpc>
                <a:spcPct val="115000"/>
              </a:lnSpc>
              <a:spcBef>
                <a:spcPts val="1200"/>
              </a:spcBef>
              <a:spcAft>
                <a:spcPts val="0"/>
              </a:spcAft>
              <a:buClr>
                <a:schemeClr val="dk1"/>
              </a:buClr>
              <a:buSzPts val="1100"/>
              <a:buFont typeface="Arial"/>
              <a:buNone/>
            </a:pPr>
            <a:r>
              <a:rPr lang="es" sz="1600">
                <a:solidFill>
                  <a:srgbClr val="292929"/>
                </a:solidFill>
                <a:highlight>
                  <a:srgbClr val="FFFFFF"/>
                </a:highlight>
                <a:latin typeface="Georgia"/>
                <a:ea typeface="Georgia"/>
                <a:cs typeface="Georgia"/>
                <a:sym typeface="Georgia"/>
              </a:rPr>
              <a:t>un directorio de </a:t>
            </a:r>
            <a:r>
              <a:rPr lang="es" sz="1600" b="1" i="1">
                <a:solidFill>
                  <a:srgbClr val="292929"/>
                </a:solidFill>
                <a:highlight>
                  <a:srgbClr val="FFFFFF"/>
                </a:highlight>
                <a:latin typeface="Georgia"/>
                <a:ea typeface="Georgia"/>
                <a:cs typeface="Georgia"/>
                <a:sym typeface="Georgia"/>
              </a:rPr>
              <a:t>controllers </a:t>
            </a:r>
            <a:r>
              <a:rPr lang="es" sz="1600">
                <a:solidFill>
                  <a:srgbClr val="292929"/>
                </a:solidFill>
                <a:highlight>
                  <a:srgbClr val="FFFFFF"/>
                </a:highlight>
                <a:latin typeface="Georgia"/>
                <a:ea typeface="Georgia"/>
                <a:cs typeface="Georgia"/>
                <a:sym typeface="Georgia"/>
              </a:rPr>
              <a:t>para crear las acciones y operaciones sobre nuestra base de datos, y finalmente, un directorio de rutas el que definimos las rutas a las que responderá nuestra aplicación.</a:t>
            </a:r>
            <a:endParaRPr sz="1300">
              <a:solidFill>
                <a:srgbClr val="424242"/>
              </a:solidFill>
              <a:latin typeface="Nunito"/>
              <a:ea typeface="Nunito"/>
              <a:cs typeface="Nunito"/>
              <a:sym typeface="Nunito"/>
            </a:endParaRPr>
          </a:p>
          <a:p>
            <a:pPr marL="0" lvl="0" indent="0" algn="l" rtl="0">
              <a:spcBef>
                <a:spcPts val="120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bfc5a8b645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bfc5a8b645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c26b06de06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c26b06de0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c26b06de06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c26b06de06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c26b06de06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c26b06de06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26b06de06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26b06de06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c26b06de06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c26b06de06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c26b06de06_1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c26b06de06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c26b06de06_1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c26b06de06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79cd31fab9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79cd31fab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c3a339b9a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c3a339b9a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79cd31fab9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79cd31fab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txBox="1">
            <a:spLocks noGrp="1"/>
          </p:cNvSpPr>
          <p:nvPr>
            <p:ph type="body" sz="quarter" idx="1"/>
          </p:nvPr>
        </p:nvSpPr>
        <p:spPr/>
        <p:txBody>
          <a:bodyPr/>
          <a:lstStyle/>
          <a:p>
            <a:endParaRPr lang="en-GB"/>
          </a:p>
        </p:txBody>
      </p:sp>
      <p:sp>
        <p:nvSpPr>
          <p:cNvPr id="4" name="Marcador de número de diapositiva 3"/>
          <p:cNvSpPr txBox="1"/>
          <p:nvPr/>
        </p:nvSpPr>
        <p:spPr>
          <a:xfrm>
            <a:off x="3884608" y="8685208"/>
            <a:ext cx="2971800" cy="458791"/>
          </a:xfrm>
          <a:prstGeom prst="rect">
            <a:avLst/>
          </a:prstGeom>
          <a:noFill/>
          <a:ln>
            <a:noFill/>
          </a:ln>
        </p:spPr>
        <p:txBody>
          <a:bodyPr vert="horz" wrap="square" lIns="91440" tIns="45720" rIns="91440" bIns="45720" anchor="b" anchorCtr="0" compatLnSpc="1"/>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A9B1577-52FB-4B13-858B-EE8DD29C5A06}" type="slidenum">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109</a:t>
            </a:fld>
            <a:endParaRPr lang="es-ES" sz="1200" b="0" i="0" u="none" strike="noStrike" kern="1200" cap="none" spc="0" baseline="0">
              <a:solidFill>
                <a:srgbClr val="000000"/>
              </a:solidFill>
              <a:uFillTx/>
              <a:latin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Sinatra no permite en las WSGI las peticiones UDP, ni compartición de tablas de memoria</a:t>
            </a:r>
          </a:p>
        </p:txBody>
      </p:sp>
      <p:sp>
        <p:nvSpPr>
          <p:cNvPr id="4" name="Marcador de número de diapositiva 3"/>
          <p:cNvSpPr>
            <a:spLocks noGrp="1"/>
          </p:cNvSpPr>
          <p:nvPr>
            <p:ph type="sldNum" sz="quarter" idx="5"/>
          </p:nvPr>
        </p:nvSpPr>
        <p:spPr/>
        <p:txBody>
          <a:bodyPr/>
          <a:lstStyle/>
          <a:p>
            <a:fld id="{B99A10CC-0D70-4D10-8D81-FC8FB3FB8868}" type="slidenum">
              <a:rPr lang="es-ES" smtClean="0"/>
              <a:pPr/>
              <a:t>118</a:t>
            </a:fld>
            <a:endParaRPr lang="es-ES"/>
          </a:p>
        </p:txBody>
      </p:sp>
    </p:spTree>
    <p:extLst>
      <p:ext uri="{BB962C8B-B14F-4D97-AF65-F5344CB8AC3E}">
        <p14:creationId xmlns:p14="http://schemas.microsoft.com/office/powerpoint/2010/main" val="648737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Sinatra no permite en las WSGI las peticiones UDP, ni compartición de tablas de memoria</a:t>
            </a:r>
          </a:p>
        </p:txBody>
      </p:sp>
      <p:sp>
        <p:nvSpPr>
          <p:cNvPr id="4" name="Marcador de número de diapositiva 3"/>
          <p:cNvSpPr>
            <a:spLocks noGrp="1"/>
          </p:cNvSpPr>
          <p:nvPr>
            <p:ph type="sldNum" sz="quarter" idx="5"/>
          </p:nvPr>
        </p:nvSpPr>
        <p:spPr/>
        <p:txBody>
          <a:bodyPr/>
          <a:lstStyle/>
          <a:p>
            <a:fld id="{B99A10CC-0D70-4D10-8D81-FC8FB3FB8868}" type="slidenum">
              <a:rPr lang="es-ES" smtClean="0"/>
              <a:pPr/>
              <a:t>119</a:t>
            </a:fld>
            <a:endParaRPr lang="es-ES"/>
          </a:p>
        </p:txBody>
      </p:sp>
    </p:spTree>
    <p:extLst>
      <p:ext uri="{BB962C8B-B14F-4D97-AF65-F5344CB8AC3E}">
        <p14:creationId xmlns:p14="http://schemas.microsoft.com/office/powerpoint/2010/main" val="514968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C81A0-FB7A-4357-8B37-1EC930D1E098}"/>
              </a:ext>
            </a:extLst>
          </p:cNvPr>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D3C075C-7238-4F43-87E7-63A35BE6900C}"/>
              </a:ext>
            </a:extLst>
          </p:cNvPr>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AB67EEB-ABA8-4DA9-803B-0C6CD8A1284C}"/>
              </a:ext>
            </a:extLst>
          </p:cNvPr>
          <p:cNvSpPr>
            <a:spLocks noGrp="1"/>
          </p:cNvSpPr>
          <p:nvPr>
            <p:ph type="dt" sz="half" idx="10"/>
          </p:nvPr>
        </p:nvSpPr>
        <p:spPr/>
        <p:txBody>
          <a:bodyPr anchor="b" anchorCtr="0"/>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0FCFD314-1E75-41B9-A585-4F4A32A347A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0CC8E8-C649-4A81-BF53-F078B2A98453}"/>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1885263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A6A6-C260-4F8B-99DF-249C907BE5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36F8CB-5C97-4437-A672-4E43D0E5A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0C990-05C1-4ECD-A899-722057AEA630}"/>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C5E9811C-37A0-4DD1-8607-EFD4226E5D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CAB506-9570-4D3E-804F-A184A73DBCE6}"/>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541466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569B8-DEA4-4F12-9078-ECD731F2AC92}"/>
              </a:ext>
            </a:extLst>
          </p:cNvPr>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0D1F3B-E79C-4822-999D-205B0E76C66F}"/>
              </a:ext>
            </a:extLst>
          </p:cNvPr>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145166-621E-4C71-A40F-64E514536729}"/>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44B8A175-E39F-477F-997B-99FF8677A54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469115F-5456-4FA3-8484-B1806E7C48C7}"/>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408677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BC5C-CCF0-4BA5-B102-213AC6FD5A48}"/>
              </a:ext>
            </a:extLst>
          </p:cNvPr>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2237E63-3B4F-4C2F-A87C-9533227EB684}"/>
              </a:ext>
            </a:extLst>
          </p:cNvPr>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78ACE3E-2FED-4289-B138-3EC2826909F5}"/>
              </a:ext>
            </a:extLst>
          </p:cNvPr>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55DB51-20DA-4BEF-90BA-DDD37DC080CF}"/>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6" name="Footer Placeholder 5">
            <a:extLst>
              <a:ext uri="{FF2B5EF4-FFF2-40B4-BE49-F238E27FC236}">
                <a16:creationId xmlns:a16="http://schemas.microsoft.com/office/drawing/2014/main" id="{506D22E1-F0DB-4CB7-B2E3-D578EEAA6E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C29146B-54D6-4291-8EA2-6430024824AE}"/>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253473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4AE7-507A-4E14-96E2-5412FF8EA283}"/>
              </a:ext>
            </a:extLst>
          </p:cNvPr>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EDEEE83-2945-4C22-9597-57F1F1262841}"/>
              </a:ext>
            </a:extLst>
          </p:cNvPr>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C2494D-AD1D-4CB7-A17C-B69079113D71}"/>
              </a:ext>
            </a:extLst>
          </p:cNvPr>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23E4950-830D-4EE3-9F51-DD730255E0CD}"/>
              </a:ext>
            </a:extLst>
          </p:cNvPr>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F244AA-BDAA-4FDD-B742-449DF905730C}"/>
              </a:ext>
            </a:extLst>
          </p:cNvPr>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B78494-ECE0-41D2-97E2-CFAC0434A8B8}"/>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8" name="Footer Placeholder 7">
            <a:extLst>
              <a:ext uri="{FF2B5EF4-FFF2-40B4-BE49-F238E27FC236}">
                <a16:creationId xmlns:a16="http://schemas.microsoft.com/office/drawing/2014/main" id="{185E4C20-6CC5-4259-B554-B19F1A7AA05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B09AB13-CCCC-4074-9B66-CE0B37902E3F}"/>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188550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FB5FF-4FD1-4CE4-BBC5-E6402FE06F0C}"/>
              </a:ext>
            </a:extLst>
          </p:cNvPr>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E71AAD-C5B9-485B-84DD-60DAFD5F18BC}"/>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4" name="Footer Placeholder 3">
            <a:extLst>
              <a:ext uri="{FF2B5EF4-FFF2-40B4-BE49-F238E27FC236}">
                <a16:creationId xmlns:a16="http://schemas.microsoft.com/office/drawing/2014/main" id="{9B7CACFF-0406-4EE2-9E8F-F594B952C26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552A47E-1990-4B6B-BCCB-75B6F213A8ED}"/>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564989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E4C-64F1-4C88-9D30-17F8131ED627}"/>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3" name="Footer Placeholder 2">
            <a:extLst>
              <a:ext uri="{FF2B5EF4-FFF2-40B4-BE49-F238E27FC236}">
                <a16:creationId xmlns:a16="http://schemas.microsoft.com/office/drawing/2014/main" id="{D25D8FB3-6FA4-40A7-BDBF-76CD0F22FEA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6649F41-A021-4490-BB80-C89DF0293708}"/>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2736943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EF60-874B-45DE-BF65-CF0D08577588}"/>
              </a:ext>
            </a:extLst>
          </p:cNvPr>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CD757B0-722D-425F-8BD4-9CD9093BCBF5}"/>
              </a:ext>
            </a:extLst>
          </p:cNvPr>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DB0F60-AADF-41C3-8BFC-B405E0A3F9AC}"/>
              </a:ext>
            </a:extLst>
          </p:cNvPr>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AB1E11-97B6-42FD-9F45-6EDC3B83FABD}"/>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6" name="Footer Placeholder 5">
            <a:extLst>
              <a:ext uri="{FF2B5EF4-FFF2-40B4-BE49-F238E27FC236}">
                <a16:creationId xmlns:a16="http://schemas.microsoft.com/office/drawing/2014/main" id="{E14D7DA9-F910-4337-99A2-91F4EA3612E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B93A2F2-339E-4406-9A90-534A38C5A069}"/>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1576593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71599-6E07-4A55-9B93-4CA5EFE3FD76}"/>
              </a:ext>
            </a:extLst>
          </p:cNvPr>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2C2D26-DACA-4941-955E-18F7E236758C}"/>
              </a:ext>
            </a:extLst>
          </p:cNvPr>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7EDB26D-C5B0-41D6-A75F-F89A87BE243A}"/>
              </a:ext>
            </a:extLst>
          </p:cNvPr>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9304B6-48DF-41FA-A089-8C83BBA63673}"/>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6" name="Footer Placeholder 5">
            <a:extLst>
              <a:ext uri="{FF2B5EF4-FFF2-40B4-BE49-F238E27FC236}">
                <a16:creationId xmlns:a16="http://schemas.microsoft.com/office/drawing/2014/main" id="{14DFB82F-A17A-4BC7-A522-CD934BC35C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5CC530C-8824-4BE3-884E-2AFF30B572BC}"/>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358143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CE73F-2F7C-4941-9B13-ACB43A4983EC}"/>
              </a:ext>
            </a:extLst>
          </p:cNvPr>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8BC107E-F2BE-4057-B06B-1E50FD12B561}"/>
              </a:ext>
            </a:extLst>
          </p:cNvPr>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9D7D8-1932-4215-A6E0-C16DA0DDB8B8}"/>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4378B662-65E3-47B2-AD95-B041B57F3B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93DBC5-88B5-4F2A-A0E3-752CB421737A}"/>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2807641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6599DF-5B13-4800-ADD7-3A2A2F1C4889}"/>
              </a:ext>
            </a:extLst>
          </p:cNvPr>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91E12-22D9-4DA9-A336-EA6A8B9B55B8}"/>
              </a:ext>
            </a:extLst>
          </p:cNvPr>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2A1D5-B7EF-43A4-81EF-B5A7EA35616B}"/>
              </a:ext>
            </a:extLst>
          </p:cNvPr>
          <p:cNvSpPr>
            <a:spLocks noGrp="1"/>
          </p:cNvSpPr>
          <p:nvPr>
            <p:ph type="dt" sz="half" idx="10"/>
          </p:nvPr>
        </p:nvSpPr>
        <p:spPr/>
        <p:txBody>
          <a:bodyPr/>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66809DFB-4410-42BF-B886-C984E3A53F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6487E8-E9A0-429E-88E5-34B1BE86BD23}"/>
              </a:ext>
            </a:extLst>
          </p:cNvPr>
          <p:cNvSpPr>
            <a:spLocks noGrp="1"/>
          </p:cNvSpPr>
          <p:nvPr>
            <p:ph type="sldNum" sz="quarter" idx="12"/>
          </p:nvPr>
        </p:nvSpPr>
        <p:spPr/>
        <p:txBody>
          <a:body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2012515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121897" tIns="121897" rIns="121897" bIns="121897"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 smtClean="0"/>
              <a:pPr/>
              <a:t>‹#›</a:t>
            </a:fld>
            <a:endParaRPr lang="e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121897" tIns="121897" rIns="121897" bIns="121897" anchor="t" anchorCtr="0">
            <a:normAutofit/>
          </a:bodyPr>
          <a:lstStyle>
            <a:lvl1pPr marL="609585" lvl="0" indent="-423323">
              <a:spcBef>
                <a:spcPts val="0"/>
              </a:spcBef>
              <a:spcAft>
                <a:spcPts val="0"/>
              </a:spcAft>
              <a:buSzPts val="1400"/>
              <a:buChar char="●"/>
              <a:defRPr sz="19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121897" tIns="121897" rIns="121897" bIns="121897" anchor="t" anchorCtr="0">
            <a:normAutofit/>
          </a:bodyPr>
          <a:lstStyle>
            <a:lvl1pPr marL="609585" lvl="0" indent="-423323">
              <a:spcBef>
                <a:spcPts val="0"/>
              </a:spcBef>
              <a:spcAft>
                <a:spcPts val="0"/>
              </a:spcAft>
              <a:buSzPts val="1400"/>
              <a:buChar char="●"/>
              <a:defRPr sz="19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121897" tIns="121897" rIns="121897" bIns="121897"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 smtClean="0"/>
              <a:pPr/>
              <a:t>‹#›</a:t>
            </a:fld>
            <a:endParaRPr lang="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B49B9-8C94-4604-AEEE-CB5051962D27}"/>
              </a:ext>
            </a:extLst>
          </p:cNvPr>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C3204E-CAF5-48A1-928F-757507EC48C4}"/>
              </a:ext>
            </a:extLst>
          </p:cNvPr>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9540D12-4B42-4790-8677-C9250F3CDDCF}"/>
              </a:ext>
            </a:extLst>
          </p:cNvPr>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900">
                <a:solidFill>
                  <a:schemeClr val="tx1"/>
                </a:solidFill>
              </a:defRPr>
            </a:lvl1pPr>
          </a:lstStyle>
          <a:p>
            <a:fld id="{F4D57BDD-E64A-4D27-8978-82FFCA18A12C}" type="datetimeFigureOut">
              <a:rPr lang="en-US" smtClean="0"/>
              <a:pPr/>
              <a:t>9/22/2025</a:t>
            </a:fld>
            <a:endParaRPr lang="en-US" dirty="0"/>
          </a:p>
        </p:txBody>
      </p:sp>
      <p:sp>
        <p:nvSpPr>
          <p:cNvPr id="5" name="Footer Placeholder 4">
            <a:extLst>
              <a:ext uri="{FF2B5EF4-FFF2-40B4-BE49-F238E27FC236}">
                <a16:creationId xmlns:a16="http://schemas.microsoft.com/office/drawing/2014/main" id="{022B17CD-6C27-4CD1-B20D-EA4B8E54F4FD}"/>
              </a:ext>
            </a:extLst>
          </p:cNvPr>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8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C03A934F-C817-4C99-A2CF-C763A3F20627}"/>
              </a:ext>
            </a:extLst>
          </p:cNvPr>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3600">
                <a:solidFill>
                  <a:schemeClr val="tx1"/>
                </a:solidFill>
                <a:latin typeface="+mj-lt"/>
              </a:defRPr>
            </a:lvl1pPr>
          </a:lstStyle>
          <a:p>
            <a:fld id="{D643A852-0206-46AC-B0EB-645612933129}" type="slidenum">
              <a:rPr lang="en-US" smtClean="0"/>
              <a:pPr/>
              <a:t>‹#›</a:t>
            </a:fld>
            <a:endParaRPr lang="en-US" dirty="0"/>
          </a:p>
        </p:txBody>
      </p:sp>
    </p:spTree>
    <p:extLst>
      <p:ext uri="{BB962C8B-B14F-4D97-AF65-F5344CB8AC3E}">
        <p14:creationId xmlns:p14="http://schemas.microsoft.com/office/powerpoint/2010/main" val="1326891306"/>
      </p:ext>
    </p:extLst>
  </p:cSld>
  <p:clrMap bg1="dk1" tx1="lt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43" r:id="rId12"/>
    <p:sldLayoutId id="214748374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palletsprojects.com/p/werkzeug/" TargetMode="External"/><Relationship Id="rId3" Type="http://schemas.openxmlformats.org/officeDocument/2006/relationships/hyperlink" Target="https://flask.palletsprojects.com/en/1.1.x/quickstart/" TargetMode="External"/><Relationship Id="rId7" Type="http://schemas.openxmlformats.org/officeDocument/2006/relationships/hyperlink" Target="https://www.palletsprojects.com/p/jinja/" TargetMode="External"/><Relationship Id="rId2" Type="http://schemas.openxmlformats.org/officeDocument/2006/relationships/hyperlink" Target="https://flask.palletsprojects.com/en/1.1.x/installation/" TargetMode="External"/><Relationship Id="rId1" Type="http://schemas.openxmlformats.org/officeDocument/2006/relationships/slideLayout" Target="../slideLayouts/slideLayout2.xml"/><Relationship Id="rId6" Type="http://schemas.openxmlformats.org/officeDocument/2006/relationships/hyperlink" Target="https://flask.palletsprojects.com/en/1.1.x/api/" TargetMode="External"/><Relationship Id="rId11" Type="http://schemas.openxmlformats.org/officeDocument/2006/relationships/image" Target="../media/image22.png"/><Relationship Id="rId5" Type="http://schemas.openxmlformats.org/officeDocument/2006/relationships/hyperlink" Target="https://flask.palletsprojects.com/en/1.1.x/patterns/" TargetMode="External"/><Relationship Id="rId10" Type="http://schemas.openxmlformats.org/officeDocument/2006/relationships/hyperlink" Target="https://werkzeug.palletsprojects.com/" TargetMode="External"/><Relationship Id="rId4" Type="http://schemas.openxmlformats.org/officeDocument/2006/relationships/hyperlink" Target="https://flask.palletsprojects.com/en/1.1.x/tutorial/" TargetMode="External"/><Relationship Id="rId9" Type="http://schemas.openxmlformats.org/officeDocument/2006/relationships/hyperlink" Target="http://jinja.pocoo.org/docs"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gorails.com/setup/windows/10"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spring.io/quickstart"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10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10.xml.rels><?xml version="1.0" encoding="UTF-8" standalone="yes"?>
<Relationships xmlns="http://schemas.openxmlformats.org/package/2006/relationships"><Relationship Id="rId2" Type="http://schemas.openxmlformats.org/officeDocument/2006/relationships/hyperlink" Target="https://www.codeigniter.com/" TargetMode="Externa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hyperlink" Target="https://fr.wikipedia.org/wiki/CodeIgniter" TargetMode="External"/><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hyperlink" Target="https://www.mkltesthead.com/2012_01_01_archive.html" TargetMode="External"/><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81.png"/></Relationships>
</file>

<file path=ppt/slides/_rels/slide12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hyperlink" Target="http://www.bar.com/foo/index.html" TargetMode="Externa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86.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hyperlink" Target="http://www.bar.com/" TargetMode="Externa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1D7D3F3-CA61-4290-8318-F72664E6A135}"/>
              </a:ext>
            </a:extLst>
          </p:cNvPr>
          <p:cNvSpPr>
            <a:spLocks noGrp="1"/>
          </p:cNvSpPr>
          <p:nvPr>
            <p:ph type="ctrTitle"/>
          </p:nvPr>
        </p:nvSpPr>
        <p:spPr>
          <a:xfrm>
            <a:off x="761998" y="2001022"/>
            <a:ext cx="6029325" cy="2855956"/>
          </a:xfrm>
        </p:spPr>
        <p:txBody>
          <a:bodyPr>
            <a:normAutofit fontScale="90000"/>
          </a:bodyPr>
          <a:lstStyle/>
          <a:p>
            <a:pPr algn="l"/>
            <a:r>
              <a:rPr lang="es-ES" sz="8000" dirty="0" err="1"/>
              <a:t>Backend</a:t>
            </a:r>
            <a:br>
              <a:rPr lang="es-ES" sz="8000" dirty="0"/>
            </a:br>
            <a:r>
              <a:rPr lang="es-ES" sz="8000" dirty="0" err="1"/>
              <a:t>Frameworks</a:t>
            </a:r>
            <a:br>
              <a:rPr lang="es-ES" sz="8000" dirty="0"/>
            </a:br>
            <a:br>
              <a:rPr lang="en-US" sz="1400" dirty="0"/>
            </a:br>
            <a:endParaRPr lang="es-ES" sz="8000" dirty="0"/>
          </a:p>
        </p:txBody>
      </p:sp>
      <p:sp>
        <p:nvSpPr>
          <p:cNvPr id="3" name="Subtítulo 2">
            <a:extLst>
              <a:ext uri="{FF2B5EF4-FFF2-40B4-BE49-F238E27FC236}">
                <a16:creationId xmlns:a16="http://schemas.microsoft.com/office/drawing/2014/main" id="{7B0A4667-7AB7-4FD9-9E30-616D75D086C9}"/>
              </a:ext>
            </a:extLst>
          </p:cNvPr>
          <p:cNvSpPr>
            <a:spLocks noGrp="1"/>
          </p:cNvSpPr>
          <p:nvPr>
            <p:ph type="subTitle" idx="1"/>
          </p:nvPr>
        </p:nvSpPr>
        <p:spPr>
          <a:xfrm>
            <a:off x="761998" y="5884069"/>
            <a:ext cx="6242483" cy="1595437"/>
          </a:xfrm>
        </p:spPr>
        <p:txBody>
          <a:bodyPr>
            <a:normAutofit/>
          </a:bodyPr>
          <a:lstStyle/>
          <a:p>
            <a:pPr algn="l"/>
            <a:r>
              <a:rPr lang="es-ES" sz="2000" dirty="0"/>
              <a:t>U</a:t>
            </a:r>
            <a:r>
              <a:rPr lang="en-US" sz="2000" dirty="0"/>
              <a:t>-</a:t>
            </a:r>
            <a:r>
              <a:rPr lang="es-ES" sz="2000" dirty="0" err="1"/>
              <a:t>tad</a:t>
            </a:r>
            <a:r>
              <a:rPr lang="es-ES" sz="2000" dirty="0"/>
              <a:t> - Programación Web</a:t>
            </a:r>
            <a:r>
              <a:rPr lang="en-US" sz="2000" dirty="0"/>
              <a:t> </a:t>
            </a:r>
            <a:r>
              <a:rPr lang="en-US" sz="2000" dirty="0" err="1"/>
              <a:t>Servidor</a:t>
            </a:r>
            <a:endParaRPr lang="es-ES" sz="2000" dirty="0"/>
          </a:p>
        </p:txBody>
      </p:sp>
      <p:pic>
        <p:nvPicPr>
          <p:cNvPr id="4" name="Picture 3" descr="Triángulos coloreados que crean un diseño transparente">
            <a:extLst>
              <a:ext uri="{FF2B5EF4-FFF2-40B4-BE49-F238E27FC236}">
                <a16:creationId xmlns:a16="http://schemas.microsoft.com/office/drawing/2014/main" id="{805F93C8-E03E-40FD-984B-5321D45606FF}"/>
              </a:ext>
            </a:extLst>
          </p:cNvPr>
          <p:cNvPicPr>
            <a:picLocks noChangeAspect="1"/>
          </p:cNvPicPr>
          <p:nvPr/>
        </p:nvPicPr>
        <p:blipFill rotWithShape="1">
          <a:blip r:embed="rId2" cstate="print"/>
          <a:srcRect l="27980" r="25640" b="1"/>
          <a:stretch/>
        </p:blipFill>
        <p:spPr>
          <a:xfrm>
            <a:off x="7648048"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18" name="Group 17">
            <a:extLst>
              <a:ext uri="{FF2B5EF4-FFF2-40B4-BE49-F238E27FC236}">
                <a16:creationId xmlns:a16="http://schemas.microsoft.com/office/drawing/2014/main" id="{564DEED3-BC52-4F15-8426-D33275CB0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9" name="Freeform: Shape 18">
              <a:extLst>
                <a:ext uri="{FF2B5EF4-FFF2-40B4-BE49-F238E27FC236}">
                  <a16:creationId xmlns:a16="http://schemas.microsoft.com/office/drawing/2014/main" id="{937D94AD-9CD7-4F7F-B13A-399B37840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F6D3FDC-6FDD-4615-B246-1FC651E95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cstate="print">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2745801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CE553-7692-492F-BDC9-FE4B7E77217E}"/>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A02C1962-2753-4FF5-B5D6-97DFDB95F678}"/>
              </a:ext>
            </a:extLst>
          </p:cNvPr>
          <p:cNvSpPr>
            <a:spLocks noGrp="1"/>
          </p:cNvSpPr>
          <p:nvPr>
            <p:ph idx="1"/>
          </p:nvPr>
        </p:nvSpPr>
        <p:spPr/>
        <p:txBody>
          <a:bodyPr>
            <a:normAutofit/>
          </a:bodyPr>
          <a:lstStyle/>
          <a:p>
            <a:r>
              <a:rPr lang="es-ES" dirty="0"/>
              <a:t>¿Qué es un </a:t>
            </a:r>
            <a:r>
              <a:rPr lang="es-ES" dirty="0" err="1"/>
              <a:t>framework</a:t>
            </a:r>
            <a:r>
              <a:rPr lang="en-US" dirty="0"/>
              <a:t>?</a:t>
            </a:r>
          </a:p>
          <a:p>
            <a:r>
              <a:rPr lang="en-US" dirty="0"/>
              <a:t>¿Por </a:t>
            </a:r>
            <a:r>
              <a:rPr lang="en-US" dirty="0" err="1"/>
              <a:t>qué</a:t>
            </a:r>
            <a:r>
              <a:rPr lang="en-US" dirty="0"/>
              <a:t> usar un framework?</a:t>
            </a:r>
          </a:p>
          <a:p>
            <a:r>
              <a:rPr lang="en-US" dirty="0" err="1"/>
              <a:t>Modelo</a:t>
            </a:r>
            <a:r>
              <a:rPr lang="en-US" dirty="0"/>
              <a:t> Vista-</a:t>
            </a:r>
            <a:r>
              <a:rPr lang="en-US" dirty="0" err="1"/>
              <a:t>Controlador</a:t>
            </a:r>
            <a:endParaRPr lang="en-US" dirty="0"/>
          </a:p>
          <a:p>
            <a:r>
              <a:rPr lang="en-US" dirty="0"/>
              <a:t>Frameworks </a:t>
            </a:r>
            <a:r>
              <a:rPr lang="en-US" dirty="0" err="1"/>
              <a:t>más</a:t>
            </a:r>
            <a:r>
              <a:rPr lang="en-US" dirty="0"/>
              <a:t> </a:t>
            </a:r>
            <a:r>
              <a:rPr lang="en-US" dirty="0" err="1"/>
              <a:t>usados</a:t>
            </a:r>
            <a:r>
              <a:rPr lang="en-US" dirty="0"/>
              <a:t>.</a:t>
            </a:r>
          </a:p>
          <a:p>
            <a:endParaRPr lang="en-US" dirty="0"/>
          </a:p>
          <a:p>
            <a:endParaRPr lang="es-ES" dirty="0"/>
          </a:p>
        </p:txBody>
      </p:sp>
    </p:spTree>
    <p:extLst>
      <p:ext uri="{BB962C8B-B14F-4D97-AF65-F5344CB8AC3E}">
        <p14:creationId xmlns:p14="http://schemas.microsoft.com/office/powerpoint/2010/main" val="542544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ACC1B8-ADE7-45B5-A70B-96314EA55DC6}"/>
              </a:ext>
            </a:extLst>
          </p:cNvPr>
          <p:cNvSpPr>
            <a:spLocks noGrp="1"/>
          </p:cNvSpPr>
          <p:nvPr>
            <p:ph type="title"/>
          </p:nvPr>
        </p:nvSpPr>
        <p:spPr/>
        <p:txBody>
          <a:bodyPr/>
          <a:lstStyle/>
          <a:p>
            <a:r>
              <a:rPr lang="es-ES" dirty="0"/>
              <a:t>¿</a:t>
            </a:r>
            <a:r>
              <a:rPr lang="en-US" dirty="0"/>
              <a:t>Qu</a:t>
            </a:r>
            <a:r>
              <a:rPr lang="es-ES" dirty="0"/>
              <a:t>é es un </a:t>
            </a:r>
            <a:r>
              <a:rPr lang="es-ES" dirty="0" err="1"/>
              <a:t>framework</a:t>
            </a:r>
            <a:r>
              <a:rPr lang="en-US" dirty="0"/>
              <a:t>?</a:t>
            </a:r>
            <a:endParaRPr lang="es-ES" dirty="0"/>
          </a:p>
        </p:txBody>
      </p:sp>
      <p:sp>
        <p:nvSpPr>
          <p:cNvPr id="3" name="Marcador de contenido 2">
            <a:extLst>
              <a:ext uri="{FF2B5EF4-FFF2-40B4-BE49-F238E27FC236}">
                <a16:creationId xmlns:a16="http://schemas.microsoft.com/office/drawing/2014/main" id="{A1652EB3-3568-4DC5-8C87-DCE948D9D2E0}"/>
              </a:ext>
            </a:extLst>
          </p:cNvPr>
          <p:cNvSpPr>
            <a:spLocks noGrp="1"/>
          </p:cNvSpPr>
          <p:nvPr>
            <p:ph idx="1"/>
          </p:nvPr>
        </p:nvSpPr>
        <p:spPr/>
        <p:txBody>
          <a:bodyPr>
            <a:normAutofit/>
          </a:bodyPr>
          <a:lstStyle/>
          <a:p>
            <a:r>
              <a:rPr lang="es-ES" dirty="0"/>
              <a:t>Un </a:t>
            </a:r>
            <a:r>
              <a:rPr lang="es-ES" dirty="0" err="1"/>
              <a:t>framework</a:t>
            </a:r>
            <a:r>
              <a:rPr lang="es-ES" dirty="0"/>
              <a:t> (o entorno de trabajo) se define como una aplicación o conjunto de módulos que permiten el desarrollo ágil de aplicaciones mediante la aportación de librerías y/o funcionalidades ya creadas.</a:t>
            </a:r>
          </a:p>
        </p:txBody>
      </p:sp>
    </p:spTree>
    <p:extLst>
      <p:ext uri="{BB962C8B-B14F-4D97-AF65-F5344CB8AC3E}">
        <p14:creationId xmlns:p14="http://schemas.microsoft.com/office/powerpoint/2010/main" val="4281288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BC36E-CC63-4149-885D-676DC65EA6C8}"/>
              </a:ext>
            </a:extLst>
          </p:cNvPr>
          <p:cNvSpPr>
            <a:spLocks noGrp="1"/>
          </p:cNvSpPr>
          <p:nvPr>
            <p:ph type="title"/>
          </p:nvPr>
        </p:nvSpPr>
        <p:spPr/>
        <p:txBody>
          <a:bodyPr/>
          <a:lstStyle/>
          <a:p>
            <a:r>
              <a:rPr lang="es-ES" dirty="0"/>
              <a:t>¿Por qué usar un </a:t>
            </a:r>
            <a:r>
              <a:rPr lang="es-ES" dirty="0" err="1"/>
              <a:t>framework</a:t>
            </a:r>
            <a:r>
              <a:rPr lang="es-ES" dirty="0"/>
              <a:t>?</a:t>
            </a:r>
          </a:p>
        </p:txBody>
      </p:sp>
      <p:sp>
        <p:nvSpPr>
          <p:cNvPr id="3" name="Marcador de contenido 2">
            <a:extLst>
              <a:ext uri="{FF2B5EF4-FFF2-40B4-BE49-F238E27FC236}">
                <a16:creationId xmlns:a16="http://schemas.microsoft.com/office/drawing/2014/main" id="{AA15250C-DD41-46BA-9C7D-C6CE5E65CB57}"/>
              </a:ext>
            </a:extLst>
          </p:cNvPr>
          <p:cNvSpPr>
            <a:spLocks noGrp="1"/>
          </p:cNvSpPr>
          <p:nvPr>
            <p:ph idx="1"/>
          </p:nvPr>
        </p:nvSpPr>
        <p:spPr/>
        <p:txBody>
          <a:bodyPr/>
          <a:lstStyle/>
          <a:p>
            <a:r>
              <a:rPr lang="es-ES" dirty="0"/>
              <a:t>Existen distintos puntos por los que usar </a:t>
            </a:r>
            <a:r>
              <a:rPr lang="es-ES" dirty="0" err="1"/>
              <a:t>frameworks</a:t>
            </a:r>
            <a:r>
              <a:rPr lang="en-US" dirty="0"/>
              <a:t>:</a:t>
            </a:r>
          </a:p>
          <a:p>
            <a:pPr lvl="1"/>
            <a:r>
              <a:rPr lang="en-US" dirty="0"/>
              <a:t>Evita usar c</a:t>
            </a:r>
            <a:r>
              <a:rPr lang="es-ES" dirty="0" err="1"/>
              <a:t>ódigo</a:t>
            </a:r>
            <a:r>
              <a:rPr lang="es-ES" dirty="0"/>
              <a:t> repetido.</a:t>
            </a:r>
          </a:p>
          <a:p>
            <a:pPr lvl="1"/>
            <a:r>
              <a:rPr lang="es-ES" dirty="0"/>
              <a:t>Utiliza buenas prácticas (Modelo-Vista-Controlador).</a:t>
            </a:r>
          </a:p>
          <a:p>
            <a:pPr lvl="1"/>
            <a:r>
              <a:rPr lang="es-ES" dirty="0"/>
              <a:t>Permite el uso de herramientas avanzadas.</a:t>
            </a:r>
          </a:p>
          <a:p>
            <a:pPr lvl="1"/>
            <a:r>
              <a:rPr lang="es-ES" dirty="0"/>
              <a:t>Desarrollo más veloz.</a:t>
            </a:r>
          </a:p>
        </p:txBody>
      </p:sp>
    </p:spTree>
    <p:extLst>
      <p:ext uri="{BB962C8B-B14F-4D97-AF65-F5344CB8AC3E}">
        <p14:creationId xmlns:p14="http://schemas.microsoft.com/office/powerpoint/2010/main" val="3559448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D955CF-153C-435B-81FF-CAF7E719489A}"/>
              </a:ext>
            </a:extLst>
          </p:cNvPr>
          <p:cNvSpPr>
            <a:spLocks noGrp="1"/>
          </p:cNvSpPr>
          <p:nvPr>
            <p:ph type="title"/>
          </p:nvPr>
        </p:nvSpPr>
        <p:spPr/>
        <p:txBody>
          <a:bodyPr/>
          <a:lstStyle/>
          <a:p>
            <a:r>
              <a:rPr lang="es-ES" dirty="0"/>
              <a:t>¿Cómo elegir un </a:t>
            </a:r>
            <a:r>
              <a:rPr lang="es-ES" dirty="0" err="1"/>
              <a:t>framework</a:t>
            </a:r>
            <a:r>
              <a:rPr lang="es-ES" dirty="0"/>
              <a:t>?</a:t>
            </a:r>
          </a:p>
        </p:txBody>
      </p:sp>
      <p:sp>
        <p:nvSpPr>
          <p:cNvPr id="3" name="Marcador de contenido 2">
            <a:extLst>
              <a:ext uri="{FF2B5EF4-FFF2-40B4-BE49-F238E27FC236}">
                <a16:creationId xmlns:a16="http://schemas.microsoft.com/office/drawing/2014/main" id="{CD881786-92FB-4A9B-A0FB-9FE32948B9AD}"/>
              </a:ext>
            </a:extLst>
          </p:cNvPr>
          <p:cNvSpPr>
            <a:spLocks noGrp="1"/>
          </p:cNvSpPr>
          <p:nvPr>
            <p:ph idx="1"/>
          </p:nvPr>
        </p:nvSpPr>
        <p:spPr>
          <a:xfrm>
            <a:off x="762000" y="3047999"/>
            <a:ext cx="10668000" cy="4063015"/>
          </a:xfrm>
        </p:spPr>
        <p:txBody>
          <a:bodyPr/>
          <a:lstStyle/>
          <a:p>
            <a:r>
              <a:rPr lang="es-ES" dirty="0"/>
              <a:t>Los factores a considerar para elegir un </a:t>
            </a:r>
            <a:r>
              <a:rPr lang="es-ES" dirty="0" err="1"/>
              <a:t>framework</a:t>
            </a:r>
            <a:r>
              <a:rPr lang="es-ES" dirty="0"/>
              <a:t> son:</a:t>
            </a:r>
          </a:p>
          <a:p>
            <a:pPr lvl="1"/>
            <a:r>
              <a:rPr lang="es-ES" dirty="0"/>
              <a:t>Soporte de comunidad</a:t>
            </a:r>
          </a:p>
          <a:p>
            <a:pPr lvl="1"/>
            <a:r>
              <a:rPr lang="es-ES" dirty="0"/>
              <a:t>Simplicidad y potencia</a:t>
            </a:r>
          </a:p>
          <a:p>
            <a:pPr lvl="1"/>
            <a:r>
              <a:rPr lang="es-ES" dirty="0"/>
              <a:t>Reutilización</a:t>
            </a:r>
          </a:p>
          <a:p>
            <a:pPr lvl="1"/>
            <a:r>
              <a:rPr lang="es-ES" dirty="0"/>
              <a:t>Posicionamiento</a:t>
            </a:r>
          </a:p>
          <a:p>
            <a:pPr lvl="1"/>
            <a:r>
              <a:rPr lang="es-ES" dirty="0"/>
              <a:t>Seguridad</a:t>
            </a:r>
          </a:p>
        </p:txBody>
      </p:sp>
    </p:spTree>
    <p:extLst>
      <p:ext uri="{BB962C8B-B14F-4D97-AF65-F5344CB8AC3E}">
        <p14:creationId xmlns:p14="http://schemas.microsoft.com/office/powerpoint/2010/main" val="1156571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4C247B-B34B-44AB-9DCA-54F6DA4F9A7A}"/>
              </a:ext>
            </a:extLst>
          </p:cNvPr>
          <p:cNvSpPr>
            <a:spLocks noGrp="1"/>
          </p:cNvSpPr>
          <p:nvPr>
            <p:ph type="title"/>
          </p:nvPr>
        </p:nvSpPr>
        <p:spPr>
          <a:xfrm>
            <a:off x="762000" y="1293336"/>
            <a:ext cx="9144000" cy="1263649"/>
          </a:xfrm>
        </p:spPr>
        <p:txBody>
          <a:bodyPr/>
          <a:lstStyle/>
          <a:p>
            <a:r>
              <a:rPr lang="es-ES" dirty="0"/>
              <a:t>Frameworks más usados</a:t>
            </a:r>
          </a:p>
        </p:txBody>
      </p:sp>
      <p:sp>
        <p:nvSpPr>
          <p:cNvPr id="3" name="Marcador de contenido 2">
            <a:extLst>
              <a:ext uri="{FF2B5EF4-FFF2-40B4-BE49-F238E27FC236}">
                <a16:creationId xmlns:a16="http://schemas.microsoft.com/office/drawing/2014/main" id="{C5898C74-3ABB-41F1-947A-FC0E31CD1876}"/>
              </a:ext>
            </a:extLst>
          </p:cNvPr>
          <p:cNvSpPr>
            <a:spLocks noGrp="1"/>
          </p:cNvSpPr>
          <p:nvPr>
            <p:ph idx="1"/>
          </p:nvPr>
        </p:nvSpPr>
        <p:spPr>
          <a:xfrm>
            <a:off x="762000" y="2817335"/>
            <a:ext cx="10668000" cy="3629026"/>
          </a:xfrm>
        </p:spPr>
        <p:txBody>
          <a:bodyPr/>
          <a:lstStyle/>
          <a:p>
            <a:r>
              <a:rPr lang="es-ES" dirty="0"/>
              <a:t>Python – </a:t>
            </a:r>
            <a:r>
              <a:rPr lang="es-ES" dirty="0">
                <a:solidFill>
                  <a:schemeClr val="accent4">
                    <a:lumMod val="60000"/>
                    <a:lumOff val="40000"/>
                  </a:schemeClr>
                </a:solidFill>
              </a:rPr>
              <a:t>Django, </a:t>
            </a:r>
            <a:r>
              <a:rPr lang="es-ES" dirty="0" err="1">
                <a:solidFill>
                  <a:schemeClr val="accent4">
                    <a:lumMod val="60000"/>
                    <a:lumOff val="40000"/>
                  </a:schemeClr>
                </a:solidFill>
              </a:rPr>
              <a:t>Flask</a:t>
            </a:r>
            <a:r>
              <a:rPr lang="es-ES" dirty="0"/>
              <a:t>, </a:t>
            </a:r>
            <a:r>
              <a:rPr lang="es-ES" dirty="0" err="1"/>
              <a:t>Pyramid</a:t>
            </a:r>
            <a:r>
              <a:rPr lang="es-ES" dirty="0"/>
              <a:t>, Web2py...</a:t>
            </a:r>
          </a:p>
          <a:p>
            <a:r>
              <a:rPr lang="en-US" dirty="0" err="1"/>
              <a:t>NodeJS</a:t>
            </a:r>
            <a:r>
              <a:rPr lang="en-US" dirty="0"/>
              <a:t> – </a:t>
            </a:r>
            <a:r>
              <a:rPr lang="en-US" dirty="0">
                <a:solidFill>
                  <a:srgbClr val="FFFF00"/>
                </a:solidFill>
              </a:rPr>
              <a:t>Express</a:t>
            </a:r>
            <a:r>
              <a:rPr lang="en-US" dirty="0"/>
              <a:t>, Meteor... </a:t>
            </a:r>
            <a:r>
              <a:rPr lang="es-ES" dirty="0"/>
              <a:t>(semana 3) </a:t>
            </a:r>
          </a:p>
          <a:p>
            <a:r>
              <a:rPr lang="es-ES" dirty="0" err="1"/>
              <a:t>Ruby</a:t>
            </a:r>
            <a:r>
              <a:rPr lang="es-ES" dirty="0"/>
              <a:t> – </a:t>
            </a:r>
            <a:r>
              <a:rPr lang="es-ES" dirty="0" err="1">
                <a:solidFill>
                  <a:srgbClr val="FFFF00"/>
                </a:solidFill>
              </a:rPr>
              <a:t>Rails</a:t>
            </a:r>
            <a:r>
              <a:rPr lang="es-ES" dirty="0"/>
              <a:t>, Sinatra, </a:t>
            </a:r>
            <a:r>
              <a:rPr lang="es-ES" dirty="0" err="1"/>
              <a:t>Hobbit</a:t>
            </a:r>
            <a:r>
              <a:rPr lang="es-ES" dirty="0"/>
              <a:t>... (semana 4)</a:t>
            </a:r>
          </a:p>
          <a:p>
            <a:r>
              <a:rPr lang="es-ES" dirty="0"/>
              <a:t>PHP – </a:t>
            </a:r>
            <a:r>
              <a:rPr lang="es-ES" dirty="0" err="1">
                <a:solidFill>
                  <a:srgbClr val="FFFF00"/>
                </a:solidFill>
              </a:rPr>
              <a:t>Laravel</a:t>
            </a:r>
            <a:r>
              <a:rPr lang="es-ES" dirty="0"/>
              <a:t>, </a:t>
            </a:r>
            <a:r>
              <a:rPr lang="es-ES" dirty="0" err="1"/>
              <a:t>Codelgniter</a:t>
            </a:r>
            <a:r>
              <a:rPr lang="es-ES" dirty="0"/>
              <a:t>, </a:t>
            </a:r>
            <a:r>
              <a:rPr lang="es-ES" dirty="0" err="1"/>
              <a:t>Symfony</a:t>
            </a:r>
            <a:r>
              <a:rPr lang="es-ES" dirty="0"/>
              <a:t>... (semana 5)</a:t>
            </a:r>
          </a:p>
          <a:p>
            <a:r>
              <a:rPr lang="es-ES" dirty="0"/>
              <a:t>Java – </a:t>
            </a:r>
            <a:r>
              <a:rPr lang="es-ES" dirty="0">
                <a:solidFill>
                  <a:srgbClr val="FFFF00"/>
                </a:solidFill>
              </a:rPr>
              <a:t>Spring</a:t>
            </a:r>
            <a:r>
              <a:rPr lang="es-ES" dirty="0"/>
              <a:t>, </a:t>
            </a:r>
            <a:r>
              <a:rPr lang="es-ES" dirty="0" err="1"/>
              <a:t>Struct</a:t>
            </a:r>
            <a:r>
              <a:rPr lang="es-ES" dirty="0"/>
              <a:t>... (semana 6)</a:t>
            </a:r>
          </a:p>
          <a:p>
            <a:r>
              <a:rPr lang="es-ES" dirty="0"/>
              <a:t>C</a:t>
            </a:r>
            <a:r>
              <a:rPr lang="en-US" dirty="0"/>
              <a:t># - </a:t>
            </a:r>
            <a:r>
              <a:rPr lang="en-US" dirty="0" err="1">
                <a:solidFill>
                  <a:srgbClr val="FFFF00"/>
                </a:solidFill>
              </a:rPr>
              <a:t>.Net</a:t>
            </a:r>
            <a:r>
              <a:rPr lang="en-US" dirty="0">
                <a:solidFill>
                  <a:srgbClr val="FFFF00"/>
                </a:solidFill>
              </a:rPr>
              <a:t> </a:t>
            </a:r>
            <a:r>
              <a:rPr lang="es-ES" dirty="0">
                <a:solidFill>
                  <a:srgbClr val="FFFF00"/>
                </a:solidFill>
              </a:rPr>
              <a:t> </a:t>
            </a:r>
            <a:r>
              <a:rPr lang="es-ES" dirty="0"/>
              <a:t>(semana 7)</a:t>
            </a:r>
            <a:endParaRPr lang="en-US" dirty="0"/>
          </a:p>
        </p:txBody>
      </p:sp>
    </p:spTree>
    <p:extLst>
      <p:ext uri="{BB962C8B-B14F-4D97-AF65-F5344CB8AC3E}">
        <p14:creationId xmlns:p14="http://schemas.microsoft.com/office/powerpoint/2010/main" val="3796202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D8139-6DEE-4ABE-BFB5-42BA84A659F9}"/>
              </a:ext>
            </a:extLst>
          </p:cNvPr>
          <p:cNvSpPr>
            <a:spLocks noGrp="1"/>
          </p:cNvSpPr>
          <p:nvPr>
            <p:ph type="ctrTitle"/>
          </p:nvPr>
        </p:nvSpPr>
        <p:spPr/>
        <p:txBody>
          <a:bodyPr/>
          <a:lstStyle/>
          <a:p>
            <a:r>
              <a:rPr lang="es-ES" dirty="0"/>
              <a:t>Empecemos con Python </a:t>
            </a:r>
            <a:r>
              <a:rPr lang="es-ES" dirty="0" err="1"/>
              <a:t>Flask</a:t>
            </a:r>
            <a:endParaRPr lang="es-ES" dirty="0"/>
          </a:p>
        </p:txBody>
      </p:sp>
      <p:sp>
        <p:nvSpPr>
          <p:cNvPr id="3" name="Subtítulo 2">
            <a:extLst>
              <a:ext uri="{FF2B5EF4-FFF2-40B4-BE49-F238E27FC236}">
                <a16:creationId xmlns:a16="http://schemas.microsoft.com/office/drawing/2014/main" id="{347EA46D-9DF9-4201-A37B-86CF4B45BE66}"/>
              </a:ext>
            </a:extLst>
          </p:cNvPr>
          <p:cNvSpPr>
            <a:spLocks noGrp="1"/>
          </p:cNvSpPr>
          <p:nvPr>
            <p:ph type="subTitle" idx="1"/>
          </p:nvPr>
        </p:nvSpPr>
        <p:spPr/>
        <p:txBody>
          <a:bodyPr/>
          <a:lstStyle/>
          <a:p>
            <a:r>
              <a:rPr lang="es-ES" dirty="0"/>
              <a:t>Python</a:t>
            </a:r>
          </a:p>
        </p:txBody>
      </p:sp>
    </p:spTree>
    <p:extLst>
      <p:ext uri="{BB962C8B-B14F-4D97-AF65-F5344CB8AC3E}">
        <p14:creationId xmlns:p14="http://schemas.microsoft.com/office/powerpoint/2010/main" val="1318199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Python (usaremos para Flask y Django)</a:t>
            </a:r>
            <a:endParaRPr dirty="0"/>
          </a:p>
        </p:txBody>
      </p:sp>
      <p:sp>
        <p:nvSpPr>
          <p:cNvPr id="63" name="Google Shape;63;p1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pPr>
              <a:buChar char="-"/>
            </a:pPr>
            <a:r>
              <a:rPr lang="es" dirty="0"/>
              <a:t>Lenguajes interpretado y de alto nivel.</a:t>
            </a:r>
            <a:endParaRPr dirty="0"/>
          </a:p>
          <a:p>
            <a:pPr>
              <a:buChar char="-"/>
            </a:pPr>
            <a:r>
              <a:rPr lang="es" dirty="0"/>
              <a:t>Python tienen un tipado fuerte (los valores no pueden cambiar de tipo) pero dinámico (las variables no tienen tipo).</a:t>
            </a:r>
            <a:endParaRPr dirty="0"/>
          </a:p>
          <a:p>
            <a:pPr>
              <a:buChar char="-"/>
            </a:pPr>
            <a:r>
              <a:rPr lang="es" dirty="0"/>
              <a:t>Permiten orientación a objetos: clases, herencia…</a:t>
            </a:r>
            <a:endParaRPr dirty="0"/>
          </a:p>
          <a:p>
            <a:pPr>
              <a:buChar char="-"/>
            </a:pPr>
            <a:r>
              <a:rPr lang="es" dirty="0"/>
              <a:t>Todo son objetos: métodos y atributos.</a:t>
            </a:r>
            <a:endParaRPr dirty="0"/>
          </a:p>
          <a:p>
            <a:pPr>
              <a:buChar char="-"/>
            </a:pPr>
            <a:r>
              <a:rPr lang="es" dirty="0"/>
              <a:t>Se utilizan para scripting.</a:t>
            </a:r>
            <a:endParaRPr dirty="0"/>
          </a:p>
          <a:p>
            <a:pPr>
              <a:buChar char="-"/>
            </a:pPr>
            <a:r>
              <a:rPr lang="es" dirty="0"/>
              <a:t>Propósito general.</a:t>
            </a:r>
            <a:endParaRPr dirty="0"/>
          </a:p>
          <a:p>
            <a:pPr>
              <a:buChar char="-"/>
            </a:pPr>
            <a:r>
              <a:rPr lang="es" dirty="0"/>
              <a:t>Multiplataforma.</a:t>
            </a:r>
            <a:endParaRPr dirty="0"/>
          </a:p>
          <a:p>
            <a:pPr>
              <a:buChar char="-"/>
            </a:pPr>
            <a:r>
              <a:rPr lang="es" dirty="0"/>
              <a:t>Gratuitos.</a:t>
            </a:r>
            <a:endParaRPr dirty="0"/>
          </a:p>
          <a:p>
            <a:pPr indent="0">
              <a:spcBef>
                <a:spcPts val="1600"/>
              </a:spcBef>
              <a:spcAft>
                <a:spcPts val="160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15600" y="312867"/>
            <a:ext cx="11360800" cy="763600"/>
          </a:xfrm>
          <a:prstGeom prst="rect">
            <a:avLst/>
          </a:prstGeom>
        </p:spPr>
        <p:txBody>
          <a:bodyPr spcFirstLastPara="1" wrap="square" lIns="121897" tIns="121897" rIns="121897" bIns="121897" anchor="t" anchorCtr="0">
            <a:normAutofit fontScale="90000"/>
          </a:bodyPr>
          <a:lstStyle/>
          <a:p>
            <a:r>
              <a:rPr lang="es" dirty="0"/>
              <a:t>Python</a:t>
            </a:r>
            <a:endParaRPr dirty="0"/>
          </a:p>
          <a:p>
            <a:endParaRPr dirty="0"/>
          </a:p>
        </p:txBody>
      </p:sp>
      <p:sp>
        <p:nvSpPr>
          <p:cNvPr id="69" name="Google Shape;69;p15"/>
          <p:cNvSpPr txBox="1">
            <a:spLocks noGrp="1"/>
          </p:cNvSpPr>
          <p:nvPr>
            <p:ph type="body" idx="1"/>
          </p:nvPr>
        </p:nvSpPr>
        <p:spPr>
          <a:xfrm>
            <a:off x="415600" y="2117000"/>
            <a:ext cx="5333200" cy="4555200"/>
          </a:xfrm>
          <a:prstGeom prst="rect">
            <a:avLst/>
          </a:prstGeom>
        </p:spPr>
        <p:txBody>
          <a:bodyPr spcFirstLastPara="1" wrap="square" lIns="121897" tIns="121897" rIns="121897" bIns="121897" anchor="t" anchorCtr="0">
            <a:normAutofit/>
          </a:bodyPr>
          <a:lstStyle/>
          <a:p>
            <a:pPr>
              <a:buChar char="-"/>
            </a:pPr>
            <a:r>
              <a:rPr lang="es" dirty="0"/>
              <a:t>Multiparadigma: POO, P. funcional…</a:t>
            </a:r>
            <a:endParaRPr dirty="0"/>
          </a:p>
          <a:p>
            <a:pPr>
              <a:buChar char="-"/>
            </a:pPr>
            <a:r>
              <a:rPr lang="es" dirty="0"/>
              <a:t>Herencia múltiple</a:t>
            </a:r>
            <a:endParaRPr dirty="0"/>
          </a:p>
          <a:p>
            <a:pPr>
              <a:buChar char="-"/>
            </a:pPr>
            <a:r>
              <a:rPr lang="es" dirty="0"/>
              <a:t>Fácil de leer</a:t>
            </a:r>
            <a:endParaRPr dirty="0"/>
          </a:p>
          <a:p>
            <a:pPr>
              <a:buChar char="-"/>
            </a:pPr>
            <a:r>
              <a:rPr lang="es" dirty="0"/>
              <a:t>El uso de iteradores es más natural</a:t>
            </a:r>
            <a:endParaRPr dirty="0"/>
          </a:p>
          <a:p>
            <a:pPr>
              <a:buChar char="-"/>
            </a:pPr>
            <a:r>
              <a:rPr lang="es" dirty="0"/>
              <a:t>Distingue strings normales de strings en Unicode</a:t>
            </a:r>
            <a:endParaRPr dirty="0"/>
          </a:p>
          <a:p>
            <a:pPr>
              <a:buChar char="-"/>
            </a:pPr>
            <a:r>
              <a:rPr lang="es" dirty="0"/>
              <a:t>Se pueden crear funciones anidadas</a:t>
            </a:r>
            <a:endParaRPr dirty="0"/>
          </a:p>
          <a:p>
            <a:pPr>
              <a:buChar char="-"/>
            </a:pPr>
            <a:r>
              <a:rPr lang="es" dirty="0"/>
              <a:t>Elementos como las “List comprehensions” son poco intuitivos</a:t>
            </a:r>
            <a:endParaRPr dirty="0"/>
          </a:p>
          <a:p>
            <a:pPr indent="609585">
              <a:spcBef>
                <a:spcPts val="1600"/>
              </a:spcBef>
              <a:buNone/>
            </a:pPr>
            <a:r>
              <a:rPr lang="es" sz="1200" dirty="0"/>
              <a:t>Ej.: [(x ** 2) for x in range(100) if (x % 2 is 0)].</a:t>
            </a:r>
            <a:endParaRPr sz="1200" dirty="0"/>
          </a:p>
          <a:p>
            <a:pPr>
              <a:spcBef>
                <a:spcPts val="1600"/>
              </a:spcBef>
              <a:buChar char="-"/>
            </a:pPr>
            <a:r>
              <a:rPr lang="es" dirty="0"/>
              <a:t>El indentado es obligatorio</a:t>
            </a:r>
            <a:endParaRPr dirty="0"/>
          </a:p>
        </p:txBody>
      </p:sp>
      <p:pic>
        <p:nvPicPr>
          <p:cNvPr id="71" name="Google Shape;71;p15"/>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a:t>
            </a:r>
            <a:endParaRPr dirty="0"/>
          </a:p>
        </p:txBody>
      </p:sp>
      <p:sp>
        <p:nvSpPr>
          <p:cNvPr id="78" name="Google Shape;78;p16"/>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Declaración de variables</a:t>
            </a:r>
            <a:endParaRPr dirty="0"/>
          </a:p>
          <a:p>
            <a:pPr indent="609585">
              <a:spcBef>
                <a:spcPts val="1600"/>
              </a:spcBef>
              <a:buNone/>
            </a:pPr>
            <a:r>
              <a:rPr lang="es" b="1" u="sng" dirty="0"/>
              <a:t>a = 1</a:t>
            </a:r>
            <a:r>
              <a:rPr lang="es" dirty="0"/>
              <a:t>  o  </a:t>
            </a:r>
            <a:r>
              <a:rPr lang="es" b="1" u="sng" dirty="0"/>
              <a:t>PI = 3.14</a:t>
            </a:r>
            <a:endParaRPr b="1" u="sng" dirty="0"/>
          </a:p>
          <a:p>
            <a:pPr>
              <a:spcBef>
                <a:spcPts val="1600"/>
              </a:spcBef>
              <a:buChar char="-"/>
            </a:pPr>
            <a:r>
              <a:rPr lang="es" dirty="0"/>
              <a:t>Imprimir por pantalla</a:t>
            </a:r>
            <a:endParaRPr dirty="0"/>
          </a:p>
          <a:p>
            <a:pPr indent="609585">
              <a:spcBef>
                <a:spcPts val="1600"/>
              </a:spcBef>
              <a:buNone/>
            </a:pPr>
            <a:r>
              <a:rPr lang="es" b="1" u="sng" dirty="0"/>
              <a:t>print(“Wenas”)</a:t>
            </a:r>
            <a:endParaRPr b="1" u="sng" dirty="0"/>
          </a:p>
          <a:p>
            <a:pPr>
              <a:spcBef>
                <a:spcPts val="1600"/>
              </a:spcBef>
              <a:buChar char="-"/>
            </a:pPr>
            <a:r>
              <a:rPr lang="es" dirty="0"/>
              <a:t>Pedir datos al usuario</a:t>
            </a:r>
            <a:endParaRPr dirty="0"/>
          </a:p>
          <a:p>
            <a:pPr indent="0">
              <a:spcBef>
                <a:spcPts val="1600"/>
              </a:spcBef>
              <a:buNone/>
            </a:pPr>
            <a:r>
              <a:rPr lang="es" dirty="0"/>
              <a:t>	</a:t>
            </a:r>
            <a:r>
              <a:rPr lang="es" b="1" u="sng" dirty="0"/>
              <a:t>val = input()</a:t>
            </a:r>
            <a:endParaRPr b="1" u="sng" dirty="0"/>
          </a:p>
          <a:p>
            <a:pPr>
              <a:spcBef>
                <a:spcPts val="1600"/>
              </a:spcBef>
              <a:buChar char="-"/>
            </a:pPr>
            <a:r>
              <a:rPr lang="es" dirty="0"/>
              <a:t>Condiciones</a:t>
            </a:r>
            <a:endParaRPr dirty="0"/>
          </a:p>
          <a:p>
            <a:pPr indent="0">
              <a:spcBef>
                <a:spcPts val="1600"/>
              </a:spcBef>
              <a:spcAft>
                <a:spcPts val="1600"/>
              </a:spcAft>
              <a:buNone/>
            </a:pPr>
            <a:r>
              <a:rPr lang="es" dirty="0"/>
              <a:t>	</a:t>
            </a:r>
            <a:r>
              <a:rPr lang="es" b="1" u="sng" dirty="0"/>
              <a:t>and y or</a:t>
            </a:r>
            <a:endParaRPr b="1" u="sng" dirty="0"/>
          </a:p>
        </p:txBody>
      </p:sp>
      <p:pic>
        <p:nvPicPr>
          <p:cNvPr id="80" name="Google Shape;80;p16"/>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a:t>
            </a:r>
            <a:endParaRPr dirty="0"/>
          </a:p>
        </p:txBody>
      </p:sp>
      <p:sp>
        <p:nvSpPr>
          <p:cNvPr id="87" name="Google Shape;87;p17"/>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Sentencias if/else</a:t>
            </a:r>
            <a:endParaRPr dirty="0"/>
          </a:p>
          <a:p>
            <a:pPr indent="0">
              <a:spcBef>
                <a:spcPts val="1600"/>
              </a:spcBef>
              <a:buNone/>
            </a:pPr>
            <a:r>
              <a:rPr lang="es" b="1" u="sng" dirty="0"/>
              <a:t>if x:</a:t>
            </a:r>
            <a:endParaRPr b="1" u="sng" dirty="0"/>
          </a:p>
          <a:p>
            <a:pPr indent="0">
              <a:spcBef>
                <a:spcPts val="1600"/>
              </a:spcBef>
              <a:buNone/>
            </a:pPr>
            <a:r>
              <a:rPr lang="es" b="1" u="sng" dirty="0"/>
              <a:t>	print(x)</a:t>
            </a:r>
            <a:endParaRPr b="1" u="sng" dirty="0"/>
          </a:p>
          <a:p>
            <a:pPr indent="0">
              <a:spcBef>
                <a:spcPts val="1600"/>
              </a:spcBef>
              <a:buNone/>
            </a:pPr>
            <a:r>
              <a:rPr lang="es" b="1" u="sng" dirty="0"/>
              <a:t>elif y:</a:t>
            </a:r>
            <a:endParaRPr b="1" u="sng" dirty="0"/>
          </a:p>
          <a:p>
            <a:pPr indent="0">
              <a:spcBef>
                <a:spcPts val="1600"/>
              </a:spcBef>
              <a:buNone/>
            </a:pPr>
            <a:r>
              <a:rPr lang="es" b="1" u="sng" dirty="0"/>
              <a:t>	print(y)</a:t>
            </a:r>
            <a:endParaRPr b="1" u="sng" dirty="0"/>
          </a:p>
          <a:p>
            <a:pPr indent="0">
              <a:spcBef>
                <a:spcPts val="1600"/>
              </a:spcBef>
              <a:buNone/>
            </a:pPr>
            <a:r>
              <a:rPr lang="es" b="1" u="sng" dirty="0"/>
              <a:t>else:</a:t>
            </a:r>
            <a:endParaRPr b="1" u="sng" dirty="0"/>
          </a:p>
          <a:p>
            <a:pPr indent="0">
              <a:spcBef>
                <a:spcPts val="1600"/>
              </a:spcBef>
              <a:buNone/>
            </a:pPr>
            <a:r>
              <a:rPr lang="es" b="1" u="sng" dirty="0"/>
              <a:t>	print(z)</a:t>
            </a:r>
            <a:endParaRPr b="1" u="sng" dirty="0"/>
          </a:p>
          <a:p>
            <a:pPr indent="0">
              <a:spcBef>
                <a:spcPts val="1600"/>
              </a:spcBef>
              <a:spcAft>
                <a:spcPts val="1600"/>
              </a:spcAft>
              <a:buNone/>
            </a:pPr>
            <a:endParaRPr b="1" u="sng" dirty="0"/>
          </a:p>
        </p:txBody>
      </p:sp>
      <p:pic>
        <p:nvPicPr>
          <p:cNvPr id="89" name="Google Shape;89;p17"/>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a:t>
            </a:r>
            <a:endParaRPr dirty="0"/>
          </a:p>
        </p:txBody>
      </p:sp>
      <p:sp>
        <p:nvSpPr>
          <p:cNvPr id="96" name="Google Shape;96;p18"/>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Bucles</a:t>
            </a:r>
            <a:endParaRPr dirty="0"/>
          </a:p>
          <a:p>
            <a:pPr indent="0">
              <a:spcBef>
                <a:spcPts val="1600"/>
              </a:spcBef>
              <a:buNone/>
            </a:pPr>
            <a:r>
              <a:rPr lang="es" b="1" u="sng" dirty="0"/>
              <a:t>while var &lt; 10:  </a:t>
            </a:r>
            <a:endParaRPr b="1" u="sng" dirty="0"/>
          </a:p>
          <a:p>
            <a:pPr indent="0">
              <a:spcBef>
                <a:spcPts val="1600"/>
              </a:spcBef>
              <a:buNone/>
            </a:pPr>
            <a:r>
              <a:rPr lang="es" dirty="0"/>
              <a:t>  </a:t>
            </a:r>
            <a:r>
              <a:rPr lang="es" b="1" u="sng" dirty="0"/>
              <a:t>print(var)</a:t>
            </a:r>
            <a:endParaRPr b="1" u="sng" dirty="0"/>
          </a:p>
          <a:p>
            <a:pPr indent="0">
              <a:spcBef>
                <a:spcPts val="1600"/>
              </a:spcBef>
              <a:buNone/>
            </a:pPr>
            <a:r>
              <a:rPr lang="es" dirty="0"/>
              <a:t>  </a:t>
            </a:r>
            <a:r>
              <a:rPr lang="es" b="1" u="sng" dirty="0"/>
              <a:t>var += 1  </a:t>
            </a:r>
            <a:endParaRPr b="1" u="sng" dirty="0"/>
          </a:p>
          <a:p>
            <a:pPr indent="0">
              <a:spcBef>
                <a:spcPts val="1600"/>
              </a:spcBef>
              <a:buNone/>
            </a:pPr>
            <a:endParaRPr dirty="0"/>
          </a:p>
          <a:p>
            <a:pPr indent="0">
              <a:spcBef>
                <a:spcPts val="1600"/>
              </a:spcBef>
              <a:buNone/>
            </a:pPr>
            <a:endParaRPr b="1" u="sng" dirty="0"/>
          </a:p>
          <a:p>
            <a:pPr indent="0">
              <a:spcBef>
                <a:spcPts val="1600"/>
              </a:spcBef>
              <a:spcAft>
                <a:spcPts val="1600"/>
              </a:spcAft>
              <a:buNone/>
            </a:pPr>
            <a:endParaRPr b="1" u="sng" dirty="0"/>
          </a:p>
        </p:txBody>
      </p:sp>
      <p:pic>
        <p:nvPicPr>
          <p:cNvPr id="98" name="Google Shape;98;p18"/>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1026" name="Picture 2" descr="Image result for flask python">
            <a:extLst>
              <a:ext uri="{FF2B5EF4-FFF2-40B4-BE49-F238E27FC236}">
                <a16:creationId xmlns:a16="http://schemas.microsoft.com/office/drawing/2014/main" id="{DD75D33C-1D42-4918-9914-F72D47F869B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638300"/>
            <a:ext cx="121920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044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A70905F-6C1F-47D9-B5BB-DDA3317A6F5E}"/>
              </a:ext>
            </a:extLst>
          </p:cNvPr>
          <p:cNvPicPr>
            <a:picLocks noChangeAspect="1"/>
          </p:cNvPicPr>
          <p:nvPr/>
        </p:nvPicPr>
        <p:blipFill>
          <a:blip r:embed="rId2" cstate="print"/>
          <a:stretch>
            <a:fillRect/>
          </a:stretch>
        </p:blipFill>
        <p:spPr>
          <a:xfrm>
            <a:off x="2032001" y="533400"/>
            <a:ext cx="7886700" cy="3905250"/>
          </a:xfrm>
          <a:prstGeom prst="rect">
            <a:avLst/>
          </a:prstGeom>
        </p:spPr>
      </p:pic>
      <p:sp>
        <p:nvSpPr>
          <p:cNvPr id="6" name="Rectángulo 5">
            <a:extLst>
              <a:ext uri="{FF2B5EF4-FFF2-40B4-BE49-F238E27FC236}">
                <a16:creationId xmlns:a16="http://schemas.microsoft.com/office/drawing/2014/main" id="{CD5DE119-6F04-4E9E-AD36-FC2CDB3DE512}"/>
              </a:ext>
            </a:extLst>
          </p:cNvPr>
          <p:cNvSpPr/>
          <p:nvPr/>
        </p:nvSpPr>
        <p:spPr>
          <a:xfrm>
            <a:off x="1524000" y="4570274"/>
            <a:ext cx="6096000" cy="1754326"/>
          </a:xfrm>
          <a:prstGeom prst="rect">
            <a:avLst/>
          </a:prstGeom>
        </p:spPr>
        <p:txBody>
          <a:bodyPr>
            <a:spAutoFit/>
          </a:bodyPr>
          <a:lstStyle/>
          <a:p>
            <a:r>
              <a:rPr lang="es-ES" dirty="0" err="1"/>
              <a:t>from</a:t>
            </a:r>
            <a:r>
              <a:rPr lang="es-ES" dirty="0"/>
              <a:t> </a:t>
            </a:r>
            <a:r>
              <a:rPr lang="es-ES" dirty="0" err="1"/>
              <a:t>flask</a:t>
            </a:r>
            <a:r>
              <a:rPr lang="es-ES" dirty="0"/>
              <a:t> </a:t>
            </a:r>
            <a:r>
              <a:rPr lang="es-ES" dirty="0" err="1"/>
              <a:t>import</a:t>
            </a:r>
            <a:r>
              <a:rPr lang="es-ES" dirty="0"/>
              <a:t> </a:t>
            </a:r>
            <a:r>
              <a:rPr lang="es-ES" dirty="0" err="1"/>
              <a:t>Flask</a:t>
            </a:r>
            <a:endParaRPr lang="es-ES" dirty="0"/>
          </a:p>
          <a:p>
            <a:r>
              <a:rPr lang="es-ES" dirty="0"/>
              <a:t>app = </a:t>
            </a:r>
            <a:r>
              <a:rPr lang="es-ES" dirty="0" err="1"/>
              <a:t>Flask</a:t>
            </a:r>
            <a:r>
              <a:rPr lang="es-ES" dirty="0"/>
              <a:t>(__</a:t>
            </a:r>
            <a:r>
              <a:rPr lang="es-ES" dirty="0" err="1"/>
              <a:t>name</a:t>
            </a:r>
            <a:r>
              <a:rPr lang="es-ES" dirty="0"/>
              <a:t>__)</a:t>
            </a:r>
          </a:p>
          <a:p>
            <a:endParaRPr lang="es-ES" dirty="0"/>
          </a:p>
          <a:p>
            <a:r>
              <a:rPr lang="es-ES" dirty="0"/>
              <a:t>@</a:t>
            </a:r>
            <a:r>
              <a:rPr lang="es-ES" dirty="0" err="1"/>
              <a:t>app.route</a:t>
            </a:r>
            <a:r>
              <a:rPr lang="es-ES" dirty="0"/>
              <a:t>('/')</a:t>
            </a:r>
          </a:p>
          <a:p>
            <a:r>
              <a:rPr lang="es-ES" dirty="0" err="1"/>
              <a:t>def</a:t>
            </a:r>
            <a:r>
              <a:rPr lang="es-ES" dirty="0"/>
              <a:t> </a:t>
            </a:r>
            <a:r>
              <a:rPr lang="es-ES" dirty="0" err="1"/>
              <a:t>welcome</a:t>
            </a:r>
            <a:r>
              <a:rPr lang="es-ES" dirty="0"/>
              <a:t>():</a:t>
            </a:r>
          </a:p>
          <a:p>
            <a:r>
              <a:rPr lang="es-ES" dirty="0"/>
              <a:t>    </a:t>
            </a:r>
            <a:r>
              <a:rPr lang="es-ES" dirty="0" err="1"/>
              <a:t>return</a:t>
            </a:r>
            <a:r>
              <a:rPr lang="es-ES" dirty="0"/>
              <a:t> '</a:t>
            </a:r>
            <a:r>
              <a:rPr lang="es-ES" dirty="0" err="1"/>
              <a:t>Welcome</a:t>
            </a:r>
            <a:r>
              <a:rPr lang="es-ES" dirty="0"/>
              <a:t> </a:t>
            </a:r>
            <a:r>
              <a:rPr lang="es-ES" dirty="0" err="1"/>
              <a:t>to</a:t>
            </a:r>
            <a:r>
              <a:rPr lang="es-ES" dirty="0"/>
              <a:t>: </a:t>
            </a:r>
            <a:r>
              <a:rPr lang="es-ES" dirty="0" err="1"/>
              <a:t>Building</a:t>
            </a:r>
            <a:r>
              <a:rPr lang="es-ES" dirty="0"/>
              <a:t> a </a:t>
            </a:r>
            <a:r>
              <a:rPr lang="es-ES" dirty="0" err="1"/>
              <a:t>FinTech</a:t>
            </a:r>
            <a:r>
              <a:rPr lang="es-ES" dirty="0"/>
              <a:t>'</a:t>
            </a:r>
          </a:p>
        </p:txBody>
      </p:sp>
    </p:spTree>
    <p:extLst>
      <p:ext uri="{BB962C8B-B14F-4D97-AF65-F5344CB8AC3E}">
        <p14:creationId xmlns:p14="http://schemas.microsoft.com/office/powerpoint/2010/main" val="4248129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D5DE119-6F04-4E9E-AD36-FC2CDB3DE512}"/>
              </a:ext>
            </a:extLst>
          </p:cNvPr>
          <p:cNvSpPr/>
          <p:nvPr/>
        </p:nvSpPr>
        <p:spPr>
          <a:xfrm>
            <a:off x="1219200" y="228600"/>
            <a:ext cx="10363200" cy="7294305"/>
          </a:xfrm>
          <a:prstGeom prst="rect">
            <a:avLst/>
          </a:prstGeom>
        </p:spPr>
        <p:txBody>
          <a:bodyPr wrap="square">
            <a:spAutoFit/>
          </a:bodyPr>
          <a:lstStyle/>
          <a:p>
            <a:r>
              <a:rPr lang="es-ES" b="1" dirty="0"/>
              <a:t>Ejercicio 1)  </a:t>
            </a:r>
            <a:r>
              <a:rPr lang="es-ES" dirty="0"/>
              <a:t>construir una App </a:t>
            </a:r>
            <a:r>
              <a:rPr lang="es-ES" dirty="0" err="1"/>
              <a:t>flask</a:t>
            </a:r>
            <a:r>
              <a:rPr lang="es-ES" dirty="0"/>
              <a:t> para devolver este </a:t>
            </a:r>
            <a:r>
              <a:rPr lang="es-ES" dirty="0" err="1"/>
              <a:t>Html</a:t>
            </a:r>
            <a:r>
              <a:rPr lang="es-ES" dirty="0"/>
              <a:t> simple como </a:t>
            </a:r>
            <a:r>
              <a:rPr lang="es-ES" dirty="0" err="1"/>
              <a:t>string</a:t>
            </a:r>
            <a:r>
              <a:rPr lang="es-ES" dirty="0"/>
              <a:t>:</a:t>
            </a:r>
          </a:p>
          <a:p>
            <a:endParaRPr lang="es-ES" dirty="0"/>
          </a:p>
          <a:p>
            <a:r>
              <a:rPr lang="es-ES" dirty="0"/>
              <a:t>VOLVEMOS EN 15 MINUTOS  Y LO RESUELVO.</a:t>
            </a:r>
          </a:p>
          <a:p>
            <a:endParaRPr lang="es-ES" dirty="0"/>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&lt;h1&gt; </a:t>
            </a:r>
            <a:r>
              <a:rPr lang="en-US" dirty="0" err="1"/>
              <a:t>Nombre</a:t>
            </a:r>
            <a:r>
              <a:rPr lang="en-US" dirty="0"/>
              <a:t> del </a:t>
            </a:r>
            <a:r>
              <a:rPr lang="en-US" dirty="0" err="1"/>
              <a:t>curso</a:t>
            </a:r>
            <a:r>
              <a:rPr lang="en-US" dirty="0"/>
              <a:t> &lt;/h1&gt;</a:t>
            </a:r>
            <a:br>
              <a:rPr lang="en-US" dirty="0"/>
            </a:br>
            <a:r>
              <a:rPr lang="en-US" dirty="0"/>
              <a:t>&lt;p&gt;  Tu </a:t>
            </a:r>
            <a:r>
              <a:rPr lang="en-US" dirty="0" err="1"/>
              <a:t>nombre</a:t>
            </a:r>
            <a:r>
              <a:rPr lang="en-US" dirty="0"/>
              <a:t> &lt;/p&gt;</a:t>
            </a:r>
          </a:p>
          <a:p>
            <a:r>
              <a:rPr lang="en-US" dirty="0"/>
              <a:t>&lt;p&gt;  </a:t>
            </a:r>
            <a:r>
              <a:rPr lang="en-US" dirty="0" err="1"/>
              <a:t>fecha</a:t>
            </a:r>
            <a:r>
              <a:rPr lang="en-US" dirty="0"/>
              <a:t> de hoy &lt;/p&gt;</a:t>
            </a:r>
            <a:br>
              <a:rPr lang="en-US" dirty="0"/>
            </a:br>
            <a:br>
              <a:rPr lang="en-US" dirty="0"/>
            </a:br>
            <a:br>
              <a:rPr lang="en-US" dirty="0"/>
            </a:br>
            <a:r>
              <a:rPr lang="en-US" dirty="0"/>
              <a:t>&lt;/body&gt;</a:t>
            </a:r>
            <a:br>
              <a:rPr lang="en-US" dirty="0"/>
            </a:br>
            <a:r>
              <a:rPr lang="en-US" dirty="0"/>
              <a:t>&lt;/html&gt;</a:t>
            </a:r>
            <a:endParaRPr lang="es-ES" dirty="0"/>
          </a:p>
          <a:p>
            <a:endParaRPr lang="es-ES" dirty="0"/>
          </a:p>
          <a:p>
            <a:r>
              <a:rPr lang="es-ES" dirty="0"/>
              <a:t>Pd.</a:t>
            </a:r>
          </a:p>
          <a:p>
            <a:r>
              <a:rPr lang="es-ES" dirty="0"/>
              <a:t>Remplazar “</a:t>
            </a:r>
            <a:r>
              <a:rPr lang="en-US" dirty="0" err="1"/>
              <a:t>Nombre</a:t>
            </a:r>
            <a:r>
              <a:rPr lang="en-US" dirty="0"/>
              <a:t> del </a:t>
            </a:r>
            <a:r>
              <a:rPr lang="en-US" dirty="0" err="1"/>
              <a:t>curso</a:t>
            </a:r>
            <a:r>
              <a:rPr lang="en-US" dirty="0"/>
              <a:t>” por el </a:t>
            </a:r>
            <a:r>
              <a:rPr lang="en-US" dirty="0" err="1"/>
              <a:t>nombre</a:t>
            </a:r>
            <a:r>
              <a:rPr lang="en-US" dirty="0"/>
              <a:t> del </a:t>
            </a:r>
            <a:r>
              <a:rPr lang="en-US" dirty="0" err="1"/>
              <a:t>curso</a:t>
            </a:r>
            <a:r>
              <a:rPr lang="en-US" dirty="0"/>
              <a:t>.</a:t>
            </a:r>
          </a:p>
          <a:p>
            <a:endParaRPr lang="en-US" dirty="0"/>
          </a:p>
          <a:p>
            <a:r>
              <a:rPr lang="es-ES" dirty="0"/>
              <a:t>Remplazar “Tu n</a:t>
            </a:r>
            <a:r>
              <a:rPr lang="en-US" dirty="0"/>
              <a:t>ombre” por </a:t>
            </a:r>
            <a:r>
              <a:rPr lang="en-US" dirty="0" err="1"/>
              <a:t>tu</a:t>
            </a:r>
            <a:r>
              <a:rPr lang="en-US" dirty="0"/>
              <a:t> </a:t>
            </a:r>
            <a:r>
              <a:rPr lang="en-US" dirty="0" err="1"/>
              <a:t>nombre</a:t>
            </a:r>
            <a:r>
              <a:rPr lang="en-US" dirty="0"/>
              <a:t> de </a:t>
            </a:r>
            <a:r>
              <a:rPr lang="en-US" dirty="0" err="1"/>
              <a:t>verdad</a:t>
            </a:r>
            <a:r>
              <a:rPr lang="en-US" dirty="0"/>
              <a:t>.</a:t>
            </a:r>
          </a:p>
          <a:p>
            <a:endParaRPr lang="es-ES" dirty="0"/>
          </a:p>
          <a:p>
            <a:r>
              <a:rPr lang="es-ES" dirty="0"/>
              <a:t>Remplazar “fecha de hoy</a:t>
            </a:r>
            <a:r>
              <a:rPr lang="en-US" dirty="0"/>
              <a:t>” por la </a:t>
            </a:r>
            <a:r>
              <a:rPr lang="en-US" dirty="0" err="1"/>
              <a:t>fecha</a:t>
            </a:r>
            <a:r>
              <a:rPr lang="en-US" dirty="0"/>
              <a:t> de hoy de </a:t>
            </a:r>
            <a:r>
              <a:rPr lang="en-US" dirty="0" err="1"/>
              <a:t>verdad</a:t>
            </a:r>
            <a:r>
              <a:rPr lang="en-US" dirty="0"/>
              <a:t>.</a:t>
            </a:r>
          </a:p>
          <a:p>
            <a:endParaRPr lang="en-US" dirty="0"/>
          </a:p>
          <a:p>
            <a:endParaRPr lang="en-US" dirty="0"/>
          </a:p>
          <a:p>
            <a:endParaRPr lang="es-ES" dirty="0"/>
          </a:p>
          <a:p>
            <a:endParaRPr lang="es-ES" dirty="0"/>
          </a:p>
        </p:txBody>
      </p:sp>
    </p:spTree>
    <p:extLst>
      <p:ext uri="{BB962C8B-B14F-4D97-AF65-F5344CB8AC3E}">
        <p14:creationId xmlns:p14="http://schemas.microsoft.com/office/powerpoint/2010/main" val="793065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75252" y="1632567"/>
            <a:ext cx="6096000" cy="507831"/>
          </a:xfrm>
          <a:prstGeom prst="rect">
            <a:avLst/>
          </a:prstGeom>
        </p:spPr>
        <p:txBody>
          <a:bodyPr>
            <a:spAutoFit/>
          </a:bodyPr>
          <a:lstStyle/>
          <a:p>
            <a:r>
              <a:rPr lang="es-ES" sz="1350" dirty="0" err="1"/>
              <a:t>def</a:t>
            </a:r>
            <a:r>
              <a:rPr lang="es-ES" sz="1350" dirty="0"/>
              <a:t> </a:t>
            </a:r>
            <a:r>
              <a:rPr lang="es-ES" sz="1350" dirty="0" err="1"/>
              <a:t>index</a:t>
            </a:r>
            <a:r>
              <a:rPr lang="es-ES" sz="1350" dirty="0"/>
              <a:t>():</a:t>
            </a:r>
          </a:p>
          <a:p>
            <a:r>
              <a:rPr lang="es-ES" sz="1350" dirty="0"/>
              <a:t>    </a:t>
            </a:r>
            <a:r>
              <a:rPr lang="es-ES" sz="1350" dirty="0" err="1"/>
              <a:t>return</a:t>
            </a:r>
            <a:r>
              <a:rPr lang="es-ES" sz="1350" dirty="0"/>
              <a:t> "</a:t>
            </a:r>
            <a:r>
              <a:rPr lang="es-ES" sz="1350" dirty="0" err="1"/>
              <a:t>Hello</a:t>
            </a:r>
            <a:r>
              <a:rPr lang="es-ES" sz="1350" dirty="0"/>
              <a:t> </a:t>
            </a:r>
            <a:r>
              <a:rPr lang="es-ES" sz="1350" dirty="0" err="1"/>
              <a:t>World</a:t>
            </a:r>
            <a:r>
              <a:rPr lang="es-ES" sz="1350" dirty="0"/>
              <a:t>"</a:t>
            </a:r>
          </a:p>
        </p:txBody>
      </p:sp>
      <p:pic>
        <p:nvPicPr>
          <p:cNvPr id="1026" name="Picture 2" descr="Image result for pyth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46575" y="1103662"/>
            <a:ext cx="2480864" cy="6284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python fun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0065" y="2619640"/>
            <a:ext cx="6953251" cy="1900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678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75252" y="1632567"/>
            <a:ext cx="6096000" cy="507831"/>
          </a:xfrm>
          <a:prstGeom prst="rect">
            <a:avLst/>
          </a:prstGeom>
        </p:spPr>
        <p:txBody>
          <a:bodyPr>
            <a:spAutoFit/>
          </a:bodyPr>
          <a:lstStyle/>
          <a:p>
            <a:r>
              <a:rPr lang="es-ES" sz="1350" dirty="0" err="1"/>
              <a:t>def</a:t>
            </a:r>
            <a:r>
              <a:rPr lang="es-ES" sz="1350" dirty="0"/>
              <a:t> </a:t>
            </a:r>
            <a:r>
              <a:rPr lang="es-ES" sz="1350" dirty="0" err="1"/>
              <a:t>index</a:t>
            </a:r>
            <a:r>
              <a:rPr lang="es-ES" sz="1350" dirty="0"/>
              <a:t>():</a:t>
            </a:r>
          </a:p>
          <a:p>
            <a:r>
              <a:rPr lang="es-ES" sz="1350" dirty="0"/>
              <a:t>    </a:t>
            </a:r>
            <a:r>
              <a:rPr lang="es-ES" sz="1350" dirty="0" err="1"/>
              <a:t>return</a:t>
            </a:r>
            <a:r>
              <a:rPr lang="es-ES" sz="1350" dirty="0"/>
              <a:t> "</a:t>
            </a:r>
            <a:r>
              <a:rPr lang="es-ES" sz="1350" dirty="0" err="1"/>
              <a:t>Hello</a:t>
            </a:r>
            <a:r>
              <a:rPr lang="es-ES" sz="1350" dirty="0"/>
              <a:t> </a:t>
            </a:r>
            <a:r>
              <a:rPr lang="es-ES" sz="1350" dirty="0" err="1"/>
              <a:t>World</a:t>
            </a:r>
            <a:r>
              <a:rPr lang="es-ES" sz="1350" dirty="0"/>
              <a:t>"</a:t>
            </a:r>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6399" y="2555821"/>
            <a:ext cx="1060508" cy="7953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pyth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18" y="3182673"/>
            <a:ext cx="1327929" cy="33640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4" cstate="print"/>
          <a:stretch>
            <a:fillRect/>
          </a:stretch>
        </p:blipFill>
        <p:spPr>
          <a:xfrm>
            <a:off x="3992488" y="2266597"/>
            <a:ext cx="2651752" cy="1084808"/>
          </a:xfrm>
          <a:prstGeom prst="rect">
            <a:avLst/>
          </a:prstGeom>
        </p:spPr>
      </p:pic>
      <p:cxnSp>
        <p:nvCxnSpPr>
          <p:cNvPr id="6" name="Conector recto de flecha 5"/>
          <p:cNvCxnSpPr/>
          <p:nvPr/>
        </p:nvCxnSpPr>
        <p:spPr>
          <a:xfrm>
            <a:off x="3288503" y="3351404"/>
            <a:ext cx="4337515"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Image result for brows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16593" y="1508476"/>
            <a:ext cx="2632108" cy="78963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528813" y="3505704"/>
            <a:ext cx="1482489" cy="1111867"/>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de flecha 16"/>
          <p:cNvCxnSpPr/>
          <p:nvPr/>
        </p:nvCxnSpPr>
        <p:spPr>
          <a:xfrm flipV="1">
            <a:off x="8373980" y="2298109"/>
            <a:ext cx="842613" cy="40109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a:off x="8429379" y="3181753"/>
            <a:ext cx="910228" cy="32395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ángulo 14"/>
          <p:cNvSpPr/>
          <p:nvPr/>
        </p:nvSpPr>
        <p:spPr>
          <a:xfrm rot="19910616">
            <a:off x="8343973" y="1888661"/>
            <a:ext cx="427040" cy="692497"/>
          </a:xfrm>
          <a:prstGeom prst="rect">
            <a:avLst/>
          </a:prstGeom>
          <a:noFill/>
        </p:spPr>
        <p:txBody>
          <a:bodyPr wrap="none" lIns="68580" tIns="34290" rIns="68580" bIns="34290">
            <a:spAutoFit/>
          </a:bodyPr>
          <a:lstStyle/>
          <a:p>
            <a:pPr algn="ctr"/>
            <a:r>
              <a:rPr lang="es-ES" sz="4050" dirty="0">
                <a:ln w="0"/>
                <a:solidFill>
                  <a:schemeClr val="accent1"/>
                </a:solidFill>
                <a:effectLst>
                  <a:outerShdw blurRad="38100" dist="25400" dir="5400000" algn="ctr" rotWithShape="0">
                    <a:srgbClr val="6E747A">
                      <a:alpha val="43000"/>
                    </a:srgbClr>
                  </a:outerShdw>
                </a:effectLst>
              </a:rPr>
              <a:t>?</a:t>
            </a:r>
          </a:p>
        </p:txBody>
      </p:sp>
      <p:sp>
        <p:nvSpPr>
          <p:cNvPr id="23" name="Rectángulo 22"/>
          <p:cNvSpPr/>
          <p:nvPr/>
        </p:nvSpPr>
        <p:spPr>
          <a:xfrm rot="1840521">
            <a:off x="8825909" y="2741229"/>
            <a:ext cx="427040" cy="692497"/>
          </a:xfrm>
          <a:prstGeom prst="rect">
            <a:avLst/>
          </a:prstGeom>
          <a:noFill/>
        </p:spPr>
        <p:txBody>
          <a:bodyPr wrap="none" lIns="68580" tIns="34290" rIns="68580" bIns="34290">
            <a:spAutoFit/>
          </a:bodyPr>
          <a:lstStyle/>
          <a:p>
            <a:pPr algn="ctr"/>
            <a:r>
              <a:rPr lang="es-ES" sz="4050" dirty="0">
                <a:ln w="0"/>
                <a:solidFill>
                  <a:schemeClr val="accent1"/>
                </a:solidFill>
                <a:effectLst>
                  <a:outerShdw blurRad="38100" dist="25400" dir="5400000" algn="ctr" rotWithShape="0">
                    <a:srgbClr val="6E747A">
                      <a:alpha val="43000"/>
                    </a:srgbClr>
                  </a:outerShdw>
                </a:effectLst>
              </a:rPr>
              <a:t>?</a:t>
            </a:r>
          </a:p>
        </p:txBody>
      </p:sp>
      <p:sp>
        <p:nvSpPr>
          <p:cNvPr id="24" name="Rectángulo 23"/>
          <p:cNvSpPr/>
          <p:nvPr/>
        </p:nvSpPr>
        <p:spPr>
          <a:xfrm>
            <a:off x="5126833" y="3329240"/>
            <a:ext cx="427040" cy="692497"/>
          </a:xfrm>
          <a:prstGeom prst="rect">
            <a:avLst/>
          </a:prstGeom>
          <a:noFill/>
        </p:spPr>
        <p:txBody>
          <a:bodyPr wrap="none" lIns="68580" tIns="34290" rIns="68580" bIns="34290">
            <a:spAutoFit/>
          </a:bodyPr>
          <a:lstStyle/>
          <a:p>
            <a:pPr algn="ctr"/>
            <a:r>
              <a:rPr lang="es-ES" sz="4050" dirty="0">
                <a:ln w="0"/>
                <a:solidFill>
                  <a:schemeClr val="accent1"/>
                </a:solidFill>
                <a:effectLst>
                  <a:outerShdw blurRad="38100" dist="25400" dir="5400000" algn="ctr" rotWithShape="0">
                    <a:srgbClr val="6E747A">
                      <a:alpha val="43000"/>
                    </a:srgbClr>
                  </a:outerShdw>
                </a:effectLst>
              </a:rPr>
              <a:t>?</a:t>
            </a:r>
          </a:p>
        </p:txBody>
      </p:sp>
      <p:pic>
        <p:nvPicPr>
          <p:cNvPr id="18" name="Imagen 17"/>
          <p:cNvPicPr>
            <a:picLocks noChangeAspect="1"/>
          </p:cNvPicPr>
          <p:nvPr/>
        </p:nvPicPr>
        <p:blipFill>
          <a:blip r:embed="rId7" cstate="print"/>
          <a:stretch>
            <a:fillRect/>
          </a:stretch>
        </p:blipFill>
        <p:spPr>
          <a:xfrm>
            <a:off x="1951375" y="2961080"/>
            <a:ext cx="1340619" cy="714409"/>
          </a:xfrm>
          <a:prstGeom prst="rect">
            <a:avLst/>
          </a:prstGeom>
        </p:spPr>
      </p:pic>
      <p:cxnSp>
        <p:nvCxnSpPr>
          <p:cNvPr id="28" name="Conector recto de flecha 27"/>
          <p:cNvCxnSpPr/>
          <p:nvPr/>
        </p:nvCxnSpPr>
        <p:spPr>
          <a:xfrm>
            <a:off x="1430666" y="3350873"/>
            <a:ext cx="520709"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Rectángulo 29"/>
          <p:cNvSpPr/>
          <p:nvPr/>
        </p:nvSpPr>
        <p:spPr>
          <a:xfrm>
            <a:off x="1503000" y="2580326"/>
            <a:ext cx="427040" cy="692497"/>
          </a:xfrm>
          <a:prstGeom prst="rect">
            <a:avLst/>
          </a:prstGeom>
          <a:noFill/>
        </p:spPr>
        <p:txBody>
          <a:bodyPr wrap="none" lIns="68580" tIns="34290" rIns="68580" bIns="34290">
            <a:spAutoFit/>
          </a:bodyPr>
          <a:lstStyle/>
          <a:p>
            <a:pPr algn="ctr"/>
            <a:r>
              <a:rPr lang="es-ES" sz="4050" dirty="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2204394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cstate="print"/>
          <a:stretch>
            <a:fillRect/>
          </a:stretch>
        </p:blipFill>
        <p:spPr>
          <a:xfrm>
            <a:off x="4386263" y="1878806"/>
            <a:ext cx="2162175" cy="2686050"/>
          </a:xfrm>
          <a:prstGeom prst="rect">
            <a:avLst/>
          </a:prstGeom>
        </p:spPr>
      </p:pic>
      <p:sp>
        <p:nvSpPr>
          <p:cNvPr id="4" name="Rectángulo 3"/>
          <p:cNvSpPr/>
          <p:nvPr/>
        </p:nvSpPr>
        <p:spPr>
          <a:xfrm>
            <a:off x="4780665" y="4098115"/>
            <a:ext cx="6096000" cy="346249"/>
          </a:xfrm>
          <a:prstGeom prst="rect">
            <a:avLst/>
          </a:prstGeom>
        </p:spPr>
        <p:txBody>
          <a:bodyPr>
            <a:spAutoFit/>
          </a:bodyPr>
          <a:lstStyle/>
          <a:p>
            <a:r>
              <a:rPr lang="es-ES" sz="825" dirty="0" err="1"/>
              <a:t>def</a:t>
            </a:r>
            <a:r>
              <a:rPr lang="es-ES" sz="825" dirty="0"/>
              <a:t> </a:t>
            </a:r>
            <a:r>
              <a:rPr lang="es-ES" sz="825" dirty="0" err="1"/>
              <a:t>index</a:t>
            </a:r>
            <a:r>
              <a:rPr lang="es-ES" sz="825" dirty="0"/>
              <a:t>():</a:t>
            </a:r>
          </a:p>
          <a:p>
            <a:r>
              <a:rPr lang="es-ES" sz="825" dirty="0"/>
              <a:t>    </a:t>
            </a:r>
            <a:r>
              <a:rPr lang="es-ES" sz="825" dirty="0" err="1"/>
              <a:t>return</a:t>
            </a:r>
            <a:r>
              <a:rPr lang="es-ES" sz="825" dirty="0"/>
              <a:t> "</a:t>
            </a:r>
            <a:r>
              <a:rPr lang="es-ES" sz="825" dirty="0" err="1"/>
              <a:t>Hello</a:t>
            </a:r>
            <a:r>
              <a:rPr lang="es-ES" sz="825" dirty="0"/>
              <a:t> </a:t>
            </a:r>
            <a:r>
              <a:rPr lang="es-ES" sz="825" dirty="0" err="1"/>
              <a:t>World</a:t>
            </a:r>
            <a:r>
              <a:rPr lang="es-ES" sz="825" dirty="0"/>
              <a:t>"</a:t>
            </a:r>
          </a:p>
        </p:txBody>
      </p:sp>
      <p:pic>
        <p:nvPicPr>
          <p:cNvPr id="22" name="Picture 2" descr="Image result for pyth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5108" y="3803296"/>
            <a:ext cx="1251843" cy="31712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2991" y="2259287"/>
            <a:ext cx="1060508" cy="79538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p:cNvSpPr/>
          <p:nvPr/>
        </p:nvSpPr>
        <p:spPr>
          <a:xfrm>
            <a:off x="5051433" y="1640204"/>
            <a:ext cx="1319592" cy="300082"/>
          </a:xfrm>
          <a:prstGeom prst="rect">
            <a:avLst/>
          </a:prstGeom>
        </p:spPr>
        <p:txBody>
          <a:bodyPr wrap="none">
            <a:spAutoFit/>
          </a:bodyPr>
          <a:lstStyle/>
          <a:p>
            <a:r>
              <a:rPr lang="es-ES" sz="1350" dirty="0"/>
              <a:t>Matraz o </a:t>
            </a:r>
            <a:r>
              <a:rPr lang="es-ES" sz="1350" dirty="0" err="1"/>
              <a:t>Flask</a:t>
            </a:r>
            <a:endParaRPr lang="es-ES" sz="1350" dirty="0"/>
          </a:p>
        </p:txBody>
      </p:sp>
      <p:pic>
        <p:nvPicPr>
          <p:cNvPr id="14" name="Picture 2" descr="Image result for python flas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81704" y="1564100"/>
            <a:ext cx="618845" cy="464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0481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cstate="print"/>
          <a:stretch>
            <a:fillRect/>
          </a:stretch>
        </p:blipFill>
        <p:spPr>
          <a:xfrm>
            <a:off x="2260610" y="1917203"/>
            <a:ext cx="2162175" cy="2686050"/>
          </a:xfrm>
          <a:prstGeom prst="rect">
            <a:avLst/>
          </a:prstGeom>
        </p:spPr>
      </p:pic>
      <p:pic>
        <p:nvPicPr>
          <p:cNvPr id="22" name="Picture 2" descr="Image result for pyth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9841" y="3820997"/>
            <a:ext cx="1245483" cy="31551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82166" y="2259287"/>
            <a:ext cx="1060508" cy="79538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p:cNvSpPr/>
          <p:nvPr/>
        </p:nvSpPr>
        <p:spPr>
          <a:xfrm>
            <a:off x="1841508" y="1640204"/>
            <a:ext cx="1508746" cy="300082"/>
          </a:xfrm>
          <a:prstGeom prst="rect">
            <a:avLst/>
          </a:prstGeom>
        </p:spPr>
        <p:txBody>
          <a:bodyPr wrap="none">
            <a:spAutoFit/>
          </a:bodyPr>
          <a:lstStyle/>
          <a:p>
            <a:r>
              <a:rPr lang="es-ES" sz="1350" dirty="0">
                <a:latin typeface="Consolas" panose="020B0609020204030204" pitchFamily="49" charset="0"/>
              </a:rPr>
              <a:t>Matraz o </a:t>
            </a:r>
            <a:r>
              <a:rPr lang="es-ES" sz="1350" dirty="0" err="1">
                <a:latin typeface="Consolas" panose="020B0609020204030204" pitchFamily="49" charset="0"/>
              </a:rPr>
              <a:t>Flask</a:t>
            </a:r>
            <a:endParaRPr lang="es-ES" sz="1350" dirty="0">
              <a:latin typeface="Consolas" panose="020B0609020204030204" pitchFamily="49" charset="0"/>
            </a:endParaRPr>
          </a:p>
        </p:txBody>
      </p:sp>
      <p:pic>
        <p:nvPicPr>
          <p:cNvPr id="14" name="Picture 2" descr="Image result for python flask"/>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90879" y="1564100"/>
            <a:ext cx="618845" cy="464134"/>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5610697" y="1581954"/>
            <a:ext cx="6096000" cy="4662815"/>
          </a:xfrm>
          <a:prstGeom prst="rect">
            <a:avLst/>
          </a:prstGeom>
        </p:spPr>
        <p:txBody>
          <a:bodyPr>
            <a:spAutoFit/>
          </a:bodyPr>
          <a:lstStyle/>
          <a:p>
            <a:r>
              <a:rPr lang="es-ES" sz="1350" dirty="0" err="1">
                <a:latin typeface="Consolas" panose="020B0609020204030204" pitchFamily="49" charset="0"/>
              </a:rPr>
              <a:t>from</a:t>
            </a:r>
            <a:r>
              <a:rPr lang="es-ES" sz="1350" dirty="0">
                <a:latin typeface="Consolas" panose="020B0609020204030204" pitchFamily="49" charset="0"/>
              </a:rPr>
              <a:t> </a:t>
            </a:r>
            <a:r>
              <a:rPr lang="es-ES" sz="1350" dirty="0" err="1">
                <a:latin typeface="Consolas" panose="020B0609020204030204" pitchFamily="49" charset="0"/>
              </a:rPr>
              <a:t>flask</a:t>
            </a:r>
            <a:r>
              <a:rPr lang="es-ES" sz="1350" dirty="0">
                <a:latin typeface="Consolas" panose="020B0609020204030204" pitchFamily="49" charset="0"/>
              </a:rPr>
              <a:t> </a:t>
            </a:r>
            <a:r>
              <a:rPr lang="es-ES" sz="1350" dirty="0" err="1">
                <a:latin typeface="Consolas" panose="020B0609020204030204" pitchFamily="49" charset="0"/>
              </a:rPr>
              <a:t>import</a:t>
            </a:r>
            <a:r>
              <a:rPr lang="es-ES" sz="1350" dirty="0">
                <a:latin typeface="Consolas" panose="020B0609020204030204" pitchFamily="49" charset="0"/>
              </a:rPr>
              <a:t> </a:t>
            </a:r>
            <a:r>
              <a:rPr lang="es-ES" sz="1350" dirty="0" err="1">
                <a:latin typeface="Consolas" panose="020B0609020204030204" pitchFamily="49" charset="0"/>
              </a:rPr>
              <a:t>Flask</a:t>
            </a:r>
            <a:endParaRPr lang="es-ES" sz="1350" dirty="0">
              <a:latin typeface="Consolas" panose="020B0609020204030204" pitchFamily="49" charset="0"/>
            </a:endParaRPr>
          </a:p>
          <a:p>
            <a:endParaRPr lang="es-ES" sz="1350" dirty="0">
              <a:latin typeface="Consolas" panose="020B0609020204030204" pitchFamily="49" charset="0"/>
            </a:endParaRPr>
          </a:p>
          <a:p>
            <a:r>
              <a:rPr lang="es-ES" sz="1350" dirty="0">
                <a:latin typeface="Consolas" panose="020B0609020204030204" pitchFamily="49" charset="0"/>
              </a:rPr>
              <a:t>app = </a:t>
            </a:r>
            <a:r>
              <a:rPr lang="es-ES" sz="1350" dirty="0" err="1">
                <a:latin typeface="Consolas" panose="020B0609020204030204" pitchFamily="49" charset="0"/>
              </a:rPr>
              <a:t>Flask</a:t>
            </a:r>
            <a:r>
              <a:rPr lang="es-ES" sz="1350" dirty="0">
                <a:latin typeface="Consolas" panose="020B0609020204030204" pitchFamily="49" charset="0"/>
              </a:rPr>
              <a:t>(__</a:t>
            </a:r>
            <a:r>
              <a:rPr lang="es-ES" sz="1350" dirty="0" err="1">
                <a:latin typeface="Consolas" panose="020B0609020204030204" pitchFamily="49" charset="0"/>
              </a:rPr>
              <a:t>name</a:t>
            </a:r>
            <a:r>
              <a:rPr lang="es-ES" sz="1350" dirty="0">
                <a:latin typeface="Consolas" panose="020B0609020204030204" pitchFamily="49" charset="0"/>
              </a:rPr>
              <a:t>__)</a:t>
            </a:r>
          </a:p>
          <a:p>
            <a:endParaRPr lang="es-ES" sz="1350" dirty="0">
              <a:latin typeface="Consolas" panose="020B0609020204030204" pitchFamily="49" charset="0"/>
            </a:endParaRPr>
          </a:p>
          <a:p>
            <a:r>
              <a:rPr lang="es-ES" sz="1350" dirty="0">
                <a:latin typeface="Consolas" panose="020B0609020204030204" pitchFamily="49" charset="0"/>
              </a:rPr>
              <a:t>@</a:t>
            </a:r>
            <a:r>
              <a:rPr lang="es-ES" sz="1350" dirty="0" err="1">
                <a:latin typeface="Consolas" panose="020B0609020204030204" pitchFamily="49" charset="0"/>
              </a:rPr>
              <a:t>app.route</a:t>
            </a:r>
            <a:r>
              <a:rPr lang="es-ES" sz="1350" dirty="0">
                <a:latin typeface="Consolas" panose="020B0609020204030204" pitchFamily="49" charset="0"/>
              </a:rPr>
              <a:t>('/')</a:t>
            </a:r>
          </a:p>
          <a:p>
            <a:r>
              <a:rPr lang="es-ES" sz="1350" dirty="0" err="1">
                <a:latin typeface="Consolas" panose="020B0609020204030204" pitchFamily="49" charset="0"/>
              </a:rPr>
              <a:t>def</a:t>
            </a:r>
            <a:r>
              <a:rPr lang="es-ES" sz="1350" dirty="0">
                <a:latin typeface="Consolas" panose="020B0609020204030204" pitchFamily="49" charset="0"/>
              </a:rPr>
              <a:t> </a:t>
            </a:r>
            <a:r>
              <a:rPr lang="es-ES" sz="1350" dirty="0" err="1">
                <a:latin typeface="Consolas" panose="020B0609020204030204" pitchFamily="49" charset="0"/>
              </a:rPr>
              <a:t>index</a:t>
            </a:r>
            <a:r>
              <a:rPr lang="es-ES" sz="1350" dirty="0">
                <a:latin typeface="Consolas" panose="020B0609020204030204" pitchFamily="49" charset="0"/>
              </a:rPr>
              <a:t>():</a:t>
            </a:r>
          </a:p>
          <a:p>
            <a:r>
              <a:rPr lang="es-ES" sz="1350" dirty="0">
                <a:latin typeface="Consolas" panose="020B0609020204030204" pitchFamily="49" charset="0"/>
              </a:rPr>
              <a:t>    </a:t>
            </a:r>
            <a:r>
              <a:rPr lang="es-ES" sz="1350" dirty="0" err="1">
                <a:latin typeface="Consolas" panose="020B0609020204030204" pitchFamily="49" charset="0"/>
              </a:rPr>
              <a:t>return</a:t>
            </a:r>
            <a:r>
              <a:rPr lang="es-ES" sz="1350" dirty="0">
                <a:latin typeface="Consolas" panose="020B0609020204030204" pitchFamily="49" charset="0"/>
              </a:rPr>
              <a:t> "</a:t>
            </a:r>
            <a:r>
              <a:rPr lang="es-ES" sz="1350" dirty="0" err="1">
                <a:latin typeface="Consolas" panose="020B0609020204030204" pitchFamily="49" charset="0"/>
              </a:rPr>
              <a:t>Hello</a:t>
            </a:r>
            <a:r>
              <a:rPr lang="es-ES" sz="1350" dirty="0">
                <a:latin typeface="Consolas" panose="020B0609020204030204" pitchFamily="49" charset="0"/>
              </a:rPr>
              <a:t> </a:t>
            </a:r>
            <a:r>
              <a:rPr lang="es-ES" sz="1350" dirty="0" err="1">
                <a:latin typeface="Consolas" panose="020B0609020204030204" pitchFamily="49" charset="0"/>
              </a:rPr>
              <a:t>World</a:t>
            </a:r>
            <a:r>
              <a:rPr lang="es-ES" sz="1350" dirty="0">
                <a:latin typeface="Consolas" panose="020B0609020204030204" pitchFamily="49" charset="0"/>
              </a:rPr>
              <a:t>"</a:t>
            </a:r>
          </a:p>
          <a:p>
            <a:pPr algn="ctr"/>
            <a:endParaRPr lang="es-ES" sz="1350" dirty="0">
              <a:latin typeface="Consolas" panose="020B0609020204030204" pitchFamily="49" charset="0"/>
            </a:endParaRPr>
          </a:p>
          <a:p>
            <a:r>
              <a:rPr lang="es-ES" sz="1350" dirty="0">
                <a:latin typeface="Consolas" panose="020B0609020204030204" pitchFamily="49" charset="0"/>
              </a:rPr>
              <a:t>@</a:t>
            </a:r>
            <a:r>
              <a:rPr lang="es-ES" sz="1350" dirty="0" err="1">
                <a:latin typeface="Consolas" panose="020B0609020204030204" pitchFamily="49" charset="0"/>
              </a:rPr>
              <a:t>app.route</a:t>
            </a:r>
            <a:r>
              <a:rPr lang="es-ES" sz="1350" dirty="0">
                <a:latin typeface="Consolas" panose="020B0609020204030204" pitchFamily="49" charset="0"/>
              </a:rPr>
              <a:t>('/miruta1')</a:t>
            </a:r>
          </a:p>
          <a:p>
            <a:r>
              <a:rPr lang="es-ES" sz="1350" dirty="0" err="1">
                <a:latin typeface="Consolas" panose="020B0609020204030204" pitchFamily="49" charset="0"/>
              </a:rPr>
              <a:t>def</a:t>
            </a:r>
            <a:r>
              <a:rPr lang="es-ES" sz="1350" dirty="0">
                <a:latin typeface="Consolas" panose="020B0609020204030204" pitchFamily="49" charset="0"/>
              </a:rPr>
              <a:t> miruta1():</a:t>
            </a:r>
          </a:p>
          <a:p>
            <a:r>
              <a:rPr lang="es-ES" sz="1350" dirty="0">
                <a:latin typeface="Consolas" panose="020B0609020204030204" pitchFamily="49" charset="0"/>
              </a:rPr>
              <a:t>    </a:t>
            </a:r>
            <a:r>
              <a:rPr lang="es-ES" sz="1350" dirty="0" err="1">
                <a:latin typeface="Consolas" panose="020B0609020204030204" pitchFamily="49" charset="0"/>
              </a:rPr>
              <a:t>return</a:t>
            </a:r>
            <a:r>
              <a:rPr lang="es-ES" sz="1350" dirty="0">
                <a:latin typeface="Consolas" panose="020B0609020204030204" pitchFamily="49" charset="0"/>
              </a:rPr>
              <a:t> "Mi ruta 1"</a:t>
            </a:r>
          </a:p>
          <a:p>
            <a:endParaRPr lang="es-ES" sz="1350" dirty="0">
              <a:latin typeface="Consolas" panose="020B0609020204030204" pitchFamily="49" charset="0"/>
            </a:endParaRPr>
          </a:p>
          <a:p>
            <a:r>
              <a:rPr lang="es-ES" sz="1350" dirty="0">
                <a:latin typeface="Consolas" panose="020B0609020204030204" pitchFamily="49" charset="0"/>
              </a:rPr>
              <a:t>@</a:t>
            </a:r>
            <a:r>
              <a:rPr lang="es-ES" sz="1350" dirty="0" err="1">
                <a:latin typeface="Consolas" panose="020B0609020204030204" pitchFamily="49" charset="0"/>
              </a:rPr>
              <a:t>app.route</a:t>
            </a:r>
            <a:r>
              <a:rPr lang="es-ES" sz="1350" dirty="0">
                <a:latin typeface="Consolas" panose="020B0609020204030204" pitchFamily="49" charset="0"/>
              </a:rPr>
              <a:t>('/</a:t>
            </a:r>
            <a:r>
              <a:rPr lang="es-ES" sz="1350" dirty="0" err="1">
                <a:latin typeface="Consolas" panose="020B0609020204030204" pitchFamily="49" charset="0"/>
              </a:rPr>
              <a:t>mivar</a:t>
            </a:r>
            <a:r>
              <a:rPr lang="es-ES" sz="1350" dirty="0">
                <a:latin typeface="Consolas" panose="020B0609020204030204" pitchFamily="49" charset="0"/>
              </a:rPr>
              <a:t>/&lt;mivar1&gt;')</a:t>
            </a:r>
          </a:p>
          <a:p>
            <a:r>
              <a:rPr lang="es-ES" sz="1350" dirty="0" err="1">
                <a:latin typeface="Consolas" panose="020B0609020204030204" pitchFamily="49" charset="0"/>
              </a:rPr>
              <a:t>def</a:t>
            </a:r>
            <a:r>
              <a:rPr lang="es-ES" sz="1350" dirty="0">
                <a:latin typeface="Consolas" panose="020B0609020204030204" pitchFamily="49" charset="0"/>
              </a:rPr>
              <a:t> </a:t>
            </a:r>
            <a:r>
              <a:rPr lang="es-ES" sz="1350" dirty="0" err="1">
                <a:latin typeface="Consolas" panose="020B0609020204030204" pitchFamily="49" charset="0"/>
              </a:rPr>
              <a:t>mivar</a:t>
            </a:r>
            <a:r>
              <a:rPr lang="es-ES" sz="1350" dirty="0">
                <a:latin typeface="Consolas" panose="020B0609020204030204" pitchFamily="49" charset="0"/>
              </a:rPr>
              <a:t>(mivar1):</a:t>
            </a:r>
          </a:p>
          <a:p>
            <a:r>
              <a:rPr lang="es-ES" sz="1350" dirty="0">
                <a:latin typeface="Consolas" panose="020B0609020204030204" pitchFamily="49" charset="0"/>
              </a:rPr>
              <a:t>    </a:t>
            </a:r>
            <a:r>
              <a:rPr lang="es-ES" sz="1350" dirty="0" err="1">
                <a:latin typeface="Consolas" panose="020B0609020204030204" pitchFamily="49" charset="0"/>
              </a:rPr>
              <a:t>return</a:t>
            </a:r>
            <a:r>
              <a:rPr lang="es-ES" sz="1350" dirty="0">
                <a:latin typeface="Consolas" panose="020B0609020204030204" pitchFamily="49" charset="0"/>
              </a:rPr>
              <a:t> "</a:t>
            </a:r>
            <a:r>
              <a:rPr lang="es-ES" sz="1350" dirty="0" err="1">
                <a:latin typeface="Consolas" panose="020B0609020204030204" pitchFamily="49" charset="0"/>
              </a:rPr>
              <a:t>mivar</a:t>
            </a:r>
            <a:r>
              <a:rPr lang="es-ES" sz="1350" dirty="0">
                <a:latin typeface="Consolas" panose="020B0609020204030204" pitchFamily="49" charset="0"/>
              </a:rPr>
              <a:t>="+ mivar1</a:t>
            </a:r>
          </a:p>
          <a:p>
            <a:endParaRPr lang="es-ES" sz="1350" dirty="0">
              <a:latin typeface="Consolas" panose="020B0609020204030204" pitchFamily="49" charset="0"/>
            </a:endParaRPr>
          </a:p>
          <a:p>
            <a:r>
              <a:rPr lang="es-ES" sz="1350" dirty="0" err="1">
                <a:latin typeface="Consolas" panose="020B0609020204030204" pitchFamily="49" charset="0"/>
              </a:rPr>
              <a:t>if</a:t>
            </a:r>
            <a:r>
              <a:rPr lang="es-ES" sz="1350" dirty="0">
                <a:latin typeface="Consolas" panose="020B0609020204030204" pitchFamily="49" charset="0"/>
              </a:rPr>
              <a:t> __</a:t>
            </a:r>
            <a:r>
              <a:rPr lang="es-ES" sz="1350" dirty="0" err="1">
                <a:latin typeface="Consolas" panose="020B0609020204030204" pitchFamily="49" charset="0"/>
              </a:rPr>
              <a:t>name</a:t>
            </a:r>
            <a:r>
              <a:rPr lang="es-ES" sz="1350" dirty="0">
                <a:latin typeface="Consolas" panose="020B0609020204030204" pitchFamily="49" charset="0"/>
              </a:rPr>
              <a:t>__ == '__</a:t>
            </a:r>
            <a:r>
              <a:rPr lang="es-ES" sz="1350" dirty="0" err="1">
                <a:latin typeface="Consolas" panose="020B0609020204030204" pitchFamily="49" charset="0"/>
              </a:rPr>
              <a:t>main</a:t>
            </a:r>
            <a:r>
              <a:rPr lang="es-ES" sz="1350" dirty="0">
                <a:latin typeface="Consolas" panose="020B0609020204030204" pitchFamily="49" charset="0"/>
              </a:rPr>
              <a:t>__':</a:t>
            </a:r>
          </a:p>
          <a:p>
            <a:r>
              <a:rPr lang="es-ES" sz="1350" dirty="0">
                <a:latin typeface="Consolas" panose="020B0609020204030204" pitchFamily="49" charset="0"/>
              </a:rPr>
              <a:t>  </a:t>
            </a:r>
            <a:r>
              <a:rPr lang="es-ES" sz="1350" dirty="0" err="1">
                <a:latin typeface="Consolas" panose="020B0609020204030204" pitchFamily="49" charset="0"/>
              </a:rPr>
              <a:t>app.run</a:t>
            </a:r>
            <a:r>
              <a:rPr lang="es-ES" sz="1350" dirty="0">
                <a:latin typeface="Consolas" panose="020B0609020204030204" pitchFamily="49" charset="0"/>
              </a:rPr>
              <a:t>(</a:t>
            </a:r>
          </a:p>
          <a:p>
            <a:r>
              <a:rPr lang="es-ES" sz="1350" dirty="0">
                <a:latin typeface="Consolas" panose="020B0609020204030204" pitchFamily="49" charset="0"/>
              </a:rPr>
              <a:t>        </a:t>
            </a:r>
            <a:r>
              <a:rPr lang="es-ES" sz="1350" dirty="0" err="1">
                <a:latin typeface="Consolas" panose="020B0609020204030204" pitchFamily="49" charset="0"/>
              </a:rPr>
              <a:t>port</a:t>
            </a:r>
            <a:r>
              <a:rPr lang="es-ES" sz="1350" dirty="0">
                <a:latin typeface="Consolas" panose="020B0609020204030204" pitchFamily="49" charset="0"/>
              </a:rPr>
              <a:t>=</a:t>
            </a:r>
            <a:r>
              <a:rPr lang="es-ES" sz="1350" dirty="0" err="1">
                <a:latin typeface="Consolas" panose="020B0609020204030204" pitchFamily="49" charset="0"/>
              </a:rPr>
              <a:t>int</a:t>
            </a:r>
            <a:r>
              <a:rPr lang="es-ES" sz="1350" dirty="0">
                <a:latin typeface="Consolas" panose="020B0609020204030204" pitchFamily="49" charset="0"/>
              </a:rPr>
              <a:t>("5000")</a:t>
            </a:r>
          </a:p>
          <a:p>
            <a:r>
              <a:rPr lang="es-ES" sz="1350" dirty="0">
                <a:latin typeface="Consolas" panose="020B0609020204030204" pitchFamily="49" charset="0"/>
              </a:rPr>
              <a:t>  )</a:t>
            </a:r>
          </a:p>
          <a:p>
            <a:endParaRPr lang="es-ES" sz="1350" dirty="0">
              <a:latin typeface="Consolas" panose="020B0609020204030204" pitchFamily="49" charset="0"/>
            </a:endParaRPr>
          </a:p>
          <a:p>
            <a:endParaRPr lang="es-ES" sz="1350" dirty="0">
              <a:latin typeface="Consolas" panose="020B0609020204030204" pitchFamily="49" charset="0"/>
            </a:endParaRPr>
          </a:p>
        </p:txBody>
      </p:sp>
      <p:sp>
        <p:nvSpPr>
          <p:cNvPr id="10" name="Rectángulo 9"/>
          <p:cNvSpPr/>
          <p:nvPr/>
        </p:nvSpPr>
        <p:spPr>
          <a:xfrm>
            <a:off x="1989840" y="4098115"/>
            <a:ext cx="6096000" cy="346249"/>
          </a:xfrm>
          <a:prstGeom prst="rect">
            <a:avLst/>
          </a:prstGeom>
        </p:spPr>
        <p:txBody>
          <a:bodyPr>
            <a:spAutoFit/>
          </a:bodyPr>
          <a:lstStyle/>
          <a:p>
            <a:r>
              <a:rPr lang="es-ES" sz="825" dirty="0" err="1">
                <a:latin typeface="Consolas" panose="020B0609020204030204" pitchFamily="49" charset="0"/>
              </a:rPr>
              <a:t>def</a:t>
            </a:r>
            <a:r>
              <a:rPr lang="es-ES" sz="825" dirty="0">
                <a:latin typeface="Consolas" panose="020B0609020204030204" pitchFamily="49" charset="0"/>
              </a:rPr>
              <a:t> </a:t>
            </a:r>
            <a:r>
              <a:rPr lang="es-ES" sz="825" dirty="0" err="1">
                <a:latin typeface="Consolas" panose="020B0609020204030204" pitchFamily="49" charset="0"/>
              </a:rPr>
              <a:t>index</a:t>
            </a:r>
            <a:r>
              <a:rPr lang="es-ES" sz="825" dirty="0">
                <a:latin typeface="Consolas" panose="020B0609020204030204" pitchFamily="49" charset="0"/>
              </a:rPr>
              <a:t>():</a:t>
            </a:r>
          </a:p>
          <a:p>
            <a:r>
              <a:rPr lang="es-ES" sz="825" dirty="0">
                <a:latin typeface="Consolas" panose="020B0609020204030204" pitchFamily="49" charset="0"/>
              </a:rPr>
              <a:t>    </a:t>
            </a:r>
            <a:r>
              <a:rPr lang="es-ES" sz="825" dirty="0" err="1">
                <a:latin typeface="Consolas" panose="020B0609020204030204" pitchFamily="49" charset="0"/>
              </a:rPr>
              <a:t>return</a:t>
            </a:r>
            <a:r>
              <a:rPr lang="es-ES" sz="825" dirty="0">
                <a:latin typeface="Consolas" panose="020B0609020204030204" pitchFamily="49" charset="0"/>
              </a:rPr>
              <a:t> "</a:t>
            </a:r>
            <a:r>
              <a:rPr lang="es-ES" sz="825" dirty="0" err="1">
                <a:latin typeface="Consolas" panose="020B0609020204030204" pitchFamily="49" charset="0"/>
              </a:rPr>
              <a:t>Hello</a:t>
            </a:r>
            <a:r>
              <a:rPr lang="es-ES" sz="825" dirty="0">
                <a:latin typeface="Consolas" panose="020B0609020204030204" pitchFamily="49" charset="0"/>
              </a:rPr>
              <a:t> </a:t>
            </a:r>
            <a:r>
              <a:rPr lang="es-ES" sz="825" dirty="0" err="1">
                <a:latin typeface="Consolas" panose="020B0609020204030204" pitchFamily="49" charset="0"/>
              </a:rPr>
              <a:t>World</a:t>
            </a:r>
            <a:r>
              <a:rPr lang="es-ES" sz="825" dirty="0">
                <a:latin typeface="Consolas" panose="020B0609020204030204" pitchFamily="49" charset="0"/>
              </a:rPr>
              <a:t>"</a:t>
            </a:r>
          </a:p>
        </p:txBody>
      </p:sp>
    </p:spTree>
    <p:extLst>
      <p:ext uri="{BB962C8B-B14F-4D97-AF65-F5344CB8AC3E}">
        <p14:creationId xmlns:p14="http://schemas.microsoft.com/office/powerpoint/2010/main" val="2300802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87507" y="987294"/>
            <a:ext cx="6096000" cy="2885405"/>
          </a:xfrm>
          <a:prstGeom prst="rect">
            <a:avLst/>
          </a:prstGeom>
        </p:spPr>
        <p:txBody>
          <a:bodyPr>
            <a:spAutoFit/>
          </a:bodyPr>
          <a:lstStyle/>
          <a:p>
            <a:r>
              <a:rPr lang="es-ES" sz="825" dirty="0" err="1">
                <a:latin typeface="Consolas" panose="020B0609020204030204" pitchFamily="49" charset="0"/>
              </a:rPr>
              <a:t>from</a:t>
            </a:r>
            <a:r>
              <a:rPr lang="es-ES" sz="825" dirty="0">
                <a:latin typeface="Consolas" panose="020B0609020204030204" pitchFamily="49" charset="0"/>
              </a:rPr>
              <a:t> </a:t>
            </a:r>
            <a:r>
              <a:rPr lang="es-ES" sz="825" dirty="0" err="1">
                <a:latin typeface="Consolas" panose="020B0609020204030204" pitchFamily="49" charset="0"/>
              </a:rPr>
              <a:t>flask</a:t>
            </a:r>
            <a:r>
              <a:rPr lang="es-ES" sz="825" dirty="0">
                <a:latin typeface="Consolas" panose="020B0609020204030204" pitchFamily="49" charset="0"/>
              </a:rPr>
              <a:t> </a:t>
            </a:r>
            <a:r>
              <a:rPr lang="es-ES" sz="825" dirty="0" err="1">
                <a:latin typeface="Consolas" panose="020B0609020204030204" pitchFamily="49" charset="0"/>
              </a:rPr>
              <a:t>import</a:t>
            </a:r>
            <a:r>
              <a:rPr lang="es-ES" sz="825" dirty="0">
                <a:latin typeface="Consolas" panose="020B0609020204030204" pitchFamily="49" charset="0"/>
              </a:rPr>
              <a:t> </a:t>
            </a:r>
            <a:r>
              <a:rPr lang="es-ES" sz="825" dirty="0" err="1">
                <a:latin typeface="Consolas" panose="020B0609020204030204" pitchFamily="49" charset="0"/>
              </a:rPr>
              <a:t>Flask</a:t>
            </a:r>
            <a:endParaRPr lang="es-ES" sz="825" dirty="0">
              <a:latin typeface="Consolas" panose="020B0609020204030204" pitchFamily="49" charset="0"/>
            </a:endParaRPr>
          </a:p>
          <a:p>
            <a:endParaRPr lang="es-ES" sz="825" dirty="0">
              <a:latin typeface="Consolas" panose="020B0609020204030204" pitchFamily="49" charset="0"/>
            </a:endParaRPr>
          </a:p>
          <a:p>
            <a:r>
              <a:rPr lang="es-ES" sz="825" dirty="0">
                <a:latin typeface="Consolas" panose="020B0609020204030204" pitchFamily="49" charset="0"/>
              </a:rPr>
              <a:t>app = </a:t>
            </a:r>
            <a:r>
              <a:rPr lang="es-ES" sz="825" dirty="0" err="1">
                <a:latin typeface="Consolas" panose="020B0609020204030204" pitchFamily="49" charset="0"/>
              </a:rPr>
              <a:t>Flask</a:t>
            </a:r>
            <a:r>
              <a:rPr lang="es-ES" sz="825" dirty="0">
                <a:latin typeface="Consolas" panose="020B0609020204030204" pitchFamily="49" charset="0"/>
              </a:rPr>
              <a:t>(__</a:t>
            </a:r>
            <a:r>
              <a:rPr lang="es-ES" sz="825" dirty="0" err="1">
                <a:latin typeface="Consolas" panose="020B0609020204030204" pitchFamily="49" charset="0"/>
              </a:rPr>
              <a:t>name</a:t>
            </a:r>
            <a:r>
              <a:rPr lang="es-ES" sz="825" dirty="0">
                <a:latin typeface="Consolas" panose="020B0609020204030204" pitchFamily="49" charset="0"/>
              </a:rPr>
              <a:t>__)</a:t>
            </a:r>
          </a:p>
          <a:p>
            <a:endParaRPr lang="es-ES" sz="825" dirty="0">
              <a:latin typeface="Consolas" panose="020B0609020204030204" pitchFamily="49" charset="0"/>
            </a:endParaRPr>
          </a:p>
          <a:p>
            <a:r>
              <a:rPr lang="es-ES" sz="825" i="1" dirty="0">
                <a:latin typeface="Consolas" panose="020B0609020204030204" pitchFamily="49" charset="0"/>
              </a:rPr>
              <a:t>@</a:t>
            </a:r>
            <a:r>
              <a:rPr lang="es-ES" sz="825" i="1" dirty="0" err="1">
                <a:latin typeface="Consolas" panose="020B0609020204030204" pitchFamily="49" charset="0"/>
              </a:rPr>
              <a:t>app.route</a:t>
            </a:r>
            <a:r>
              <a:rPr lang="es-ES" sz="825" i="1" dirty="0">
                <a:latin typeface="Consolas" panose="020B0609020204030204" pitchFamily="49" charset="0"/>
              </a:rPr>
              <a:t>('/')</a:t>
            </a:r>
          </a:p>
          <a:p>
            <a:r>
              <a:rPr lang="es-ES" sz="825" i="1" dirty="0" err="1">
                <a:latin typeface="Consolas" panose="020B0609020204030204" pitchFamily="49" charset="0"/>
              </a:rPr>
              <a:t>def</a:t>
            </a:r>
            <a:r>
              <a:rPr lang="es-ES" sz="825" i="1" dirty="0">
                <a:latin typeface="Consolas" panose="020B0609020204030204" pitchFamily="49" charset="0"/>
              </a:rPr>
              <a:t> </a:t>
            </a:r>
            <a:r>
              <a:rPr lang="es-ES" sz="825" i="1" dirty="0" err="1">
                <a:latin typeface="Consolas" panose="020B0609020204030204" pitchFamily="49" charset="0"/>
              </a:rPr>
              <a:t>index</a:t>
            </a:r>
            <a:r>
              <a:rPr lang="es-ES" sz="825" i="1" dirty="0">
                <a:latin typeface="Consolas" panose="020B0609020204030204" pitchFamily="49" charset="0"/>
              </a:rPr>
              <a:t>():</a:t>
            </a:r>
          </a:p>
          <a:p>
            <a:r>
              <a:rPr lang="es-ES" sz="825" i="1" dirty="0">
                <a:latin typeface="Consolas" panose="020B0609020204030204" pitchFamily="49" charset="0"/>
              </a:rPr>
              <a:t>    </a:t>
            </a:r>
            <a:r>
              <a:rPr lang="es-ES" sz="825" i="1" dirty="0" err="1">
                <a:latin typeface="Consolas" panose="020B0609020204030204" pitchFamily="49" charset="0"/>
              </a:rPr>
              <a:t>return</a:t>
            </a:r>
            <a:r>
              <a:rPr lang="es-ES" sz="825" i="1" dirty="0">
                <a:latin typeface="Consolas" panose="020B0609020204030204" pitchFamily="49" charset="0"/>
              </a:rPr>
              <a:t> "</a:t>
            </a:r>
            <a:r>
              <a:rPr lang="es-ES" sz="825" i="1" dirty="0" err="1">
                <a:latin typeface="Consolas" panose="020B0609020204030204" pitchFamily="49" charset="0"/>
              </a:rPr>
              <a:t>Hello</a:t>
            </a:r>
            <a:r>
              <a:rPr lang="es-ES" sz="825" i="1" dirty="0">
                <a:latin typeface="Consolas" panose="020B0609020204030204" pitchFamily="49" charset="0"/>
              </a:rPr>
              <a:t> </a:t>
            </a:r>
            <a:r>
              <a:rPr lang="es-ES" sz="825" i="1" dirty="0" err="1">
                <a:latin typeface="Consolas" panose="020B0609020204030204" pitchFamily="49" charset="0"/>
              </a:rPr>
              <a:t>World</a:t>
            </a:r>
            <a:r>
              <a:rPr lang="es-ES" sz="825" i="1" dirty="0">
                <a:latin typeface="Consolas" panose="020B0609020204030204" pitchFamily="49" charset="0"/>
              </a:rPr>
              <a:t>"</a:t>
            </a:r>
          </a:p>
          <a:p>
            <a:endParaRPr lang="es-ES" sz="825" i="1" dirty="0">
              <a:latin typeface="Consolas" panose="020B0609020204030204" pitchFamily="49" charset="0"/>
            </a:endParaRPr>
          </a:p>
          <a:p>
            <a:r>
              <a:rPr lang="es-ES" sz="825" i="1" dirty="0">
                <a:latin typeface="Consolas" panose="020B0609020204030204" pitchFamily="49" charset="0"/>
              </a:rPr>
              <a:t>@</a:t>
            </a:r>
            <a:r>
              <a:rPr lang="es-ES" sz="825" i="1" dirty="0" err="1">
                <a:latin typeface="Consolas" panose="020B0609020204030204" pitchFamily="49" charset="0"/>
              </a:rPr>
              <a:t>app.route</a:t>
            </a:r>
            <a:r>
              <a:rPr lang="es-ES" sz="825" i="1" dirty="0">
                <a:latin typeface="Consolas" panose="020B0609020204030204" pitchFamily="49" charset="0"/>
              </a:rPr>
              <a:t>('/miruta1')</a:t>
            </a:r>
          </a:p>
          <a:p>
            <a:r>
              <a:rPr lang="es-ES" sz="825" i="1" dirty="0" err="1">
                <a:latin typeface="Consolas" panose="020B0609020204030204" pitchFamily="49" charset="0"/>
              </a:rPr>
              <a:t>def</a:t>
            </a:r>
            <a:r>
              <a:rPr lang="es-ES" sz="825" i="1" dirty="0">
                <a:latin typeface="Consolas" panose="020B0609020204030204" pitchFamily="49" charset="0"/>
              </a:rPr>
              <a:t> miruta1():</a:t>
            </a:r>
          </a:p>
          <a:p>
            <a:r>
              <a:rPr lang="es-ES" sz="825" i="1" dirty="0">
                <a:latin typeface="Consolas" panose="020B0609020204030204" pitchFamily="49" charset="0"/>
              </a:rPr>
              <a:t>    </a:t>
            </a:r>
            <a:r>
              <a:rPr lang="es-ES" sz="825" i="1" dirty="0" err="1">
                <a:latin typeface="Consolas" panose="020B0609020204030204" pitchFamily="49" charset="0"/>
              </a:rPr>
              <a:t>return</a:t>
            </a:r>
            <a:r>
              <a:rPr lang="es-ES" sz="825" i="1" dirty="0">
                <a:latin typeface="Consolas" panose="020B0609020204030204" pitchFamily="49" charset="0"/>
              </a:rPr>
              <a:t> "Mi ruta 1"</a:t>
            </a:r>
          </a:p>
          <a:p>
            <a:endParaRPr lang="es-ES" sz="825" i="1" dirty="0">
              <a:latin typeface="Consolas" panose="020B0609020204030204" pitchFamily="49" charset="0"/>
            </a:endParaRPr>
          </a:p>
          <a:p>
            <a:r>
              <a:rPr lang="es-ES" sz="825" i="1" dirty="0">
                <a:latin typeface="Consolas" panose="020B0609020204030204" pitchFamily="49" charset="0"/>
              </a:rPr>
              <a:t>@</a:t>
            </a:r>
            <a:r>
              <a:rPr lang="es-ES" sz="825" i="1" dirty="0" err="1">
                <a:latin typeface="Consolas" panose="020B0609020204030204" pitchFamily="49" charset="0"/>
              </a:rPr>
              <a:t>app.route</a:t>
            </a:r>
            <a:r>
              <a:rPr lang="es-ES" sz="825" i="1" dirty="0">
                <a:latin typeface="Consolas" panose="020B0609020204030204" pitchFamily="49" charset="0"/>
              </a:rPr>
              <a:t>('/</a:t>
            </a:r>
            <a:r>
              <a:rPr lang="es-ES" sz="825" i="1" dirty="0" err="1">
                <a:latin typeface="Consolas" panose="020B0609020204030204" pitchFamily="49" charset="0"/>
              </a:rPr>
              <a:t>mivar</a:t>
            </a:r>
            <a:r>
              <a:rPr lang="es-ES" sz="825" i="1" dirty="0">
                <a:latin typeface="Consolas" panose="020B0609020204030204" pitchFamily="49" charset="0"/>
              </a:rPr>
              <a:t>/&lt;mivar1&gt;')</a:t>
            </a:r>
          </a:p>
          <a:p>
            <a:r>
              <a:rPr lang="es-ES" sz="825" i="1" dirty="0" err="1">
                <a:latin typeface="Consolas" panose="020B0609020204030204" pitchFamily="49" charset="0"/>
              </a:rPr>
              <a:t>def</a:t>
            </a:r>
            <a:r>
              <a:rPr lang="es-ES" sz="825" i="1" dirty="0">
                <a:latin typeface="Consolas" panose="020B0609020204030204" pitchFamily="49" charset="0"/>
              </a:rPr>
              <a:t> </a:t>
            </a:r>
            <a:r>
              <a:rPr lang="es-ES" sz="825" i="1" dirty="0" err="1">
                <a:latin typeface="Consolas" panose="020B0609020204030204" pitchFamily="49" charset="0"/>
              </a:rPr>
              <a:t>mivar</a:t>
            </a:r>
            <a:r>
              <a:rPr lang="es-ES" sz="825" i="1" dirty="0">
                <a:latin typeface="Consolas" panose="020B0609020204030204" pitchFamily="49" charset="0"/>
              </a:rPr>
              <a:t>(mivar1):</a:t>
            </a:r>
          </a:p>
          <a:p>
            <a:r>
              <a:rPr lang="es-ES" sz="825" i="1" dirty="0">
                <a:latin typeface="Consolas" panose="020B0609020204030204" pitchFamily="49" charset="0"/>
              </a:rPr>
              <a:t>    </a:t>
            </a:r>
            <a:r>
              <a:rPr lang="es-ES" sz="825" i="1" dirty="0" err="1">
                <a:latin typeface="Consolas" panose="020B0609020204030204" pitchFamily="49" charset="0"/>
              </a:rPr>
              <a:t>return</a:t>
            </a:r>
            <a:r>
              <a:rPr lang="es-ES" sz="825" i="1" dirty="0">
                <a:latin typeface="Consolas" panose="020B0609020204030204" pitchFamily="49" charset="0"/>
              </a:rPr>
              <a:t> "</a:t>
            </a:r>
            <a:r>
              <a:rPr lang="es-ES" sz="825" i="1" dirty="0" err="1">
                <a:latin typeface="Consolas" panose="020B0609020204030204" pitchFamily="49" charset="0"/>
              </a:rPr>
              <a:t>mivar</a:t>
            </a:r>
            <a:r>
              <a:rPr lang="es-ES" sz="825" i="1" dirty="0">
                <a:latin typeface="Consolas" panose="020B0609020204030204" pitchFamily="49" charset="0"/>
              </a:rPr>
              <a:t>="+ mivar1</a:t>
            </a:r>
          </a:p>
          <a:p>
            <a:endParaRPr lang="es-ES" sz="825" i="1" dirty="0">
              <a:latin typeface="Consolas" panose="020B0609020204030204" pitchFamily="49" charset="0"/>
            </a:endParaRPr>
          </a:p>
          <a:p>
            <a:r>
              <a:rPr lang="es-ES" sz="825" dirty="0" err="1">
                <a:latin typeface="Consolas" panose="020B0609020204030204" pitchFamily="49" charset="0"/>
              </a:rPr>
              <a:t>if</a:t>
            </a:r>
            <a:r>
              <a:rPr lang="es-ES" sz="825" dirty="0">
                <a:latin typeface="Consolas" panose="020B0609020204030204" pitchFamily="49" charset="0"/>
              </a:rPr>
              <a:t> __</a:t>
            </a:r>
            <a:r>
              <a:rPr lang="es-ES" sz="825" dirty="0" err="1">
                <a:latin typeface="Consolas" panose="020B0609020204030204" pitchFamily="49" charset="0"/>
              </a:rPr>
              <a:t>name</a:t>
            </a:r>
            <a:r>
              <a:rPr lang="es-ES" sz="825" dirty="0">
                <a:latin typeface="Consolas" panose="020B0609020204030204" pitchFamily="49" charset="0"/>
              </a:rPr>
              <a:t>__ == '__</a:t>
            </a:r>
            <a:r>
              <a:rPr lang="es-ES" sz="825" dirty="0" err="1">
                <a:latin typeface="Consolas" panose="020B0609020204030204" pitchFamily="49" charset="0"/>
              </a:rPr>
              <a:t>main</a:t>
            </a:r>
            <a:r>
              <a:rPr lang="es-ES" sz="825" dirty="0">
                <a:latin typeface="Consolas" panose="020B0609020204030204" pitchFamily="49" charset="0"/>
              </a:rPr>
              <a:t>__':</a:t>
            </a:r>
          </a:p>
          <a:p>
            <a:r>
              <a:rPr lang="es-ES" sz="825" dirty="0">
                <a:latin typeface="Consolas" panose="020B0609020204030204" pitchFamily="49" charset="0"/>
              </a:rPr>
              <a:t>  </a:t>
            </a:r>
            <a:r>
              <a:rPr lang="es-ES" sz="825" dirty="0" err="1">
                <a:latin typeface="Consolas" panose="020B0609020204030204" pitchFamily="49" charset="0"/>
              </a:rPr>
              <a:t>app.run</a:t>
            </a:r>
            <a:r>
              <a:rPr lang="es-ES" sz="825" dirty="0">
                <a:latin typeface="Consolas" panose="020B0609020204030204" pitchFamily="49" charset="0"/>
              </a:rPr>
              <a:t>(</a:t>
            </a:r>
          </a:p>
          <a:p>
            <a:r>
              <a:rPr lang="es-ES" sz="825" dirty="0">
                <a:latin typeface="Consolas" panose="020B0609020204030204" pitchFamily="49" charset="0"/>
              </a:rPr>
              <a:t>        </a:t>
            </a:r>
            <a:r>
              <a:rPr lang="es-ES" sz="825" dirty="0" err="1">
                <a:latin typeface="Consolas" panose="020B0609020204030204" pitchFamily="49" charset="0"/>
              </a:rPr>
              <a:t>port</a:t>
            </a:r>
            <a:r>
              <a:rPr lang="es-ES" sz="825" dirty="0">
                <a:latin typeface="Consolas" panose="020B0609020204030204" pitchFamily="49" charset="0"/>
              </a:rPr>
              <a:t>=</a:t>
            </a:r>
            <a:r>
              <a:rPr lang="es-ES" sz="825" dirty="0" err="1">
                <a:latin typeface="Consolas" panose="020B0609020204030204" pitchFamily="49" charset="0"/>
              </a:rPr>
              <a:t>int</a:t>
            </a:r>
            <a:r>
              <a:rPr lang="es-ES" sz="825" dirty="0">
                <a:latin typeface="Consolas" panose="020B0609020204030204" pitchFamily="49" charset="0"/>
              </a:rPr>
              <a:t>("5000")</a:t>
            </a:r>
          </a:p>
          <a:p>
            <a:r>
              <a:rPr lang="es-ES" sz="825" dirty="0">
                <a:latin typeface="Consolas" panose="020B0609020204030204" pitchFamily="49" charset="0"/>
              </a:rPr>
              <a:t>  )</a:t>
            </a:r>
          </a:p>
          <a:p>
            <a:endParaRPr lang="es-ES" sz="825" dirty="0">
              <a:latin typeface="Consolas" panose="020B0609020204030204" pitchFamily="49" charset="0"/>
            </a:endParaRPr>
          </a:p>
          <a:p>
            <a:endParaRPr lang="es-ES" sz="825" dirty="0">
              <a:latin typeface="Consolas" panose="020B0609020204030204" pitchFamily="49" charset="0"/>
            </a:endParaRPr>
          </a:p>
        </p:txBody>
      </p:sp>
      <p:sp>
        <p:nvSpPr>
          <p:cNvPr id="12" name="Rectángulo 11"/>
          <p:cNvSpPr/>
          <p:nvPr/>
        </p:nvSpPr>
        <p:spPr>
          <a:xfrm>
            <a:off x="4780270" y="1393055"/>
            <a:ext cx="5250155" cy="369332"/>
          </a:xfrm>
          <a:prstGeom prst="rect">
            <a:avLst/>
          </a:prstGeom>
        </p:spPr>
        <p:txBody>
          <a:bodyPr wrap="none">
            <a:spAutoFit/>
          </a:bodyPr>
          <a:lstStyle/>
          <a:p>
            <a:r>
              <a:rPr lang="es-ES" dirty="0">
                <a:solidFill>
                  <a:srgbClr val="FF0000"/>
                </a:solidFill>
                <a:latin typeface="Consolas" panose="020B0609020204030204" pitchFamily="49" charset="0"/>
              </a:rPr>
              <a:t>http</a:t>
            </a:r>
            <a:r>
              <a:rPr lang="es-ES" dirty="0">
                <a:latin typeface="Consolas" panose="020B0609020204030204" pitchFamily="49" charset="0"/>
              </a:rPr>
              <a:t>://</a:t>
            </a:r>
            <a:r>
              <a:rPr lang="es-ES" dirty="0">
                <a:solidFill>
                  <a:schemeClr val="accent2"/>
                </a:solidFill>
                <a:latin typeface="Consolas" panose="020B0609020204030204" pitchFamily="49" charset="0"/>
              </a:rPr>
              <a:t>localhost</a:t>
            </a:r>
            <a:r>
              <a:rPr lang="es-ES" dirty="0">
                <a:latin typeface="Consolas" panose="020B0609020204030204" pitchFamily="49" charset="0"/>
              </a:rPr>
              <a:t>:</a:t>
            </a:r>
            <a:r>
              <a:rPr lang="es-ES" dirty="0">
                <a:solidFill>
                  <a:schemeClr val="accent5"/>
                </a:solidFill>
                <a:latin typeface="Consolas" panose="020B0609020204030204" pitchFamily="49" charset="0"/>
              </a:rPr>
              <a:t>5000</a:t>
            </a:r>
            <a:r>
              <a:rPr lang="es-ES" dirty="0">
                <a:solidFill>
                  <a:schemeClr val="accent6"/>
                </a:solidFill>
                <a:latin typeface="Consolas" panose="020B0609020204030204" pitchFamily="49" charset="0"/>
              </a:rPr>
              <a:t>/mivar</a:t>
            </a:r>
            <a:r>
              <a:rPr lang="es-ES" dirty="0">
                <a:latin typeface="Consolas" panose="020B0609020204030204" pitchFamily="49" charset="0"/>
              </a:rPr>
              <a:t>/</a:t>
            </a:r>
            <a:r>
              <a:rPr lang="es-ES" dirty="0">
                <a:solidFill>
                  <a:srgbClr val="7030A0"/>
                </a:solidFill>
                <a:latin typeface="Consolas" panose="020B0609020204030204" pitchFamily="49" charset="0"/>
              </a:rPr>
              <a:t>mystring1234</a:t>
            </a:r>
          </a:p>
        </p:txBody>
      </p:sp>
      <p:sp>
        <p:nvSpPr>
          <p:cNvPr id="13" name="Rectángulo 12"/>
          <p:cNvSpPr/>
          <p:nvPr/>
        </p:nvSpPr>
        <p:spPr>
          <a:xfrm>
            <a:off x="3190877" y="2395370"/>
            <a:ext cx="8334375" cy="1754326"/>
          </a:xfrm>
          <a:prstGeom prst="rect">
            <a:avLst/>
          </a:prstGeom>
        </p:spPr>
        <p:txBody>
          <a:bodyPr wrap="square">
            <a:spAutoFit/>
          </a:bodyPr>
          <a:lstStyle/>
          <a:p>
            <a:pPr marL="128588" indent="-128588">
              <a:buFont typeface="Arial" panose="020B0604020202020204" pitchFamily="34" charset="0"/>
              <a:buChar char="•"/>
            </a:pPr>
            <a:r>
              <a:rPr lang="en-US" sz="1200" dirty="0">
                <a:solidFill>
                  <a:srgbClr val="FF0000"/>
                </a:solidFill>
                <a:latin typeface="Consolas" panose="020B0609020204030204" pitchFamily="49" charset="0"/>
              </a:rPr>
              <a:t>http</a:t>
            </a:r>
            <a:r>
              <a:rPr lang="en-US" sz="1200" dirty="0">
                <a:latin typeface="Consolas" panose="020B0609020204030204" pitchFamily="49" charset="0"/>
              </a:rPr>
              <a:t> – http means your data will be </a:t>
            </a:r>
            <a:r>
              <a:rPr lang="en-US" sz="1200" dirty="0" err="1">
                <a:latin typeface="Consolas" panose="020B0609020204030204" pitchFamily="49" charset="0"/>
              </a:rPr>
              <a:t>transfered</a:t>
            </a:r>
            <a:r>
              <a:rPr lang="en-US" sz="1200" dirty="0">
                <a:latin typeface="Consolas" panose="020B0609020204030204" pitchFamily="49" charset="0"/>
              </a:rPr>
              <a:t> using Hypertext Transfer Protocol, most commonly used over the internet</a:t>
            </a:r>
          </a:p>
          <a:p>
            <a:pPr marL="128588" indent="-128588">
              <a:buFont typeface="Arial" panose="020B0604020202020204" pitchFamily="34" charset="0"/>
              <a:buChar char="•"/>
            </a:pPr>
            <a:r>
              <a:rPr lang="en-US" sz="1200" b="1" dirty="0">
                <a:solidFill>
                  <a:schemeClr val="accent5"/>
                </a:solidFill>
                <a:latin typeface="Consolas" panose="020B0609020204030204" pitchFamily="49" charset="0"/>
              </a:rPr>
              <a:t>5000</a:t>
            </a:r>
            <a:r>
              <a:rPr lang="en-US" sz="1200" dirty="0">
                <a:latin typeface="Consolas" panose="020B0609020204030204" pitchFamily="49" charset="0"/>
              </a:rPr>
              <a:t> - it means you will use the Flask default port (80 is the default internet port)</a:t>
            </a:r>
          </a:p>
          <a:p>
            <a:pPr marL="128588" indent="-128588">
              <a:buFont typeface="Arial" panose="020B0604020202020204" pitchFamily="34" charset="0"/>
              <a:buChar char="•"/>
            </a:pPr>
            <a:r>
              <a:rPr lang="en-US" sz="1200" b="1" dirty="0">
                <a:solidFill>
                  <a:schemeClr val="accent2"/>
                </a:solidFill>
                <a:latin typeface="Consolas" panose="020B0609020204030204" pitchFamily="49" charset="0"/>
              </a:rPr>
              <a:t>localhost</a:t>
            </a:r>
            <a:r>
              <a:rPr lang="en-US" sz="1200" dirty="0">
                <a:latin typeface="Consolas" panose="020B0609020204030204" pitchFamily="49" charset="0"/>
              </a:rPr>
              <a:t> resolves to 127.0.0.1</a:t>
            </a:r>
          </a:p>
          <a:p>
            <a:pPr marL="128588" indent="-128588">
              <a:buFont typeface="Arial" panose="020B0604020202020204" pitchFamily="34" charset="0"/>
              <a:buChar char="•"/>
            </a:pPr>
            <a:r>
              <a:rPr lang="es-ES" sz="1200" dirty="0">
                <a:solidFill>
                  <a:schemeClr val="accent6"/>
                </a:solidFill>
                <a:latin typeface="Consolas" panose="020B0609020204030204" pitchFamily="49" charset="0"/>
              </a:rPr>
              <a:t>/</a:t>
            </a:r>
            <a:r>
              <a:rPr lang="es-ES" sz="1200" dirty="0" err="1">
                <a:solidFill>
                  <a:schemeClr val="accent6"/>
                </a:solidFill>
                <a:latin typeface="Consolas" panose="020B0609020204030204" pitchFamily="49" charset="0"/>
              </a:rPr>
              <a:t>mivar</a:t>
            </a:r>
            <a:r>
              <a:rPr lang="es-ES" sz="1200" dirty="0">
                <a:solidFill>
                  <a:schemeClr val="accent6"/>
                </a:solidFill>
                <a:latin typeface="Consolas" panose="020B0609020204030204" pitchFamily="49" charset="0"/>
              </a:rPr>
              <a:t> </a:t>
            </a:r>
            <a:r>
              <a:rPr lang="es-ES" sz="1200" dirty="0" err="1">
                <a:latin typeface="Consolas" panose="020B0609020204030204" pitchFamily="49" charset="0"/>
              </a:rPr>
              <a:t>will</a:t>
            </a:r>
            <a:r>
              <a:rPr lang="es-ES" sz="1200" dirty="0">
                <a:latin typeface="Consolas" panose="020B0609020204030204" pitchFamily="49" charset="0"/>
              </a:rPr>
              <a:t> </a:t>
            </a:r>
            <a:r>
              <a:rPr lang="es-ES" sz="1200" dirty="0" err="1">
                <a:latin typeface="Consolas" panose="020B0609020204030204" pitchFamily="49" charset="0"/>
              </a:rPr>
              <a:t>call</a:t>
            </a:r>
            <a:r>
              <a:rPr lang="es-ES" sz="1200" dirty="0">
                <a:latin typeface="Consolas" panose="020B0609020204030204" pitchFamily="49" charset="0"/>
              </a:rPr>
              <a:t> </a:t>
            </a:r>
            <a:r>
              <a:rPr lang="es-ES" sz="1200" dirty="0" err="1">
                <a:latin typeface="Consolas" panose="020B0609020204030204" pitchFamily="49" charset="0"/>
              </a:rPr>
              <a:t>the</a:t>
            </a:r>
            <a:r>
              <a:rPr lang="es-ES" sz="1200" dirty="0">
                <a:latin typeface="Consolas" panose="020B0609020204030204" pitchFamily="49" charset="0"/>
              </a:rPr>
              <a:t>  </a:t>
            </a:r>
            <a:r>
              <a:rPr lang="es-ES" sz="1200" dirty="0" err="1">
                <a:latin typeface="Consolas" panose="020B0609020204030204" pitchFamily="49" charset="0"/>
              </a:rPr>
              <a:t>python</a:t>
            </a:r>
            <a:r>
              <a:rPr lang="es-ES" sz="1200" dirty="0">
                <a:latin typeface="Consolas" panose="020B0609020204030204" pitchFamily="49" charset="0"/>
              </a:rPr>
              <a:t> </a:t>
            </a:r>
            <a:r>
              <a:rPr lang="es-ES" sz="1200" dirty="0" err="1">
                <a:latin typeface="Consolas" panose="020B0609020204030204" pitchFamily="49" charset="0"/>
              </a:rPr>
              <a:t>function</a:t>
            </a:r>
            <a:r>
              <a:rPr lang="es-ES" sz="1200" dirty="0">
                <a:latin typeface="Consolas" panose="020B0609020204030204" pitchFamily="49" charset="0"/>
              </a:rPr>
              <a:t> “</a:t>
            </a:r>
            <a:r>
              <a:rPr lang="es-ES" sz="1200" dirty="0" err="1">
                <a:latin typeface="Consolas" panose="020B0609020204030204" pitchFamily="49" charset="0"/>
              </a:rPr>
              <a:t>def</a:t>
            </a:r>
            <a:r>
              <a:rPr lang="es-ES" sz="1200" dirty="0">
                <a:latin typeface="Consolas" panose="020B0609020204030204" pitchFamily="49" charset="0"/>
              </a:rPr>
              <a:t> </a:t>
            </a:r>
            <a:r>
              <a:rPr lang="es-ES" sz="1200" dirty="0" err="1">
                <a:latin typeface="Consolas" panose="020B0609020204030204" pitchFamily="49" charset="0"/>
              </a:rPr>
              <a:t>mivar</a:t>
            </a:r>
            <a:r>
              <a:rPr lang="es-ES" sz="1200" dirty="0">
                <a:latin typeface="Consolas" panose="020B0609020204030204" pitchFamily="49" charset="0"/>
              </a:rPr>
              <a:t>(mivar1)” </a:t>
            </a:r>
            <a:r>
              <a:rPr lang="es-ES" sz="1200" dirty="0" err="1">
                <a:latin typeface="Consolas" panose="020B0609020204030204" pitchFamily="49" charset="0"/>
              </a:rPr>
              <a:t>with</a:t>
            </a:r>
            <a:r>
              <a:rPr lang="es-ES" sz="1200" dirty="0">
                <a:latin typeface="Consolas" panose="020B0609020204030204" pitchFamily="49" charset="0"/>
              </a:rPr>
              <a:t> “</a:t>
            </a:r>
            <a:r>
              <a:rPr lang="es-ES" sz="1200" dirty="0">
                <a:solidFill>
                  <a:srgbClr val="7030A0"/>
                </a:solidFill>
                <a:latin typeface="Consolas" panose="020B0609020204030204" pitchFamily="49" charset="0"/>
              </a:rPr>
              <a:t>mystring1234</a:t>
            </a:r>
            <a:r>
              <a:rPr lang="es-ES" sz="1200" dirty="0">
                <a:latin typeface="Consolas" panose="020B0609020204030204" pitchFamily="49" charset="0"/>
              </a:rPr>
              <a:t>” as </a:t>
            </a:r>
            <a:r>
              <a:rPr lang="es-ES" sz="1200" dirty="0" err="1">
                <a:latin typeface="Consolas" panose="020B0609020204030204" pitchFamily="49" charset="0"/>
              </a:rPr>
              <a:t>value</a:t>
            </a:r>
            <a:r>
              <a:rPr lang="es-ES" sz="1200" dirty="0">
                <a:latin typeface="Consolas" panose="020B0609020204030204" pitchFamily="49" charset="0"/>
              </a:rPr>
              <a:t>, </a:t>
            </a:r>
            <a:r>
              <a:rPr lang="es-ES" sz="1200" dirty="0" err="1">
                <a:latin typeface="Consolas" panose="020B0609020204030204" pitchFamily="49" charset="0"/>
              </a:rPr>
              <a:t>equivalent</a:t>
            </a:r>
            <a:r>
              <a:rPr lang="es-ES" sz="1200" dirty="0">
                <a:latin typeface="Consolas" panose="020B0609020204030204" pitchFamily="49" charset="0"/>
              </a:rPr>
              <a:t> to in Python:</a:t>
            </a:r>
          </a:p>
          <a:p>
            <a:pPr lvl="1"/>
            <a:r>
              <a:rPr lang="es-ES" sz="1200" dirty="0" err="1">
                <a:latin typeface="Consolas" panose="020B0609020204030204" pitchFamily="49" charset="0"/>
              </a:rPr>
              <a:t>print</a:t>
            </a:r>
            <a:r>
              <a:rPr lang="es-ES" sz="1200" dirty="0">
                <a:latin typeface="Consolas" panose="020B0609020204030204" pitchFamily="49" charset="0"/>
              </a:rPr>
              <a:t> </a:t>
            </a:r>
            <a:r>
              <a:rPr lang="es-ES" sz="1200" dirty="0" err="1">
                <a:latin typeface="Consolas" panose="020B0609020204030204" pitchFamily="49" charset="0"/>
              </a:rPr>
              <a:t>mivar</a:t>
            </a:r>
            <a:r>
              <a:rPr lang="es-ES" sz="1200" dirty="0">
                <a:latin typeface="Consolas" panose="020B0609020204030204" pitchFamily="49" charset="0"/>
              </a:rPr>
              <a:t>(“mystring1234”)</a:t>
            </a:r>
          </a:p>
          <a:p>
            <a:pPr marL="128588" indent="-128588">
              <a:buFont typeface="Arial" panose="020B0604020202020204" pitchFamily="34" charset="0"/>
              <a:buChar char="•"/>
            </a:pPr>
            <a:endParaRPr lang="en-US" sz="1200" dirty="0">
              <a:latin typeface="Consolas" panose="020B0609020204030204" pitchFamily="49" charset="0"/>
            </a:endParaRPr>
          </a:p>
          <a:p>
            <a:pPr marL="128588" indent="-128588">
              <a:buFont typeface="Arial" panose="020B0604020202020204" pitchFamily="34" charset="0"/>
              <a:buChar char="•"/>
            </a:pPr>
            <a:endParaRPr lang="es-ES" sz="1200" dirty="0">
              <a:latin typeface="Consolas" panose="020B0609020204030204" pitchFamily="49" charset="0"/>
            </a:endParaRPr>
          </a:p>
        </p:txBody>
      </p:sp>
      <p:pic>
        <p:nvPicPr>
          <p:cNvPr id="15" name="Imagen 14"/>
          <p:cNvPicPr>
            <a:picLocks noChangeAspect="1"/>
          </p:cNvPicPr>
          <p:nvPr/>
        </p:nvPicPr>
        <p:blipFill>
          <a:blip r:embed="rId2" cstate="print"/>
          <a:stretch>
            <a:fillRect/>
          </a:stretch>
        </p:blipFill>
        <p:spPr>
          <a:xfrm>
            <a:off x="604760" y="3849614"/>
            <a:ext cx="1397912" cy="1378302"/>
          </a:xfrm>
          <a:prstGeom prst="rect">
            <a:avLst/>
          </a:prstGeom>
        </p:spPr>
      </p:pic>
    </p:spTree>
    <p:extLst>
      <p:ext uri="{BB962C8B-B14F-4D97-AF65-F5344CB8AC3E}">
        <p14:creationId xmlns:p14="http://schemas.microsoft.com/office/powerpoint/2010/main" val="3506218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875252" y="1632567"/>
            <a:ext cx="6096000" cy="507831"/>
          </a:xfrm>
          <a:prstGeom prst="rect">
            <a:avLst/>
          </a:prstGeom>
        </p:spPr>
        <p:txBody>
          <a:bodyPr>
            <a:spAutoFit/>
          </a:bodyPr>
          <a:lstStyle/>
          <a:p>
            <a:r>
              <a:rPr lang="es-ES" sz="1350" dirty="0" err="1">
                <a:latin typeface="Consolas" panose="020B0609020204030204" pitchFamily="49" charset="0"/>
              </a:rPr>
              <a:t>def</a:t>
            </a:r>
            <a:r>
              <a:rPr lang="es-ES" sz="1350" dirty="0">
                <a:latin typeface="Consolas" panose="020B0609020204030204" pitchFamily="49" charset="0"/>
              </a:rPr>
              <a:t> </a:t>
            </a:r>
            <a:r>
              <a:rPr lang="es-ES" sz="1350" dirty="0" err="1">
                <a:latin typeface="Consolas" panose="020B0609020204030204" pitchFamily="49" charset="0"/>
              </a:rPr>
              <a:t>index</a:t>
            </a:r>
            <a:r>
              <a:rPr lang="es-ES" sz="1350" dirty="0">
                <a:latin typeface="Consolas" panose="020B0609020204030204" pitchFamily="49" charset="0"/>
              </a:rPr>
              <a:t>():</a:t>
            </a:r>
          </a:p>
          <a:p>
            <a:r>
              <a:rPr lang="es-ES" sz="1350" dirty="0">
                <a:latin typeface="Consolas" panose="020B0609020204030204" pitchFamily="49" charset="0"/>
              </a:rPr>
              <a:t>    </a:t>
            </a:r>
            <a:r>
              <a:rPr lang="es-ES" sz="1350" dirty="0" err="1">
                <a:latin typeface="Consolas" panose="020B0609020204030204" pitchFamily="49" charset="0"/>
              </a:rPr>
              <a:t>return</a:t>
            </a:r>
            <a:r>
              <a:rPr lang="es-ES" sz="1350" dirty="0">
                <a:latin typeface="Consolas" panose="020B0609020204030204" pitchFamily="49" charset="0"/>
              </a:rPr>
              <a:t> "</a:t>
            </a:r>
            <a:r>
              <a:rPr lang="es-ES" sz="1350" dirty="0" err="1">
                <a:latin typeface="Consolas" panose="020B0609020204030204" pitchFamily="49" charset="0"/>
              </a:rPr>
              <a:t>Hello</a:t>
            </a:r>
            <a:r>
              <a:rPr lang="es-ES" sz="1350" dirty="0">
                <a:latin typeface="Consolas" panose="020B0609020204030204" pitchFamily="49" charset="0"/>
              </a:rPr>
              <a:t> </a:t>
            </a:r>
            <a:r>
              <a:rPr lang="es-ES" sz="1350" dirty="0" err="1">
                <a:latin typeface="Consolas" panose="020B0609020204030204" pitchFamily="49" charset="0"/>
              </a:rPr>
              <a:t>World</a:t>
            </a:r>
            <a:r>
              <a:rPr lang="es-ES" sz="1350" dirty="0">
                <a:latin typeface="Consolas" panose="020B0609020204030204" pitchFamily="49" charset="0"/>
              </a:rPr>
              <a:t>"</a:t>
            </a:r>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6399" y="2555821"/>
            <a:ext cx="1060508" cy="79538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3" cstate="print"/>
          <a:stretch>
            <a:fillRect/>
          </a:stretch>
        </p:blipFill>
        <p:spPr>
          <a:xfrm>
            <a:off x="3992488" y="2266597"/>
            <a:ext cx="2651752" cy="1084808"/>
          </a:xfrm>
          <a:prstGeom prst="rect">
            <a:avLst/>
          </a:prstGeom>
        </p:spPr>
      </p:pic>
      <p:cxnSp>
        <p:nvCxnSpPr>
          <p:cNvPr id="6" name="Conector recto de flecha 5"/>
          <p:cNvCxnSpPr/>
          <p:nvPr/>
        </p:nvCxnSpPr>
        <p:spPr>
          <a:xfrm>
            <a:off x="3288503" y="3351404"/>
            <a:ext cx="4337515"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Image result for brows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16593" y="1508476"/>
            <a:ext cx="2632108" cy="78963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28813" y="3505704"/>
            <a:ext cx="1482489" cy="1111867"/>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de flecha 16"/>
          <p:cNvCxnSpPr/>
          <p:nvPr/>
        </p:nvCxnSpPr>
        <p:spPr>
          <a:xfrm flipV="1">
            <a:off x="8373980" y="2298109"/>
            <a:ext cx="842613" cy="40109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a:off x="8429379" y="3181753"/>
            <a:ext cx="910228" cy="32395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ángulo 14"/>
          <p:cNvSpPr/>
          <p:nvPr/>
        </p:nvSpPr>
        <p:spPr>
          <a:xfrm rot="19551000">
            <a:off x="7302527" y="1500883"/>
            <a:ext cx="1784784" cy="900246"/>
          </a:xfrm>
          <a:prstGeom prst="rect">
            <a:avLst/>
          </a:prstGeom>
          <a:noFill/>
        </p:spPr>
        <p:txBody>
          <a:bodyPr wrap="none" lIns="68580" tIns="34290" rIns="68580" bIns="34290">
            <a:spAutoFit/>
          </a:bodyPr>
          <a:lstStyle/>
          <a:p>
            <a:pPr algn="ct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HTML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Javascript</a:t>
            </a: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Bootstrap</a:t>
            </a:r>
            <a:endPar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endParaRPr>
          </a:p>
        </p:txBody>
      </p:sp>
      <p:sp>
        <p:nvSpPr>
          <p:cNvPr id="23" name="Rectángulo 22"/>
          <p:cNvSpPr/>
          <p:nvPr/>
        </p:nvSpPr>
        <p:spPr>
          <a:xfrm rot="1561552">
            <a:off x="8081998" y="3378708"/>
            <a:ext cx="1302280" cy="530915"/>
          </a:xfrm>
          <a:prstGeom prst="rect">
            <a:avLst/>
          </a:prstGeom>
          <a:noFill/>
        </p:spPr>
        <p:txBody>
          <a:bodyPr wrap="none" lIns="68580" tIns="34290" rIns="68580" bIns="34290">
            <a:spAutoFit/>
          </a:bodyPr>
          <a:lstStyle/>
          <a:p>
            <a:pPr algn="ct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API / JSON </a:t>
            </a:r>
            <a:b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XML</a:t>
            </a:r>
          </a:p>
        </p:txBody>
      </p:sp>
      <p:pic>
        <p:nvPicPr>
          <p:cNvPr id="2056" name="Picture 8"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81199" y="3461811"/>
            <a:ext cx="4068007" cy="16656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python flas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32882" y="2767645"/>
            <a:ext cx="824781" cy="61858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6038851" y="4443414"/>
            <a:ext cx="1587167" cy="17415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latin typeface="Consolas" panose="020B0609020204030204" pitchFamily="49" charset="0"/>
            </a:endParaRPr>
          </a:p>
        </p:txBody>
      </p:sp>
      <p:pic>
        <p:nvPicPr>
          <p:cNvPr id="3076" name="Picture 4" descr="Image result for pythonanywhe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2299" y="3221519"/>
            <a:ext cx="1806428" cy="25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111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6399" y="2555821"/>
            <a:ext cx="1060508" cy="79538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3" cstate="print"/>
          <a:stretch>
            <a:fillRect/>
          </a:stretch>
        </p:blipFill>
        <p:spPr>
          <a:xfrm>
            <a:off x="3992488" y="2266597"/>
            <a:ext cx="2651752" cy="1084808"/>
          </a:xfrm>
          <a:prstGeom prst="rect">
            <a:avLst/>
          </a:prstGeom>
        </p:spPr>
      </p:pic>
      <p:cxnSp>
        <p:nvCxnSpPr>
          <p:cNvPr id="6" name="Conector recto de flecha 5"/>
          <p:cNvCxnSpPr/>
          <p:nvPr/>
        </p:nvCxnSpPr>
        <p:spPr>
          <a:xfrm>
            <a:off x="3288503" y="3351404"/>
            <a:ext cx="4337515"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Image result for brows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16593" y="1508476"/>
            <a:ext cx="2632108" cy="78963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de flecha 16"/>
          <p:cNvCxnSpPr/>
          <p:nvPr/>
        </p:nvCxnSpPr>
        <p:spPr>
          <a:xfrm flipV="1">
            <a:off x="8373980" y="2298109"/>
            <a:ext cx="842613" cy="40109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ángulo 14"/>
          <p:cNvSpPr/>
          <p:nvPr/>
        </p:nvSpPr>
        <p:spPr>
          <a:xfrm rot="19551000">
            <a:off x="7302527" y="1500883"/>
            <a:ext cx="1784784" cy="900246"/>
          </a:xfrm>
          <a:prstGeom prst="rect">
            <a:avLst/>
          </a:prstGeom>
          <a:noFill/>
        </p:spPr>
        <p:txBody>
          <a:bodyPr wrap="none" lIns="68580" tIns="34290" rIns="68580" bIns="34290">
            <a:spAutoFit/>
          </a:bodyPr>
          <a:lstStyle/>
          <a:p>
            <a:pPr algn="ct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HTML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Javascript</a:t>
            </a: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Bootstrap</a:t>
            </a:r>
            <a:endPar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endParaRPr>
          </a:p>
        </p:txBody>
      </p:sp>
      <p:pic>
        <p:nvPicPr>
          <p:cNvPr id="2056" name="Picture 8"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199" y="3461811"/>
            <a:ext cx="4068007" cy="16656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python flas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32882" y="2767645"/>
            <a:ext cx="824781" cy="61858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6038851" y="4443414"/>
            <a:ext cx="1587167" cy="17415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latin typeface="Consolas" panose="020B0609020204030204" pitchFamily="49" charset="0"/>
            </a:endParaRPr>
          </a:p>
        </p:txBody>
      </p:sp>
      <p:pic>
        <p:nvPicPr>
          <p:cNvPr id="3076" name="Picture 4" descr="Image result for pythonanywher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2299" y="3221519"/>
            <a:ext cx="1806428" cy="25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608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6399" y="2555821"/>
            <a:ext cx="1060508" cy="79538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3" cstate="print"/>
          <a:stretch>
            <a:fillRect/>
          </a:stretch>
        </p:blipFill>
        <p:spPr>
          <a:xfrm>
            <a:off x="3992488" y="2266597"/>
            <a:ext cx="2651752" cy="1084808"/>
          </a:xfrm>
          <a:prstGeom prst="rect">
            <a:avLst/>
          </a:prstGeom>
        </p:spPr>
      </p:pic>
      <p:cxnSp>
        <p:nvCxnSpPr>
          <p:cNvPr id="6" name="Conector recto de flecha 5"/>
          <p:cNvCxnSpPr/>
          <p:nvPr/>
        </p:nvCxnSpPr>
        <p:spPr>
          <a:xfrm>
            <a:off x="3288503" y="3351404"/>
            <a:ext cx="4337515"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4" name="Picture 6"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28813" y="3505704"/>
            <a:ext cx="1482489" cy="111186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Conector recto de flecha 18"/>
          <p:cNvCxnSpPr/>
          <p:nvPr/>
        </p:nvCxnSpPr>
        <p:spPr>
          <a:xfrm>
            <a:off x="8429379" y="3181753"/>
            <a:ext cx="910228" cy="32395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ángulo 22"/>
          <p:cNvSpPr/>
          <p:nvPr/>
        </p:nvSpPr>
        <p:spPr>
          <a:xfrm rot="1561552">
            <a:off x="8081998" y="3378708"/>
            <a:ext cx="1302280" cy="530915"/>
          </a:xfrm>
          <a:prstGeom prst="rect">
            <a:avLst/>
          </a:prstGeom>
          <a:noFill/>
        </p:spPr>
        <p:txBody>
          <a:bodyPr wrap="none" lIns="68580" tIns="34290" rIns="68580" bIns="34290">
            <a:spAutoFit/>
          </a:bodyPr>
          <a:lstStyle/>
          <a:p>
            <a:pPr algn="ct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API / JSON </a:t>
            </a:r>
            <a:b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XML</a:t>
            </a:r>
          </a:p>
        </p:txBody>
      </p:sp>
      <p:pic>
        <p:nvPicPr>
          <p:cNvPr id="2056" name="Picture 8"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199" y="3461811"/>
            <a:ext cx="4068007" cy="16656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python flask"/>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32882" y="2767645"/>
            <a:ext cx="824781" cy="61858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6038851" y="4443414"/>
            <a:ext cx="1587167" cy="17415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latin typeface="Consolas" panose="020B0609020204030204" pitchFamily="49" charset="0"/>
            </a:endParaRPr>
          </a:p>
        </p:txBody>
      </p:sp>
      <p:pic>
        <p:nvPicPr>
          <p:cNvPr id="3076" name="Picture 4" descr="Image result for pythonanywher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2299" y="3221519"/>
            <a:ext cx="1806428" cy="25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201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6399" y="2555821"/>
            <a:ext cx="1060508" cy="79538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p:cNvPicPr>
            <a:picLocks noChangeAspect="1"/>
          </p:cNvPicPr>
          <p:nvPr/>
        </p:nvPicPr>
        <p:blipFill>
          <a:blip r:embed="rId3" cstate="print"/>
          <a:stretch>
            <a:fillRect/>
          </a:stretch>
        </p:blipFill>
        <p:spPr>
          <a:xfrm>
            <a:off x="3992488" y="2266597"/>
            <a:ext cx="2651752" cy="1084808"/>
          </a:xfrm>
          <a:prstGeom prst="rect">
            <a:avLst/>
          </a:prstGeom>
        </p:spPr>
      </p:pic>
      <p:cxnSp>
        <p:nvCxnSpPr>
          <p:cNvPr id="6" name="Conector recto de flecha 5"/>
          <p:cNvCxnSpPr/>
          <p:nvPr/>
        </p:nvCxnSpPr>
        <p:spPr>
          <a:xfrm>
            <a:off x="3288503" y="3351404"/>
            <a:ext cx="4337515" cy="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2" name="Picture 4" descr="Image result for brows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16593" y="1508476"/>
            <a:ext cx="2632108" cy="78963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elated imag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28813" y="3505704"/>
            <a:ext cx="1482489" cy="1111867"/>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Conector recto de flecha 16"/>
          <p:cNvCxnSpPr/>
          <p:nvPr/>
        </p:nvCxnSpPr>
        <p:spPr>
          <a:xfrm flipV="1">
            <a:off x="8373980" y="2298109"/>
            <a:ext cx="842613" cy="401095"/>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p:cNvCxnSpPr/>
          <p:nvPr/>
        </p:nvCxnSpPr>
        <p:spPr>
          <a:xfrm>
            <a:off x="8429379" y="3181753"/>
            <a:ext cx="910228" cy="323951"/>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ángulo 14"/>
          <p:cNvSpPr/>
          <p:nvPr/>
        </p:nvSpPr>
        <p:spPr>
          <a:xfrm rot="19551000">
            <a:off x="7302527" y="1500883"/>
            <a:ext cx="1784784" cy="900246"/>
          </a:xfrm>
          <a:prstGeom prst="rect">
            <a:avLst/>
          </a:prstGeom>
          <a:noFill/>
        </p:spPr>
        <p:txBody>
          <a:bodyPr wrap="none" lIns="68580" tIns="34290" rIns="68580" bIns="34290">
            <a:spAutoFit/>
          </a:bodyPr>
          <a:lstStyle/>
          <a:p>
            <a:pPr algn="ct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HTML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Javascript</a:t>
            </a: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b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a:t>
            </a:r>
            <a:r>
              <a:rPr lang="es-ES" dirty="0" err="1">
                <a:ln w="0"/>
                <a:solidFill>
                  <a:schemeClr val="accent1"/>
                </a:solidFill>
                <a:effectLst>
                  <a:outerShdw blurRad="38100" dist="25400" dir="5400000" algn="ctr" rotWithShape="0">
                    <a:srgbClr val="6E747A">
                      <a:alpha val="43000"/>
                    </a:srgbClr>
                  </a:outerShdw>
                </a:effectLst>
                <a:latin typeface="Consolas" panose="020B0609020204030204" pitchFamily="49" charset="0"/>
              </a:rPr>
              <a:t>Bootstrap</a:t>
            </a:r>
            <a:endParaRPr lang="es-ES" dirty="0">
              <a:ln w="0"/>
              <a:solidFill>
                <a:schemeClr val="accent1"/>
              </a:solidFill>
              <a:effectLst>
                <a:outerShdw blurRad="38100" dist="25400" dir="5400000" algn="ctr" rotWithShape="0">
                  <a:srgbClr val="6E747A">
                    <a:alpha val="43000"/>
                  </a:srgbClr>
                </a:outerShdw>
              </a:effectLst>
              <a:latin typeface="Consolas" panose="020B0609020204030204" pitchFamily="49" charset="0"/>
            </a:endParaRPr>
          </a:p>
        </p:txBody>
      </p:sp>
      <p:sp>
        <p:nvSpPr>
          <p:cNvPr id="23" name="Rectángulo 22"/>
          <p:cNvSpPr/>
          <p:nvPr/>
        </p:nvSpPr>
        <p:spPr>
          <a:xfrm rot="1561552">
            <a:off x="8081998" y="3378708"/>
            <a:ext cx="1302280" cy="530915"/>
          </a:xfrm>
          <a:prstGeom prst="rect">
            <a:avLst/>
          </a:prstGeom>
          <a:noFill/>
        </p:spPr>
        <p:txBody>
          <a:bodyPr wrap="none" lIns="68580" tIns="34290" rIns="68580" bIns="34290">
            <a:spAutoFit/>
          </a:bodyPr>
          <a:lstStyle/>
          <a:p>
            <a:pPr algn="ct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API / JSON </a:t>
            </a:r>
            <a:b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br>
            <a:r>
              <a:rPr lang="es-ES" sz="1500" dirty="0">
                <a:ln w="0"/>
                <a:solidFill>
                  <a:schemeClr val="accent1"/>
                </a:solidFill>
                <a:effectLst>
                  <a:outerShdw blurRad="38100" dist="25400" dir="5400000" algn="ctr" rotWithShape="0">
                    <a:srgbClr val="6E747A">
                      <a:alpha val="43000"/>
                    </a:srgbClr>
                  </a:outerShdw>
                </a:effectLst>
                <a:latin typeface="Consolas" panose="020B0609020204030204" pitchFamily="49" charset="0"/>
              </a:rPr>
              <a:t>/ XML</a:t>
            </a:r>
          </a:p>
        </p:txBody>
      </p:sp>
      <p:pic>
        <p:nvPicPr>
          <p:cNvPr id="2056" name="Picture 8"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81199" y="3461811"/>
            <a:ext cx="4068007" cy="16656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Image result for python flask"/>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32882" y="2767645"/>
            <a:ext cx="824781" cy="61858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p:cNvSpPr/>
          <p:nvPr/>
        </p:nvSpPr>
        <p:spPr>
          <a:xfrm>
            <a:off x="6038851" y="4443414"/>
            <a:ext cx="1587167" cy="174157"/>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latin typeface="Consolas" panose="020B0609020204030204" pitchFamily="49" charset="0"/>
            </a:endParaRPr>
          </a:p>
        </p:txBody>
      </p:sp>
      <p:pic>
        <p:nvPicPr>
          <p:cNvPr id="3076" name="Picture 4" descr="Image result for pythonanywher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2299" y="3221519"/>
            <a:ext cx="1806428" cy="25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6036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D5DE119-6F04-4E9E-AD36-FC2CDB3DE512}"/>
              </a:ext>
            </a:extLst>
          </p:cNvPr>
          <p:cNvSpPr/>
          <p:nvPr/>
        </p:nvSpPr>
        <p:spPr>
          <a:xfrm>
            <a:off x="1219200" y="228600"/>
            <a:ext cx="10363200" cy="5909310"/>
          </a:xfrm>
          <a:prstGeom prst="rect">
            <a:avLst/>
          </a:prstGeom>
        </p:spPr>
        <p:txBody>
          <a:bodyPr wrap="square">
            <a:spAutoFit/>
          </a:bodyPr>
          <a:lstStyle/>
          <a:p>
            <a:r>
              <a:rPr lang="es-ES" b="1" dirty="0"/>
              <a:t>Ejercicio 2)  </a:t>
            </a:r>
            <a:r>
              <a:rPr lang="es-ES" dirty="0"/>
              <a:t>construir una App </a:t>
            </a:r>
            <a:r>
              <a:rPr lang="es-ES" dirty="0" err="1"/>
              <a:t>flaskk</a:t>
            </a:r>
            <a:r>
              <a:rPr lang="es-ES" dirty="0"/>
              <a:t> para </a:t>
            </a:r>
            <a:r>
              <a:rPr lang="es-ES" dirty="0" err="1"/>
              <a:t>delvolver</a:t>
            </a:r>
            <a:r>
              <a:rPr lang="es-ES" dirty="0"/>
              <a:t> este </a:t>
            </a:r>
            <a:r>
              <a:rPr lang="es-ES" dirty="0" err="1"/>
              <a:t>Html</a:t>
            </a:r>
            <a:r>
              <a:rPr lang="es-ES" dirty="0"/>
              <a:t> simple pero pasando el nombre del curso, tu nombre y la fecha de hoy como </a:t>
            </a:r>
            <a:r>
              <a:rPr lang="es-ES" dirty="0" err="1"/>
              <a:t>parametro</a:t>
            </a:r>
            <a:r>
              <a:rPr lang="es-ES" dirty="0"/>
              <a:t>.:</a:t>
            </a:r>
          </a:p>
          <a:p>
            <a:endParaRPr lang="es-ES" dirty="0"/>
          </a:p>
          <a:p>
            <a:endParaRPr lang="es-ES" dirty="0"/>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&lt;h1&gt; </a:t>
            </a:r>
            <a:r>
              <a:rPr lang="en-US" dirty="0" err="1"/>
              <a:t>Nombre</a:t>
            </a:r>
            <a:r>
              <a:rPr lang="en-US" dirty="0"/>
              <a:t> del </a:t>
            </a:r>
            <a:r>
              <a:rPr lang="en-US" dirty="0" err="1"/>
              <a:t>curso</a:t>
            </a:r>
            <a:r>
              <a:rPr lang="en-US" dirty="0"/>
              <a:t> &lt;/h1&gt;</a:t>
            </a:r>
            <a:br>
              <a:rPr lang="en-US" dirty="0"/>
            </a:br>
            <a:r>
              <a:rPr lang="en-US" dirty="0"/>
              <a:t>&lt;p&gt;  Tu </a:t>
            </a:r>
            <a:r>
              <a:rPr lang="en-US" dirty="0" err="1"/>
              <a:t>nombre</a:t>
            </a:r>
            <a:r>
              <a:rPr lang="en-US" dirty="0"/>
              <a:t> &lt;/p&gt;</a:t>
            </a:r>
          </a:p>
          <a:p>
            <a:r>
              <a:rPr lang="en-US" dirty="0"/>
              <a:t>&lt;p&gt;  </a:t>
            </a:r>
            <a:r>
              <a:rPr lang="en-US" dirty="0" err="1"/>
              <a:t>fecha</a:t>
            </a:r>
            <a:r>
              <a:rPr lang="en-US" dirty="0"/>
              <a:t> de hoy &lt;/p&gt;</a:t>
            </a:r>
            <a:br>
              <a:rPr lang="en-US" dirty="0"/>
            </a:br>
            <a:br>
              <a:rPr lang="en-US" dirty="0"/>
            </a:br>
            <a:br>
              <a:rPr lang="en-US" dirty="0"/>
            </a:br>
            <a:r>
              <a:rPr lang="en-US" dirty="0"/>
              <a:t>&lt;/body&gt;</a:t>
            </a:r>
            <a:br>
              <a:rPr lang="en-US" dirty="0"/>
            </a:br>
            <a:r>
              <a:rPr lang="en-US" dirty="0"/>
              <a:t>&lt;/html&gt;</a:t>
            </a:r>
            <a:endParaRPr lang="es-ES" dirty="0"/>
          </a:p>
          <a:p>
            <a:endParaRPr lang="es-ES" dirty="0"/>
          </a:p>
          <a:p>
            <a:endParaRPr lang="es-ES" dirty="0"/>
          </a:p>
          <a:p>
            <a:r>
              <a:rPr lang="es-ES" dirty="0"/>
              <a:t>HINT: </a:t>
            </a:r>
            <a:r>
              <a:rPr lang="es-ES" dirty="0" err="1"/>
              <a:t>ustar</a:t>
            </a:r>
            <a:r>
              <a:rPr lang="es-ES" dirty="0"/>
              <a:t> “”.</a:t>
            </a:r>
            <a:r>
              <a:rPr lang="es-ES" dirty="0" err="1"/>
              <a:t>format</a:t>
            </a:r>
            <a:r>
              <a:rPr lang="es-ES" dirty="0"/>
              <a:t>() de Python.</a:t>
            </a:r>
          </a:p>
          <a:p>
            <a:endParaRPr lang="es-ES" dirty="0"/>
          </a:p>
          <a:p>
            <a:endParaRPr lang="es-ES" dirty="0"/>
          </a:p>
          <a:p>
            <a:endParaRPr lang="es-ES" dirty="0"/>
          </a:p>
        </p:txBody>
      </p:sp>
    </p:spTree>
    <p:extLst>
      <p:ext uri="{BB962C8B-B14F-4D97-AF65-F5344CB8AC3E}">
        <p14:creationId xmlns:p14="http://schemas.microsoft.com/office/powerpoint/2010/main" val="171164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31E3BE8-0FF6-4941-890A-FF63C822CCD8}"/>
              </a:ext>
            </a:extLst>
          </p:cNvPr>
          <p:cNvSpPr>
            <a:spLocks noGrp="1"/>
          </p:cNvSpPr>
          <p:nvPr>
            <p:ph type="body" idx="1"/>
          </p:nvPr>
        </p:nvSpPr>
        <p:spPr>
          <a:xfrm>
            <a:off x="326814" y="2590800"/>
            <a:ext cx="11538373" cy="3600986"/>
          </a:xfrm>
        </p:spPr>
        <p:txBody>
          <a:bodyPr>
            <a:normAutofit fontScale="70000" lnSpcReduction="20000"/>
          </a:bodyPr>
          <a:lstStyle/>
          <a:p>
            <a:r>
              <a:rPr lang="en-US" dirty="0"/>
              <a:t>Welcome to Flask’s documentation. Get started with </a:t>
            </a:r>
            <a:r>
              <a:rPr lang="en-US" dirty="0">
                <a:hlinkClick r:id="rId2"/>
              </a:rPr>
              <a:t>Installation</a:t>
            </a:r>
            <a:r>
              <a:rPr lang="en-US" dirty="0"/>
              <a:t> and then get an overview with the </a:t>
            </a:r>
            <a:r>
              <a:rPr lang="en-US" dirty="0" err="1">
                <a:hlinkClick r:id="rId3"/>
              </a:rPr>
              <a:t>Quickstart</a:t>
            </a:r>
            <a:r>
              <a:rPr lang="en-US" dirty="0"/>
              <a:t>. There is also a more detailed </a:t>
            </a:r>
            <a:r>
              <a:rPr lang="en-US" dirty="0">
                <a:hlinkClick r:id="rId4"/>
              </a:rPr>
              <a:t>Tutorial</a:t>
            </a:r>
            <a:r>
              <a:rPr lang="en-US" dirty="0"/>
              <a:t> that shows how to create a small but complete application with Flask. Common patterns are described in the </a:t>
            </a:r>
            <a:r>
              <a:rPr lang="en-US" dirty="0">
                <a:hlinkClick r:id="rId5"/>
              </a:rPr>
              <a:t>Patterns for Flask</a:t>
            </a:r>
            <a:r>
              <a:rPr lang="en-US" dirty="0"/>
              <a:t> section. The rest of the docs describe each component of Flask in detail, with a full reference in the </a:t>
            </a:r>
            <a:r>
              <a:rPr lang="en-US" dirty="0">
                <a:hlinkClick r:id="rId6"/>
              </a:rPr>
              <a:t>API</a:t>
            </a:r>
            <a:r>
              <a:rPr lang="en-US" dirty="0"/>
              <a:t> section.</a:t>
            </a:r>
          </a:p>
          <a:p>
            <a:endParaRPr lang="en-US" dirty="0"/>
          </a:p>
          <a:p>
            <a:r>
              <a:rPr lang="en-US" dirty="0"/>
              <a:t>Flask depends on the </a:t>
            </a:r>
            <a:r>
              <a:rPr lang="en-US" dirty="0">
                <a:hlinkClick r:id="rId7"/>
              </a:rPr>
              <a:t>Jinja</a:t>
            </a:r>
            <a:r>
              <a:rPr lang="en-US" dirty="0"/>
              <a:t> template engine and the </a:t>
            </a:r>
            <a:r>
              <a:rPr lang="en-US" dirty="0" err="1">
                <a:hlinkClick r:id="rId8"/>
              </a:rPr>
              <a:t>Werkzeug</a:t>
            </a:r>
            <a:r>
              <a:rPr lang="en-US" dirty="0"/>
              <a:t> WSGI toolkit. The documentation for these libraries can be found at:</a:t>
            </a:r>
          </a:p>
          <a:p>
            <a:endParaRPr lang="en-US" dirty="0">
              <a:hlinkClick r:id="rId9"/>
            </a:endParaRPr>
          </a:p>
          <a:p>
            <a:endParaRPr lang="en-US" dirty="0">
              <a:hlinkClick r:id="rId9"/>
            </a:endParaRPr>
          </a:p>
          <a:p>
            <a:r>
              <a:rPr lang="en-US" dirty="0">
                <a:hlinkClick r:id="rId9"/>
              </a:rPr>
              <a:t>Jinja documentation</a:t>
            </a:r>
            <a:endParaRPr lang="en-US" dirty="0"/>
          </a:p>
          <a:p>
            <a:r>
              <a:rPr lang="en-US" dirty="0" err="1">
                <a:hlinkClick r:id="rId10"/>
              </a:rPr>
              <a:t>Werkzeug</a:t>
            </a:r>
            <a:r>
              <a:rPr lang="en-US" dirty="0">
                <a:hlinkClick r:id="rId10"/>
              </a:rPr>
              <a:t> documentation</a:t>
            </a:r>
            <a:endParaRPr lang="en-US" dirty="0"/>
          </a:p>
          <a:p>
            <a:endParaRPr lang="es-ES" dirty="0"/>
          </a:p>
        </p:txBody>
      </p:sp>
      <p:pic>
        <p:nvPicPr>
          <p:cNvPr id="1026" name="Picture 2" descr="Flask: web development, one drop at a time">
            <a:extLst>
              <a:ext uri="{FF2B5EF4-FFF2-40B4-BE49-F238E27FC236}">
                <a16:creationId xmlns:a16="http://schemas.microsoft.com/office/drawing/2014/main" id="{79D18F84-740D-4DCE-A50C-E0307EA5123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43201" y="609600"/>
            <a:ext cx="532130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285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D5DE119-6F04-4E9E-AD36-FC2CDB3DE512}"/>
              </a:ext>
            </a:extLst>
          </p:cNvPr>
          <p:cNvSpPr/>
          <p:nvPr/>
        </p:nvSpPr>
        <p:spPr>
          <a:xfrm>
            <a:off x="667965" y="3200400"/>
            <a:ext cx="11480800" cy="1754326"/>
          </a:xfrm>
          <a:prstGeom prst="rect">
            <a:avLst/>
          </a:prstGeom>
        </p:spPr>
        <p:txBody>
          <a:bodyPr wrap="square">
            <a:spAutoFit/>
          </a:bodyPr>
          <a:lstStyle/>
          <a:p>
            <a:r>
              <a:rPr lang="es-ES" dirty="0" err="1"/>
              <a:t>from</a:t>
            </a:r>
            <a:r>
              <a:rPr lang="es-ES" dirty="0"/>
              <a:t> </a:t>
            </a:r>
            <a:r>
              <a:rPr lang="es-ES" dirty="0" err="1"/>
              <a:t>flask</a:t>
            </a:r>
            <a:r>
              <a:rPr lang="es-ES" dirty="0"/>
              <a:t> </a:t>
            </a:r>
            <a:r>
              <a:rPr lang="es-ES" dirty="0" err="1"/>
              <a:t>import</a:t>
            </a:r>
            <a:r>
              <a:rPr lang="es-ES" dirty="0"/>
              <a:t> </a:t>
            </a:r>
            <a:r>
              <a:rPr lang="es-ES" dirty="0" err="1"/>
              <a:t>Flask</a:t>
            </a:r>
            <a:r>
              <a:rPr lang="es-ES" dirty="0"/>
              <a:t>, </a:t>
            </a:r>
            <a:r>
              <a:rPr lang="es-ES" dirty="0" err="1"/>
              <a:t>render_template</a:t>
            </a:r>
            <a:endParaRPr lang="es-ES" dirty="0"/>
          </a:p>
          <a:p>
            <a:r>
              <a:rPr lang="es-ES" dirty="0"/>
              <a:t>app = </a:t>
            </a:r>
            <a:r>
              <a:rPr lang="es-ES" dirty="0" err="1"/>
              <a:t>Flask</a:t>
            </a:r>
            <a:r>
              <a:rPr lang="es-ES" dirty="0"/>
              <a:t>(__</a:t>
            </a:r>
            <a:r>
              <a:rPr lang="es-ES" dirty="0" err="1"/>
              <a:t>name</a:t>
            </a:r>
            <a:r>
              <a:rPr lang="es-ES" dirty="0"/>
              <a:t>__)</a:t>
            </a:r>
          </a:p>
          <a:p>
            <a:endParaRPr lang="es-ES" dirty="0"/>
          </a:p>
          <a:p>
            <a:r>
              <a:rPr lang="es-ES" dirty="0"/>
              <a:t>@</a:t>
            </a:r>
            <a:r>
              <a:rPr lang="es-ES" dirty="0" err="1"/>
              <a:t>app.route</a:t>
            </a:r>
            <a:r>
              <a:rPr lang="es-ES" dirty="0"/>
              <a:t>('/')</a:t>
            </a:r>
          </a:p>
          <a:p>
            <a:r>
              <a:rPr lang="es-ES" dirty="0" err="1"/>
              <a:t>def</a:t>
            </a:r>
            <a:r>
              <a:rPr lang="es-ES" dirty="0"/>
              <a:t> </a:t>
            </a:r>
            <a:r>
              <a:rPr lang="es-ES" dirty="0" err="1"/>
              <a:t>index</a:t>
            </a:r>
            <a:r>
              <a:rPr lang="es-ES" dirty="0"/>
              <a:t>():</a:t>
            </a:r>
          </a:p>
          <a:p>
            <a:r>
              <a:rPr lang="es-ES" dirty="0"/>
              <a:t>    </a:t>
            </a:r>
            <a:r>
              <a:rPr lang="es-ES" dirty="0" err="1"/>
              <a:t>return</a:t>
            </a:r>
            <a:r>
              <a:rPr lang="es-ES" dirty="0"/>
              <a:t> </a:t>
            </a:r>
            <a:r>
              <a:rPr lang="es-ES" dirty="0" err="1"/>
              <a:t>render_template</a:t>
            </a:r>
            <a:r>
              <a:rPr lang="es-ES" dirty="0"/>
              <a:t>('index.html', </a:t>
            </a:r>
            <a:r>
              <a:rPr lang="es-ES" dirty="0" err="1"/>
              <a:t>msg</a:t>
            </a:r>
            <a:r>
              <a:rPr lang="es-ES" dirty="0"/>
              <a:t>='Bienvenido a: Construyendo una </a:t>
            </a:r>
            <a:r>
              <a:rPr lang="es-ES" dirty="0" err="1"/>
              <a:t>FinTech</a:t>
            </a:r>
            <a:r>
              <a:rPr lang="es-ES" dirty="0"/>
              <a:t>')</a:t>
            </a:r>
          </a:p>
        </p:txBody>
      </p:sp>
      <p:pic>
        <p:nvPicPr>
          <p:cNvPr id="2" name="Imagen 1">
            <a:extLst>
              <a:ext uri="{FF2B5EF4-FFF2-40B4-BE49-F238E27FC236}">
                <a16:creationId xmlns:a16="http://schemas.microsoft.com/office/drawing/2014/main" id="{0DE91661-AA0C-4FAF-B97D-C158C925959C}"/>
              </a:ext>
            </a:extLst>
          </p:cNvPr>
          <p:cNvPicPr>
            <a:picLocks noChangeAspect="1"/>
          </p:cNvPicPr>
          <p:nvPr/>
        </p:nvPicPr>
        <p:blipFill>
          <a:blip r:embed="rId2" cstate="print"/>
          <a:stretch>
            <a:fillRect/>
          </a:stretch>
        </p:blipFill>
        <p:spPr>
          <a:xfrm>
            <a:off x="863600" y="1114284"/>
            <a:ext cx="10464800" cy="1173443"/>
          </a:xfrm>
          <a:prstGeom prst="rect">
            <a:avLst/>
          </a:prstGeom>
        </p:spPr>
      </p:pic>
    </p:spTree>
    <p:extLst>
      <p:ext uri="{BB962C8B-B14F-4D97-AF65-F5344CB8AC3E}">
        <p14:creationId xmlns:p14="http://schemas.microsoft.com/office/powerpoint/2010/main" val="2173075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D5DE119-6F04-4E9E-AD36-FC2CDB3DE512}"/>
              </a:ext>
            </a:extLst>
          </p:cNvPr>
          <p:cNvSpPr/>
          <p:nvPr/>
        </p:nvSpPr>
        <p:spPr>
          <a:xfrm>
            <a:off x="1219200" y="228601"/>
            <a:ext cx="10363200" cy="5909310"/>
          </a:xfrm>
          <a:prstGeom prst="rect">
            <a:avLst/>
          </a:prstGeom>
        </p:spPr>
        <p:txBody>
          <a:bodyPr wrap="square">
            <a:spAutoFit/>
          </a:bodyPr>
          <a:lstStyle/>
          <a:p>
            <a:r>
              <a:rPr lang="es-ES" b="1" dirty="0"/>
              <a:t>Ejercicio 3)  </a:t>
            </a:r>
            <a:r>
              <a:rPr lang="es-ES" dirty="0"/>
              <a:t>construir una App </a:t>
            </a:r>
            <a:r>
              <a:rPr lang="es-ES" dirty="0" err="1"/>
              <a:t>flaskk</a:t>
            </a:r>
            <a:r>
              <a:rPr lang="es-ES" dirty="0"/>
              <a:t> para </a:t>
            </a:r>
            <a:r>
              <a:rPr lang="es-ES" dirty="0" err="1"/>
              <a:t>delvolver</a:t>
            </a:r>
            <a:r>
              <a:rPr lang="es-ES" dirty="0"/>
              <a:t> este </a:t>
            </a:r>
            <a:r>
              <a:rPr lang="es-ES" dirty="0" err="1"/>
              <a:t>Html</a:t>
            </a:r>
            <a:r>
              <a:rPr lang="es-ES" dirty="0"/>
              <a:t> simple pero usando </a:t>
            </a:r>
            <a:r>
              <a:rPr lang="es-ES" dirty="0" err="1"/>
              <a:t>render_template</a:t>
            </a:r>
            <a:r>
              <a:rPr lang="es-ES" dirty="0"/>
              <a:t> y pasando el nombre del curso, tu nombre y la fecha de hoy como parámetro.:</a:t>
            </a:r>
          </a:p>
          <a:p>
            <a:endParaRPr lang="es-ES" dirty="0"/>
          </a:p>
          <a:p>
            <a:endParaRPr lang="es-ES" dirty="0"/>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&lt;h1&gt; </a:t>
            </a:r>
            <a:r>
              <a:rPr lang="en-US" dirty="0" err="1"/>
              <a:t>Nombre</a:t>
            </a:r>
            <a:r>
              <a:rPr lang="en-US" dirty="0"/>
              <a:t> del </a:t>
            </a:r>
            <a:r>
              <a:rPr lang="en-US" dirty="0" err="1"/>
              <a:t>curso</a:t>
            </a:r>
            <a:r>
              <a:rPr lang="en-US" dirty="0"/>
              <a:t> &lt;/h1&gt;</a:t>
            </a:r>
            <a:br>
              <a:rPr lang="en-US" dirty="0"/>
            </a:br>
            <a:r>
              <a:rPr lang="en-US" dirty="0"/>
              <a:t>&lt;p&gt;  Tu </a:t>
            </a:r>
            <a:r>
              <a:rPr lang="en-US" dirty="0" err="1"/>
              <a:t>nombre</a:t>
            </a:r>
            <a:r>
              <a:rPr lang="en-US" dirty="0"/>
              <a:t> &lt;/p&gt;</a:t>
            </a:r>
          </a:p>
          <a:p>
            <a:r>
              <a:rPr lang="en-US" dirty="0"/>
              <a:t>&lt;p&gt;  </a:t>
            </a:r>
            <a:r>
              <a:rPr lang="en-US" dirty="0" err="1"/>
              <a:t>fecha</a:t>
            </a:r>
            <a:r>
              <a:rPr lang="en-US" dirty="0"/>
              <a:t> de hoy &lt;/p&gt;</a:t>
            </a:r>
            <a:br>
              <a:rPr lang="en-US" dirty="0"/>
            </a:br>
            <a:br>
              <a:rPr lang="en-US" dirty="0"/>
            </a:br>
            <a:br>
              <a:rPr lang="en-US" dirty="0"/>
            </a:br>
            <a:r>
              <a:rPr lang="en-US" dirty="0"/>
              <a:t>&lt;/body&gt;</a:t>
            </a:r>
            <a:br>
              <a:rPr lang="en-US" dirty="0"/>
            </a:br>
            <a:r>
              <a:rPr lang="en-US" dirty="0"/>
              <a:t>&lt;/html&gt;</a:t>
            </a:r>
            <a:endParaRPr lang="es-ES" dirty="0"/>
          </a:p>
          <a:p>
            <a:endParaRPr lang="es-ES" dirty="0"/>
          </a:p>
          <a:p>
            <a:endParaRPr lang="es-ES" dirty="0"/>
          </a:p>
          <a:p>
            <a:r>
              <a:rPr lang="es-ES" dirty="0"/>
              <a:t>HINT: </a:t>
            </a:r>
            <a:r>
              <a:rPr lang="es-ES" dirty="0" err="1"/>
              <a:t>ustar</a:t>
            </a:r>
            <a:r>
              <a:rPr lang="es-ES" dirty="0"/>
              <a:t> “”.</a:t>
            </a:r>
            <a:r>
              <a:rPr lang="es-ES" dirty="0" err="1"/>
              <a:t>format</a:t>
            </a:r>
            <a:r>
              <a:rPr lang="es-ES" dirty="0"/>
              <a:t>() de Python.</a:t>
            </a:r>
          </a:p>
          <a:p>
            <a:endParaRPr lang="es-ES" dirty="0"/>
          </a:p>
          <a:p>
            <a:endParaRPr lang="es-ES" dirty="0"/>
          </a:p>
          <a:p>
            <a:endParaRPr lang="es-ES" dirty="0"/>
          </a:p>
        </p:txBody>
      </p:sp>
    </p:spTree>
    <p:extLst>
      <p:ext uri="{BB962C8B-B14F-4D97-AF65-F5344CB8AC3E}">
        <p14:creationId xmlns:p14="http://schemas.microsoft.com/office/powerpoint/2010/main" val="1875972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188004" y="1466733"/>
            <a:ext cx="7816000" cy="2736800"/>
          </a:xfrm>
          <a:prstGeom prst="rect">
            <a:avLst/>
          </a:prstGeom>
        </p:spPr>
        <p:txBody>
          <a:bodyPr spcFirstLastPara="1" wrap="square" lIns="121897" tIns="121897" rIns="121897" bIns="121897" anchor="b" anchorCtr="0">
            <a:normAutofit/>
          </a:bodyPr>
          <a:lstStyle/>
          <a:p>
            <a:pPr>
              <a:spcBef>
                <a:spcPts val="0"/>
              </a:spcBef>
            </a:pPr>
            <a:r>
              <a:rPr lang="es" dirty="0"/>
              <a:t>Python Django</a:t>
            </a:r>
            <a:endParaRPr dirty="0"/>
          </a:p>
        </p:txBody>
      </p:sp>
      <p:pic>
        <p:nvPicPr>
          <p:cNvPr id="5" name="Imagen 4" descr="Logotipo&#10;&#10;Descripción generada automáticamente">
            <a:extLst>
              <a:ext uri="{FF2B5EF4-FFF2-40B4-BE49-F238E27FC236}">
                <a16:creationId xmlns:a16="http://schemas.microsoft.com/office/drawing/2014/main" id="{AE80463E-FE74-4E31-AE45-31A73C6630C7}"/>
              </a:ext>
            </a:extLst>
          </p:cNvPr>
          <p:cNvPicPr>
            <a:picLocks noChangeAspect="1"/>
          </p:cNvPicPr>
          <p:nvPr/>
        </p:nvPicPr>
        <p:blipFill>
          <a:blip r:embed="rId3" cstate="print"/>
          <a:stretch>
            <a:fillRect/>
          </a:stretch>
        </p:blipFill>
        <p:spPr>
          <a:xfrm>
            <a:off x="4791033" y="1095907"/>
            <a:ext cx="2913062" cy="1325443"/>
          </a:xfrm>
          <a:prstGeom prst="roundRect">
            <a:avLst>
              <a:gd name="adj" fmla="val 3876"/>
            </a:avLst>
          </a:prstGeom>
          <a:ln>
            <a:solidFill>
              <a:schemeClr val="accent1"/>
            </a:solidFill>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A18550-D49E-471D-AB83-36007C56CB09}"/>
              </a:ext>
            </a:extLst>
          </p:cNvPr>
          <p:cNvSpPr>
            <a:spLocks noGrp="1"/>
          </p:cNvSpPr>
          <p:nvPr>
            <p:ph type="title"/>
          </p:nvPr>
        </p:nvSpPr>
        <p:spPr>
          <a:xfrm>
            <a:off x="810000" y="447188"/>
            <a:ext cx="10571998" cy="970450"/>
          </a:xfrm>
        </p:spPr>
        <p:txBody>
          <a:bodyPr>
            <a:normAutofit/>
          </a:bodyPr>
          <a:lstStyle/>
          <a:p>
            <a:r>
              <a:rPr lang="es-ES" dirty="0"/>
              <a:t>¿Qué es Django?</a:t>
            </a:r>
          </a:p>
        </p:txBody>
      </p:sp>
      <p:pic>
        <p:nvPicPr>
          <p:cNvPr id="5" name="Imagen 4" descr="Logotipo&#10;&#10;Descripción generada automáticamente">
            <a:extLst>
              <a:ext uri="{FF2B5EF4-FFF2-40B4-BE49-F238E27FC236}">
                <a16:creationId xmlns:a16="http://schemas.microsoft.com/office/drawing/2014/main" id="{AE80463E-FE74-4E31-AE45-31A73C6630C7}"/>
              </a:ext>
            </a:extLst>
          </p:cNvPr>
          <p:cNvPicPr>
            <a:picLocks noChangeAspect="1"/>
          </p:cNvPicPr>
          <p:nvPr/>
        </p:nvPicPr>
        <p:blipFill>
          <a:blip r:embed="rId2" cstate="print"/>
          <a:stretch>
            <a:fillRect/>
          </a:stretch>
        </p:blipFill>
        <p:spPr>
          <a:xfrm>
            <a:off x="960438" y="3608447"/>
            <a:ext cx="2913062" cy="1325443"/>
          </a:xfrm>
          <a:prstGeom prst="roundRect">
            <a:avLst>
              <a:gd name="adj" fmla="val 3876"/>
            </a:avLst>
          </a:prstGeom>
          <a:ln>
            <a:solidFill>
              <a:schemeClr val="accent1"/>
            </a:solidFill>
          </a:ln>
          <a:effectLst/>
        </p:spPr>
      </p:pic>
      <p:sp>
        <p:nvSpPr>
          <p:cNvPr id="3" name="Marcador de contenido 2">
            <a:extLst>
              <a:ext uri="{FF2B5EF4-FFF2-40B4-BE49-F238E27FC236}">
                <a16:creationId xmlns:a16="http://schemas.microsoft.com/office/drawing/2014/main" id="{FE80FFDC-39B6-44E9-B759-9529527A0BDE}"/>
              </a:ext>
            </a:extLst>
          </p:cNvPr>
          <p:cNvSpPr>
            <a:spLocks noGrp="1"/>
          </p:cNvSpPr>
          <p:nvPr>
            <p:ph idx="1"/>
          </p:nvPr>
        </p:nvSpPr>
        <p:spPr>
          <a:xfrm>
            <a:off x="4330699" y="2413000"/>
            <a:ext cx="7052733" cy="3632200"/>
          </a:xfrm>
        </p:spPr>
        <p:txBody>
          <a:bodyPr>
            <a:normAutofit/>
          </a:bodyPr>
          <a:lstStyle/>
          <a:p>
            <a:pPr>
              <a:lnSpc>
                <a:spcPct val="90000"/>
              </a:lnSpc>
            </a:pPr>
            <a:r>
              <a:rPr lang="es-ES" sz="1500" dirty="0"/>
              <a:t>Django es un framework de desarrollo Web gratuito y de código abierto escrito en Python</a:t>
            </a:r>
          </a:p>
          <a:p>
            <a:pPr>
              <a:lnSpc>
                <a:spcPct val="90000"/>
              </a:lnSpc>
            </a:pPr>
            <a:r>
              <a:rPr lang="es-ES" sz="1500" dirty="0"/>
              <a:t>La principal meta de Django es facilitar la creación de paginas web orientadas a acceso de bases de datos. </a:t>
            </a:r>
          </a:p>
          <a:p>
            <a:pPr>
              <a:lnSpc>
                <a:spcPct val="90000"/>
              </a:lnSpc>
            </a:pPr>
            <a:r>
              <a:rPr lang="es-ES" sz="1500" dirty="0"/>
              <a:t>Algunos sitios que usan Django: Instagram, The Washington Times, Mozilla</a:t>
            </a:r>
          </a:p>
        </p:txBody>
      </p:sp>
    </p:spTree>
    <p:extLst>
      <p:ext uri="{BB962C8B-B14F-4D97-AF65-F5344CB8AC3E}">
        <p14:creationId xmlns:p14="http://schemas.microsoft.com/office/powerpoint/2010/main" val="1957573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Instalación</a:t>
            </a:r>
            <a:endParaRPr dirty="0"/>
          </a:p>
        </p:txBody>
      </p:sp>
      <p:sp>
        <p:nvSpPr>
          <p:cNvPr id="105" name="Google Shape;105;p19"/>
          <p:cNvSpPr txBox="1">
            <a:spLocks noGrp="1"/>
          </p:cNvSpPr>
          <p:nvPr>
            <p:ph type="body" idx="1"/>
          </p:nvPr>
        </p:nvSpPr>
        <p:spPr>
          <a:xfrm>
            <a:off x="415600" y="2155667"/>
            <a:ext cx="5333200" cy="4555200"/>
          </a:xfrm>
          <a:prstGeom prst="rect">
            <a:avLst/>
          </a:prstGeom>
        </p:spPr>
        <p:txBody>
          <a:bodyPr spcFirstLastPara="1" wrap="square" lIns="121897" tIns="121897" rIns="121897" bIns="121897" anchor="t" anchorCtr="0">
            <a:normAutofit/>
          </a:bodyPr>
          <a:lstStyle/>
          <a:p>
            <a:pPr>
              <a:buChar char="-"/>
            </a:pPr>
            <a:r>
              <a:rPr lang="es" dirty="0"/>
              <a:t>Instalación del framework:</a:t>
            </a:r>
            <a:endParaRPr dirty="0"/>
          </a:p>
          <a:p>
            <a:pPr indent="0">
              <a:spcBef>
                <a:spcPts val="1600"/>
              </a:spcBef>
              <a:buNone/>
            </a:pPr>
            <a:r>
              <a:rPr lang="es" dirty="0"/>
              <a:t>	     </a:t>
            </a:r>
            <a:r>
              <a:rPr lang="es" b="1" u="sng" dirty="0"/>
              <a:t>pip install django</a:t>
            </a:r>
            <a:endParaRPr dirty="0"/>
          </a:p>
          <a:p>
            <a:pPr>
              <a:spcBef>
                <a:spcPts val="1600"/>
              </a:spcBef>
              <a:buChar char="-"/>
            </a:pPr>
            <a:r>
              <a:rPr lang="es" dirty="0"/>
              <a:t>Crear un proyecto:</a:t>
            </a:r>
            <a:endParaRPr dirty="0"/>
          </a:p>
          <a:p>
            <a:pPr marL="1219170" indent="0">
              <a:spcBef>
                <a:spcPts val="1600"/>
              </a:spcBef>
              <a:buNone/>
            </a:pPr>
            <a:r>
              <a:rPr lang="es" b="1" u="sng" dirty="0"/>
              <a:t>django-admin startproject prueba</a:t>
            </a:r>
            <a:endParaRPr b="1" u="sng" dirty="0"/>
          </a:p>
          <a:p>
            <a:pPr>
              <a:spcBef>
                <a:spcPts val="1600"/>
              </a:spcBef>
              <a:buChar char="-"/>
            </a:pPr>
            <a:r>
              <a:rPr lang="es" dirty="0"/>
              <a:t>Crear una app en el proyecto:</a:t>
            </a:r>
            <a:endParaRPr dirty="0"/>
          </a:p>
          <a:p>
            <a:pPr marL="1219170" indent="0">
              <a:spcBef>
                <a:spcPts val="1600"/>
              </a:spcBef>
              <a:buNone/>
            </a:pPr>
            <a:r>
              <a:rPr lang="es" b="1" u="sng" dirty="0"/>
              <a:t>python manage.py startapp app</a:t>
            </a:r>
            <a:endParaRPr b="1" u="sng" dirty="0"/>
          </a:p>
          <a:p>
            <a:pPr>
              <a:spcBef>
                <a:spcPts val="1600"/>
              </a:spcBef>
              <a:buChar char="-"/>
            </a:pPr>
            <a:r>
              <a:rPr lang="es" dirty="0"/>
              <a:t>Ejecutar el servidor (</a:t>
            </a:r>
            <a:r>
              <a:rPr lang="es" b="1" dirty="0"/>
              <a:t>modo debug</a:t>
            </a:r>
            <a:r>
              <a:rPr lang="es" dirty="0"/>
              <a:t>):</a:t>
            </a:r>
            <a:endParaRPr dirty="0"/>
          </a:p>
          <a:p>
            <a:pPr marL="1219170" indent="0">
              <a:spcBef>
                <a:spcPts val="1600"/>
              </a:spcBef>
              <a:spcAft>
                <a:spcPts val="1600"/>
              </a:spcAft>
              <a:buNone/>
            </a:pPr>
            <a:r>
              <a:rPr lang="es" b="1" u="sng" dirty="0"/>
              <a:t>python manage.py runserver</a:t>
            </a:r>
            <a:endParaRPr b="1" u="sng" dirty="0"/>
          </a:p>
        </p:txBody>
      </p:sp>
      <p:pic>
        <p:nvPicPr>
          <p:cNvPr id="108" name="Google Shape;108;p19"/>
          <p:cNvPicPr preferRelativeResize="0"/>
          <p:nvPr/>
        </p:nvPicPr>
        <p:blipFill>
          <a:blip r:embed="rId3" cstate="print">
            <a:alphaModFix/>
          </a:blip>
          <a:stretch>
            <a:fillRect/>
          </a:stretch>
        </p:blipFill>
        <p:spPr>
          <a:xfrm>
            <a:off x="2451485" y="1469280"/>
            <a:ext cx="1261433" cy="5740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DJango: estructura del proyecto</a:t>
            </a:r>
            <a:endParaRPr dirty="0"/>
          </a:p>
          <a:p>
            <a:endParaRPr dirty="0"/>
          </a:p>
        </p:txBody>
      </p:sp>
      <p:sp>
        <p:nvSpPr>
          <p:cNvPr id="121" name="Google Shape;121;p21"/>
          <p:cNvSpPr txBox="1">
            <a:spLocks noGrp="1"/>
          </p:cNvSpPr>
          <p:nvPr>
            <p:ph type="body" idx="1"/>
          </p:nvPr>
        </p:nvSpPr>
        <p:spPr>
          <a:xfrm>
            <a:off x="415600" y="1536633"/>
            <a:ext cx="7709600" cy="4555200"/>
          </a:xfrm>
          <a:prstGeom prst="rect">
            <a:avLst/>
          </a:prstGeom>
        </p:spPr>
        <p:txBody>
          <a:bodyPr spcFirstLastPara="1" wrap="square" lIns="121897" tIns="121897" rIns="121897" bIns="121897" anchor="t" anchorCtr="0">
            <a:normAutofit/>
          </a:bodyPr>
          <a:lstStyle/>
          <a:p>
            <a:pPr>
              <a:buChar char="-"/>
            </a:pPr>
            <a:r>
              <a:rPr lang="es" b="1" dirty="0"/>
              <a:t>django_test</a:t>
            </a:r>
            <a:r>
              <a:rPr lang="es" dirty="0"/>
              <a:t>: configuraciones del proyecto como bbdd, rutas, autenticación, librerías…Ficheros asgi y wsgi</a:t>
            </a:r>
            <a:endParaRPr dirty="0"/>
          </a:p>
          <a:p>
            <a:pPr>
              <a:buChar char="-"/>
            </a:pPr>
            <a:r>
              <a:rPr lang="es" b="1" dirty="0"/>
              <a:t>app</a:t>
            </a:r>
            <a:r>
              <a:rPr lang="es" dirty="0"/>
              <a:t>: contiene los ficheros con los modelos (models), controladores (views) y vistas (templates)</a:t>
            </a:r>
            <a:endParaRPr dirty="0"/>
          </a:p>
          <a:p>
            <a:pPr>
              <a:buChar char="-"/>
            </a:pPr>
            <a:r>
              <a:rPr lang="es" b="1" dirty="0"/>
              <a:t>static</a:t>
            </a:r>
            <a:r>
              <a:rPr lang="es" dirty="0"/>
              <a:t>: contiene los ficheros estáticos y públicos (se puede cambiar el nombre)</a:t>
            </a:r>
            <a:endParaRPr dirty="0"/>
          </a:p>
          <a:p>
            <a:pPr>
              <a:buChar char="-"/>
            </a:pPr>
            <a:r>
              <a:rPr lang="es" dirty="0"/>
              <a:t>manage.py: utilidad para la línea de comandos </a:t>
            </a:r>
            <a:endParaRPr dirty="0"/>
          </a:p>
        </p:txBody>
      </p:sp>
      <p:pic>
        <p:nvPicPr>
          <p:cNvPr id="122" name="Google Shape;122;p21"/>
          <p:cNvPicPr preferRelativeResize="0"/>
          <p:nvPr/>
        </p:nvPicPr>
        <p:blipFill>
          <a:blip r:embed="rId3" cstate="print">
            <a:alphaModFix/>
          </a:blip>
          <a:stretch>
            <a:fillRect/>
          </a:stretch>
        </p:blipFill>
        <p:spPr>
          <a:xfrm>
            <a:off x="8436285" y="1242467"/>
            <a:ext cx="3340100" cy="5143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Servidores</a:t>
            </a:r>
            <a:endParaRPr dirty="0"/>
          </a:p>
        </p:txBody>
      </p:sp>
      <p:sp>
        <p:nvSpPr>
          <p:cNvPr id="128" name="Google Shape;128;p22"/>
          <p:cNvSpPr txBox="1">
            <a:spLocks noGrp="1"/>
          </p:cNvSpPr>
          <p:nvPr>
            <p:ph type="body" idx="1"/>
          </p:nvPr>
        </p:nvSpPr>
        <p:spPr>
          <a:xfrm>
            <a:off x="415600" y="1995367"/>
            <a:ext cx="9440800" cy="4253200"/>
          </a:xfrm>
          <a:prstGeom prst="rect">
            <a:avLst/>
          </a:prstGeom>
        </p:spPr>
        <p:txBody>
          <a:bodyPr spcFirstLastPara="1" wrap="square" lIns="121897" tIns="121897" rIns="121897" bIns="121897" anchor="t" anchorCtr="0">
            <a:normAutofit/>
          </a:bodyPr>
          <a:lstStyle/>
          <a:p>
            <a:pPr>
              <a:buChar char="-"/>
            </a:pPr>
            <a:r>
              <a:rPr lang="es" dirty="0"/>
              <a:t>Ambos vienen con servidores de debug</a:t>
            </a:r>
            <a:endParaRPr dirty="0"/>
          </a:p>
          <a:p>
            <a:pPr>
              <a:buChar char="-"/>
            </a:pPr>
            <a:r>
              <a:rPr lang="es" dirty="0"/>
              <a:t>Se ejecutan en los puertos 8000 y 3000</a:t>
            </a:r>
            <a:endParaRPr dirty="0"/>
          </a:p>
          <a:p>
            <a:pPr>
              <a:buChar char="-"/>
            </a:pPr>
            <a:r>
              <a:rPr lang="es" dirty="0"/>
              <a:t>Tienen utilidades para debuguear</a:t>
            </a:r>
            <a:endParaRPr dirty="0"/>
          </a:p>
          <a:p>
            <a:pPr>
              <a:buChar char="-"/>
            </a:pPr>
            <a:r>
              <a:rPr lang="es" dirty="0"/>
              <a:t>Para producción es conveniente usar un servidor tipo Apache</a:t>
            </a:r>
            <a:endParaRPr dirty="0"/>
          </a:p>
          <a:p>
            <a:pPr>
              <a:buChar char="-"/>
            </a:pPr>
            <a:r>
              <a:rPr lang="es" dirty="0"/>
              <a:t>Django usa WSGI o ASGI y Rails utiliza Rack</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Modelo - Vista - Controlador</a:t>
            </a:r>
            <a:endParaRPr dirty="0"/>
          </a:p>
        </p:txBody>
      </p:sp>
      <p:sp>
        <p:nvSpPr>
          <p:cNvPr id="134" name="Google Shape;134;p23"/>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pPr>
              <a:buChar char="-"/>
            </a:pPr>
            <a:r>
              <a:rPr lang="es" b="1" dirty="0"/>
              <a:t>Modelos</a:t>
            </a:r>
            <a:r>
              <a:rPr lang="es" dirty="0"/>
              <a:t>: representación de los datos.</a:t>
            </a:r>
            <a:endParaRPr dirty="0"/>
          </a:p>
          <a:p>
            <a:pPr>
              <a:buChar char="-"/>
            </a:pPr>
            <a:r>
              <a:rPr lang="es" b="1" dirty="0"/>
              <a:t>Vista</a:t>
            </a:r>
            <a:r>
              <a:rPr lang="es" dirty="0"/>
              <a:t>: o interfaz, parte visual.</a:t>
            </a:r>
            <a:endParaRPr dirty="0"/>
          </a:p>
          <a:p>
            <a:pPr>
              <a:buChar char="-"/>
            </a:pPr>
            <a:r>
              <a:rPr lang="es" b="1" dirty="0"/>
              <a:t>Controlador</a:t>
            </a:r>
            <a:r>
              <a:rPr lang="es" dirty="0"/>
              <a:t>: lógica de la app</a:t>
            </a:r>
            <a:endParaRPr dirty="0"/>
          </a:p>
          <a:p>
            <a:pPr>
              <a:buChar char="-"/>
            </a:pPr>
            <a:r>
              <a:rPr lang="es" dirty="0"/>
              <a:t>Separa funcionalidades</a:t>
            </a:r>
            <a:endParaRPr dirty="0"/>
          </a:p>
          <a:p>
            <a:pPr indent="0">
              <a:spcBef>
                <a:spcPts val="1600"/>
              </a:spcBef>
              <a:buNone/>
            </a:pPr>
            <a:endParaRPr dirty="0"/>
          </a:p>
          <a:p>
            <a:pPr>
              <a:buChar char="-"/>
            </a:pPr>
            <a:r>
              <a:rPr lang="es" dirty="0"/>
              <a:t>Django implementa el MVC de una forma especial: MTV</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12376C-63F4-43B4-BF5A-01A305C03AC6}"/>
              </a:ext>
            </a:extLst>
          </p:cNvPr>
          <p:cNvSpPr>
            <a:spLocks noGrp="1"/>
          </p:cNvSpPr>
          <p:nvPr>
            <p:ph type="title"/>
          </p:nvPr>
        </p:nvSpPr>
        <p:spPr>
          <a:xfrm>
            <a:off x="671384" y="304800"/>
            <a:ext cx="9144000" cy="1263649"/>
          </a:xfrm>
        </p:spPr>
        <p:txBody>
          <a:bodyPr/>
          <a:lstStyle/>
          <a:p>
            <a:pPr algn="ctr"/>
            <a:r>
              <a:rPr lang="es-ES" dirty="0"/>
              <a:t>DJANGO</a:t>
            </a:r>
          </a:p>
        </p:txBody>
      </p:sp>
      <p:sp>
        <p:nvSpPr>
          <p:cNvPr id="3" name="Marcador de contenido 2">
            <a:extLst>
              <a:ext uri="{FF2B5EF4-FFF2-40B4-BE49-F238E27FC236}">
                <a16:creationId xmlns:a16="http://schemas.microsoft.com/office/drawing/2014/main" id="{5098C0BB-C863-4C4E-913A-2D88187707D8}"/>
              </a:ext>
            </a:extLst>
          </p:cNvPr>
          <p:cNvSpPr>
            <a:spLocks noGrp="1"/>
          </p:cNvSpPr>
          <p:nvPr>
            <p:ph idx="1"/>
          </p:nvPr>
        </p:nvSpPr>
        <p:spPr>
          <a:xfrm>
            <a:off x="850557" y="1560354"/>
            <a:ext cx="10131425" cy="3649133"/>
          </a:xfrm>
        </p:spPr>
        <p:txBody>
          <a:bodyPr/>
          <a:lstStyle/>
          <a:p>
            <a:r>
              <a:rPr lang="es-ES" dirty="0"/>
              <a:t>FRAMEWORK DE DESARROLLO WEB DE CODIGO ABIERTO</a:t>
            </a:r>
          </a:p>
          <a:p>
            <a:r>
              <a:rPr lang="es-ES" dirty="0"/>
              <a:t>PYTHON</a:t>
            </a:r>
          </a:p>
          <a:p>
            <a:r>
              <a:rPr lang="es-ES" dirty="0"/>
              <a:t>“MODELO-VISTA-CONTROLADOR” (MVT)</a:t>
            </a:r>
          </a:p>
          <a:p>
            <a:r>
              <a:rPr lang="es-ES" dirty="0"/>
              <a:t>2005</a:t>
            </a:r>
          </a:p>
          <a:p>
            <a:r>
              <a:rPr lang="es-ES" dirty="0"/>
              <a:t>SITIOS WEB COMPLEJOS</a:t>
            </a:r>
          </a:p>
          <a:p>
            <a:r>
              <a:rPr lang="es-ES" dirty="0"/>
              <a:t>PRINCIPIO NO TE REPITAS</a:t>
            </a:r>
          </a:p>
        </p:txBody>
      </p:sp>
    </p:spTree>
    <p:extLst>
      <p:ext uri="{BB962C8B-B14F-4D97-AF65-F5344CB8AC3E}">
        <p14:creationId xmlns:p14="http://schemas.microsoft.com/office/powerpoint/2010/main" val="28829303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p:txBody>
          <a:bodyPr/>
          <a:lstStyle/>
          <a:p>
            <a:pPr algn="ctr"/>
            <a:r>
              <a:rPr lang="es-ES" dirty="0"/>
              <a:t>MODELO VISTA CONTROLADOR</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2534684" y="2906126"/>
            <a:ext cx="6716408" cy="2954655"/>
          </a:xfrm>
          <a:prstGeom prst="rect">
            <a:avLst/>
          </a:prstGeom>
          <a:noFill/>
        </p:spPr>
        <p:txBody>
          <a:bodyPr wrap="square" rtlCol="0">
            <a:spAutoFit/>
          </a:bodyPr>
          <a:lstStyle/>
          <a:p>
            <a:r>
              <a:rPr lang="es-ES" sz="2400" dirty="0"/>
              <a:t>			</a:t>
            </a:r>
            <a:r>
              <a:rPr lang="es-ES" sz="2400" b="1" u="sng" dirty="0"/>
              <a:t>DJANGO</a:t>
            </a:r>
          </a:p>
          <a:p>
            <a:endParaRPr lang="es-ES" dirty="0"/>
          </a:p>
          <a:p>
            <a:r>
              <a:rPr lang="es-ES" dirty="0"/>
              <a:t>-CONTROLADOR LLAMADO VISTA</a:t>
            </a:r>
          </a:p>
          <a:p>
            <a:r>
              <a:rPr lang="es-ES" dirty="0"/>
              <a:t>-VISTA LLAMADO TEMPLATE</a:t>
            </a:r>
          </a:p>
          <a:p>
            <a:r>
              <a:rPr lang="es-ES" dirty="0"/>
              <a:t>-SE ASEMEJA A LA IMPLEMENTACION DEL MVC</a:t>
            </a:r>
          </a:p>
          <a:p>
            <a:r>
              <a:rPr lang="es-ES" dirty="0"/>
              <a:t>-DJANGO BUSCA UNA HERRAMIENTA QUE FUNCIONE LO MEJOR POSIBLE</a:t>
            </a:r>
          </a:p>
          <a:p>
            <a:r>
              <a:rPr lang="es-ES" dirty="0"/>
              <a:t>-MVC REPRESENTADO POR EL PROPIO FRAMEWORK</a:t>
            </a:r>
          </a:p>
          <a:p>
            <a:r>
              <a:rPr lang="es-ES" dirty="0"/>
              <a:t>-MTV</a:t>
            </a:r>
          </a:p>
          <a:p>
            <a:endParaRPr lang="es-ES" dirty="0"/>
          </a:p>
        </p:txBody>
      </p:sp>
    </p:spTree>
    <p:extLst>
      <p:ext uri="{BB962C8B-B14F-4D97-AF65-F5344CB8AC3E}">
        <p14:creationId xmlns:p14="http://schemas.microsoft.com/office/powerpoint/2010/main" val="4165236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762000" y="395416"/>
            <a:ext cx="9144000" cy="1263649"/>
          </a:xfrm>
        </p:spPr>
        <p:txBody>
          <a:bodyPr/>
          <a:lstStyle/>
          <a:p>
            <a:pPr algn="ctr"/>
            <a:r>
              <a:rPr lang="es-ES" dirty="0"/>
              <a:t>servidores</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2911264" y="2072496"/>
            <a:ext cx="5047989" cy="2462213"/>
          </a:xfrm>
          <a:prstGeom prst="rect">
            <a:avLst/>
          </a:prstGeom>
          <a:noFill/>
        </p:spPr>
        <p:txBody>
          <a:bodyPr wrap="square" rtlCol="0">
            <a:spAutoFit/>
          </a:bodyPr>
          <a:lstStyle/>
          <a:p>
            <a:r>
              <a:rPr lang="es-ES" sz="2800" dirty="0"/>
              <a:t>			</a:t>
            </a:r>
            <a:r>
              <a:rPr lang="es-ES" sz="2800" b="1" u="sng" dirty="0"/>
              <a:t>DJANGO</a:t>
            </a:r>
          </a:p>
          <a:p>
            <a:endParaRPr lang="es-ES" dirty="0"/>
          </a:p>
          <a:p>
            <a:r>
              <a:rPr lang="es-ES" dirty="0"/>
              <a:t>Servidor de desarrollo </a:t>
            </a:r>
            <a:r>
              <a:rPr lang="es-ES" dirty="0" err="1"/>
              <a:t>built</a:t>
            </a:r>
            <a:r>
              <a:rPr lang="es-ES" dirty="0"/>
              <a:t>-in</a:t>
            </a:r>
          </a:p>
          <a:p>
            <a:endParaRPr lang="es-ES" dirty="0"/>
          </a:p>
          <a:p>
            <a:r>
              <a:rPr lang="es-ES" dirty="0"/>
              <a:t>WSGI </a:t>
            </a:r>
          </a:p>
          <a:p>
            <a:endParaRPr lang="es-ES" dirty="0"/>
          </a:p>
          <a:p>
            <a:r>
              <a:rPr lang="es-ES" dirty="0" err="1"/>
              <a:t>python</a:t>
            </a:r>
            <a:r>
              <a:rPr lang="es-ES" dirty="0"/>
              <a:t> .\managepy runserver</a:t>
            </a:r>
          </a:p>
          <a:p>
            <a:endParaRPr lang="es-ES" dirty="0"/>
          </a:p>
        </p:txBody>
      </p:sp>
    </p:spTree>
    <p:extLst>
      <p:ext uri="{BB962C8B-B14F-4D97-AF65-F5344CB8AC3E}">
        <p14:creationId xmlns:p14="http://schemas.microsoft.com/office/powerpoint/2010/main" val="41008960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633413" y="103762"/>
            <a:ext cx="10925174" cy="1456267"/>
          </a:xfrm>
        </p:spPr>
        <p:txBody>
          <a:bodyPr/>
          <a:lstStyle/>
          <a:p>
            <a:pPr algn="ctr"/>
            <a:r>
              <a:rPr lang="es-ES" dirty="0"/>
              <a:t>instalación</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2811171" y="5040877"/>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3062526" y="1116227"/>
            <a:ext cx="5047989" cy="2123658"/>
          </a:xfrm>
          <a:prstGeom prst="rect">
            <a:avLst/>
          </a:prstGeom>
          <a:noFill/>
        </p:spPr>
        <p:txBody>
          <a:bodyPr wrap="square" rtlCol="0">
            <a:spAutoFit/>
          </a:bodyPr>
          <a:lstStyle/>
          <a:p>
            <a:r>
              <a:rPr lang="es-ES" sz="2400" dirty="0"/>
              <a:t>			</a:t>
            </a:r>
            <a:r>
              <a:rPr lang="es-ES" sz="2400" b="1" u="sng" dirty="0"/>
              <a:t>DJANGO</a:t>
            </a:r>
          </a:p>
          <a:p>
            <a:endParaRPr lang="es-ES" dirty="0"/>
          </a:p>
          <a:p>
            <a:r>
              <a:rPr lang="es-ES" dirty="0"/>
              <a:t>-pip </a:t>
            </a:r>
            <a:r>
              <a:rPr lang="es-ES" dirty="0" err="1"/>
              <a:t>install</a:t>
            </a:r>
            <a:r>
              <a:rPr lang="es-ES" dirty="0"/>
              <a:t> </a:t>
            </a:r>
            <a:r>
              <a:rPr lang="es-ES" dirty="0" err="1"/>
              <a:t>django</a:t>
            </a:r>
            <a:endParaRPr lang="es-ES" dirty="0"/>
          </a:p>
          <a:p>
            <a:r>
              <a:rPr lang="es-ES" dirty="0"/>
              <a:t>-django-admin startproject _nombre_</a:t>
            </a:r>
          </a:p>
          <a:p>
            <a:r>
              <a:rPr lang="es-ES" dirty="0"/>
              <a:t>-BBDD-&gt; </a:t>
            </a:r>
            <a:r>
              <a:rPr lang="es-ES" dirty="0" err="1"/>
              <a:t>python</a:t>
            </a:r>
            <a:r>
              <a:rPr lang="es-ES" dirty="0"/>
              <a:t> manage.py migrate</a:t>
            </a:r>
          </a:p>
          <a:p>
            <a:r>
              <a:rPr lang="es-ES" dirty="0"/>
              <a:t>-python manage.py runserver </a:t>
            </a:r>
          </a:p>
          <a:p>
            <a:endParaRPr lang="es-ES" dirty="0"/>
          </a:p>
        </p:txBody>
      </p:sp>
      <p:pic>
        <p:nvPicPr>
          <p:cNvPr id="9" name="Imagen 8">
            <a:extLst>
              <a:ext uri="{FF2B5EF4-FFF2-40B4-BE49-F238E27FC236}">
                <a16:creationId xmlns:a16="http://schemas.microsoft.com/office/drawing/2014/main" id="{38C88BCB-627E-47BD-A86B-CC40EA1145DD}"/>
              </a:ext>
            </a:extLst>
          </p:cNvPr>
          <p:cNvPicPr>
            <a:picLocks noChangeAspect="1"/>
          </p:cNvPicPr>
          <p:nvPr/>
        </p:nvPicPr>
        <p:blipFill>
          <a:blip r:embed="rId2" cstate="print"/>
          <a:stretch>
            <a:fillRect/>
          </a:stretch>
        </p:blipFill>
        <p:spPr>
          <a:xfrm>
            <a:off x="2368992" y="3007276"/>
            <a:ext cx="6440261" cy="3451340"/>
          </a:xfrm>
          <a:prstGeom prst="rect">
            <a:avLst/>
          </a:prstGeom>
        </p:spPr>
      </p:pic>
    </p:spTree>
    <p:extLst>
      <p:ext uri="{BB962C8B-B14F-4D97-AF65-F5344CB8AC3E}">
        <p14:creationId xmlns:p14="http://schemas.microsoft.com/office/powerpoint/2010/main" val="427282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682742" y="0"/>
            <a:ext cx="10131425" cy="1456267"/>
          </a:xfrm>
        </p:spPr>
        <p:txBody>
          <a:bodyPr/>
          <a:lstStyle/>
          <a:p>
            <a:pPr algn="ctr"/>
            <a:r>
              <a:rPr lang="es-ES" dirty="0"/>
              <a:t>ESTRUCTURA djanGO</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2325163"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1987303" y="1127148"/>
            <a:ext cx="8326502" cy="4524315"/>
          </a:xfrm>
          <a:prstGeom prst="rect">
            <a:avLst/>
          </a:prstGeom>
          <a:noFill/>
        </p:spPr>
        <p:txBody>
          <a:bodyPr wrap="square" rtlCol="0">
            <a:spAutoFit/>
          </a:bodyPr>
          <a:lstStyle/>
          <a:p>
            <a:pPr algn="ctr"/>
            <a:r>
              <a:rPr lang="es-ES" sz="2400" b="1" u="sng" dirty="0"/>
              <a:t>DJANGO</a:t>
            </a:r>
          </a:p>
          <a:p>
            <a:endParaRPr lang="es-ES" sz="1400" dirty="0"/>
          </a:p>
          <a:p>
            <a:r>
              <a:rPr lang="es-ES" sz="1400" dirty="0"/>
              <a:t>django-admin startproject  _nombre_carpeta_</a:t>
            </a:r>
          </a:p>
          <a:p>
            <a:r>
              <a:rPr lang="es-ES" sz="1400" dirty="0"/>
              <a:t>NOS CREA UNA ESTRUCTURA DE CARPETAS</a:t>
            </a:r>
          </a:p>
          <a:p>
            <a:endParaRPr lang="es-ES" sz="1400" dirty="0"/>
          </a:p>
          <a:p>
            <a:endParaRPr lang="es-ES" sz="1400" dirty="0"/>
          </a:p>
          <a:p>
            <a:endParaRPr lang="es-ES" sz="1400" dirty="0"/>
          </a:p>
          <a:p>
            <a:endParaRPr lang="es-ES" sz="1400" dirty="0"/>
          </a:p>
          <a:p>
            <a:endParaRPr lang="es-ES" sz="1400" dirty="0"/>
          </a:p>
          <a:p>
            <a:endParaRPr lang="es-ES" sz="1400" dirty="0"/>
          </a:p>
          <a:p>
            <a:r>
              <a:rPr lang="es-ES" sz="1400" dirty="0"/>
              <a:t>SETTING.PY -&gt; AJUSTES DEL SITIO, FICHEROS ESTATICOS, CONFIGURACION DE LA BBDD</a:t>
            </a:r>
          </a:p>
          <a:p>
            <a:r>
              <a:rPr lang="es-ES" sz="1400" dirty="0"/>
              <a:t>URLS.PY -&gt; MAPEOS URL-VISTAS</a:t>
            </a:r>
          </a:p>
          <a:p>
            <a:r>
              <a:rPr lang="es-ES" sz="1400" dirty="0"/>
              <a:t>WSGI.PY -&gt; COMUNICARSE CON EL SERVIDOR WEB</a:t>
            </a:r>
          </a:p>
          <a:p>
            <a:endParaRPr lang="es-ES" sz="1400" dirty="0"/>
          </a:p>
          <a:p>
            <a:r>
              <a:rPr lang="es-ES" sz="1400" dirty="0"/>
              <a:t>Python 3 manage.py startapp catalog</a:t>
            </a:r>
          </a:p>
          <a:p>
            <a:endParaRPr lang="es-ES" sz="1400" dirty="0"/>
          </a:p>
          <a:p>
            <a:endParaRPr lang="es-ES" dirty="0"/>
          </a:p>
          <a:p>
            <a:endParaRPr lang="es-ES" dirty="0"/>
          </a:p>
          <a:p>
            <a:endParaRPr lang="es-ES" dirty="0"/>
          </a:p>
        </p:txBody>
      </p:sp>
      <p:pic>
        <p:nvPicPr>
          <p:cNvPr id="7" name="Imagen 6">
            <a:extLst>
              <a:ext uri="{FF2B5EF4-FFF2-40B4-BE49-F238E27FC236}">
                <a16:creationId xmlns:a16="http://schemas.microsoft.com/office/drawing/2014/main" id="{A69C31E1-37DB-496D-9098-1A6A77AA1226}"/>
              </a:ext>
            </a:extLst>
          </p:cNvPr>
          <p:cNvPicPr>
            <a:picLocks noChangeAspect="1"/>
          </p:cNvPicPr>
          <p:nvPr/>
        </p:nvPicPr>
        <p:blipFill>
          <a:blip r:embed="rId2" cstate="print"/>
          <a:stretch>
            <a:fillRect/>
          </a:stretch>
        </p:blipFill>
        <p:spPr>
          <a:xfrm>
            <a:off x="2192568" y="2200091"/>
            <a:ext cx="2037944" cy="1166649"/>
          </a:xfrm>
          <a:prstGeom prst="rect">
            <a:avLst/>
          </a:prstGeom>
        </p:spPr>
      </p:pic>
      <p:pic>
        <p:nvPicPr>
          <p:cNvPr id="13" name="Imagen 12">
            <a:extLst>
              <a:ext uri="{FF2B5EF4-FFF2-40B4-BE49-F238E27FC236}">
                <a16:creationId xmlns:a16="http://schemas.microsoft.com/office/drawing/2014/main" id="{5856E9B5-8FFC-4EE7-B5AB-B98630CD988D}"/>
              </a:ext>
            </a:extLst>
          </p:cNvPr>
          <p:cNvPicPr>
            <a:picLocks noChangeAspect="1"/>
          </p:cNvPicPr>
          <p:nvPr/>
        </p:nvPicPr>
        <p:blipFill>
          <a:blip r:embed="rId3" cstate="print"/>
          <a:stretch>
            <a:fillRect/>
          </a:stretch>
        </p:blipFill>
        <p:spPr>
          <a:xfrm>
            <a:off x="3489370" y="4771233"/>
            <a:ext cx="1962148" cy="1969608"/>
          </a:xfrm>
          <a:prstGeom prst="rect">
            <a:avLst/>
          </a:prstGeom>
        </p:spPr>
      </p:pic>
    </p:spTree>
    <p:extLst>
      <p:ext uri="{BB962C8B-B14F-4D97-AF65-F5344CB8AC3E}">
        <p14:creationId xmlns:p14="http://schemas.microsoft.com/office/powerpoint/2010/main" val="2177124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4D8139-6DEE-4ABE-BFB5-42BA84A659F9}"/>
              </a:ext>
            </a:extLst>
          </p:cNvPr>
          <p:cNvSpPr>
            <a:spLocks noGrp="1"/>
          </p:cNvSpPr>
          <p:nvPr>
            <p:ph type="ctrTitle"/>
          </p:nvPr>
        </p:nvSpPr>
        <p:spPr/>
        <p:txBody>
          <a:bodyPr/>
          <a:lstStyle/>
          <a:p>
            <a:r>
              <a:rPr lang="es-ES" dirty="0"/>
              <a:t>Comparación de frameworks</a:t>
            </a:r>
          </a:p>
        </p:txBody>
      </p:sp>
      <p:sp>
        <p:nvSpPr>
          <p:cNvPr id="3" name="Subtítulo 2">
            <a:extLst>
              <a:ext uri="{FF2B5EF4-FFF2-40B4-BE49-F238E27FC236}">
                <a16:creationId xmlns:a16="http://schemas.microsoft.com/office/drawing/2014/main" id="{347EA46D-9DF9-4201-A37B-86CF4B45BE66}"/>
              </a:ext>
            </a:extLst>
          </p:cNvPr>
          <p:cNvSpPr>
            <a:spLocks noGrp="1"/>
          </p:cNvSpPr>
          <p:nvPr>
            <p:ph type="subTitle" idx="1"/>
          </p:nvPr>
        </p:nvSpPr>
        <p:spPr/>
        <p:txBody>
          <a:bodyPr/>
          <a:lstStyle/>
          <a:p>
            <a:r>
              <a:rPr lang="es-ES" dirty="0"/>
              <a:t>Python Django y PHP </a:t>
            </a:r>
            <a:r>
              <a:rPr lang="es-ES" dirty="0" err="1"/>
              <a:t>Laravel</a:t>
            </a:r>
            <a:endParaRPr lang="es-ES" dirty="0"/>
          </a:p>
        </p:txBody>
      </p:sp>
    </p:spTree>
    <p:extLst>
      <p:ext uri="{BB962C8B-B14F-4D97-AF65-F5344CB8AC3E}">
        <p14:creationId xmlns:p14="http://schemas.microsoft.com/office/powerpoint/2010/main" val="13181993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1098667" y="2151751"/>
            <a:ext cx="8803214" cy="2497200"/>
          </a:xfrm>
          <a:prstGeom prst="rect">
            <a:avLst/>
          </a:prstGeom>
        </p:spPr>
        <p:txBody>
          <a:bodyPr spcFirstLastPara="1" wrap="square" lIns="121897" tIns="121897" rIns="121897" bIns="121897" anchor="ctr" anchorCtr="0">
            <a:normAutofit/>
          </a:bodyPr>
          <a:lstStyle/>
          <a:p>
            <a:pPr algn="l">
              <a:spcBef>
                <a:spcPts val="0"/>
              </a:spcBef>
            </a:pPr>
            <a:r>
              <a:rPr lang="es" dirty="0"/>
              <a:t>Python DJANGO VS NodeJs EXPRESS</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alpha val="48000"/>
          </a:schemeClr>
        </a:solidFill>
        <a:effectLst/>
      </p:bgPr>
    </p:bg>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543767" y="323667"/>
            <a:ext cx="10916800" cy="1332400"/>
          </a:xfrm>
          <a:prstGeom prst="rect">
            <a:avLst/>
          </a:prstGeom>
        </p:spPr>
        <p:txBody>
          <a:bodyPr spcFirstLastPara="1" wrap="square" lIns="121897" tIns="121897" rIns="121897" bIns="121897" anchor="t" anchorCtr="0">
            <a:normAutofit fontScale="90000"/>
          </a:bodyPr>
          <a:lstStyle/>
          <a:p>
            <a:pPr marL="609585" indent="-304792" algn="ctr">
              <a:lnSpc>
                <a:spcPct val="160000"/>
              </a:lnSpc>
              <a:buClr>
                <a:srgbClr val="262626"/>
              </a:buClr>
              <a:buSzPct val="37500"/>
            </a:pPr>
            <a:r>
              <a:rPr lang="es" dirty="0"/>
              <a:t>Arquitectura y paradigma comunicación servidor aplicación</a:t>
            </a:r>
            <a:endParaRPr dirty="0"/>
          </a:p>
        </p:txBody>
      </p:sp>
      <p:pic>
        <p:nvPicPr>
          <p:cNvPr id="296" name="Google Shape;296;p16"/>
          <p:cNvPicPr preferRelativeResize="0"/>
          <p:nvPr/>
        </p:nvPicPr>
        <p:blipFill>
          <a:blip r:embed="rId3" cstate="print">
            <a:alphaModFix/>
          </a:blip>
          <a:stretch>
            <a:fillRect/>
          </a:stretch>
        </p:blipFill>
        <p:spPr>
          <a:xfrm>
            <a:off x="526796" y="3793513"/>
            <a:ext cx="5507793" cy="2401800"/>
          </a:xfrm>
          <a:prstGeom prst="rect">
            <a:avLst/>
          </a:prstGeom>
          <a:noFill/>
          <a:ln>
            <a:noFill/>
          </a:ln>
        </p:spPr>
      </p:pic>
      <p:pic>
        <p:nvPicPr>
          <p:cNvPr id="297" name="Google Shape;297;p16"/>
          <p:cNvPicPr preferRelativeResize="0"/>
          <p:nvPr/>
        </p:nvPicPr>
        <p:blipFill>
          <a:blip r:embed="rId4" cstate="print">
            <a:alphaModFix/>
          </a:blip>
          <a:stretch>
            <a:fillRect/>
          </a:stretch>
        </p:blipFill>
        <p:spPr>
          <a:xfrm>
            <a:off x="7799329" y="3660199"/>
            <a:ext cx="3653000" cy="3197801"/>
          </a:xfrm>
          <a:prstGeom prst="rect">
            <a:avLst/>
          </a:prstGeom>
          <a:noFill/>
          <a:ln>
            <a:noFill/>
          </a:ln>
        </p:spPr>
      </p:pic>
      <p:sp>
        <p:nvSpPr>
          <p:cNvPr id="298" name="Google Shape;298;p16"/>
          <p:cNvSpPr txBox="1"/>
          <p:nvPr/>
        </p:nvSpPr>
        <p:spPr>
          <a:xfrm>
            <a:off x="237633" y="1779000"/>
            <a:ext cx="4499124" cy="2068212"/>
          </a:xfrm>
          <a:prstGeom prst="rect">
            <a:avLst/>
          </a:prstGeom>
          <a:noFill/>
          <a:ln>
            <a:noFill/>
          </a:ln>
        </p:spPr>
        <p:txBody>
          <a:bodyPr spcFirstLastPara="1" wrap="square" lIns="121897" tIns="121897" rIns="121897" bIns="121897" anchor="t" anchorCtr="0">
            <a:spAutoFit/>
          </a:bodyPr>
          <a:lstStyle/>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Django </a:t>
            </a:r>
            <a:endParaRPr sz="3700" b="1" dirty="0">
              <a:solidFill>
                <a:schemeClr val="dk2"/>
              </a:solidFill>
              <a:latin typeface="Maven Pro"/>
              <a:ea typeface="Maven Pro"/>
              <a:cs typeface="Maven Pro"/>
              <a:sym typeface="Maven Pro"/>
            </a:endParaRPr>
          </a:p>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WSGI </a:t>
            </a:r>
            <a:endParaRPr dirty="0"/>
          </a:p>
        </p:txBody>
      </p:sp>
      <p:sp>
        <p:nvSpPr>
          <p:cNvPr id="299" name="Google Shape;299;p16"/>
          <p:cNvSpPr txBox="1"/>
          <p:nvPr/>
        </p:nvSpPr>
        <p:spPr>
          <a:xfrm>
            <a:off x="7212684" y="1779000"/>
            <a:ext cx="4000000" cy="1157193"/>
          </a:xfrm>
          <a:prstGeom prst="rect">
            <a:avLst/>
          </a:prstGeom>
          <a:noFill/>
          <a:ln>
            <a:noFill/>
          </a:ln>
        </p:spPr>
        <p:txBody>
          <a:bodyPr spcFirstLastPara="1" wrap="square" lIns="121897" tIns="121897" rIns="121897" bIns="121897" anchor="t" anchorCtr="0">
            <a:spAutoFit/>
          </a:bodyPr>
          <a:lstStyle/>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Express</a:t>
            </a:r>
            <a:endParaRPr dirty="0"/>
          </a:p>
        </p:txBody>
      </p:sp>
      <p:sp>
        <p:nvSpPr>
          <p:cNvPr id="300" name="Google Shape;300;p16"/>
          <p:cNvSpPr txBox="1"/>
          <p:nvPr/>
        </p:nvSpPr>
        <p:spPr>
          <a:xfrm>
            <a:off x="7212700" y="2476851"/>
            <a:ext cx="4000000" cy="1157193"/>
          </a:xfrm>
          <a:prstGeom prst="rect">
            <a:avLst/>
          </a:prstGeom>
          <a:noFill/>
          <a:ln>
            <a:noFill/>
          </a:ln>
        </p:spPr>
        <p:txBody>
          <a:bodyPr spcFirstLastPara="1" wrap="square" lIns="121897" tIns="121897" rIns="121897" bIns="121897" anchor="t" anchorCtr="0">
            <a:spAutoFit/>
          </a:bodyPr>
          <a:lstStyle/>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CGI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738400" y="798100"/>
            <a:ext cx="9374000" cy="1525200"/>
          </a:xfrm>
          <a:prstGeom prst="rect">
            <a:avLst/>
          </a:prstGeom>
        </p:spPr>
        <p:txBody>
          <a:bodyPr spcFirstLastPara="1" wrap="square" lIns="121897" tIns="121897" rIns="121897" bIns="121897" anchor="t" anchorCtr="0">
            <a:normAutofit fontScale="90000"/>
          </a:bodyPr>
          <a:lstStyle/>
          <a:p>
            <a:pPr marL="609585" indent="-304792">
              <a:lnSpc>
                <a:spcPct val="160000"/>
              </a:lnSpc>
              <a:buClr>
                <a:srgbClr val="262626"/>
              </a:buClr>
              <a:buSzPts val="1050"/>
            </a:pPr>
            <a:r>
              <a:rPr lang="es" dirty="0"/>
              <a:t>Estructura de la aplicación DJANGO </a:t>
            </a:r>
            <a:endParaRPr dirty="0"/>
          </a:p>
          <a:p>
            <a:pPr marL="609585" indent="-304792">
              <a:lnSpc>
                <a:spcPct val="160000"/>
              </a:lnSpc>
              <a:buClr>
                <a:srgbClr val="262626"/>
              </a:buClr>
              <a:buSzPts val="1050"/>
            </a:pPr>
            <a:endParaRPr sz="1400" dirty="0">
              <a:solidFill>
                <a:srgbClr val="262626"/>
              </a:solidFill>
              <a:highlight>
                <a:schemeClr val="lt1"/>
              </a:highlight>
              <a:latin typeface="Arial"/>
              <a:ea typeface="Arial"/>
              <a:cs typeface="Arial"/>
              <a:sym typeface="Arial"/>
            </a:endParaRPr>
          </a:p>
        </p:txBody>
      </p:sp>
      <p:sp>
        <p:nvSpPr>
          <p:cNvPr id="306" name="Google Shape;306;p17"/>
          <p:cNvSpPr txBox="1">
            <a:spLocks noGrp="1"/>
          </p:cNvSpPr>
          <p:nvPr>
            <p:ph type="body" idx="1"/>
          </p:nvPr>
        </p:nvSpPr>
        <p:spPr>
          <a:xfrm>
            <a:off x="1738400" y="2323333"/>
            <a:ext cx="9374000" cy="3388800"/>
          </a:xfrm>
          <a:prstGeom prst="rect">
            <a:avLst/>
          </a:prstGeom>
          <a:noFill/>
        </p:spPr>
        <p:txBody>
          <a:bodyPr spcFirstLastPara="1" wrap="square" lIns="121897" tIns="121897" rIns="121897" bIns="121897" anchor="t" anchorCtr="0">
            <a:normAutofit/>
          </a:bodyPr>
          <a:lstStyle/>
          <a:p>
            <a:pPr marL="0" indent="0">
              <a:buNone/>
            </a:pPr>
            <a:endParaRPr sz="1400" dirty="0">
              <a:solidFill>
                <a:srgbClr val="666666"/>
              </a:solidFill>
              <a:highlight>
                <a:srgbClr val="FFFFFF"/>
              </a:highlight>
              <a:latin typeface="Arial"/>
              <a:ea typeface="Arial"/>
              <a:cs typeface="Arial"/>
              <a:sym typeface="Arial"/>
            </a:endParaRPr>
          </a:p>
          <a:p>
            <a:pPr indent="-393690">
              <a:spcBef>
                <a:spcPts val="2933"/>
              </a:spcBef>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models.py</a:t>
            </a:r>
            <a:endParaRPr sz="1400" dirty="0">
              <a:solidFill>
                <a:srgbClr val="666666"/>
              </a:solidFill>
              <a:highlight>
                <a:srgbClr val="FFFFFF"/>
              </a:highlight>
              <a:latin typeface="Arial"/>
              <a:ea typeface="Arial"/>
              <a:cs typeface="Arial"/>
              <a:sym typeface="Arial"/>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views.py</a:t>
            </a:r>
            <a:endParaRPr sz="1400" dirty="0">
              <a:solidFill>
                <a:srgbClr val="666666"/>
              </a:solidFill>
              <a:highlight>
                <a:srgbClr val="FFFFFF"/>
              </a:highlight>
              <a:latin typeface="Arial"/>
              <a:ea typeface="Arial"/>
              <a:cs typeface="Arial"/>
              <a:sym typeface="Arial"/>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tests.py</a:t>
            </a:r>
            <a:endParaRPr sz="1400" dirty="0">
              <a:solidFill>
                <a:srgbClr val="666666"/>
              </a:solidFill>
              <a:highlight>
                <a:srgbClr val="FFFFFF"/>
              </a:highlight>
              <a:latin typeface="Arial"/>
              <a:ea typeface="Arial"/>
              <a:cs typeface="Arial"/>
              <a:sym typeface="Arial"/>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migrations</a:t>
            </a:r>
            <a:endParaRPr sz="1400" dirty="0">
              <a:solidFill>
                <a:srgbClr val="666666"/>
              </a:solidFill>
              <a:highlight>
                <a:srgbClr val="FFFFFF"/>
              </a:highlight>
              <a:latin typeface="Arial"/>
              <a:ea typeface="Arial"/>
              <a:cs typeface="Arial"/>
              <a:sym typeface="Arial"/>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urls.py</a:t>
            </a:r>
            <a:endParaRPr sz="1400" dirty="0">
              <a:solidFill>
                <a:srgbClr val="666666"/>
              </a:solidFill>
              <a:highlight>
                <a:srgbClr val="FFFFFF"/>
              </a:highlight>
              <a:latin typeface="Arial"/>
              <a:ea typeface="Arial"/>
              <a:cs typeface="Arial"/>
              <a:sym typeface="Arial"/>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queries.py</a:t>
            </a:r>
            <a:endParaRPr sz="1400" dirty="0">
              <a:solidFill>
                <a:srgbClr val="666666"/>
              </a:solidFill>
              <a:highlight>
                <a:srgbClr val="FFFFFF"/>
              </a:highlight>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8"/>
          <p:cNvSpPr txBox="1">
            <a:spLocks noGrp="1"/>
          </p:cNvSpPr>
          <p:nvPr>
            <p:ph type="title"/>
          </p:nvPr>
        </p:nvSpPr>
        <p:spPr>
          <a:xfrm>
            <a:off x="1738400" y="798100"/>
            <a:ext cx="9374000" cy="1332400"/>
          </a:xfrm>
          <a:prstGeom prst="rect">
            <a:avLst/>
          </a:prstGeom>
        </p:spPr>
        <p:txBody>
          <a:bodyPr spcFirstLastPara="1" wrap="square" lIns="121897" tIns="121897" rIns="121897" bIns="121897" anchor="t" anchorCtr="0">
            <a:normAutofit fontScale="90000"/>
          </a:bodyPr>
          <a:lstStyle/>
          <a:p>
            <a:pPr marL="609585" indent="-304792">
              <a:lnSpc>
                <a:spcPct val="160000"/>
              </a:lnSpc>
              <a:buClr>
                <a:srgbClr val="262626"/>
              </a:buClr>
              <a:buSzPct val="37500"/>
            </a:pPr>
            <a:r>
              <a:rPr lang="es" dirty="0"/>
              <a:t>Estructura de la aplicación EXPRESS</a:t>
            </a:r>
            <a:endParaRPr dirty="0"/>
          </a:p>
          <a:p>
            <a:endParaRPr dirty="0"/>
          </a:p>
        </p:txBody>
      </p:sp>
      <p:sp>
        <p:nvSpPr>
          <p:cNvPr id="312" name="Google Shape;312;p18"/>
          <p:cNvSpPr txBox="1">
            <a:spLocks noGrp="1"/>
          </p:cNvSpPr>
          <p:nvPr>
            <p:ph type="body" idx="1"/>
          </p:nvPr>
        </p:nvSpPr>
        <p:spPr>
          <a:xfrm>
            <a:off x="1084633" y="2406267"/>
            <a:ext cx="9374000" cy="3388800"/>
          </a:xfrm>
          <a:prstGeom prst="rect">
            <a:avLst/>
          </a:prstGeom>
        </p:spPr>
        <p:txBody>
          <a:bodyPr spcFirstLastPara="1" wrap="square" lIns="121897" tIns="121897" rIns="121897" bIns="121897" anchor="t" anchorCtr="0">
            <a:normAutofit/>
          </a:bodyPr>
          <a:lstStyle/>
          <a:p>
            <a:pPr indent="-414856">
              <a:buSzPts val="1300"/>
            </a:pPr>
            <a:r>
              <a:rPr lang="es" dirty="0"/>
              <a:t>package.json</a:t>
            </a:r>
            <a:endParaRPr dirty="0"/>
          </a:p>
          <a:p>
            <a:pPr indent="-414856">
              <a:buSzPts val="1300"/>
            </a:pPr>
            <a:r>
              <a:rPr lang="es" dirty="0"/>
              <a:t>index.js</a:t>
            </a:r>
            <a:endParaRPr dirty="0"/>
          </a:p>
          <a:p>
            <a:pPr indent="-414856">
              <a:buSzPts val="1300"/>
            </a:pPr>
            <a:r>
              <a:rPr lang="es" dirty="0"/>
              <a:t>app.js</a:t>
            </a:r>
            <a:endParaRPr dirty="0"/>
          </a:p>
          <a:p>
            <a:pPr indent="-414856">
              <a:buSzPts val="1300"/>
            </a:pPr>
            <a:r>
              <a:rPr lang="es" dirty="0"/>
              <a:t>middelwares</a:t>
            </a:r>
            <a:endParaRPr dirty="0"/>
          </a:p>
          <a:p>
            <a:pPr indent="-414856">
              <a:buSzPts val="1300"/>
            </a:pPr>
            <a:r>
              <a:rPr lang="es" dirty="0"/>
              <a:t>controllers</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Shape 316"/>
        <p:cNvGrpSpPr/>
        <p:nvPr/>
      </p:nvGrpSpPr>
      <p:grpSpPr>
        <a:xfrm>
          <a:off x="0" y="0"/>
          <a:ext cx="0" cy="0"/>
          <a:chOff x="0" y="0"/>
          <a:chExt cx="0" cy="0"/>
        </a:xfrm>
      </p:grpSpPr>
      <p:sp>
        <p:nvSpPr>
          <p:cNvPr id="317" name="Google Shape;317;p19"/>
          <p:cNvSpPr txBox="1">
            <a:spLocks noGrp="1"/>
          </p:cNvSpPr>
          <p:nvPr>
            <p:ph type="title"/>
          </p:nvPr>
        </p:nvSpPr>
        <p:spPr>
          <a:xfrm>
            <a:off x="1738400" y="541367"/>
            <a:ext cx="10043600" cy="1332400"/>
          </a:xfrm>
          <a:prstGeom prst="rect">
            <a:avLst/>
          </a:prstGeom>
        </p:spPr>
        <p:txBody>
          <a:bodyPr spcFirstLastPara="1" wrap="square" lIns="121897" tIns="121897" rIns="121897" bIns="121897" anchor="t" anchorCtr="0">
            <a:normAutofit fontScale="90000"/>
          </a:bodyPr>
          <a:lstStyle/>
          <a:p>
            <a:r>
              <a:rPr lang="es" dirty="0"/>
              <a:t>Como crear un proyecto con django vs express</a:t>
            </a:r>
            <a:endParaRPr dirty="0"/>
          </a:p>
        </p:txBody>
      </p:sp>
      <p:sp>
        <p:nvSpPr>
          <p:cNvPr id="318" name="Google Shape;318;p19"/>
          <p:cNvSpPr txBox="1">
            <a:spLocks noGrp="1"/>
          </p:cNvSpPr>
          <p:nvPr>
            <p:ph type="body" idx="1"/>
          </p:nvPr>
        </p:nvSpPr>
        <p:spPr>
          <a:xfrm>
            <a:off x="1738400" y="2653400"/>
            <a:ext cx="4996800" cy="3388800"/>
          </a:xfrm>
          <a:prstGeom prst="rect">
            <a:avLst/>
          </a:prstGeom>
        </p:spPr>
        <p:txBody>
          <a:bodyPr spcFirstLastPara="1" wrap="square" lIns="121897" tIns="121897" rIns="121897" bIns="121897" anchor="t" anchorCtr="0">
            <a:normAutofit/>
          </a:bodyPr>
          <a:lstStyle/>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Python instalado</a:t>
            </a:r>
            <a:endParaRPr sz="1400" dirty="0">
              <a:solidFill>
                <a:srgbClr val="666666"/>
              </a:solidFill>
              <a:highlight>
                <a:srgbClr val="FFFFFF"/>
              </a:highlight>
              <a:latin typeface="Arial"/>
              <a:ea typeface="Arial"/>
              <a:cs typeface="Arial"/>
              <a:sym typeface="Arial"/>
            </a:endParaRPr>
          </a:p>
          <a:p>
            <a:pPr marR="253994" indent="-393690">
              <a:buClr>
                <a:srgbClr val="666666"/>
              </a:buClr>
              <a:buSzPts val="1050"/>
              <a:buFont typeface="Arial"/>
              <a:buChar char="●"/>
            </a:pPr>
            <a:r>
              <a:rPr lang="es" sz="1400" dirty="0">
                <a:solidFill>
                  <a:srgbClr val="0C4B33"/>
                </a:solidFill>
                <a:latin typeface="Courier New"/>
                <a:ea typeface="Courier New"/>
                <a:cs typeface="Courier New"/>
                <a:sym typeface="Courier New"/>
              </a:rPr>
              <a:t>django-admin startproject nombre_proyecto</a:t>
            </a:r>
            <a:endParaRPr sz="1400" dirty="0">
              <a:solidFill>
                <a:srgbClr val="0C4B33"/>
              </a:solidFill>
              <a:latin typeface="Courier New"/>
              <a:ea typeface="Courier New"/>
              <a:cs typeface="Courier New"/>
              <a:sym typeface="Courier New"/>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Para crearte un app: </a:t>
            </a:r>
            <a:r>
              <a:rPr lang="es" sz="1400" dirty="0">
                <a:solidFill>
                  <a:srgbClr val="0C4B33"/>
                </a:solidFill>
                <a:latin typeface="Courier New"/>
                <a:ea typeface="Courier New"/>
                <a:cs typeface="Courier New"/>
                <a:sym typeface="Courier New"/>
              </a:rPr>
              <a:t>python manage.py startapp nombre_app</a:t>
            </a:r>
            <a:endParaRPr sz="1400" dirty="0">
              <a:solidFill>
                <a:srgbClr val="0C4B33"/>
              </a:solidFill>
              <a:latin typeface="Courier New"/>
              <a:ea typeface="Courier New"/>
              <a:cs typeface="Courier New"/>
              <a:sym typeface="Courier New"/>
            </a:endParaRPr>
          </a:p>
          <a:p>
            <a:pPr indent="-393690">
              <a:buClr>
                <a:srgbClr val="666666"/>
              </a:buClr>
              <a:buSzPts val="1050"/>
              <a:buFont typeface="Arial"/>
              <a:buChar char="●"/>
            </a:pPr>
            <a:r>
              <a:rPr lang="es" sz="1400" dirty="0">
                <a:solidFill>
                  <a:srgbClr val="666666"/>
                </a:solidFill>
                <a:highlight>
                  <a:srgbClr val="FFFFFF"/>
                </a:highlight>
                <a:latin typeface="Arial"/>
                <a:ea typeface="Arial"/>
                <a:cs typeface="Arial"/>
                <a:sym typeface="Arial"/>
              </a:rPr>
              <a:t>Por último </a:t>
            </a:r>
            <a:r>
              <a:rPr lang="es" sz="1500" dirty="0">
                <a:solidFill>
                  <a:srgbClr val="0C4B33"/>
                </a:solidFill>
                <a:latin typeface="Courier New"/>
                <a:ea typeface="Courier New"/>
                <a:cs typeface="Courier New"/>
                <a:sym typeface="Courier New"/>
              </a:rPr>
              <a:t>python manage.py runserver</a:t>
            </a:r>
            <a:endParaRPr sz="1500" dirty="0">
              <a:solidFill>
                <a:srgbClr val="0C4B33"/>
              </a:solidFill>
              <a:latin typeface="Courier New"/>
              <a:ea typeface="Courier New"/>
              <a:cs typeface="Courier New"/>
              <a:sym typeface="Courier New"/>
            </a:endParaRPr>
          </a:p>
          <a:p>
            <a:pPr indent="0">
              <a:spcBef>
                <a:spcPts val="2933"/>
              </a:spcBef>
              <a:buNone/>
            </a:pPr>
            <a:endParaRPr sz="1400" dirty="0">
              <a:solidFill>
                <a:srgbClr val="666666"/>
              </a:solidFill>
              <a:highlight>
                <a:srgbClr val="FFFFFF"/>
              </a:highlight>
              <a:latin typeface="Arial"/>
              <a:ea typeface="Arial"/>
              <a:cs typeface="Arial"/>
              <a:sym typeface="Arial"/>
            </a:endParaRPr>
          </a:p>
          <a:p>
            <a:pPr marL="0" indent="0">
              <a:spcBef>
                <a:spcPts val="2933"/>
              </a:spcBef>
              <a:spcAft>
                <a:spcPts val="1600"/>
              </a:spcAft>
              <a:buNone/>
            </a:pPr>
            <a:endParaRPr dirty="0"/>
          </a:p>
        </p:txBody>
      </p:sp>
      <p:pic>
        <p:nvPicPr>
          <p:cNvPr id="319" name="Google Shape;319;p19"/>
          <p:cNvPicPr preferRelativeResize="0"/>
          <p:nvPr/>
        </p:nvPicPr>
        <p:blipFill>
          <a:blip r:embed="rId3" cstate="print">
            <a:alphaModFix/>
          </a:blip>
          <a:stretch>
            <a:fillRect/>
          </a:stretch>
        </p:blipFill>
        <p:spPr>
          <a:xfrm>
            <a:off x="6583550" y="2411634"/>
            <a:ext cx="5380700" cy="3872332"/>
          </a:xfrm>
          <a:prstGeom prst="rect">
            <a:avLst/>
          </a:prstGeom>
          <a:noFill/>
          <a:ln>
            <a:noFill/>
          </a:ln>
        </p:spPr>
      </p:pic>
      <p:sp>
        <p:nvSpPr>
          <p:cNvPr id="320" name="Google Shape;320;p19"/>
          <p:cNvSpPr txBox="1"/>
          <p:nvPr/>
        </p:nvSpPr>
        <p:spPr>
          <a:xfrm>
            <a:off x="1426700" y="1737533"/>
            <a:ext cx="4000000" cy="1157193"/>
          </a:xfrm>
          <a:prstGeom prst="rect">
            <a:avLst/>
          </a:prstGeom>
          <a:noFill/>
          <a:ln>
            <a:noFill/>
          </a:ln>
        </p:spPr>
        <p:txBody>
          <a:bodyPr spcFirstLastPara="1" wrap="square" lIns="121897" tIns="121897" rIns="121897" bIns="121897" anchor="t" anchorCtr="0">
            <a:spAutoFit/>
          </a:bodyPr>
          <a:lstStyle/>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Django</a:t>
            </a:r>
            <a:endParaRPr dirty="0"/>
          </a:p>
        </p:txBody>
      </p:sp>
      <p:sp>
        <p:nvSpPr>
          <p:cNvPr id="321" name="Google Shape;321;p19"/>
          <p:cNvSpPr txBox="1"/>
          <p:nvPr/>
        </p:nvSpPr>
        <p:spPr>
          <a:xfrm>
            <a:off x="6991884" y="1737533"/>
            <a:ext cx="4000000" cy="1157193"/>
          </a:xfrm>
          <a:prstGeom prst="rect">
            <a:avLst/>
          </a:prstGeom>
          <a:noFill/>
          <a:ln>
            <a:noFill/>
          </a:ln>
        </p:spPr>
        <p:txBody>
          <a:bodyPr spcFirstLastPara="1" wrap="square" lIns="121897" tIns="121897" rIns="121897" bIns="121897" anchor="t" anchorCtr="0">
            <a:spAutoFit/>
          </a:bodyPr>
          <a:lstStyle/>
          <a:p>
            <a:pPr marL="609585" indent="-304792" algn="ctr">
              <a:lnSpc>
                <a:spcPct val="160000"/>
              </a:lnSpc>
              <a:buClr>
                <a:srgbClr val="262626"/>
              </a:buClr>
              <a:buSzPts val="1050"/>
            </a:pPr>
            <a:r>
              <a:rPr lang="es" sz="3700" b="1" dirty="0">
                <a:solidFill>
                  <a:schemeClr val="dk2"/>
                </a:solidFill>
                <a:latin typeface="Maven Pro"/>
                <a:ea typeface="Maven Pro"/>
                <a:cs typeface="Maven Pro"/>
                <a:sym typeface="Maven Pro"/>
              </a:rPr>
              <a:t>Express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ítulo 3">
            <a:extLst>
              <a:ext uri="{FF2B5EF4-FFF2-40B4-BE49-F238E27FC236}">
                <a16:creationId xmlns:a16="http://schemas.microsoft.com/office/drawing/2014/main" id="{8CDC41BD-7C21-43C7-A9AF-A0426D2EB6A4}"/>
              </a:ext>
            </a:extLst>
          </p:cNvPr>
          <p:cNvSpPr>
            <a:spLocks noGrp="1"/>
          </p:cNvSpPr>
          <p:nvPr>
            <p:ph type="ctrTitle"/>
          </p:nvPr>
        </p:nvSpPr>
        <p:spPr>
          <a:xfrm>
            <a:off x="1280559" y="1286935"/>
            <a:ext cx="9638153" cy="2668377"/>
          </a:xfrm>
          <a:effectLst/>
        </p:spPr>
        <p:txBody>
          <a:bodyPr>
            <a:normAutofit/>
          </a:bodyPr>
          <a:lstStyle/>
          <a:p>
            <a:pPr algn="ctr"/>
            <a:r>
              <a:rPr lang="es-ES" dirty="0">
                <a:solidFill>
                  <a:schemeClr val="tx1"/>
                </a:solidFill>
              </a:rPr>
              <a:t>FIN  - Express</a:t>
            </a:r>
          </a:p>
        </p:txBody>
      </p:sp>
    </p:spTree>
    <p:extLst>
      <p:ext uri="{BB962C8B-B14F-4D97-AF65-F5344CB8AC3E}">
        <p14:creationId xmlns:p14="http://schemas.microsoft.com/office/powerpoint/2010/main" val="14020460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188004" y="1466733"/>
            <a:ext cx="7816000" cy="2736800"/>
          </a:xfrm>
          <a:prstGeom prst="rect">
            <a:avLst/>
          </a:prstGeom>
        </p:spPr>
        <p:txBody>
          <a:bodyPr spcFirstLastPara="1" wrap="square" lIns="121897" tIns="121897" rIns="121897" bIns="121897" anchor="b" anchorCtr="0">
            <a:normAutofit/>
          </a:bodyPr>
          <a:lstStyle/>
          <a:p>
            <a:pPr>
              <a:spcBef>
                <a:spcPts val="0"/>
              </a:spcBef>
            </a:pPr>
            <a:r>
              <a:rPr lang="es" dirty="0"/>
              <a:t>Django</a:t>
            </a:r>
            <a:endParaRPr dirty="0"/>
          </a:p>
          <a:p>
            <a:pPr>
              <a:spcBef>
                <a:spcPts val="0"/>
              </a:spcBef>
            </a:pPr>
            <a:r>
              <a:rPr lang="es" dirty="0"/>
              <a:t>vs.</a:t>
            </a:r>
            <a:endParaRPr dirty="0"/>
          </a:p>
          <a:p>
            <a:pPr>
              <a:spcBef>
                <a:spcPts val="0"/>
              </a:spcBef>
            </a:pPr>
            <a:r>
              <a:rPr lang="es" dirty="0"/>
              <a:t>Ruby on Rails</a:t>
            </a:r>
            <a:endParaRPr dirty="0"/>
          </a:p>
        </p:txBody>
      </p:sp>
      <p:pic>
        <p:nvPicPr>
          <p:cNvPr id="56" name="Google Shape;56;p13"/>
          <p:cNvPicPr preferRelativeResize="0"/>
          <p:nvPr/>
        </p:nvPicPr>
        <p:blipFill>
          <a:blip r:embed="rId3" cstate="print">
            <a:alphaModFix/>
          </a:blip>
          <a:stretch>
            <a:fillRect/>
          </a:stretch>
        </p:blipFill>
        <p:spPr>
          <a:xfrm>
            <a:off x="8212249" y="578451"/>
            <a:ext cx="3523032" cy="1329935"/>
          </a:xfrm>
          <a:prstGeom prst="rect">
            <a:avLst/>
          </a:prstGeom>
          <a:noFill/>
          <a:ln>
            <a:noFill/>
          </a:ln>
        </p:spPr>
      </p:pic>
      <p:pic>
        <p:nvPicPr>
          <p:cNvPr id="57" name="Google Shape;57;p13"/>
          <p:cNvPicPr preferRelativeResize="0"/>
          <p:nvPr/>
        </p:nvPicPr>
        <p:blipFill>
          <a:blip r:embed="rId4" cstate="print">
            <a:alphaModFix/>
          </a:blip>
          <a:stretch>
            <a:fillRect/>
          </a:stretch>
        </p:blipFill>
        <p:spPr>
          <a:xfrm>
            <a:off x="428818" y="488266"/>
            <a:ext cx="3318935" cy="151036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Python vs Ruby: similitudes</a:t>
            </a:r>
            <a:endParaRPr dirty="0"/>
          </a:p>
        </p:txBody>
      </p:sp>
      <p:sp>
        <p:nvSpPr>
          <p:cNvPr id="63" name="Google Shape;63;p14"/>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pPr>
              <a:buChar char="-"/>
            </a:pPr>
            <a:r>
              <a:rPr lang="es" dirty="0"/>
              <a:t>Ambos lenguajes son interpretados y de alto nivel.</a:t>
            </a:r>
            <a:endParaRPr dirty="0"/>
          </a:p>
          <a:p>
            <a:pPr>
              <a:buChar char="-"/>
            </a:pPr>
            <a:r>
              <a:rPr lang="es" dirty="0"/>
              <a:t>Tanto Python como Ruby tienen un tipado fuerte (los valores no pueden cambiar de tipo) pero dinámico (las variables no tienen tipo).</a:t>
            </a:r>
            <a:endParaRPr dirty="0"/>
          </a:p>
          <a:p>
            <a:pPr>
              <a:buChar char="-"/>
            </a:pPr>
            <a:r>
              <a:rPr lang="es" dirty="0"/>
              <a:t>Permiten orientación a objetos: clases, herencia…</a:t>
            </a:r>
            <a:endParaRPr dirty="0"/>
          </a:p>
          <a:p>
            <a:pPr>
              <a:buChar char="-"/>
            </a:pPr>
            <a:r>
              <a:rPr lang="es" dirty="0"/>
              <a:t>Todo son objetos en ambos lenguajes: métodos y atributos.</a:t>
            </a:r>
            <a:endParaRPr dirty="0"/>
          </a:p>
          <a:p>
            <a:pPr>
              <a:buChar char="-"/>
            </a:pPr>
            <a:r>
              <a:rPr lang="es" dirty="0"/>
              <a:t>Se utilizan para scripting.</a:t>
            </a:r>
            <a:endParaRPr dirty="0"/>
          </a:p>
          <a:p>
            <a:pPr>
              <a:buChar char="-"/>
            </a:pPr>
            <a:r>
              <a:rPr lang="es" dirty="0"/>
              <a:t>Propósito general.</a:t>
            </a:r>
            <a:endParaRPr dirty="0"/>
          </a:p>
          <a:p>
            <a:pPr>
              <a:buChar char="-"/>
            </a:pPr>
            <a:r>
              <a:rPr lang="es" dirty="0"/>
              <a:t>Multiplataforma.</a:t>
            </a:r>
            <a:endParaRPr dirty="0"/>
          </a:p>
          <a:p>
            <a:pPr>
              <a:buChar char="-"/>
            </a:pPr>
            <a:r>
              <a:rPr lang="es" dirty="0"/>
              <a:t>Gratuitos.</a:t>
            </a:r>
            <a:endParaRPr dirty="0"/>
          </a:p>
          <a:p>
            <a:pPr indent="0">
              <a:spcBef>
                <a:spcPts val="1600"/>
              </a:spcBef>
              <a:spcAft>
                <a:spcPts val="1600"/>
              </a:spcAft>
              <a:buNone/>
            </a:pP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415600" y="312867"/>
            <a:ext cx="11360800" cy="763600"/>
          </a:xfrm>
          <a:prstGeom prst="rect">
            <a:avLst/>
          </a:prstGeom>
        </p:spPr>
        <p:txBody>
          <a:bodyPr spcFirstLastPara="1" wrap="square" lIns="121897" tIns="121897" rIns="121897" bIns="121897" anchor="t" anchorCtr="0">
            <a:normAutofit fontScale="90000"/>
          </a:bodyPr>
          <a:lstStyle/>
          <a:p>
            <a:r>
              <a:rPr lang="es" dirty="0"/>
              <a:t>Python vs Ruby: diferencias</a:t>
            </a:r>
            <a:endParaRPr dirty="0"/>
          </a:p>
          <a:p>
            <a:endParaRPr dirty="0"/>
          </a:p>
        </p:txBody>
      </p:sp>
      <p:sp>
        <p:nvSpPr>
          <p:cNvPr id="69" name="Google Shape;69;p15"/>
          <p:cNvSpPr txBox="1">
            <a:spLocks noGrp="1"/>
          </p:cNvSpPr>
          <p:nvPr>
            <p:ph type="body" idx="1"/>
          </p:nvPr>
        </p:nvSpPr>
        <p:spPr>
          <a:xfrm>
            <a:off x="415600" y="2117000"/>
            <a:ext cx="5333200" cy="4555200"/>
          </a:xfrm>
          <a:prstGeom prst="rect">
            <a:avLst/>
          </a:prstGeom>
        </p:spPr>
        <p:txBody>
          <a:bodyPr spcFirstLastPara="1" wrap="square" lIns="121897" tIns="121897" rIns="121897" bIns="121897" anchor="t" anchorCtr="0">
            <a:normAutofit/>
          </a:bodyPr>
          <a:lstStyle/>
          <a:p>
            <a:pPr>
              <a:buChar char="-"/>
            </a:pPr>
            <a:r>
              <a:rPr lang="es" dirty="0"/>
              <a:t>Multiparadigma: POO, P. funcional…</a:t>
            </a:r>
            <a:endParaRPr dirty="0"/>
          </a:p>
          <a:p>
            <a:pPr>
              <a:buChar char="-"/>
            </a:pPr>
            <a:r>
              <a:rPr lang="es" dirty="0"/>
              <a:t>Herencia múltiple</a:t>
            </a:r>
            <a:endParaRPr dirty="0"/>
          </a:p>
          <a:p>
            <a:pPr>
              <a:buChar char="-"/>
            </a:pPr>
            <a:r>
              <a:rPr lang="es" dirty="0"/>
              <a:t>Fácil de leer</a:t>
            </a:r>
            <a:endParaRPr dirty="0"/>
          </a:p>
          <a:p>
            <a:pPr>
              <a:buChar char="-"/>
            </a:pPr>
            <a:r>
              <a:rPr lang="es" dirty="0"/>
              <a:t>El uso de iteradores es más natural</a:t>
            </a:r>
            <a:endParaRPr dirty="0"/>
          </a:p>
          <a:p>
            <a:pPr>
              <a:buChar char="-"/>
            </a:pPr>
            <a:r>
              <a:rPr lang="es" dirty="0"/>
              <a:t>Distingue strings normales de strings en Unicode</a:t>
            </a:r>
            <a:endParaRPr dirty="0"/>
          </a:p>
          <a:p>
            <a:pPr>
              <a:buChar char="-"/>
            </a:pPr>
            <a:r>
              <a:rPr lang="es" dirty="0"/>
              <a:t>Se pueden crear funciones anidadas</a:t>
            </a:r>
            <a:endParaRPr dirty="0"/>
          </a:p>
          <a:p>
            <a:pPr>
              <a:buChar char="-"/>
            </a:pPr>
            <a:r>
              <a:rPr lang="es" dirty="0"/>
              <a:t>Elementos como las “List comprehensions” son poco intuitivos</a:t>
            </a:r>
            <a:endParaRPr dirty="0"/>
          </a:p>
          <a:p>
            <a:pPr indent="609585">
              <a:spcBef>
                <a:spcPts val="1600"/>
              </a:spcBef>
              <a:buNone/>
            </a:pPr>
            <a:r>
              <a:rPr lang="es" sz="1200" dirty="0"/>
              <a:t>Ej.: [(x ** 2) for x in range(100) if (x % 2 is 0)].</a:t>
            </a:r>
            <a:endParaRPr sz="1200" dirty="0"/>
          </a:p>
          <a:p>
            <a:pPr>
              <a:spcBef>
                <a:spcPts val="1600"/>
              </a:spcBef>
              <a:buChar char="-"/>
            </a:pPr>
            <a:r>
              <a:rPr lang="es" dirty="0"/>
              <a:t>El indentado es obligatorio</a:t>
            </a:r>
            <a:endParaRPr dirty="0"/>
          </a:p>
        </p:txBody>
      </p:sp>
      <p:sp>
        <p:nvSpPr>
          <p:cNvPr id="70" name="Google Shape;70;p15"/>
          <p:cNvSpPr txBox="1">
            <a:spLocks noGrp="1"/>
          </p:cNvSpPr>
          <p:nvPr>
            <p:ph type="body" idx="2"/>
          </p:nvPr>
        </p:nvSpPr>
        <p:spPr>
          <a:xfrm>
            <a:off x="6443200" y="2117000"/>
            <a:ext cx="5333200" cy="4555200"/>
          </a:xfrm>
          <a:prstGeom prst="rect">
            <a:avLst/>
          </a:prstGeom>
        </p:spPr>
        <p:txBody>
          <a:bodyPr spcFirstLastPara="1" wrap="square" lIns="121897" tIns="121897" rIns="121897" bIns="121897" anchor="t" anchorCtr="0">
            <a:normAutofit/>
          </a:bodyPr>
          <a:lstStyle/>
          <a:p>
            <a:pPr>
              <a:buChar char="-"/>
            </a:pPr>
            <a:r>
              <a:rPr lang="es" dirty="0"/>
              <a:t>Orientado a objetos principalmente</a:t>
            </a:r>
            <a:endParaRPr dirty="0"/>
          </a:p>
          <a:p>
            <a:pPr>
              <a:buChar char="-"/>
            </a:pPr>
            <a:r>
              <a:rPr lang="es" dirty="0"/>
              <a:t>Herencia simple</a:t>
            </a:r>
            <a:endParaRPr dirty="0"/>
          </a:p>
          <a:p>
            <a:pPr>
              <a:buChar char="-"/>
            </a:pPr>
            <a:r>
              <a:rPr lang="es" dirty="0"/>
              <a:t>No tan fácil de leer</a:t>
            </a:r>
            <a:endParaRPr dirty="0"/>
          </a:p>
          <a:p>
            <a:pPr>
              <a:buChar char="-"/>
            </a:pPr>
            <a:r>
              <a:rPr lang="es" dirty="0"/>
              <a:t>El uso de iteradores no es tan natural</a:t>
            </a:r>
            <a:endParaRPr dirty="0"/>
          </a:p>
          <a:p>
            <a:pPr>
              <a:buChar char="-"/>
            </a:pPr>
            <a:r>
              <a:rPr lang="es" dirty="0"/>
              <a:t>Trata todos los strings de la misma forma y no reconoce Unicode</a:t>
            </a:r>
            <a:endParaRPr dirty="0"/>
          </a:p>
          <a:p>
            <a:pPr>
              <a:buChar char="-"/>
            </a:pPr>
            <a:r>
              <a:rPr lang="es" dirty="0"/>
              <a:t>Las funciones anidadas no son posibles</a:t>
            </a:r>
            <a:endParaRPr dirty="0"/>
          </a:p>
          <a:p>
            <a:pPr>
              <a:buChar char="-"/>
            </a:pPr>
            <a:r>
              <a:rPr lang="es" dirty="0"/>
              <a:t>Las “List comprehensions” son más intuitivas y naturales</a:t>
            </a:r>
            <a:endParaRPr dirty="0"/>
          </a:p>
          <a:p>
            <a:pPr indent="0">
              <a:spcBef>
                <a:spcPts val="1600"/>
              </a:spcBef>
              <a:buNone/>
            </a:pPr>
            <a:r>
              <a:rPr lang="es" dirty="0"/>
              <a:t>	</a:t>
            </a:r>
            <a:r>
              <a:rPr lang="es" sz="1200" dirty="0"/>
              <a:t>Ej.: (0..99).select {|x| x % 2 == 0 }.map {|x| x ** 2 }</a:t>
            </a:r>
            <a:endParaRPr sz="1200" dirty="0"/>
          </a:p>
          <a:p>
            <a:pPr>
              <a:spcBef>
                <a:spcPts val="1600"/>
              </a:spcBef>
              <a:buChar char="-"/>
            </a:pPr>
            <a:r>
              <a:rPr lang="es" dirty="0"/>
              <a:t>El indentado no es obligatorio</a:t>
            </a:r>
            <a:endParaRPr dirty="0"/>
          </a:p>
        </p:txBody>
      </p:sp>
      <p:pic>
        <p:nvPicPr>
          <p:cNvPr id="71" name="Google Shape;71;p15"/>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pic>
        <p:nvPicPr>
          <p:cNvPr id="72" name="Google Shape;72;p15"/>
          <p:cNvPicPr preferRelativeResize="0"/>
          <p:nvPr/>
        </p:nvPicPr>
        <p:blipFill>
          <a:blip r:embed="rId4" cstate="print">
            <a:alphaModFix/>
          </a:blip>
          <a:stretch>
            <a:fillRect/>
          </a:stretch>
        </p:blipFill>
        <p:spPr>
          <a:xfrm>
            <a:off x="8675796" y="1153833"/>
            <a:ext cx="867977" cy="7636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 vs Ruby: ejemplos</a:t>
            </a:r>
            <a:endParaRPr dirty="0"/>
          </a:p>
        </p:txBody>
      </p:sp>
      <p:sp>
        <p:nvSpPr>
          <p:cNvPr id="78" name="Google Shape;78;p16"/>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Declaración de variables</a:t>
            </a:r>
            <a:endParaRPr dirty="0"/>
          </a:p>
          <a:p>
            <a:pPr indent="609585">
              <a:spcBef>
                <a:spcPts val="1600"/>
              </a:spcBef>
              <a:buNone/>
            </a:pPr>
            <a:r>
              <a:rPr lang="es" b="1" u="sng" dirty="0"/>
              <a:t>a = 1</a:t>
            </a:r>
            <a:r>
              <a:rPr lang="es" dirty="0"/>
              <a:t>  o  </a:t>
            </a:r>
            <a:r>
              <a:rPr lang="es" b="1" u="sng" dirty="0"/>
              <a:t>PI = 3.14</a:t>
            </a:r>
            <a:endParaRPr b="1" u="sng" dirty="0"/>
          </a:p>
          <a:p>
            <a:pPr>
              <a:spcBef>
                <a:spcPts val="1600"/>
              </a:spcBef>
              <a:buChar char="-"/>
            </a:pPr>
            <a:r>
              <a:rPr lang="es" dirty="0"/>
              <a:t>Imprimir por pantalla</a:t>
            </a:r>
            <a:endParaRPr dirty="0"/>
          </a:p>
          <a:p>
            <a:pPr indent="609585">
              <a:spcBef>
                <a:spcPts val="1600"/>
              </a:spcBef>
              <a:buNone/>
            </a:pPr>
            <a:r>
              <a:rPr lang="es" b="1" u="sng" dirty="0"/>
              <a:t>print(“Wenas”)</a:t>
            </a:r>
            <a:endParaRPr b="1" u="sng" dirty="0"/>
          </a:p>
          <a:p>
            <a:pPr>
              <a:spcBef>
                <a:spcPts val="1600"/>
              </a:spcBef>
              <a:buChar char="-"/>
            </a:pPr>
            <a:r>
              <a:rPr lang="es" dirty="0"/>
              <a:t>Pedir datos al usuario</a:t>
            </a:r>
            <a:endParaRPr dirty="0"/>
          </a:p>
          <a:p>
            <a:pPr indent="0">
              <a:spcBef>
                <a:spcPts val="1600"/>
              </a:spcBef>
              <a:buNone/>
            </a:pPr>
            <a:r>
              <a:rPr lang="es" dirty="0"/>
              <a:t>	</a:t>
            </a:r>
            <a:r>
              <a:rPr lang="es" b="1" u="sng" dirty="0"/>
              <a:t>val = input()</a:t>
            </a:r>
            <a:endParaRPr b="1" u="sng" dirty="0"/>
          </a:p>
          <a:p>
            <a:pPr>
              <a:spcBef>
                <a:spcPts val="1600"/>
              </a:spcBef>
              <a:buChar char="-"/>
            </a:pPr>
            <a:r>
              <a:rPr lang="es" dirty="0"/>
              <a:t>Condiciones</a:t>
            </a:r>
            <a:endParaRPr dirty="0"/>
          </a:p>
          <a:p>
            <a:pPr indent="0">
              <a:spcBef>
                <a:spcPts val="1600"/>
              </a:spcBef>
              <a:spcAft>
                <a:spcPts val="1600"/>
              </a:spcAft>
              <a:buNone/>
            </a:pPr>
            <a:r>
              <a:rPr lang="es" dirty="0"/>
              <a:t>	</a:t>
            </a:r>
            <a:r>
              <a:rPr lang="es" b="1" u="sng" dirty="0"/>
              <a:t>and y or</a:t>
            </a:r>
            <a:endParaRPr b="1" u="sng" dirty="0"/>
          </a:p>
        </p:txBody>
      </p:sp>
      <p:sp>
        <p:nvSpPr>
          <p:cNvPr id="79" name="Google Shape;79;p16"/>
          <p:cNvSpPr txBox="1">
            <a:spLocks noGrp="1"/>
          </p:cNvSpPr>
          <p:nvPr>
            <p:ph type="body" idx="2"/>
          </p:nvPr>
        </p:nvSpPr>
        <p:spPr>
          <a:xfrm>
            <a:off x="6443200" y="2058967"/>
            <a:ext cx="5333200" cy="4555200"/>
          </a:xfrm>
          <a:prstGeom prst="rect">
            <a:avLst/>
          </a:prstGeom>
        </p:spPr>
        <p:txBody>
          <a:bodyPr spcFirstLastPara="1" wrap="square" lIns="121897" tIns="121897" rIns="121897" bIns="121897" anchor="t" anchorCtr="0">
            <a:normAutofit/>
          </a:bodyPr>
          <a:lstStyle/>
          <a:p>
            <a:pPr marL="0" indent="0">
              <a:buNone/>
            </a:pPr>
            <a:endParaRPr dirty="0"/>
          </a:p>
          <a:p>
            <a:pPr indent="0">
              <a:spcBef>
                <a:spcPts val="1600"/>
              </a:spcBef>
              <a:buNone/>
            </a:pPr>
            <a:r>
              <a:rPr lang="es" b="1" u="sng" dirty="0"/>
              <a:t>a = 1</a:t>
            </a:r>
            <a:r>
              <a:rPr lang="es" dirty="0"/>
              <a:t>  o  </a:t>
            </a:r>
            <a:r>
              <a:rPr lang="es" b="1" u="sng" dirty="0"/>
              <a:t>PI = 3.14</a:t>
            </a:r>
            <a:endParaRPr b="1" u="sng" dirty="0"/>
          </a:p>
          <a:p>
            <a:pPr marL="0" indent="0">
              <a:spcBef>
                <a:spcPts val="1600"/>
              </a:spcBef>
              <a:buNone/>
            </a:pPr>
            <a:endParaRPr dirty="0"/>
          </a:p>
          <a:p>
            <a:pPr marL="0" indent="609585">
              <a:spcBef>
                <a:spcPts val="1600"/>
              </a:spcBef>
              <a:buNone/>
            </a:pPr>
            <a:r>
              <a:rPr lang="es" b="1" u="sng" dirty="0"/>
              <a:t>puts(“Wenas”)</a:t>
            </a:r>
            <a:r>
              <a:rPr lang="es" dirty="0"/>
              <a:t>  o  </a:t>
            </a:r>
            <a:r>
              <a:rPr lang="es" b="1" u="sng" dirty="0"/>
              <a:t>puts “Wenas”</a:t>
            </a:r>
            <a:endParaRPr b="1" u="sng" dirty="0"/>
          </a:p>
          <a:p>
            <a:pPr marL="0" indent="609585">
              <a:spcBef>
                <a:spcPts val="1600"/>
              </a:spcBef>
              <a:buNone/>
            </a:pPr>
            <a:endParaRPr dirty="0"/>
          </a:p>
          <a:p>
            <a:pPr marL="0" indent="0">
              <a:spcBef>
                <a:spcPts val="1600"/>
              </a:spcBef>
              <a:buNone/>
            </a:pPr>
            <a:r>
              <a:rPr lang="es" dirty="0"/>
              <a:t>	</a:t>
            </a:r>
            <a:r>
              <a:rPr lang="es" b="1" u="sng" dirty="0"/>
              <a:t>val = gets</a:t>
            </a:r>
            <a:endParaRPr b="1" u="sng" dirty="0"/>
          </a:p>
          <a:p>
            <a:pPr marL="0" indent="0">
              <a:spcBef>
                <a:spcPts val="1600"/>
              </a:spcBef>
              <a:buNone/>
            </a:pPr>
            <a:endParaRPr b="1" u="sng" dirty="0"/>
          </a:p>
          <a:p>
            <a:pPr indent="0">
              <a:spcBef>
                <a:spcPts val="1600"/>
              </a:spcBef>
              <a:buNone/>
            </a:pPr>
            <a:r>
              <a:rPr lang="es" b="1" u="sng" dirty="0"/>
              <a:t>|| y &amp;&amp;</a:t>
            </a:r>
            <a:r>
              <a:rPr lang="es" dirty="0"/>
              <a:t>    o   </a:t>
            </a:r>
            <a:r>
              <a:rPr lang="es" b="1" u="sng" dirty="0"/>
              <a:t>and y or	</a:t>
            </a:r>
            <a:endParaRPr u="sng" dirty="0"/>
          </a:p>
          <a:p>
            <a:pPr marL="0" indent="0">
              <a:spcBef>
                <a:spcPts val="1600"/>
              </a:spcBef>
              <a:spcAft>
                <a:spcPts val="1600"/>
              </a:spcAft>
              <a:buNone/>
            </a:pPr>
            <a:endParaRPr b="1" u="sng" dirty="0"/>
          </a:p>
        </p:txBody>
      </p:sp>
      <p:pic>
        <p:nvPicPr>
          <p:cNvPr id="80" name="Google Shape;80;p16"/>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pic>
        <p:nvPicPr>
          <p:cNvPr id="81" name="Google Shape;81;p16"/>
          <p:cNvPicPr preferRelativeResize="0"/>
          <p:nvPr/>
        </p:nvPicPr>
        <p:blipFill>
          <a:blip r:embed="rId4" cstate="print">
            <a:alphaModFix/>
          </a:blip>
          <a:stretch>
            <a:fillRect/>
          </a:stretch>
        </p:blipFill>
        <p:spPr>
          <a:xfrm>
            <a:off x="8675796" y="1153833"/>
            <a:ext cx="867977" cy="763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 vs Ruby: ejemplos</a:t>
            </a:r>
            <a:endParaRPr dirty="0"/>
          </a:p>
        </p:txBody>
      </p:sp>
      <p:sp>
        <p:nvSpPr>
          <p:cNvPr id="87" name="Google Shape;87;p17"/>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Sentencias if/else</a:t>
            </a:r>
            <a:endParaRPr dirty="0"/>
          </a:p>
          <a:p>
            <a:pPr indent="0">
              <a:spcBef>
                <a:spcPts val="1600"/>
              </a:spcBef>
              <a:buNone/>
            </a:pPr>
            <a:r>
              <a:rPr lang="es" b="1" u="sng" dirty="0"/>
              <a:t>if x:</a:t>
            </a:r>
            <a:endParaRPr b="1" u="sng" dirty="0"/>
          </a:p>
          <a:p>
            <a:pPr indent="0">
              <a:spcBef>
                <a:spcPts val="1600"/>
              </a:spcBef>
              <a:buNone/>
            </a:pPr>
            <a:r>
              <a:rPr lang="es" b="1" u="sng" dirty="0"/>
              <a:t>	print(x)</a:t>
            </a:r>
            <a:endParaRPr b="1" u="sng" dirty="0"/>
          </a:p>
          <a:p>
            <a:pPr indent="0">
              <a:spcBef>
                <a:spcPts val="1600"/>
              </a:spcBef>
              <a:buNone/>
            </a:pPr>
            <a:r>
              <a:rPr lang="es" b="1" u="sng" dirty="0"/>
              <a:t>elif y:</a:t>
            </a:r>
            <a:endParaRPr b="1" u="sng" dirty="0"/>
          </a:p>
          <a:p>
            <a:pPr indent="0">
              <a:spcBef>
                <a:spcPts val="1600"/>
              </a:spcBef>
              <a:buNone/>
            </a:pPr>
            <a:r>
              <a:rPr lang="es" b="1" u="sng" dirty="0"/>
              <a:t>	print(y)</a:t>
            </a:r>
            <a:endParaRPr b="1" u="sng" dirty="0"/>
          </a:p>
          <a:p>
            <a:pPr indent="0">
              <a:spcBef>
                <a:spcPts val="1600"/>
              </a:spcBef>
              <a:buNone/>
            </a:pPr>
            <a:r>
              <a:rPr lang="es" b="1" u="sng" dirty="0"/>
              <a:t>else:</a:t>
            </a:r>
            <a:endParaRPr b="1" u="sng" dirty="0"/>
          </a:p>
          <a:p>
            <a:pPr indent="0">
              <a:spcBef>
                <a:spcPts val="1600"/>
              </a:spcBef>
              <a:buNone/>
            </a:pPr>
            <a:r>
              <a:rPr lang="es" b="1" u="sng" dirty="0"/>
              <a:t>	print(z)</a:t>
            </a:r>
            <a:endParaRPr b="1" u="sng" dirty="0"/>
          </a:p>
          <a:p>
            <a:pPr indent="0">
              <a:spcBef>
                <a:spcPts val="1600"/>
              </a:spcBef>
              <a:spcAft>
                <a:spcPts val="1600"/>
              </a:spcAft>
              <a:buNone/>
            </a:pPr>
            <a:endParaRPr b="1" u="sng" dirty="0"/>
          </a:p>
        </p:txBody>
      </p:sp>
      <p:sp>
        <p:nvSpPr>
          <p:cNvPr id="88" name="Google Shape;88;p17"/>
          <p:cNvSpPr txBox="1">
            <a:spLocks noGrp="1"/>
          </p:cNvSpPr>
          <p:nvPr>
            <p:ph type="body" idx="2"/>
          </p:nvPr>
        </p:nvSpPr>
        <p:spPr>
          <a:xfrm>
            <a:off x="6443200" y="2058967"/>
            <a:ext cx="5333200" cy="4555200"/>
          </a:xfrm>
          <a:prstGeom prst="rect">
            <a:avLst/>
          </a:prstGeom>
        </p:spPr>
        <p:txBody>
          <a:bodyPr spcFirstLastPara="1" wrap="square" lIns="121897" tIns="121897" rIns="121897" bIns="121897" anchor="t" anchorCtr="0">
            <a:normAutofit/>
          </a:bodyPr>
          <a:lstStyle/>
          <a:p>
            <a:pPr marL="0" indent="0">
              <a:buNone/>
            </a:pPr>
            <a:endParaRPr dirty="0"/>
          </a:p>
          <a:p>
            <a:pPr indent="0">
              <a:spcBef>
                <a:spcPts val="1600"/>
              </a:spcBef>
              <a:buNone/>
            </a:pPr>
            <a:r>
              <a:rPr lang="es" b="1" u="sng" dirty="0"/>
              <a:t>if x</a:t>
            </a:r>
            <a:endParaRPr b="1" u="sng" dirty="0"/>
          </a:p>
          <a:p>
            <a:pPr indent="0">
              <a:spcBef>
                <a:spcPts val="1600"/>
              </a:spcBef>
              <a:buNone/>
            </a:pPr>
            <a:r>
              <a:rPr lang="es" b="1" u="sng" dirty="0"/>
              <a:t>	puts x</a:t>
            </a:r>
            <a:endParaRPr b="1" u="sng" dirty="0"/>
          </a:p>
          <a:p>
            <a:pPr indent="0">
              <a:spcBef>
                <a:spcPts val="1600"/>
              </a:spcBef>
              <a:buNone/>
            </a:pPr>
            <a:r>
              <a:rPr lang="es" b="1" u="sng" dirty="0"/>
              <a:t>elif y</a:t>
            </a:r>
            <a:endParaRPr b="1" u="sng" dirty="0"/>
          </a:p>
          <a:p>
            <a:pPr indent="0">
              <a:spcBef>
                <a:spcPts val="1600"/>
              </a:spcBef>
              <a:buNone/>
            </a:pPr>
            <a:r>
              <a:rPr lang="es" b="1" u="sng" dirty="0"/>
              <a:t>	puts y</a:t>
            </a:r>
            <a:endParaRPr b="1" u="sng" dirty="0"/>
          </a:p>
          <a:p>
            <a:pPr indent="0">
              <a:spcBef>
                <a:spcPts val="1600"/>
              </a:spcBef>
              <a:buNone/>
            </a:pPr>
            <a:r>
              <a:rPr lang="es" b="1" u="sng" dirty="0"/>
              <a:t>else</a:t>
            </a:r>
            <a:endParaRPr b="1" u="sng" dirty="0"/>
          </a:p>
          <a:p>
            <a:pPr indent="0">
              <a:spcBef>
                <a:spcPts val="1600"/>
              </a:spcBef>
              <a:buNone/>
            </a:pPr>
            <a:r>
              <a:rPr lang="es" b="1" u="sng" dirty="0"/>
              <a:t>	puts z</a:t>
            </a:r>
            <a:endParaRPr b="1" u="sng" dirty="0"/>
          </a:p>
          <a:p>
            <a:pPr indent="0">
              <a:spcBef>
                <a:spcPts val="1600"/>
              </a:spcBef>
              <a:buNone/>
            </a:pPr>
            <a:r>
              <a:rPr lang="es" u="sng" dirty="0"/>
              <a:t>end</a:t>
            </a:r>
            <a:endParaRPr u="sng" dirty="0"/>
          </a:p>
          <a:p>
            <a:pPr marL="0" indent="0">
              <a:spcBef>
                <a:spcPts val="1600"/>
              </a:spcBef>
              <a:spcAft>
                <a:spcPts val="1600"/>
              </a:spcAft>
              <a:buNone/>
            </a:pPr>
            <a:endParaRPr b="1" u="sng" dirty="0"/>
          </a:p>
        </p:txBody>
      </p:sp>
      <p:pic>
        <p:nvPicPr>
          <p:cNvPr id="89" name="Google Shape;89;p17"/>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pic>
        <p:nvPicPr>
          <p:cNvPr id="90" name="Google Shape;90;p17"/>
          <p:cNvPicPr preferRelativeResize="0"/>
          <p:nvPr/>
        </p:nvPicPr>
        <p:blipFill>
          <a:blip r:embed="rId4" cstate="print">
            <a:alphaModFix/>
          </a:blip>
          <a:stretch>
            <a:fillRect/>
          </a:stretch>
        </p:blipFill>
        <p:spPr>
          <a:xfrm>
            <a:off x="8675796" y="1153833"/>
            <a:ext cx="867977" cy="7636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415600" y="303200"/>
            <a:ext cx="11360800" cy="763600"/>
          </a:xfrm>
          <a:prstGeom prst="rect">
            <a:avLst/>
          </a:prstGeom>
        </p:spPr>
        <p:txBody>
          <a:bodyPr spcFirstLastPara="1" wrap="square" lIns="121897" tIns="121897" rIns="121897" bIns="121897" anchor="t" anchorCtr="0">
            <a:normAutofit fontScale="90000"/>
          </a:bodyPr>
          <a:lstStyle/>
          <a:p>
            <a:r>
              <a:rPr lang="es" dirty="0"/>
              <a:t>Python vs Ruby: ejemplos</a:t>
            </a:r>
            <a:endParaRPr dirty="0"/>
          </a:p>
        </p:txBody>
      </p:sp>
      <p:sp>
        <p:nvSpPr>
          <p:cNvPr id="96" name="Google Shape;96;p18"/>
          <p:cNvSpPr txBox="1">
            <a:spLocks noGrp="1"/>
          </p:cNvSpPr>
          <p:nvPr>
            <p:ph type="body" idx="1"/>
          </p:nvPr>
        </p:nvSpPr>
        <p:spPr>
          <a:xfrm>
            <a:off x="415600" y="2058967"/>
            <a:ext cx="5333200" cy="4555200"/>
          </a:xfrm>
          <a:prstGeom prst="rect">
            <a:avLst/>
          </a:prstGeom>
        </p:spPr>
        <p:txBody>
          <a:bodyPr spcFirstLastPara="1" wrap="square" lIns="121897" tIns="121897" rIns="121897" bIns="121897" anchor="t" anchorCtr="0">
            <a:normAutofit/>
          </a:bodyPr>
          <a:lstStyle/>
          <a:p>
            <a:pPr>
              <a:buChar char="-"/>
            </a:pPr>
            <a:r>
              <a:rPr lang="es" dirty="0"/>
              <a:t>Bucles</a:t>
            </a:r>
            <a:endParaRPr dirty="0"/>
          </a:p>
          <a:p>
            <a:pPr indent="0">
              <a:spcBef>
                <a:spcPts val="1600"/>
              </a:spcBef>
              <a:buNone/>
            </a:pPr>
            <a:r>
              <a:rPr lang="es" b="1" u="sng" dirty="0"/>
              <a:t>while var &lt; 10:  </a:t>
            </a:r>
            <a:endParaRPr b="1" u="sng" dirty="0"/>
          </a:p>
          <a:p>
            <a:pPr indent="0">
              <a:spcBef>
                <a:spcPts val="1600"/>
              </a:spcBef>
              <a:buNone/>
            </a:pPr>
            <a:r>
              <a:rPr lang="es" dirty="0"/>
              <a:t>  </a:t>
            </a:r>
            <a:r>
              <a:rPr lang="es" b="1" u="sng" dirty="0"/>
              <a:t>print(var)</a:t>
            </a:r>
            <a:endParaRPr b="1" u="sng" dirty="0"/>
          </a:p>
          <a:p>
            <a:pPr indent="0">
              <a:spcBef>
                <a:spcPts val="1600"/>
              </a:spcBef>
              <a:buNone/>
            </a:pPr>
            <a:r>
              <a:rPr lang="es" dirty="0"/>
              <a:t>  </a:t>
            </a:r>
            <a:r>
              <a:rPr lang="es" b="1" u="sng" dirty="0"/>
              <a:t>var += 1  </a:t>
            </a:r>
            <a:endParaRPr b="1" u="sng" dirty="0"/>
          </a:p>
          <a:p>
            <a:pPr indent="0">
              <a:spcBef>
                <a:spcPts val="1600"/>
              </a:spcBef>
              <a:buNone/>
            </a:pPr>
            <a:endParaRPr dirty="0"/>
          </a:p>
          <a:p>
            <a:pPr indent="0">
              <a:spcBef>
                <a:spcPts val="1600"/>
              </a:spcBef>
              <a:buNone/>
            </a:pPr>
            <a:endParaRPr b="1" u="sng" dirty="0"/>
          </a:p>
          <a:p>
            <a:pPr indent="0">
              <a:spcBef>
                <a:spcPts val="1600"/>
              </a:spcBef>
              <a:spcAft>
                <a:spcPts val="1600"/>
              </a:spcAft>
              <a:buNone/>
            </a:pPr>
            <a:endParaRPr b="1" u="sng" dirty="0"/>
          </a:p>
        </p:txBody>
      </p:sp>
      <p:sp>
        <p:nvSpPr>
          <p:cNvPr id="97" name="Google Shape;97;p18"/>
          <p:cNvSpPr txBox="1">
            <a:spLocks noGrp="1"/>
          </p:cNvSpPr>
          <p:nvPr>
            <p:ph type="body" idx="2"/>
          </p:nvPr>
        </p:nvSpPr>
        <p:spPr>
          <a:xfrm>
            <a:off x="6443200" y="2058967"/>
            <a:ext cx="5333200" cy="4555200"/>
          </a:xfrm>
          <a:prstGeom prst="rect">
            <a:avLst/>
          </a:prstGeom>
        </p:spPr>
        <p:txBody>
          <a:bodyPr spcFirstLastPara="1" wrap="square" lIns="121897" tIns="121897" rIns="121897" bIns="121897" anchor="t" anchorCtr="0">
            <a:normAutofit/>
          </a:bodyPr>
          <a:lstStyle/>
          <a:p>
            <a:pPr marL="0" indent="0">
              <a:buNone/>
            </a:pPr>
            <a:endParaRPr dirty="0"/>
          </a:p>
          <a:p>
            <a:pPr indent="0">
              <a:spcBef>
                <a:spcPts val="1600"/>
              </a:spcBef>
              <a:buNone/>
            </a:pPr>
            <a:r>
              <a:rPr lang="es" b="1" u="sng" dirty="0"/>
              <a:t>while var &lt; 10  </a:t>
            </a:r>
            <a:endParaRPr b="1" u="sng" dirty="0"/>
          </a:p>
          <a:p>
            <a:pPr indent="0">
              <a:spcBef>
                <a:spcPts val="1600"/>
              </a:spcBef>
              <a:buNone/>
            </a:pPr>
            <a:r>
              <a:rPr lang="es" b="1" dirty="0"/>
              <a:t>  </a:t>
            </a:r>
            <a:r>
              <a:rPr lang="es" b="1" u="sng" dirty="0"/>
              <a:t>puts var</a:t>
            </a:r>
            <a:endParaRPr b="1" u="sng" dirty="0"/>
          </a:p>
          <a:p>
            <a:pPr indent="0">
              <a:spcBef>
                <a:spcPts val="1600"/>
              </a:spcBef>
              <a:buNone/>
            </a:pPr>
            <a:r>
              <a:rPr lang="es" b="1" dirty="0"/>
              <a:t>  </a:t>
            </a:r>
            <a:r>
              <a:rPr lang="es" b="1" u="sng" dirty="0"/>
              <a:t>var += 1  </a:t>
            </a:r>
            <a:endParaRPr b="1" u="sng" dirty="0"/>
          </a:p>
          <a:p>
            <a:pPr indent="0">
              <a:spcBef>
                <a:spcPts val="1600"/>
              </a:spcBef>
              <a:buNone/>
            </a:pPr>
            <a:r>
              <a:rPr lang="es" b="1" u="sng" dirty="0"/>
              <a:t>end</a:t>
            </a:r>
            <a:endParaRPr b="1" u="sng" dirty="0"/>
          </a:p>
          <a:p>
            <a:pPr indent="0">
              <a:spcBef>
                <a:spcPts val="1600"/>
              </a:spcBef>
              <a:buNone/>
            </a:pPr>
            <a:endParaRPr dirty="0"/>
          </a:p>
          <a:p>
            <a:pPr indent="0">
              <a:spcBef>
                <a:spcPts val="1600"/>
              </a:spcBef>
              <a:buNone/>
            </a:pPr>
            <a:r>
              <a:rPr lang="es" b="1" u="sng" dirty="0"/>
              <a:t>10.times do |num|</a:t>
            </a:r>
            <a:endParaRPr b="1" u="sng" dirty="0"/>
          </a:p>
          <a:p>
            <a:pPr indent="0">
              <a:spcBef>
                <a:spcPts val="1600"/>
              </a:spcBef>
              <a:buNone/>
            </a:pPr>
            <a:r>
              <a:rPr lang="es" dirty="0"/>
              <a:t>  </a:t>
            </a:r>
            <a:r>
              <a:rPr lang="es" b="1" dirty="0"/>
              <a:t>puts num</a:t>
            </a:r>
            <a:endParaRPr b="1" dirty="0"/>
          </a:p>
          <a:p>
            <a:pPr indent="0">
              <a:spcBef>
                <a:spcPts val="1600"/>
              </a:spcBef>
              <a:buNone/>
            </a:pPr>
            <a:r>
              <a:rPr lang="es" b="1" u="sng" dirty="0"/>
              <a:t>end</a:t>
            </a:r>
            <a:endParaRPr b="1" u="sng" dirty="0"/>
          </a:p>
          <a:p>
            <a:pPr marL="0" indent="0">
              <a:spcBef>
                <a:spcPts val="1600"/>
              </a:spcBef>
              <a:spcAft>
                <a:spcPts val="1600"/>
              </a:spcAft>
              <a:buNone/>
            </a:pPr>
            <a:endParaRPr b="1" u="sng" dirty="0"/>
          </a:p>
        </p:txBody>
      </p:sp>
      <p:pic>
        <p:nvPicPr>
          <p:cNvPr id="98" name="Google Shape;98;p18"/>
          <p:cNvPicPr preferRelativeResize="0"/>
          <p:nvPr/>
        </p:nvPicPr>
        <p:blipFill>
          <a:blip r:embed="rId3" cstate="print">
            <a:alphaModFix/>
          </a:blip>
          <a:stretch>
            <a:fillRect/>
          </a:stretch>
        </p:blipFill>
        <p:spPr>
          <a:xfrm>
            <a:off x="2683421" y="1153832"/>
            <a:ext cx="797548" cy="763600"/>
          </a:xfrm>
          <a:prstGeom prst="rect">
            <a:avLst/>
          </a:prstGeom>
          <a:noFill/>
          <a:ln>
            <a:noFill/>
          </a:ln>
        </p:spPr>
      </p:pic>
      <p:pic>
        <p:nvPicPr>
          <p:cNvPr id="99" name="Google Shape;99;p18"/>
          <p:cNvPicPr preferRelativeResize="0"/>
          <p:nvPr/>
        </p:nvPicPr>
        <p:blipFill>
          <a:blip r:embed="rId4" cstate="print">
            <a:alphaModFix/>
          </a:blip>
          <a:stretch>
            <a:fillRect/>
          </a:stretch>
        </p:blipFill>
        <p:spPr>
          <a:xfrm>
            <a:off x="8675796" y="1153833"/>
            <a:ext cx="867977" cy="763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Instalación</a:t>
            </a:r>
            <a:endParaRPr dirty="0"/>
          </a:p>
        </p:txBody>
      </p:sp>
      <p:sp>
        <p:nvSpPr>
          <p:cNvPr id="105" name="Google Shape;105;p19"/>
          <p:cNvSpPr txBox="1">
            <a:spLocks noGrp="1"/>
          </p:cNvSpPr>
          <p:nvPr>
            <p:ph type="body" idx="1"/>
          </p:nvPr>
        </p:nvSpPr>
        <p:spPr>
          <a:xfrm>
            <a:off x="415600" y="2155667"/>
            <a:ext cx="5333200" cy="4555200"/>
          </a:xfrm>
          <a:prstGeom prst="rect">
            <a:avLst/>
          </a:prstGeom>
        </p:spPr>
        <p:txBody>
          <a:bodyPr spcFirstLastPara="1" wrap="square" lIns="121897" tIns="121897" rIns="121897" bIns="121897" anchor="t" anchorCtr="0">
            <a:normAutofit/>
          </a:bodyPr>
          <a:lstStyle/>
          <a:p>
            <a:pPr>
              <a:buChar char="-"/>
            </a:pPr>
            <a:r>
              <a:rPr lang="es" dirty="0"/>
              <a:t>Instalación del framework:</a:t>
            </a:r>
            <a:endParaRPr dirty="0"/>
          </a:p>
          <a:p>
            <a:pPr indent="0">
              <a:spcBef>
                <a:spcPts val="1600"/>
              </a:spcBef>
              <a:buNone/>
            </a:pPr>
            <a:r>
              <a:rPr lang="es" dirty="0"/>
              <a:t>	</a:t>
            </a:r>
            <a:r>
              <a:rPr lang="es" b="1" u="sng" dirty="0"/>
              <a:t>pip install Django</a:t>
            </a:r>
            <a:endParaRPr dirty="0"/>
          </a:p>
          <a:p>
            <a:pPr>
              <a:spcBef>
                <a:spcPts val="1600"/>
              </a:spcBef>
              <a:buChar char="-"/>
            </a:pPr>
            <a:r>
              <a:rPr lang="es" dirty="0"/>
              <a:t>Crear un proyecto:</a:t>
            </a:r>
            <a:endParaRPr dirty="0"/>
          </a:p>
          <a:p>
            <a:pPr marL="1219170" indent="0">
              <a:spcBef>
                <a:spcPts val="1600"/>
              </a:spcBef>
              <a:buNone/>
            </a:pPr>
            <a:r>
              <a:rPr lang="es" b="1" u="sng" dirty="0"/>
              <a:t>django-admin startproject prueba</a:t>
            </a:r>
            <a:endParaRPr b="1" u="sng" dirty="0"/>
          </a:p>
          <a:p>
            <a:pPr>
              <a:spcBef>
                <a:spcPts val="1600"/>
              </a:spcBef>
              <a:buChar char="-"/>
            </a:pPr>
            <a:r>
              <a:rPr lang="es" dirty="0"/>
              <a:t>Crear una app en el proyecto:</a:t>
            </a:r>
            <a:endParaRPr dirty="0"/>
          </a:p>
          <a:p>
            <a:pPr marL="1219170" indent="0">
              <a:spcBef>
                <a:spcPts val="1600"/>
              </a:spcBef>
              <a:buNone/>
            </a:pPr>
            <a:r>
              <a:rPr lang="es" b="1" u="sng" dirty="0"/>
              <a:t>python manage.py startapp app</a:t>
            </a:r>
            <a:endParaRPr b="1" u="sng" dirty="0"/>
          </a:p>
          <a:p>
            <a:pPr>
              <a:spcBef>
                <a:spcPts val="1600"/>
              </a:spcBef>
              <a:buChar char="-"/>
            </a:pPr>
            <a:r>
              <a:rPr lang="es" dirty="0"/>
              <a:t>Ejecutar el servidor (</a:t>
            </a:r>
            <a:r>
              <a:rPr lang="es" b="1" dirty="0"/>
              <a:t>modo debug</a:t>
            </a:r>
            <a:r>
              <a:rPr lang="es" dirty="0"/>
              <a:t>):</a:t>
            </a:r>
            <a:endParaRPr dirty="0"/>
          </a:p>
          <a:p>
            <a:pPr marL="1219170" indent="0">
              <a:spcBef>
                <a:spcPts val="1600"/>
              </a:spcBef>
              <a:spcAft>
                <a:spcPts val="1600"/>
              </a:spcAft>
              <a:buNone/>
            </a:pPr>
            <a:r>
              <a:rPr lang="es" b="1" u="sng" dirty="0"/>
              <a:t>python manage.py runserver</a:t>
            </a:r>
            <a:endParaRPr b="1" u="sng" dirty="0"/>
          </a:p>
        </p:txBody>
      </p:sp>
      <p:sp>
        <p:nvSpPr>
          <p:cNvPr id="106" name="Google Shape;106;p19"/>
          <p:cNvSpPr txBox="1">
            <a:spLocks noGrp="1"/>
          </p:cNvSpPr>
          <p:nvPr>
            <p:ph type="body" idx="2"/>
          </p:nvPr>
        </p:nvSpPr>
        <p:spPr>
          <a:xfrm>
            <a:off x="6443200" y="2155667"/>
            <a:ext cx="5333200" cy="4555200"/>
          </a:xfrm>
          <a:prstGeom prst="rect">
            <a:avLst/>
          </a:prstGeom>
        </p:spPr>
        <p:txBody>
          <a:bodyPr spcFirstLastPara="1" wrap="square" lIns="121897" tIns="121897" rIns="121897" bIns="121897" anchor="t" anchorCtr="0">
            <a:normAutofit/>
          </a:bodyPr>
          <a:lstStyle/>
          <a:p>
            <a:pPr>
              <a:buChar char="-"/>
            </a:pPr>
            <a:r>
              <a:rPr lang="es" dirty="0"/>
              <a:t>Instalación del framework:</a:t>
            </a:r>
            <a:endParaRPr dirty="0"/>
          </a:p>
          <a:p>
            <a:pPr indent="0">
              <a:spcBef>
                <a:spcPts val="1600"/>
              </a:spcBef>
              <a:buNone/>
            </a:pPr>
            <a:r>
              <a:rPr lang="es" dirty="0"/>
              <a:t>	</a:t>
            </a:r>
            <a:r>
              <a:rPr lang="es" b="1" u="sng" dirty="0"/>
              <a:t>gem install rails</a:t>
            </a:r>
            <a:endParaRPr b="1" u="sng" dirty="0"/>
          </a:p>
          <a:p>
            <a:pPr>
              <a:spcBef>
                <a:spcPts val="1600"/>
              </a:spcBef>
              <a:buChar char="-"/>
            </a:pPr>
            <a:r>
              <a:rPr lang="es" dirty="0"/>
              <a:t>Crear un proyecto:</a:t>
            </a:r>
            <a:endParaRPr dirty="0"/>
          </a:p>
          <a:p>
            <a:pPr marL="1219170" indent="0">
              <a:spcBef>
                <a:spcPts val="1600"/>
              </a:spcBef>
              <a:buNone/>
            </a:pPr>
            <a:r>
              <a:rPr lang="es" b="1" u="sng" dirty="0"/>
              <a:t>rails new prueba</a:t>
            </a:r>
            <a:endParaRPr b="1" u="sng" dirty="0"/>
          </a:p>
          <a:p>
            <a:pPr>
              <a:spcBef>
                <a:spcPts val="1600"/>
              </a:spcBef>
              <a:buChar char="-"/>
            </a:pPr>
            <a:r>
              <a:rPr lang="es" dirty="0"/>
              <a:t>Ejecutar el servidor (</a:t>
            </a:r>
            <a:r>
              <a:rPr lang="es" b="1" dirty="0"/>
              <a:t>modo debug</a:t>
            </a:r>
            <a:r>
              <a:rPr lang="es" dirty="0"/>
              <a:t>):</a:t>
            </a:r>
            <a:endParaRPr dirty="0"/>
          </a:p>
          <a:p>
            <a:pPr marL="1219170" indent="0">
              <a:spcBef>
                <a:spcPts val="1600"/>
              </a:spcBef>
              <a:buNone/>
            </a:pPr>
            <a:r>
              <a:rPr lang="es" b="1" u="sng" dirty="0"/>
              <a:t>bin/rails server</a:t>
            </a:r>
            <a:endParaRPr b="1" u="sng" dirty="0"/>
          </a:p>
          <a:p>
            <a:pPr marL="1219170" indent="0">
              <a:spcBef>
                <a:spcPts val="1600"/>
              </a:spcBef>
              <a:buNone/>
            </a:pPr>
            <a:endParaRPr b="1" u="sng" dirty="0"/>
          </a:p>
          <a:p>
            <a:pPr marL="0" indent="0">
              <a:spcBef>
                <a:spcPts val="1600"/>
              </a:spcBef>
              <a:spcAft>
                <a:spcPts val="1600"/>
              </a:spcAft>
              <a:buNone/>
            </a:pPr>
            <a:endParaRPr dirty="0"/>
          </a:p>
        </p:txBody>
      </p:sp>
      <p:pic>
        <p:nvPicPr>
          <p:cNvPr id="107" name="Google Shape;107;p19"/>
          <p:cNvPicPr preferRelativeResize="0"/>
          <p:nvPr/>
        </p:nvPicPr>
        <p:blipFill>
          <a:blip r:embed="rId3" cstate="print">
            <a:alphaModFix/>
          </a:blip>
          <a:stretch>
            <a:fillRect/>
          </a:stretch>
        </p:blipFill>
        <p:spPr>
          <a:xfrm>
            <a:off x="8028365" y="1469258"/>
            <a:ext cx="1520800" cy="574100"/>
          </a:xfrm>
          <a:prstGeom prst="rect">
            <a:avLst/>
          </a:prstGeom>
          <a:noFill/>
          <a:ln>
            <a:noFill/>
          </a:ln>
        </p:spPr>
      </p:pic>
      <p:pic>
        <p:nvPicPr>
          <p:cNvPr id="108" name="Google Shape;108;p19"/>
          <p:cNvPicPr preferRelativeResize="0"/>
          <p:nvPr/>
        </p:nvPicPr>
        <p:blipFill>
          <a:blip r:embed="rId4" cstate="print">
            <a:alphaModFix/>
          </a:blip>
          <a:stretch>
            <a:fillRect/>
          </a:stretch>
        </p:blipFill>
        <p:spPr>
          <a:xfrm>
            <a:off x="2451485" y="1469280"/>
            <a:ext cx="1261433" cy="57406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Rails: estructura del proyecto</a:t>
            </a:r>
            <a:endParaRPr dirty="0"/>
          </a:p>
        </p:txBody>
      </p:sp>
      <p:sp>
        <p:nvSpPr>
          <p:cNvPr id="114" name="Google Shape;114;p20"/>
          <p:cNvSpPr txBox="1">
            <a:spLocks noGrp="1"/>
          </p:cNvSpPr>
          <p:nvPr>
            <p:ph type="body" idx="1"/>
          </p:nvPr>
        </p:nvSpPr>
        <p:spPr>
          <a:xfrm>
            <a:off x="454300" y="1536633"/>
            <a:ext cx="8077200" cy="4555200"/>
          </a:xfrm>
          <a:prstGeom prst="rect">
            <a:avLst/>
          </a:prstGeom>
        </p:spPr>
        <p:txBody>
          <a:bodyPr spcFirstLastPara="1" wrap="square" lIns="121897" tIns="121897" rIns="121897" bIns="121897" anchor="t" anchorCtr="0">
            <a:normAutofit/>
          </a:bodyPr>
          <a:lstStyle/>
          <a:p>
            <a:pPr>
              <a:buChar char="-"/>
            </a:pPr>
            <a:r>
              <a:rPr lang="es" b="1" dirty="0"/>
              <a:t>app</a:t>
            </a:r>
            <a:r>
              <a:rPr lang="es" dirty="0"/>
              <a:t>: contiene los controladores, modelos y vistas, también los helpers, mailers, etc.</a:t>
            </a:r>
            <a:endParaRPr dirty="0"/>
          </a:p>
          <a:p>
            <a:pPr>
              <a:buChar char="-"/>
            </a:pPr>
            <a:r>
              <a:rPr lang="es" b="1" dirty="0"/>
              <a:t>bin</a:t>
            </a:r>
            <a:r>
              <a:rPr lang="es" dirty="0"/>
              <a:t>: scripts para montar y ejecutar la app</a:t>
            </a:r>
            <a:endParaRPr dirty="0"/>
          </a:p>
          <a:p>
            <a:pPr>
              <a:buChar char="-"/>
            </a:pPr>
            <a:r>
              <a:rPr lang="es" b="1" dirty="0"/>
              <a:t>config</a:t>
            </a:r>
            <a:r>
              <a:rPr lang="es" dirty="0"/>
              <a:t>: configuración de las apps (rutas, bbdd...)</a:t>
            </a:r>
            <a:endParaRPr dirty="0"/>
          </a:p>
          <a:p>
            <a:pPr>
              <a:buChar char="-"/>
            </a:pPr>
            <a:r>
              <a:rPr lang="es" b="1" dirty="0"/>
              <a:t>db</a:t>
            </a:r>
            <a:r>
              <a:rPr lang="es" dirty="0"/>
              <a:t>: esquema y migraciones de la bbdd</a:t>
            </a:r>
            <a:endParaRPr dirty="0"/>
          </a:p>
          <a:p>
            <a:pPr>
              <a:buChar char="-"/>
            </a:pPr>
            <a:r>
              <a:rPr lang="es" b="1" dirty="0"/>
              <a:t>lib</a:t>
            </a:r>
            <a:r>
              <a:rPr lang="es" dirty="0"/>
              <a:t>: librerías del proyecto</a:t>
            </a:r>
            <a:endParaRPr dirty="0"/>
          </a:p>
          <a:p>
            <a:pPr>
              <a:buChar char="-"/>
            </a:pPr>
            <a:r>
              <a:rPr lang="es" b="1" dirty="0"/>
              <a:t>public</a:t>
            </a:r>
            <a:r>
              <a:rPr lang="es" dirty="0"/>
              <a:t>: elementos estáticos expuestos públicamente</a:t>
            </a:r>
            <a:endParaRPr dirty="0"/>
          </a:p>
        </p:txBody>
      </p:sp>
      <p:pic>
        <p:nvPicPr>
          <p:cNvPr id="115" name="Google Shape;115;p20"/>
          <p:cNvPicPr preferRelativeResize="0"/>
          <p:nvPr/>
        </p:nvPicPr>
        <p:blipFill>
          <a:blip r:embed="rId3" cstate="print">
            <a:alphaModFix/>
          </a:blip>
          <a:stretch>
            <a:fillRect/>
          </a:stretch>
        </p:blipFill>
        <p:spPr>
          <a:xfrm>
            <a:off x="8617701" y="266001"/>
            <a:ext cx="2999300" cy="6325999"/>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DJango: estructura del proyecto</a:t>
            </a:r>
            <a:endParaRPr dirty="0"/>
          </a:p>
          <a:p>
            <a:endParaRPr dirty="0"/>
          </a:p>
        </p:txBody>
      </p:sp>
      <p:sp>
        <p:nvSpPr>
          <p:cNvPr id="121" name="Google Shape;121;p21"/>
          <p:cNvSpPr txBox="1">
            <a:spLocks noGrp="1"/>
          </p:cNvSpPr>
          <p:nvPr>
            <p:ph type="body" idx="1"/>
          </p:nvPr>
        </p:nvSpPr>
        <p:spPr>
          <a:xfrm>
            <a:off x="415600" y="1536633"/>
            <a:ext cx="7709600" cy="4555200"/>
          </a:xfrm>
          <a:prstGeom prst="rect">
            <a:avLst/>
          </a:prstGeom>
        </p:spPr>
        <p:txBody>
          <a:bodyPr spcFirstLastPara="1" wrap="square" lIns="121897" tIns="121897" rIns="121897" bIns="121897" anchor="t" anchorCtr="0">
            <a:normAutofit/>
          </a:bodyPr>
          <a:lstStyle/>
          <a:p>
            <a:pPr>
              <a:buChar char="-"/>
            </a:pPr>
            <a:r>
              <a:rPr lang="es" b="1" dirty="0"/>
              <a:t>django_test</a:t>
            </a:r>
            <a:r>
              <a:rPr lang="es" dirty="0"/>
              <a:t>: configuraciones del proyecto como bbdd, rutas, autenticación, librerías…Ficheros asgi y wsgi</a:t>
            </a:r>
            <a:endParaRPr dirty="0"/>
          </a:p>
          <a:p>
            <a:pPr>
              <a:buChar char="-"/>
            </a:pPr>
            <a:r>
              <a:rPr lang="es" b="1" dirty="0"/>
              <a:t>app</a:t>
            </a:r>
            <a:r>
              <a:rPr lang="es" dirty="0"/>
              <a:t>: contiene los ficheros con los modelos (models), controladores (views) y vistas (templates)</a:t>
            </a:r>
            <a:endParaRPr dirty="0"/>
          </a:p>
          <a:p>
            <a:pPr>
              <a:buChar char="-"/>
            </a:pPr>
            <a:r>
              <a:rPr lang="es" b="1" dirty="0"/>
              <a:t>static</a:t>
            </a:r>
            <a:r>
              <a:rPr lang="es" dirty="0"/>
              <a:t>: contiene los ficheros estáticos y públicos (se puede cambiar el nombre)</a:t>
            </a:r>
            <a:endParaRPr dirty="0"/>
          </a:p>
          <a:p>
            <a:pPr>
              <a:buChar char="-"/>
            </a:pPr>
            <a:r>
              <a:rPr lang="es" dirty="0"/>
              <a:t>manage.py: utilidad para la línea de comandos </a:t>
            </a:r>
            <a:endParaRPr dirty="0"/>
          </a:p>
        </p:txBody>
      </p:sp>
      <p:pic>
        <p:nvPicPr>
          <p:cNvPr id="122" name="Google Shape;122;p21"/>
          <p:cNvPicPr preferRelativeResize="0"/>
          <p:nvPr/>
        </p:nvPicPr>
        <p:blipFill>
          <a:blip r:embed="rId3" cstate="print">
            <a:alphaModFix/>
          </a:blip>
          <a:stretch>
            <a:fillRect/>
          </a:stretch>
        </p:blipFill>
        <p:spPr>
          <a:xfrm>
            <a:off x="8436285" y="1242467"/>
            <a:ext cx="3340100" cy="51435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Servidores</a:t>
            </a:r>
            <a:endParaRPr dirty="0"/>
          </a:p>
        </p:txBody>
      </p:sp>
      <p:sp>
        <p:nvSpPr>
          <p:cNvPr id="128" name="Google Shape;128;p22"/>
          <p:cNvSpPr txBox="1">
            <a:spLocks noGrp="1"/>
          </p:cNvSpPr>
          <p:nvPr>
            <p:ph type="body" idx="1"/>
          </p:nvPr>
        </p:nvSpPr>
        <p:spPr>
          <a:xfrm>
            <a:off x="415600" y="1995367"/>
            <a:ext cx="9440800" cy="4253200"/>
          </a:xfrm>
          <a:prstGeom prst="rect">
            <a:avLst/>
          </a:prstGeom>
        </p:spPr>
        <p:txBody>
          <a:bodyPr spcFirstLastPara="1" wrap="square" lIns="121897" tIns="121897" rIns="121897" bIns="121897" anchor="t" anchorCtr="0">
            <a:normAutofit/>
          </a:bodyPr>
          <a:lstStyle/>
          <a:p>
            <a:pPr>
              <a:buChar char="-"/>
            </a:pPr>
            <a:r>
              <a:rPr lang="es" dirty="0"/>
              <a:t>Ambos vienen con servidores de debug</a:t>
            </a:r>
            <a:endParaRPr dirty="0"/>
          </a:p>
          <a:p>
            <a:pPr>
              <a:buChar char="-"/>
            </a:pPr>
            <a:r>
              <a:rPr lang="es" dirty="0"/>
              <a:t>Se ejecutan en los puertos 8000 y 3000</a:t>
            </a:r>
            <a:endParaRPr dirty="0"/>
          </a:p>
          <a:p>
            <a:pPr>
              <a:buChar char="-"/>
            </a:pPr>
            <a:r>
              <a:rPr lang="es" dirty="0"/>
              <a:t>Tienen utilidades para debuguear</a:t>
            </a:r>
            <a:endParaRPr dirty="0"/>
          </a:p>
          <a:p>
            <a:pPr>
              <a:buChar char="-"/>
            </a:pPr>
            <a:r>
              <a:rPr lang="es" dirty="0"/>
              <a:t>Para producción es conveniente usar un servidor tipo Apache</a:t>
            </a:r>
            <a:endParaRPr dirty="0"/>
          </a:p>
          <a:p>
            <a:pPr>
              <a:buChar char="-"/>
            </a:pPr>
            <a:r>
              <a:rPr lang="es" dirty="0"/>
              <a:t>Django usa WSGI o ASGI y Rails utiliza Rack</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415600" y="593367"/>
            <a:ext cx="11360800" cy="763600"/>
          </a:xfrm>
          <a:prstGeom prst="rect">
            <a:avLst/>
          </a:prstGeom>
        </p:spPr>
        <p:txBody>
          <a:bodyPr spcFirstLastPara="1" wrap="square" lIns="121897" tIns="121897" rIns="121897" bIns="121897" anchor="t" anchorCtr="0">
            <a:normAutofit fontScale="90000"/>
          </a:bodyPr>
          <a:lstStyle/>
          <a:p>
            <a:r>
              <a:rPr lang="es" dirty="0"/>
              <a:t>Modelo - Vista - Controlador</a:t>
            </a:r>
            <a:endParaRPr dirty="0"/>
          </a:p>
        </p:txBody>
      </p:sp>
      <p:sp>
        <p:nvSpPr>
          <p:cNvPr id="134" name="Google Shape;134;p23"/>
          <p:cNvSpPr txBox="1">
            <a:spLocks noGrp="1"/>
          </p:cNvSpPr>
          <p:nvPr>
            <p:ph type="body" idx="1"/>
          </p:nvPr>
        </p:nvSpPr>
        <p:spPr>
          <a:xfrm>
            <a:off x="415600" y="1536633"/>
            <a:ext cx="11360800" cy="4555200"/>
          </a:xfrm>
          <a:prstGeom prst="rect">
            <a:avLst/>
          </a:prstGeom>
        </p:spPr>
        <p:txBody>
          <a:bodyPr spcFirstLastPara="1" wrap="square" lIns="121897" tIns="121897" rIns="121897" bIns="121897" anchor="t" anchorCtr="0">
            <a:normAutofit/>
          </a:bodyPr>
          <a:lstStyle/>
          <a:p>
            <a:pPr>
              <a:buChar char="-"/>
            </a:pPr>
            <a:r>
              <a:rPr lang="es" b="1" dirty="0"/>
              <a:t>Modelos</a:t>
            </a:r>
            <a:r>
              <a:rPr lang="es" dirty="0"/>
              <a:t>: representación de los datos.</a:t>
            </a:r>
            <a:endParaRPr dirty="0"/>
          </a:p>
          <a:p>
            <a:pPr>
              <a:buChar char="-"/>
            </a:pPr>
            <a:r>
              <a:rPr lang="es" b="1" dirty="0"/>
              <a:t>Vista</a:t>
            </a:r>
            <a:r>
              <a:rPr lang="es" dirty="0"/>
              <a:t>: o interfaz, parte visual.</a:t>
            </a:r>
            <a:endParaRPr dirty="0"/>
          </a:p>
          <a:p>
            <a:pPr>
              <a:buChar char="-"/>
            </a:pPr>
            <a:r>
              <a:rPr lang="es" b="1" dirty="0"/>
              <a:t>Controlador</a:t>
            </a:r>
            <a:r>
              <a:rPr lang="es" dirty="0"/>
              <a:t>: lógica de la app</a:t>
            </a:r>
            <a:endParaRPr dirty="0"/>
          </a:p>
          <a:p>
            <a:pPr>
              <a:buChar char="-"/>
            </a:pPr>
            <a:r>
              <a:rPr lang="es" dirty="0"/>
              <a:t>Separa funcionalidades</a:t>
            </a:r>
            <a:endParaRPr dirty="0"/>
          </a:p>
          <a:p>
            <a:pPr indent="0">
              <a:spcBef>
                <a:spcPts val="1600"/>
              </a:spcBef>
              <a:buNone/>
            </a:pPr>
            <a:endParaRPr dirty="0"/>
          </a:p>
          <a:p>
            <a:pPr>
              <a:spcBef>
                <a:spcPts val="1600"/>
              </a:spcBef>
              <a:buChar char="-"/>
            </a:pPr>
            <a:r>
              <a:rPr lang="es" dirty="0"/>
              <a:t>Ambos frameworks utilizan el patrón MVC</a:t>
            </a:r>
            <a:endParaRPr dirty="0"/>
          </a:p>
          <a:p>
            <a:pPr>
              <a:buChar char="-"/>
            </a:pPr>
            <a:r>
              <a:rPr lang="es" dirty="0"/>
              <a:t>Rails lo implementa por defecto</a:t>
            </a:r>
            <a:endParaRPr dirty="0"/>
          </a:p>
          <a:p>
            <a:pPr>
              <a:buChar char="-"/>
            </a:pPr>
            <a:r>
              <a:rPr lang="es" dirty="0"/>
              <a:t>Django implementa el MVC de una forma especial: MTV</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12376C-63F4-43B4-BF5A-01A305C03AC6}"/>
              </a:ext>
            </a:extLst>
          </p:cNvPr>
          <p:cNvSpPr>
            <a:spLocks noGrp="1"/>
          </p:cNvSpPr>
          <p:nvPr>
            <p:ph type="title"/>
          </p:nvPr>
        </p:nvSpPr>
        <p:spPr>
          <a:xfrm>
            <a:off x="671384" y="304800"/>
            <a:ext cx="9144000" cy="1263649"/>
          </a:xfrm>
        </p:spPr>
        <p:txBody>
          <a:bodyPr/>
          <a:lstStyle/>
          <a:p>
            <a:pPr algn="ctr"/>
            <a:r>
              <a:rPr lang="es-ES" dirty="0"/>
              <a:t>DJANGO</a:t>
            </a:r>
          </a:p>
        </p:txBody>
      </p:sp>
      <p:sp>
        <p:nvSpPr>
          <p:cNvPr id="3" name="Marcador de contenido 2">
            <a:extLst>
              <a:ext uri="{FF2B5EF4-FFF2-40B4-BE49-F238E27FC236}">
                <a16:creationId xmlns:a16="http://schemas.microsoft.com/office/drawing/2014/main" id="{5098C0BB-C863-4C4E-913A-2D88187707D8}"/>
              </a:ext>
            </a:extLst>
          </p:cNvPr>
          <p:cNvSpPr>
            <a:spLocks noGrp="1"/>
          </p:cNvSpPr>
          <p:nvPr>
            <p:ph idx="1"/>
          </p:nvPr>
        </p:nvSpPr>
        <p:spPr>
          <a:xfrm>
            <a:off x="850557" y="1560354"/>
            <a:ext cx="10131425" cy="3649133"/>
          </a:xfrm>
        </p:spPr>
        <p:txBody>
          <a:bodyPr/>
          <a:lstStyle/>
          <a:p>
            <a:r>
              <a:rPr lang="es-ES" dirty="0"/>
              <a:t>FRAMEWORK DE DESARROLLO WEB DE CODIGO ABIERTO</a:t>
            </a:r>
          </a:p>
          <a:p>
            <a:r>
              <a:rPr lang="es-ES" dirty="0"/>
              <a:t>PYTHON</a:t>
            </a:r>
          </a:p>
          <a:p>
            <a:r>
              <a:rPr lang="es-ES" dirty="0"/>
              <a:t>MODELO-VISTA-CONTROLADOR</a:t>
            </a:r>
          </a:p>
          <a:p>
            <a:r>
              <a:rPr lang="es-ES" dirty="0"/>
              <a:t>2005</a:t>
            </a:r>
          </a:p>
          <a:p>
            <a:r>
              <a:rPr lang="es-ES" dirty="0"/>
              <a:t>SITIOS WEB COMPLEJOS</a:t>
            </a:r>
          </a:p>
          <a:p>
            <a:r>
              <a:rPr lang="es-ES" dirty="0"/>
              <a:t>PRINCIPIO NO TE REPITAS</a:t>
            </a:r>
          </a:p>
        </p:txBody>
      </p:sp>
    </p:spTree>
    <p:extLst>
      <p:ext uri="{BB962C8B-B14F-4D97-AF65-F5344CB8AC3E}">
        <p14:creationId xmlns:p14="http://schemas.microsoft.com/office/powerpoint/2010/main" val="28829303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69A6D2-994A-48AE-818C-79B327442ACC}"/>
              </a:ext>
            </a:extLst>
          </p:cNvPr>
          <p:cNvSpPr>
            <a:spLocks noGrp="1"/>
          </p:cNvSpPr>
          <p:nvPr>
            <p:ph type="title"/>
          </p:nvPr>
        </p:nvSpPr>
        <p:spPr/>
        <p:txBody>
          <a:bodyPr/>
          <a:lstStyle/>
          <a:p>
            <a:pPr algn="ctr"/>
            <a:r>
              <a:rPr lang="es-ES" dirty="0"/>
              <a:t>RAILS</a:t>
            </a:r>
          </a:p>
        </p:txBody>
      </p:sp>
      <p:sp>
        <p:nvSpPr>
          <p:cNvPr id="3" name="Marcador de contenido 2">
            <a:extLst>
              <a:ext uri="{FF2B5EF4-FFF2-40B4-BE49-F238E27FC236}">
                <a16:creationId xmlns:a16="http://schemas.microsoft.com/office/drawing/2014/main" id="{D17C8C3E-4943-4DB3-83B3-98DB21CE58BA}"/>
              </a:ext>
            </a:extLst>
          </p:cNvPr>
          <p:cNvSpPr>
            <a:spLocks noGrp="1"/>
          </p:cNvSpPr>
          <p:nvPr>
            <p:ph idx="1"/>
          </p:nvPr>
        </p:nvSpPr>
        <p:spPr/>
        <p:txBody>
          <a:bodyPr>
            <a:normAutofit fontScale="92500"/>
          </a:bodyPr>
          <a:lstStyle/>
          <a:p>
            <a:r>
              <a:rPr lang="es-ES" dirty="0"/>
              <a:t>FRAMEWORK DE APLICACIONES WEB DE CODIGO ABIERTO</a:t>
            </a:r>
          </a:p>
          <a:p>
            <a:r>
              <a:rPr lang="es-ES" dirty="0"/>
              <a:t>RUBY</a:t>
            </a:r>
          </a:p>
          <a:p>
            <a:r>
              <a:rPr lang="es-ES" dirty="0"/>
              <a:t>MODELO-VISTA-CONTROLADOR</a:t>
            </a:r>
          </a:p>
          <a:p>
            <a:r>
              <a:rPr lang="es-ES" dirty="0"/>
              <a:t>2005</a:t>
            </a:r>
          </a:p>
          <a:p>
            <a:r>
              <a:rPr lang="es-ES" dirty="0"/>
              <a:t>SIMPLICIDAD</a:t>
            </a:r>
          </a:p>
          <a:p>
            <a:r>
              <a:rPr lang="es-ES" dirty="0"/>
              <a:t>PRINCIPIO NO TE REPITAS</a:t>
            </a:r>
          </a:p>
          <a:p>
            <a:endParaRPr lang="es-ES" dirty="0"/>
          </a:p>
        </p:txBody>
      </p:sp>
    </p:spTree>
    <p:extLst>
      <p:ext uri="{BB962C8B-B14F-4D97-AF65-F5344CB8AC3E}">
        <p14:creationId xmlns:p14="http://schemas.microsoft.com/office/powerpoint/2010/main" val="26131052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p:txBody>
          <a:bodyPr/>
          <a:lstStyle/>
          <a:p>
            <a:pPr algn="ctr"/>
            <a:r>
              <a:rPr lang="es-ES" dirty="0"/>
              <a:t>MODELO VISTA CONTROLADOR</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771787" y="2065867"/>
            <a:ext cx="4127384" cy="3508653"/>
          </a:xfrm>
          <a:prstGeom prst="rect">
            <a:avLst/>
          </a:prstGeom>
          <a:noFill/>
        </p:spPr>
        <p:txBody>
          <a:bodyPr wrap="square" rtlCol="0">
            <a:spAutoFit/>
          </a:bodyPr>
          <a:lstStyle/>
          <a:p>
            <a:r>
              <a:rPr lang="es-ES" sz="2400" dirty="0"/>
              <a:t>			</a:t>
            </a:r>
            <a:r>
              <a:rPr lang="es-ES" sz="2400" b="1" u="sng" dirty="0"/>
              <a:t>DJANGO</a:t>
            </a:r>
          </a:p>
          <a:p>
            <a:endParaRPr lang="es-ES" dirty="0"/>
          </a:p>
          <a:p>
            <a:r>
              <a:rPr lang="es-ES" dirty="0"/>
              <a:t>-CONTROLADOR LLAMADO VISTA</a:t>
            </a:r>
          </a:p>
          <a:p>
            <a:r>
              <a:rPr lang="es-ES" dirty="0"/>
              <a:t>-VISTA LLAMADO TEMPLATE</a:t>
            </a:r>
          </a:p>
          <a:p>
            <a:r>
              <a:rPr lang="es-ES" dirty="0"/>
              <a:t>-SE ASEMEJA A LA IMPLEMENTACION DEL MVC</a:t>
            </a:r>
          </a:p>
          <a:p>
            <a:r>
              <a:rPr lang="es-ES" dirty="0"/>
              <a:t>-DJANGO BUSCA UNA HERRAMIENTA QUE FUNCIONE LO MEJOR POSIBLE</a:t>
            </a:r>
          </a:p>
          <a:p>
            <a:r>
              <a:rPr lang="es-ES" dirty="0"/>
              <a:t>-MVC REPRESENTADO POR EL PROPIO FRAMEWORK</a:t>
            </a:r>
          </a:p>
          <a:p>
            <a:r>
              <a:rPr lang="es-ES" dirty="0"/>
              <a:t>-MTV</a:t>
            </a:r>
          </a:p>
          <a:p>
            <a:endParaRPr lang="es-ES" dirty="0"/>
          </a:p>
        </p:txBody>
      </p:sp>
      <p:sp>
        <p:nvSpPr>
          <p:cNvPr id="6" name="CuadroTexto 5">
            <a:extLst>
              <a:ext uri="{FF2B5EF4-FFF2-40B4-BE49-F238E27FC236}">
                <a16:creationId xmlns:a16="http://schemas.microsoft.com/office/drawing/2014/main" id="{BBDA8C62-F30D-4B96-B569-0EE8D8FEFC76}"/>
              </a:ext>
            </a:extLst>
          </p:cNvPr>
          <p:cNvSpPr txBox="1"/>
          <p:nvPr/>
        </p:nvSpPr>
        <p:spPr>
          <a:xfrm>
            <a:off x="7378815" y="2065866"/>
            <a:ext cx="4127384" cy="3016210"/>
          </a:xfrm>
          <a:prstGeom prst="rect">
            <a:avLst/>
          </a:prstGeom>
          <a:noFill/>
        </p:spPr>
        <p:txBody>
          <a:bodyPr wrap="square" rtlCol="0">
            <a:spAutoFit/>
          </a:bodyPr>
          <a:lstStyle/>
          <a:p>
            <a:r>
              <a:rPr lang="es-ES" sz="2800" dirty="0"/>
              <a:t>			</a:t>
            </a:r>
            <a:r>
              <a:rPr lang="es-ES" sz="2800" b="1" u="sng" dirty="0"/>
              <a:t>RAILS</a:t>
            </a:r>
          </a:p>
          <a:p>
            <a:endParaRPr lang="es-ES" dirty="0"/>
          </a:p>
          <a:p>
            <a:r>
              <a:rPr lang="es-ES" dirty="0"/>
              <a:t>-MODELO CONSISTE EN LAS CLASES QUE REPRESENTAN A LAS TABLAS EN LA BBDD</a:t>
            </a:r>
          </a:p>
          <a:p>
            <a:r>
              <a:rPr lang="es-ES" dirty="0"/>
              <a:t>-VISTA ES LA LOGICA DE LA VISUALIZACIÓN</a:t>
            </a:r>
          </a:p>
          <a:p>
            <a:r>
              <a:rPr lang="es-ES" dirty="0"/>
              <a:t>-RAILS EMPLEA RUBY EMPOTRADO</a:t>
            </a:r>
          </a:p>
          <a:p>
            <a:r>
              <a:rPr lang="es-ES" dirty="0"/>
              <a:t>-CONTROLADOR RESPONDE A LA INTERACCIÓN DEL USUARIO E INVOCAN A LA LÓGICA DE LA APLICACIÓN</a:t>
            </a:r>
          </a:p>
        </p:txBody>
      </p:sp>
    </p:spTree>
    <p:extLst>
      <p:ext uri="{BB962C8B-B14F-4D97-AF65-F5344CB8AC3E}">
        <p14:creationId xmlns:p14="http://schemas.microsoft.com/office/powerpoint/2010/main" val="41652369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682742" y="0"/>
            <a:ext cx="10131425" cy="1456267"/>
          </a:xfrm>
        </p:spPr>
        <p:txBody>
          <a:bodyPr/>
          <a:lstStyle/>
          <a:p>
            <a:pPr algn="ctr"/>
            <a:r>
              <a:rPr lang="es-ES" dirty="0"/>
              <a:t>ESTRUCTURA djanGO</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347941" y="1127148"/>
            <a:ext cx="4966282" cy="4739759"/>
          </a:xfrm>
          <a:prstGeom prst="rect">
            <a:avLst/>
          </a:prstGeom>
          <a:noFill/>
        </p:spPr>
        <p:txBody>
          <a:bodyPr wrap="square" rtlCol="0">
            <a:spAutoFit/>
          </a:bodyPr>
          <a:lstStyle/>
          <a:p>
            <a:pPr algn="ctr"/>
            <a:r>
              <a:rPr lang="es-ES" sz="2400" b="1" u="sng" dirty="0"/>
              <a:t>DJANGO</a:t>
            </a:r>
          </a:p>
          <a:p>
            <a:endParaRPr lang="es-ES" sz="1400" dirty="0"/>
          </a:p>
          <a:p>
            <a:r>
              <a:rPr lang="es-ES" sz="1400" dirty="0"/>
              <a:t>django-admin startproject  _nombre_carpeta_</a:t>
            </a:r>
          </a:p>
          <a:p>
            <a:r>
              <a:rPr lang="es-ES" sz="1400" dirty="0"/>
              <a:t>NOS CREA UNA ESTRUCTURA DE CARPETAS</a:t>
            </a:r>
          </a:p>
          <a:p>
            <a:endParaRPr lang="es-ES" sz="1400" dirty="0"/>
          </a:p>
          <a:p>
            <a:endParaRPr lang="es-ES" sz="1400" dirty="0"/>
          </a:p>
          <a:p>
            <a:endParaRPr lang="es-ES" sz="1400" dirty="0"/>
          </a:p>
          <a:p>
            <a:endParaRPr lang="es-ES" sz="1400" dirty="0"/>
          </a:p>
          <a:p>
            <a:endParaRPr lang="es-ES" sz="1400" dirty="0"/>
          </a:p>
          <a:p>
            <a:endParaRPr lang="es-ES" sz="1400" dirty="0"/>
          </a:p>
          <a:p>
            <a:r>
              <a:rPr lang="es-ES" sz="1400" dirty="0"/>
              <a:t>SETTING.PY -&gt; AJUSTES DEL SITIO, FICHEROS ESTATICOS, CONFIGURACION DE LA BBDD</a:t>
            </a:r>
          </a:p>
          <a:p>
            <a:r>
              <a:rPr lang="es-ES" sz="1400" dirty="0"/>
              <a:t>URLS.PY -&gt; MAPEOS URL-VISTAS</a:t>
            </a:r>
          </a:p>
          <a:p>
            <a:r>
              <a:rPr lang="es-ES" sz="1400" dirty="0"/>
              <a:t>WSGI.PY -&gt; COMUNICARSE CON EL SERVIDOR WEB</a:t>
            </a:r>
          </a:p>
          <a:p>
            <a:endParaRPr lang="es-ES" sz="1400" dirty="0"/>
          </a:p>
          <a:p>
            <a:r>
              <a:rPr lang="es-ES" sz="1400" dirty="0"/>
              <a:t>Python 3 manage.py startapp catalog</a:t>
            </a:r>
          </a:p>
          <a:p>
            <a:endParaRPr lang="es-ES" sz="1400" dirty="0"/>
          </a:p>
          <a:p>
            <a:endParaRPr lang="es-ES" dirty="0"/>
          </a:p>
          <a:p>
            <a:endParaRPr lang="es-ES" dirty="0"/>
          </a:p>
          <a:p>
            <a:endParaRPr lang="es-ES" dirty="0"/>
          </a:p>
        </p:txBody>
      </p:sp>
      <p:sp>
        <p:nvSpPr>
          <p:cNvPr id="6" name="CuadroTexto 5">
            <a:extLst>
              <a:ext uri="{FF2B5EF4-FFF2-40B4-BE49-F238E27FC236}">
                <a16:creationId xmlns:a16="http://schemas.microsoft.com/office/drawing/2014/main" id="{BBDA8C62-F30D-4B96-B569-0EE8D8FEFC76}"/>
              </a:ext>
            </a:extLst>
          </p:cNvPr>
          <p:cNvSpPr txBox="1"/>
          <p:nvPr/>
        </p:nvSpPr>
        <p:spPr>
          <a:xfrm>
            <a:off x="6182686" y="1127148"/>
            <a:ext cx="5097010" cy="4093428"/>
          </a:xfrm>
          <a:prstGeom prst="rect">
            <a:avLst/>
          </a:prstGeom>
          <a:noFill/>
        </p:spPr>
        <p:txBody>
          <a:bodyPr wrap="square" rtlCol="0">
            <a:spAutoFit/>
          </a:bodyPr>
          <a:lstStyle/>
          <a:p>
            <a:pPr algn="ctr"/>
            <a:r>
              <a:rPr lang="es-ES" sz="2800" b="1" u="sng" dirty="0"/>
              <a:t>RAILS</a:t>
            </a:r>
          </a:p>
          <a:p>
            <a:pPr algn="ctr"/>
            <a:endParaRPr lang="es-ES" sz="1400" dirty="0"/>
          </a:p>
          <a:p>
            <a:r>
              <a:rPr lang="es-ES" sz="1400" dirty="0"/>
              <a:t>rails new blog</a:t>
            </a:r>
          </a:p>
          <a:p>
            <a:endParaRPr lang="es-ES" sz="1400" dirty="0"/>
          </a:p>
          <a:p>
            <a:endParaRPr lang="es-ES" sz="2800" b="1" u="sng"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endParaRPr lang="es-ES" dirty="0"/>
          </a:p>
        </p:txBody>
      </p:sp>
      <p:pic>
        <p:nvPicPr>
          <p:cNvPr id="7" name="Imagen 6">
            <a:extLst>
              <a:ext uri="{FF2B5EF4-FFF2-40B4-BE49-F238E27FC236}">
                <a16:creationId xmlns:a16="http://schemas.microsoft.com/office/drawing/2014/main" id="{A69C31E1-37DB-496D-9098-1A6A77AA1226}"/>
              </a:ext>
            </a:extLst>
          </p:cNvPr>
          <p:cNvPicPr>
            <a:picLocks noChangeAspect="1"/>
          </p:cNvPicPr>
          <p:nvPr/>
        </p:nvPicPr>
        <p:blipFill>
          <a:blip r:embed="rId2" cstate="print"/>
          <a:stretch>
            <a:fillRect/>
          </a:stretch>
        </p:blipFill>
        <p:spPr>
          <a:xfrm>
            <a:off x="553206" y="2200091"/>
            <a:ext cx="2037944" cy="1166649"/>
          </a:xfrm>
          <a:prstGeom prst="rect">
            <a:avLst/>
          </a:prstGeom>
        </p:spPr>
      </p:pic>
      <p:pic>
        <p:nvPicPr>
          <p:cNvPr id="13" name="Imagen 12">
            <a:extLst>
              <a:ext uri="{FF2B5EF4-FFF2-40B4-BE49-F238E27FC236}">
                <a16:creationId xmlns:a16="http://schemas.microsoft.com/office/drawing/2014/main" id="{5856E9B5-8FFC-4EE7-B5AB-B98630CD988D}"/>
              </a:ext>
            </a:extLst>
          </p:cNvPr>
          <p:cNvPicPr>
            <a:picLocks noChangeAspect="1"/>
          </p:cNvPicPr>
          <p:nvPr/>
        </p:nvPicPr>
        <p:blipFill>
          <a:blip r:embed="rId3" cstate="print"/>
          <a:stretch>
            <a:fillRect/>
          </a:stretch>
        </p:blipFill>
        <p:spPr>
          <a:xfrm>
            <a:off x="1850008" y="4771233"/>
            <a:ext cx="1962148" cy="1969608"/>
          </a:xfrm>
          <a:prstGeom prst="rect">
            <a:avLst/>
          </a:prstGeom>
        </p:spPr>
      </p:pic>
      <p:pic>
        <p:nvPicPr>
          <p:cNvPr id="15" name="Imagen 14">
            <a:extLst>
              <a:ext uri="{FF2B5EF4-FFF2-40B4-BE49-F238E27FC236}">
                <a16:creationId xmlns:a16="http://schemas.microsoft.com/office/drawing/2014/main" id="{B8C52A6A-D7AB-4508-947F-FA8AC3C96018}"/>
              </a:ext>
            </a:extLst>
          </p:cNvPr>
          <p:cNvPicPr>
            <a:picLocks noChangeAspect="1"/>
          </p:cNvPicPr>
          <p:nvPr/>
        </p:nvPicPr>
        <p:blipFill>
          <a:blip r:embed="rId4" cstate="print"/>
          <a:stretch>
            <a:fillRect/>
          </a:stretch>
        </p:blipFill>
        <p:spPr>
          <a:xfrm>
            <a:off x="6182686" y="2200091"/>
            <a:ext cx="4675130" cy="4415760"/>
          </a:xfrm>
          <a:prstGeom prst="rect">
            <a:avLst/>
          </a:prstGeom>
        </p:spPr>
      </p:pic>
      <p:sp>
        <p:nvSpPr>
          <p:cNvPr id="16" name="Rectángulo 15">
            <a:extLst>
              <a:ext uri="{FF2B5EF4-FFF2-40B4-BE49-F238E27FC236}">
                <a16:creationId xmlns:a16="http://schemas.microsoft.com/office/drawing/2014/main" id="{6A7A528B-E7B5-41AB-9A0E-11B8BC5A3320}"/>
              </a:ext>
            </a:extLst>
          </p:cNvPr>
          <p:cNvSpPr/>
          <p:nvPr/>
        </p:nvSpPr>
        <p:spPr>
          <a:xfrm>
            <a:off x="10553700" y="2486025"/>
            <a:ext cx="138113" cy="16668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6C6A42EA-B294-414D-80ED-7737D66D24D1}"/>
              </a:ext>
            </a:extLst>
          </p:cNvPr>
          <p:cNvSpPr/>
          <p:nvPr/>
        </p:nvSpPr>
        <p:spPr>
          <a:xfrm>
            <a:off x="7134225" y="2624138"/>
            <a:ext cx="2157412" cy="9739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1771241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762000" y="395416"/>
            <a:ext cx="9144000" cy="1263649"/>
          </a:xfrm>
        </p:spPr>
        <p:txBody>
          <a:bodyPr/>
          <a:lstStyle/>
          <a:p>
            <a:pPr algn="ctr"/>
            <a:r>
              <a:rPr lang="es-ES" dirty="0"/>
              <a:t>servidores</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703524" y="1866550"/>
            <a:ext cx="5047989" cy="1908215"/>
          </a:xfrm>
          <a:prstGeom prst="rect">
            <a:avLst/>
          </a:prstGeom>
          <a:noFill/>
        </p:spPr>
        <p:txBody>
          <a:bodyPr wrap="square" rtlCol="0">
            <a:spAutoFit/>
          </a:bodyPr>
          <a:lstStyle/>
          <a:p>
            <a:r>
              <a:rPr lang="es-ES" sz="2800" dirty="0"/>
              <a:t>			</a:t>
            </a:r>
            <a:r>
              <a:rPr lang="es-ES" sz="2800" b="1" u="sng" dirty="0"/>
              <a:t>DJANGO</a:t>
            </a:r>
          </a:p>
          <a:p>
            <a:endParaRPr lang="es-ES" dirty="0"/>
          </a:p>
          <a:p>
            <a:r>
              <a:rPr lang="es-ES" dirty="0"/>
              <a:t>Servidor de desarrollo </a:t>
            </a:r>
            <a:r>
              <a:rPr lang="es-ES" dirty="0" err="1"/>
              <a:t>built</a:t>
            </a:r>
            <a:r>
              <a:rPr lang="es-ES" dirty="0"/>
              <a:t>-in</a:t>
            </a:r>
          </a:p>
          <a:p>
            <a:r>
              <a:rPr lang="es-ES" dirty="0"/>
              <a:t>WSGI </a:t>
            </a:r>
          </a:p>
          <a:p>
            <a:r>
              <a:rPr lang="es-ES" dirty="0"/>
              <a:t>Python .\managepy runserver</a:t>
            </a:r>
          </a:p>
          <a:p>
            <a:endParaRPr lang="es-ES" dirty="0"/>
          </a:p>
        </p:txBody>
      </p:sp>
      <p:sp>
        <p:nvSpPr>
          <p:cNvPr id="6" name="CuadroTexto 5">
            <a:extLst>
              <a:ext uri="{FF2B5EF4-FFF2-40B4-BE49-F238E27FC236}">
                <a16:creationId xmlns:a16="http://schemas.microsoft.com/office/drawing/2014/main" id="{BBDA8C62-F30D-4B96-B569-0EE8D8FEFC76}"/>
              </a:ext>
            </a:extLst>
          </p:cNvPr>
          <p:cNvSpPr txBox="1"/>
          <p:nvPr/>
        </p:nvSpPr>
        <p:spPr>
          <a:xfrm>
            <a:off x="6553200" y="1850424"/>
            <a:ext cx="5133974" cy="5386090"/>
          </a:xfrm>
          <a:prstGeom prst="rect">
            <a:avLst/>
          </a:prstGeom>
          <a:noFill/>
        </p:spPr>
        <p:txBody>
          <a:bodyPr wrap="square" rtlCol="0">
            <a:spAutoFit/>
          </a:bodyPr>
          <a:lstStyle/>
          <a:p>
            <a:r>
              <a:rPr lang="es-ES" sz="2800" dirty="0"/>
              <a:t>			</a:t>
            </a:r>
            <a:r>
              <a:rPr lang="es-ES" sz="2800" b="1" u="sng" dirty="0"/>
              <a:t>RAILS</a:t>
            </a:r>
          </a:p>
          <a:p>
            <a:endParaRPr lang="es-ES" sz="2800" b="1" u="sng" dirty="0"/>
          </a:p>
          <a:p>
            <a:r>
              <a:rPr lang="es-ES" dirty="0"/>
              <a:t>-RACK</a:t>
            </a:r>
          </a:p>
          <a:p>
            <a:r>
              <a:rPr lang="es-ES" dirty="0"/>
              <a:t>-PUMA</a:t>
            </a:r>
          </a:p>
          <a:p>
            <a:endParaRPr lang="es-ES" dirty="0"/>
          </a:p>
          <a:p>
            <a:r>
              <a:rPr lang="es-ES" dirty="0"/>
              <a:t>Rails s</a:t>
            </a:r>
          </a:p>
          <a:p>
            <a:endParaRPr lang="es-ES" dirty="0"/>
          </a:p>
          <a:p>
            <a:r>
              <a:rPr lang="es-ES" dirty="0"/>
              <a:t>-</a:t>
            </a:r>
            <a:r>
              <a:rPr lang="es-ES" dirty="0">
                <a:latin typeface="Proxima Nova"/>
              </a:rPr>
              <a:t>Passenger</a:t>
            </a:r>
            <a:r>
              <a:rPr lang="es-ES" b="0" i="0" dirty="0">
                <a:effectLst/>
                <a:latin typeface="Proxima Nova"/>
              </a:rPr>
              <a:t> es mejor conocido por usarse con aplicaciones Ruby on Rails, sin embargo, también puede servir aplicaciones web Python que usan la interfaz </a:t>
            </a:r>
            <a:r>
              <a:rPr lang="es-ES" dirty="0">
                <a:latin typeface="Proxima Nova"/>
              </a:rPr>
              <a:t>WSGI </a:t>
            </a:r>
            <a:r>
              <a:rPr lang="es-ES" b="0" i="0" dirty="0">
                <a:effectLst/>
                <a:latin typeface="Proxima Nova"/>
              </a:rPr>
              <a:t>, incluida cualquier aplicación que use </a:t>
            </a:r>
            <a:r>
              <a:rPr lang="es-ES" dirty="0">
                <a:latin typeface="Proxima Nova"/>
              </a:rPr>
              <a:t>Django</a:t>
            </a:r>
            <a:r>
              <a:rPr lang="es-ES" b="0" i="0" dirty="0">
                <a:effectLst/>
                <a:latin typeface="Proxima Nova"/>
              </a:rPr>
              <a:t> framework.</a:t>
            </a:r>
          </a:p>
          <a:p>
            <a:endParaRPr lang="es-ES" dirty="0">
              <a:latin typeface="Proxima Nova"/>
            </a:endParaRPr>
          </a:p>
          <a:p>
            <a:r>
              <a:rPr lang="es-ES" dirty="0">
                <a:latin typeface="Proxima Nova"/>
              </a:rPr>
              <a:t>-Incluso podemos usar </a:t>
            </a:r>
            <a:r>
              <a:rPr lang="es-ES" b="0" i="0" dirty="0">
                <a:effectLst/>
                <a:latin typeface="Proxima Nova"/>
              </a:rPr>
              <a:t> Python FastCGI </a:t>
            </a:r>
            <a:endParaRPr lang="es-ES" dirty="0"/>
          </a:p>
          <a:p>
            <a:endParaRPr lang="es-ES" dirty="0"/>
          </a:p>
          <a:p>
            <a:endParaRPr lang="es-ES" dirty="0"/>
          </a:p>
          <a:p>
            <a:endParaRPr lang="es-ES" dirty="0"/>
          </a:p>
          <a:p>
            <a:endParaRPr lang="es-ES" dirty="0"/>
          </a:p>
        </p:txBody>
      </p:sp>
    </p:spTree>
    <p:extLst>
      <p:ext uri="{BB962C8B-B14F-4D97-AF65-F5344CB8AC3E}">
        <p14:creationId xmlns:p14="http://schemas.microsoft.com/office/powerpoint/2010/main" val="41008960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878650-3850-4AF5-921D-2D7DDAA87316}"/>
              </a:ext>
            </a:extLst>
          </p:cNvPr>
          <p:cNvSpPr>
            <a:spLocks noGrp="1"/>
          </p:cNvSpPr>
          <p:nvPr>
            <p:ph type="title"/>
          </p:nvPr>
        </p:nvSpPr>
        <p:spPr>
          <a:xfrm>
            <a:off x="633413" y="103762"/>
            <a:ext cx="10925174" cy="1456267"/>
          </a:xfrm>
        </p:spPr>
        <p:txBody>
          <a:bodyPr/>
          <a:lstStyle/>
          <a:p>
            <a:pPr algn="ctr"/>
            <a:r>
              <a:rPr lang="es-ES" dirty="0"/>
              <a:t>instalación</a:t>
            </a:r>
          </a:p>
        </p:txBody>
      </p:sp>
      <p:sp>
        <p:nvSpPr>
          <p:cNvPr id="3" name="Marcador de contenido 2">
            <a:extLst>
              <a:ext uri="{FF2B5EF4-FFF2-40B4-BE49-F238E27FC236}">
                <a16:creationId xmlns:a16="http://schemas.microsoft.com/office/drawing/2014/main" id="{28E4AEC3-D6E2-4E0A-BE8D-2CF9750E2404}"/>
              </a:ext>
            </a:extLst>
          </p:cNvPr>
          <p:cNvSpPr>
            <a:spLocks noGrp="1"/>
          </p:cNvSpPr>
          <p:nvPr>
            <p:ph idx="1"/>
          </p:nvPr>
        </p:nvSpPr>
        <p:spPr>
          <a:xfrm>
            <a:off x="685801" y="4991450"/>
            <a:ext cx="3651307" cy="799750"/>
          </a:xfrm>
        </p:spPr>
        <p:txBody>
          <a:bodyPr/>
          <a:lstStyle/>
          <a:p>
            <a:pPr marL="0" indent="0">
              <a:buNone/>
            </a:pPr>
            <a:r>
              <a:rPr lang="es-ES" dirty="0"/>
              <a:t>	</a:t>
            </a:r>
          </a:p>
        </p:txBody>
      </p:sp>
      <p:sp>
        <p:nvSpPr>
          <p:cNvPr id="5" name="CuadroTexto 4">
            <a:extLst>
              <a:ext uri="{FF2B5EF4-FFF2-40B4-BE49-F238E27FC236}">
                <a16:creationId xmlns:a16="http://schemas.microsoft.com/office/drawing/2014/main" id="{F7EB2763-8D62-45EF-94B8-2C6F42AC76C9}"/>
              </a:ext>
            </a:extLst>
          </p:cNvPr>
          <p:cNvSpPr txBox="1"/>
          <p:nvPr/>
        </p:nvSpPr>
        <p:spPr>
          <a:xfrm>
            <a:off x="937156" y="1066800"/>
            <a:ext cx="5047989" cy="2123658"/>
          </a:xfrm>
          <a:prstGeom prst="rect">
            <a:avLst/>
          </a:prstGeom>
          <a:noFill/>
        </p:spPr>
        <p:txBody>
          <a:bodyPr wrap="square" rtlCol="0">
            <a:spAutoFit/>
          </a:bodyPr>
          <a:lstStyle/>
          <a:p>
            <a:r>
              <a:rPr lang="es-ES" sz="2400" dirty="0"/>
              <a:t>			</a:t>
            </a:r>
            <a:r>
              <a:rPr lang="es-ES" sz="2400" b="1" u="sng" dirty="0"/>
              <a:t>DJANGO</a:t>
            </a:r>
          </a:p>
          <a:p>
            <a:endParaRPr lang="es-ES" dirty="0"/>
          </a:p>
          <a:p>
            <a:r>
              <a:rPr lang="es-ES" dirty="0"/>
              <a:t>-pip install Django</a:t>
            </a:r>
          </a:p>
          <a:p>
            <a:r>
              <a:rPr lang="es-ES" dirty="0"/>
              <a:t>-django-admin startproject _nombre_</a:t>
            </a:r>
          </a:p>
          <a:p>
            <a:r>
              <a:rPr lang="es-ES" dirty="0"/>
              <a:t>-BBDD-&gt; Python manage.py migrate</a:t>
            </a:r>
          </a:p>
          <a:p>
            <a:r>
              <a:rPr lang="es-ES" dirty="0"/>
              <a:t>-python manage.py runserver </a:t>
            </a:r>
          </a:p>
          <a:p>
            <a:endParaRPr lang="es-ES" dirty="0"/>
          </a:p>
        </p:txBody>
      </p:sp>
      <p:sp>
        <p:nvSpPr>
          <p:cNvPr id="6" name="CuadroTexto 5">
            <a:extLst>
              <a:ext uri="{FF2B5EF4-FFF2-40B4-BE49-F238E27FC236}">
                <a16:creationId xmlns:a16="http://schemas.microsoft.com/office/drawing/2014/main" id="{BBDA8C62-F30D-4B96-B569-0EE8D8FEFC76}"/>
              </a:ext>
            </a:extLst>
          </p:cNvPr>
          <p:cNvSpPr txBox="1"/>
          <p:nvPr/>
        </p:nvSpPr>
        <p:spPr>
          <a:xfrm>
            <a:off x="6903617" y="1043354"/>
            <a:ext cx="5133974" cy="2893100"/>
          </a:xfrm>
          <a:prstGeom prst="rect">
            <a:avLst/>
          </a:prstGeom>
          <a:noFill/>
        </p:spPr>
        <p:txBody>
          <a:bodyPr wrap="square" rtlCol="0">
            <a:spAutoFit/>
          </a:bodyPr>
          <a:lstStyle/>
          <a:p>
            <a:r>
              <a:rPr lang="es-ES" sz="2800" dirty="0"/>
              <a:t>			</a:t>
            </a:r>
            <a:r>
              <a:rPr lang="es-ES" sz="2800" b="1" u="sng" dirty="0"/>
              <a:t>RAILS</a:t>
            </a:r>
          </a:p>
          <a:p>
            <a:endParaRPr lang="es-ES" sz="2800" b="1" u="sng" dirty="0"/>
          </a:p>
          <a:p>
            <a:r>
              <a:rPr lang="es-ES" dirty="0"/>
              <a:t>-Instalar Ruby en Windows/Linux</a:t>
            </a:r>
          </a:p>
          <a:p>
            <a:r>
              <a:rPr lang="es-ES" dirty="0"/>
              <a:t>-Instalar Ubuntu y poner Windows como subsistema Linux</a:t>
            </a:r>
          </a:p>
          <a:p>
            <a:r>
              <a:rPr lang="es-ES" dirty="0"/>
              <a:t>-Instalar Rails y ruby </a:t>
            </a:r>
            <a:r>
              <a:rPr lang="es-ES" dirty="0">
                <a:hlinkClick r:id="rId2"/>
              </a:rPr>
              <a:t>https://gorails.com/setup/windows/10</a:t>
            </a:r>
            <a:endParaRPr lang="es-ES" dirty="0"/>
          </a:p>
          <a:p>
            <a:endParaRPr lang="es-ES" dirty="0"/>
          </a:p>
          <a:p>
            <a:endParaRPr lang="es-ES" dirty="0"/>
          </a:p>
        </p:txBody>
      </p:sp>
      <p:pic>
        <p:nvPicPr>
          <p:cNvPr id="9" name="Imagen 8">
            <a:extLst>
              <a:ext uri="{FF2B5EF4-FFF2-40B4-BE49-F238E27FC236}">
                <a16:creationId xmlns:a16="http://schemas.microsoft.com/office/drawing/2014/main" id="{38C88BCB-627E-47BD-A86B-CC40EA1145DD}"/>
              </a:ext>
            </a:extLst>
          </p:cNvPr>
          <p:cNvPicPr>
            <a:picLocks noChangeAspect="1"/>
          </p:cNvPicPr>
          <p:nvPr/>
        </p:nvPicPr>
        <p:blipFill>
          <a:blip r:embed="rId3" cstate="print"/>
          <a:stretch>
            <a:fillRect/>
          </a:stretch>
        </p:blipFill>
        <p:spPr>
          <a:xfrm>
            <a:off x="243622" y="2957849"/>
            <a:ext cx="6440261" cy="3451340"/>
          </a:xfrm>
          <a:prstGeom prst="rect">
            <a:avLst/>
          </a:prstGeom>
        </p:spPr>
      </p:pic>
      <p:pic>
        <p:nvPicPr>
          <p:cNvPr id="7" name="Imagen 6">
            <a:extLst>
              <a:ext uri="{FF2B5EF4-FFF2-40B4-BE49-F238E27FC236}">
                <a16:creationId xmlns:a16="http://schemas.microsoft.com/office/drawing/2014/main" id="{D8682FD0-5E65-4FC7-87EF-E128E50EDA4F}"/>
              </a:ext>
            </a:extLst>
          </p:cNvPr>
          <p:cNvPicPr>
            <a:picLocks noChangeAspect="1"/>
          </p:cNvPicPr>
          <p:nvPr/>
        </p:nvPicPr>
        <p:blipFill>
          <a:blip r:embed="rId4" cstate="print"/>
          <a:stretch>
            <a:fillRect/>
          </a:stretch>
        </p:blipFill>
        <p:spPr>
          <a:xfrm>
            <a:off x="7126062" y="3429000"/>
            <a:ext cx="4672665" cy="3296110"/>
          </a:xfrm>
          <a:prstGeom prst="rect">
            <a:avLst/>
          </a:prstGeom>
        </p:spPr>
      </p:pic>
    </p:spTree>
    <p:extLst>
      <p:ext uri="{BB962C8B-B14F-4D97-AF65-F5344CB8AC3E}">
        <p14:creationId xmlns:p14="http://schemas.microsoft.com/office/powerpoint/2010/main" val="4272820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ítulo 3">
            <a:extLst>
              <a:ext uri="{FF2B5EF4-FFF2-40B4-BE49-F238E27FC236}">
                <a16:creationId xmlns:a16="http://schemas.microsoft.com/office/drawing/2014/main" id="{8CDC41BD-7C21-43C7-A9AF-A0426D2EB6A4}"/>
              </a:ext>
            </a:extLst>
          </p:cNvPr>
          <p:cNvSpPr>
            <a:spLocks noGrp="1"/>
          </p:cNvSpPr>
          <p:nvPr>
            <p:ph type="ctrTitle"/>
          </p:nvPr>
        </p:nvSpPr>
        <p:spPr>
          <a:xfrm>
            <a:off x="1280559" y="1286935"/>
            <a:ext cx="9638153" cy="2668377"/>
          </a:xfrm>
          <a:effectLst/>
        </p:spPr>
        <p:txBody>
          <a:bodyPr>
            <a:normAutofit/>
          </a:bodyPr>
          <a:lstStyle/>
          <a:p>
            <a:pPr algn="ctr"/>
            <a:r>
              <a:rPr lang="es-ES" dirty="0">
                <a:solidFill>
                  <a:schemeClr val="tx1"/>
                </a:solidFill>
              </a:rPr>
              <a:t>FIN  - </a:t>
            </a:r>
            <a:r>
              <a:rPr lang="es-ES" dirty="0" err="1">
                <a:solidFill>
                  <a:schemeClr val="tx1"/>
                </a:solidFill>
              </a:rPr>
              <a:t>Ruby</a:t>
            </a:r>
            <a:r>
              <a:rPr lang="es-ES" dirty="0">
                <a:solidFill>
                  <a:schemeClr val="tx1"/>
                </a:solidFill>
              </a:rPr>
              <a:t> </a:t>
            </a:r>
            <a:r>
              <a:rPr lang="es-ES" dirty="0" err="1">
                <a:solidFill>
                  <a:schemeClr val="tx1"/>
                </a:solidFill>
              </a:rPr>
              <a:t>on</a:t>
            </a:r>
            <a:r>
              <a:rPr lang="es-ES" dirty="0">
                <a:solidFill>
                  <a:schemeClr val="tx1"/>
                </a:solidFill>
              </a:rPr>
              <a:t> </a:t>
            </a:r>
            <a:r>
              <a:rPr lang="es-ES" dirty="0" err="1">
                <a:solidFill>
                  <a:schemeClr val="tx1"/>
                </a:solidFill>
              </a:rPr>
              <a:t>Rails</a:t>
            </a:r>
            <a:endParaRPr lang="es-ES" dirty="0">
              <a:solidFill>
                <a:schemeClr val="tx1"/>
              </a:solidFill>
            </a:endParaRPr>
          </a:p>
        </p:txBody>
      </p:sp>
    </p:spTree>
    <p:extLst>
      <p:ext uri="{BB962C8B-B14F-4D97-AF65-F5344CB8AC3E}">
        <p14:creationId xmlns:p14="http://schemas.microsoft.com/office/powerpoint/2010/main" val="14020460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6A2C4-227F-40BA-B67A-DF3D81371705}"/>
              </a:ext>
            </a:extLst>
          </p:cNvPr>
          <p:cNvSpPr>
            <a:spLocks noGrp="1"/>
          </p:cNvSpPr>
          <p:nvPr>
            <p:ph type="title"/>
          </p:nvPr>
        </p:nvSpPr>
        <p:spPr>
          <a:xfrm>
            <a:off x="810000" y="447188"/>
            <a:ext cx="10571998" cy="970450"/>
          </a:xfrm>
        </p:spPr>
        <p:txBody>
          <a:bodyPr>
            <a:normAutofit/>
          </a:bodyPr>
          <a:lstStyle/>
          <a:p>
            <a:r>
              <a:rPr lang="es-ES" dirty="0"/>
              <a:t>¿Qué es PHP </a:t>
            </a:r>
            <a:r>
              <a:rPr lang="es-ES" dirty="0" err="1"/>
              <a:t>Laravel</a:t>
            </a:r>
            <a:r>
              <a:rPr lang="es-ES" dirty="0"/>
              <a:t>?</a:t>
            </a:r>
          </a:p>
        </p:txBody>
      </p:sp>
      <p:pic>
        <p:nvPicPr>
          <p:cNvPr id="5" name="Imagen 4" descr="Forma&#10;&#10;Descripción generada automáticamente">
            <a:extLst>
              <a:ext uri="{FF2B5EF4-FFF2-40B4-BE49-F238E27FC236}">
                <a16:creationId xmlns:a16="http://schemas.microsoft.com/office/drawing/2014/main" id="{90267AF9-3B03-4854-9FB0-07D608268B6A}"/>
              </a:ext>
            </a:extLst>
          </p:cNvPr>
          <p:cNvPicPr>
            <a:picLocks noChangeAspect="1"/>
          </p:cNvPicPr>
          <p:nvPr/>
        </p:nvPicPr>
        <p:blipFill rotWithShape="1">
          <a:blip r:embed="rId2" cstate="print"/>
          <a:srcRect l="4795" r="11698" b="-12"/>
          <a:stretch/>
        </p:blipFill>
        <p:spPr>
          <a:xfrm>
            <a:off x="960438" y="2413000"/>
            <a:ext cx="2913062" cy="3628362"/>
          </a:xfrm>
          <a:prstGeom prst="roundRect">
            <a:avLst>
              <a:gd name="adj" fmla="val 3876"/>
            </a:avLst>
          </a:prstGeom>
          <a:ln>
            <a:solidFill>
              <a:schemeClr val="accent1"/>
            </a:solidFill>
          </a:ln>
          <a:effectLst/>
        </p:spPr>
      </p:pic>
      <p:sp>
        <p:nvSpPr>
          <p:cNvPr id="3" name="Marcador de contenido 2">
            <a:extLst>
              <a:ext uri="{FF2B5EF4-FFF2-40B4-BE49-F238E27FC236}">
                <a16:creationId xmlns:a16="http://schemas.microsoft.com/office/drawing/2014/main" id="{364E7F3A-55A0-4B60-B972-0A7F95902020}"/>
              </a:ext>
            </a:extLst>
          </p:cNvPr>
          <p:cNvSpPr>
            <a:spLocks noGrp="1"/>
          </p:cNvSpPr>
          <p:nvPr>
            <p:ph idx="1"/>
          </p:nvPr>
        </p:nvSpPr>
        <p:spPr>
          <a:xfrm>
            <a:off x="4330699" y="2413000"/>
            <a:ext cx="7052733" cy="3632200"/>
          </a:xfrm>
        </p:spPr>
        <p:txBody>
          <a:bodyPr>
            <a:normAutofit lnSpcReduction="10000"/>
          </a:bodyPr>
          <a:lstStyle/>
          <a:p>
            <a:r>
              <a:rPr lang="es-ES" dirty="0"/>
              <a:t>Laravel es también un </a:t>
            </a:r>
            <a:r>
              <a:rPr lang="es-ES" dirty="0" err="1"/>
              <a:t>framework</a:t>
            </a:r>
            <a:r>
              <a:rPr lang="es-ES" dirty="0"/>
              <a:t> de código abierto y desarrollado en PHP</a:t>
            </a:r>
          </a:p>
          <a:p>
            <a:r>
              <a:rPr lang="es-ES" dirty="0"/>
              <a:t>Esta diseñado con el propósito de desarrollar paginas web de forma mas simple con gran variedad de funciones incorporadas.</a:t>
            </a:r>
          </a:p>
          <a:p>
            <a:r>
              <a:rPr lang="en-US" dirty="0" err="1"/>
              <a:t>Algunos</a:t>
            </a:r>
            <a:r>
              <a:rPr lang="en-US" dirty="0"/>
              <a:t> </a:t>
            </a:r>
            <a:r>
              <a:rPr lang="en-US" dirty="0" err="1"/>
              <a:t>ejemplos</a:t>
            </a:r>
            <a:r>
              <a:rPr lang="en-US" dirty="0"/>
              <a:t> de webs que </a:t>
            </a:r>
            <a:r>
              <a:rPr lang="en-US" dirty="0" err="1"/>
              <a:t>utilizan</a:t>
            </a:r>
            <a:r>
              <a:rPr lang="en-US" dirty="0"/>
              <a:t> Laravel </a:t>
            </a:r>
            <a:r>
              <a:rPr lang="en-US" dirty="0" err="1"/>
              <a:t>como</a:t>
            </a:r>
            <a:r>
              <a:rPr lang="en-US" dirty="0"/>
              <a:t> framework son: 9GAG, UNION, Toyota Hall of fame</a:t>
            </a:r>
            <a:endParaRPr lang="es-ES" dirty="0"/>
          </a:p>
        </p:txBody>
      </p:sp>
    </p:spTree>
    <p:extLst>
      <p:ext uri="{BB962C8B-B14F-4D97-AF65-F5344CB8AC3E}">
        <p14:creationId xmlns:p14="http://schemas.microsoft.com/office/powerpoint/2010/main" val="1846219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1DFCBE5-52C1-48A9-89CF-E7D68CCA1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6AB74CA-E76D-4922-91FE-A4AAF0487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47203"/>
            <a:ext cx="11707367" cy="2572622"/>
          </a:xfrm>
          <a:custGeom>
            <a:avLst/>
            <a:gdLst>
              <a:gd name="connsiteX0" fmla="*/ 0 w 11707367"/>
              <a:gd name="connsiteY0" fmla="*/ 0 h 2572622"/>
              <a:gd name="connsiteX1" fmla="*/ 1888420 w 11707367"/>
              <a:gd name="connsiteY1" fmla="*/ 0 h 2572622"/>
              <a:gd name="connsiteX2" fmla="*/ 2198560 w 11707367"/>
              <a:gd name="connsiteY2" fmla="*/ 310139 h 2572622"/>
              <a:gd name="connsiteX3" fmla="*/ 2425431 w 11707367"/>
              <a:gd name="connsiteY3" fmla="*/ 310139 h 2572622"/>
              <a:gd name="connsiteX4" fmla="*/ 2735570 w 11707367"/>
              <a:gd name="connsiteY4" fmla="*/ 0 h 2572622"/>
              <a:gd name="connsiteX5" fmla="*/ 11707367 w 11707367"/>
              <a:gd name="connsiteY5" fmla="*/ 0 h 2572622"/>
              <a:gd name="connsiteX6" fmla="*/ 11707367 w 11707367"/>
              <a:gd name="connsiteY6" fmla="*/ 2572622 h 2572622"/>
              <a:gd name="connsiteX7" fmla="*/ 0 w 11707367"/>
              <a:gd name="connsiteY7" fmla="*/ 2572622 h 257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7367" h="2572622">
                <a:moveTo>
                  <a:pt x="0" y="0"/>
                </a:moveTo>
                <a:lnTo>
                  <a:pt x="1888420" y="0"/>
                </a:lnTo>
                <a:lnTo>
                  <a:pt x="2198560" y="310139"/>
                </a:lnTo>
                <a:cubicBezTo>
                  <a:pt x="2261209" y="372788"/>
                  <a:pt x="2362782" y="372788"/>
                  <a:pt x="2425431" y="310139"/>
                </a:cubicBezTo>
                <a:lnTo>
                  <a:pt x="2735570" y="0"/>
                </a:lnTo>
                <a:lnTo>
                  <a:pt x="11707367" y="0"/>
                </a:lnTo>
                <a:lnTo>
                  <a:pt x="11707367" y="2572622"/>
                </a:lnTo>
                <a:lnTo>
                  <a:pt x="0" y="2572622"/>
                </a:lnTo>
                <a:close/>
              </a:path>
            </a:pathLst>
          </a:custGeom>
          <a:solidFill>
            <a:srgbClr val="595959">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ítulo 1">
            <a:extLst>
              <a:ext uri="{FF2B5EF4-FFF2-40B4-BE49-F238E27FC236}">
                <a16:creationId xmlns:a16="http://schemas.microsoft.com/office/drawing/2014/main" id="{52245A5B-C1A4-47FD-A5ED-BFFD656844FD}"/>
              </a:ext>
            </a:extLst>
          </p:cNvPr>
          <p:cNvSpPr>
            <a:spLocks noGrp="1"/>
          </p:cNvSpPr>
          <p:nvPr>
            <p:ph type="title"/>
          </p:nvPr>
        </p:nvSpPr>
        <p:spPr>
          <a:xfrm>
            <a:off x="1063691" y="4049486"/>
            <a:ext cx="4825480" cy="1883228"/>
          </a:xfrm>
        </p:spPr>
        <p:txBody>
          <a:bodyPr anchor="ctr">
            <a:normAutofit/>
          </a:bodyPr>
          <a:lstStyle/>
          <a:p>
            <a:r>
              <a:rPr lang="es-ES" dirty="0">
                <a:solidFill>
                  <a:srgbClr val="FFFFFF"/>
                </a:solidFill>
              </a:rPr>
              <a:t>Python vs PHP</a:t>
            </a:r>
          </a:p>
        </p:txBody>
      </p:sp>
      <p:pic>
        <p:nvPicPr>
          <p:cNvPr id="7" name="Imagen 6" descr="Logotipo&#10;&#10;Descripción generada automáticamente">
            <a:extLst>
              <a:ext uri="{FF2B5EF4-FFF2-40B4-BE49-F238E27FC236}">
                <a16:creationId xmlns:a16="http://schemas.microsoft.com/office/drawing/2014/main" id="{37925243-B2DE-42DD-A13B-DD796EC4F3B2}"/>
              </a:ext>
            </a:extLst>
          </p:cNvPr>
          <p:cNvPicPr>
            <a:picLocks noChangeAspect="1"/>
          </p:cNvPicPr>
          <p:nvPr/>
        </p:nvPicPr>
        <p:blipFill>
          <a:blip r:embed="rId2" cstate="print"/>
          <a:stretch>
            <a:fillRect/>
          </a:stretch>
        </p:blipFill>
        <p:spPr>
          <a:xfrm>
            <a:off x="5511962" y="369905"/>
            <a:ext cx="5196897" cy="2806323"/>
          </a:xfrm>
          <a:prstGeom prst="rect">
            <a:avLst/>
          </a:prstGeom>
        </p:spPr>
      </p:pic>
      <p:pic>
        <p:nvPicPr>
          <p:cNvPr id="5" name="Imagen 4" descr="Icono&#10;&#10;Descripción generada automáticamente">
            <a:extLst>
              <a:ext uri="{FF2B5EF4-FFF2-40B4-BE49-F238E27FC236}">
                <a16:creationId xmlns:a16="http://schemas.microsoft.com/office/drawing/2014/main" id="{59A99839-E8C2-45BC-8C89-24770444DAD0}"/>
              </a:ext>
            </a:extLst>
          </p:cNvPr>
          <p:cNvPicPr>
            <a:picLocks noChangeAspect="1"/>
          </p:cNvPicPr>
          <p:nvPr/>
        </p:nvPicPr>
        <p:blipFill>
          <a:blip r:embed="rId3" cstate="print"/>
          <a:stretch>
            <a:fillRect/>
          </a:stretch>
        </p:blipFill>
        <p:spPr>
          <a:xfrm>
            <a:off x="1483141" y="335337"/>
            <a:ext cx="2875460" cy="2875460"/>
          </a:xfrm>
          <a:prstGeom prst="rect">
            <a:avLst/>
          </a:prstGeom>
        </p:spPr>
      </p:pic>
      <p:sp>
        <p:nvSpPr>
          <p:cNvPr id="3" name="Marcador de contenido 2">
            <a:extLst>
              <a:ext uri="{FF2B5EF4-FFF2-40B4-BE49-F238E27FC236}">
                <a16:creationId xmlns:a16="http://schemas.microsoft.com/office/drawing/2014/main" id="{50A8C09F-E654-4205-AE82-284BDD09FE39}"/>
              </a:ext>
            </a:extLst>
          </p:cNvPr>
          <p:cNvSpPr>
            <a:spLocks noGrp="1"/>
          </p:cNvSpPr>
          <p:nvPr>
            <p:ph idx="1"/>
          </p:nvPr>
        </p:nvSpPr>
        <p:spPr>
          <a:xfrm>
            <a:off x="6338316" y="4049485"/>
            <a:ext cx="4846151" cy="1883229"/>
          </a:xfrm>
        </p:spPr>
        <p:txBody>
          <a:bodyPr>
            <a:normAutofit/>
          </a:bodyPr>
          <a:lstStyle/>
          <a:p>
            <a:pPr>
              <a:lnSpc>
                <a:spcPct val="90000"/>
              </a:lnSpc>
            </a:pPr>
            <a:r>
              <a:rPr lang="es-ES" sz="1300" dirty="0">
                <a:solidFill>
                  <a:srgbClr val="FFFFFF"/>
                </a:solidFill>
              </a:rPr>
              <a:t>Popularidad: Python es ampliamente usado en inteligencia artificial y en ciencia de datos mientras que PHP es elegido como lenguaje de desarrollo web.</a:t>
            </a:r>
          </a:p>
          <a:p>
            <a:pPr>
              <a:lnSpc>
                <a:spcPct val="90000"/>
              </a:lnSpc>
            </a:pPr>
            <a:r>
              <a:rPr lang="es-ES" sz="1300" dirty="0">
                <a:solidFill>
                  <a:srgbClr val="FFFFFF"/>
                </a:solidFill>
              </a:rPr>
              <a:t>Código: Ambos son lenguajes fáciles a la hora de empezar a utilizarlos pero las reglas de </a:t>
            </a:r>
            <a:r>
              <a:rPr lang="es-ES" sz="1300" dirty="0" err="1">
                <a:solidFill>
                  <a:srgbClr val="FFFFFF"/>
                </a:solidFill>
              </a:rPr>
              <a:t>indentación</a:t>
            </a:r>
            <a:r>
              <a:rPr lang="es-ES" sz="1300" dirty="0">
                <a:solidFill>
                  <a:srgbClr val="FFFFFF"/>
                </a:solidFill>
              </a:rPr>
              <a:t> que tiene Python lo hace mas fácil de leer que PHP, el cual tiene un enfoque mas clásico.</a:t>
            </a:r>
          </a:p>
          <a:p>
            <a:pPr>
              <a:lnSpc>
                <a:spcPct val="90000"/>
              </a:lnSpc>
            </a:pPr>
            <a:endParaRPr lang="es-ES" sz="1300" dirty="0">
              <a:solidFill>
                <a:srgbClr val="FFFFFF"/>
              </a:solidFill>
            </a:endParaRPr>
          </a:p>
        </p:txBody>
      </p:sp>
    </p:spTree>
    <p:extLst>
      <p:ext uri="{BB962C8B-B14F-4D97-AF65-F5344CB8AC3E}">
        <p14:creationId xmlns:p14="http://schemas.microsoft.com/office/powerpoint/2010/main" val="13383769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1DFCBE5-52C1-48A9-89CF-E7D68CCA1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6AB74CA-E76D-4922-91FE-A4AAF0487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47203"/>
            <a:ext cx="11707367" cy="2572622"/>
          </a:xfrm>
          <a:custGeom>
            <a:avLst/>
            <a:gdLst>
              <a:gd name="connsiteX0" fmla="*/ 0 w 11707367"/>
              <a:gd name="connsiteY0" fmla="*/ 0 h 2572622"/>
              <a:gd name="connsiteX1" fmla="*/ 1888420 w 11707367"/>
              <a:gd name="connsiteY1" fmla="*/ 0 h 2572622"/>
              <a:gd name="connsiteX2" fmla="*/ 2198560 w 11707367"/>
              <a:gd name="connsiteY2" fmla="*/ 310139 h 2572622"/>
              <a:gd name="connsiteX3" fmla="*/ 2425431 w 11707367"/>
              <a:gd name="connsiteY3" fmla="*/ 310139 h 2572622"/>
              <a:gd name="connsiteX4" fmla="*/ 2735570 w 11707367"/>
              <a:gd name="connsiteY4" fmla="*/ 0 h 2572622"/>
              <a:gd name="connsiteX5" fmla="*/ 11707367 w 11707367"/>
              <a:gd name="connsiteY5" fmla="*/ 0 h 2572622"/>
              <a:gd name="connsiteX6" fmla="*/ 11707367 w 11707367"/>
              <a:gd name="connsiteY6" fmla="*/ 2572622 h 2572622"/>
              <a:gd name="connsiteX7" fmla="*/ 0 w 11707367"/>
              <a:gd name="connsiteY7" fmla="*/ 2572622 h 257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7367" h="2572622">
                <a:moveTo>
                  <a:pt x="0" y="0"/>
                </a:moveTo>
                <a:lnTo>
                  <a:pt x="1888420" y="0"/>
                </a:lnTo>
                <a:lnTo>
                  <a:pt x="2198560" y="310139"/>
                </a:lnTo>
                <a:cubicBezTo>
                  <a:pt x="2261209" y="372788"/>
                  <a:pt x="2362782" y="372788"/>
                  <a:pt x="2425431" y="310139"/>
                </a:cubicBezTo>
                <a:lnTo>
                  <a:pt x="2735570" y="0"/>
                </a:lnTo>
                <a:lnTo>
                  <a:pt x="11707367" y="0"/>
                </a:lnTo>
                <a:lnTo>
                  <a:pt x="11707367" y="2572622"/>
                </a:lnTo>
                <a:lnTo>
                  <a:pt x="0" y="2572622"/>
                </a:lnTo>
                <a:close/>
              </a:path>
            </a:pathLst>
          </a:custGeom>
          <a:solidFill>
            <a:srgbClr val="595959">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ítulo 1">
            <a:extLst>
              <a:ext uri="{FF2B5EF4-FFF2-40B4-BE49-F238E27FC236}">
                <a16:creationId xmlns:a16="http://schemas.microsoft.com/office/drawing/2014/main" id="{52245A5B-C1A4-47FD-A5ED-BFFD656844FD}"/>
              </a:ext>
            </a:extLst>
          </p:cNvPr>
          <p:cNvSpPr>
            <a:spLocks noGrp="1"/>
          </p:cNvSpPr>
          <p:nvPr>
            <p:ph type="title"/>
          </p:nvPr>
        </p:nvSpPr>
        <p:spPr>
          <a:xfrm>
            <a:off x="1063691" y="4049486"/>
            <a:ext cx="4825480" cy="1883228"/>
          </a:xfrm>
        </p:spPr>
        <p:txBody>
          <a:bodyPr anchor="ctr">
            <a:normAutofit/>
          </a:bodyPr>
          <a:lstStyle/>
          <a:p>
            <a:r>
              <a:rPr lang="es-ES" dirty="0">
                <a:solidFill>
                  <a:srgbClr val="FFFFFF"/>
                </a:solidFill>
              </a:rPr>
              <a:t>Python vs PHP</a:t>
            </a:r>
          </a:p>
        </p:txBody>
      </p:sp>
      <p:pic>
        <p:nvPicPr>
          <p:cNvPr id="7" name="Imagen 6" descr="Logotipo&#10;&#10;Descripción generada automáticamente">
            <a:extLst>
              <a:ext uri="{FF2B5EF4-FFF2-40B4-BE49-F238E27FC236}">
                <a16:creationId xmlns:a16="http://schemas.microsoft.com/office/drawing/2014/main" id="{37925243-B2DE-42DD-A13B-DD796EC4F3B2}"/>
              </a:ext>
            </a:extLst>
          </p:cNvPr>
          <p:cNvPicPr>
            <a:picLocks noChangeAspect="1"/>
          </p:cNvPicPr>
          <p:nvPr/>
        </p:nvPicPr>
        <p:blipFill>
          <a:blip r:embed="rId2" cstate="print"/>
          <a:stretch>
            <a:fillRect/>
          </a:stretch>
        </p:blipFill>
        <p:spPr>
          <a:xfrm>
            <a:off x="5512620" y="369905"/>
            <a:ext cx="5196897" cy="2806323"/>
          </a:xfrm>
          <a:prstGeom prst="rect">
            <a:avLst/>
          </a:prstGeom>
        </p:spPr>
      </p:pic>
      <p:pic>
        <p:nvPicPr>
          <p:cNvPr id="5" name="Imagen 4" descr="Icono&#10;&#10;Descripción generada automáticamente">
            <a:extLst>
              <a:ext uri="{FF2B5EF4-FFF2-40B4-BE49-F238E27FC236}">
                <a16:creationId xmlns:a16="http://schemas.microsoft.com/office/drawing/2014/main" id="{59A99839-E8C2-45BC-8C89-24770444DAD0}"/>
              </a:ext>
            </a:extLst>
          </p:cNvPr>
          <p:cNvPicPr>
            <a:picLocks noChangeAspect="1"/>
          </p:cNvPicPr>
          <p:nvPr/>
        </p:nvPicPr>
        <p:blipFill>
          <a:blip r:embed="rId3" cstate="print"/>
          <a:stretch>
            <a:fillRect/>
          </a:stretch>
        </p:blipFill>
        <p:spPr>
          <a:xfrm>
            <a:off x="1482483" y="335337"/>
            <a:ext cx="2875460" cy="2875460"/>
          </a:xfrm>
          <a:prstGeom prst="rect">
            <a:avLst/>
          </a:prstGeom>
        </p:spPr>
      </p:pic>
      <p:sp>
        <p:nvSpPr>
          <p:cNvPr id="3" name="Marcador de contenido 2">
            <a:extLst>
              <a:ext uri="{FF2B5EF4-FFF2-40B4-BE49-F238E27FC236}">
                <a16:creationId xmlns:a16="http://schemas.microsoft.com/office/drawing/2014/main" id="{50A8C09F-E654-4205-AE82-284BDD09FE39}"/>
              </a:ext>
            </a:extLst>
          </p:cNvPr>
          <p:cNvSpPr>
            <a:spLocks noGrp="1"/>
          </p:cNvSpPr>
          <p:nvPr>
            <p:ph idx="1"/>
          </p:nvPr>
        </p:nvSpPr>
        <p:spPr>
          <a:xfrm>
            <a:off x="6338316" y="4049485"/>
            <a:ext cx="4846151" cy="1883229"/>
          </a:xfrm>
        </p:spPr>
        <p:txBody>
          <a:bodyPr>
            <a:normAutofit/>
          </a:bodyPr>
          <a:lstStyle/>
          <a:p>
            <a:pPr>
              <a:lnSpc>
                <a:spcPct val="90000"/>
              </a:lnSpc>
            </a:pPr>
            <a:r>
              <a:rPr lang="es-ES" sz="1300" dirty="0">
                <a:solidFill>
                  <a:srgbClr val="FFFFFF"/>
                </a:solidFill>
              </a:rPr>
              <a:t>Frameworks: PHP tiene acceso a muchos mas frameworks de desarrollo que Python y muchos de estos llevan mas tiempo en desarrollo.</a:t>
            </a:r>
          </a:p>
          <a:p>
            <a:pPr>
              <a:lnSpc>
                <a:spcPct val="90000"/>
              </a:lnSpc>
            </a:pPr>
            <a:r>
              <a:rPr lang="es-ES" sz="1300" dirty="0">
                <a:solidFill>
                  <a:srgbClr val="FFFFFF"/>
                </a:solidFill>
              </a:rPr>
              <a:t>Conectividad a bases de datos: En este aspecto PHP le lleva ventaja a Python ya que puede conectarse a una cantidad mas amplia de bases de datos.</a:t>
            </a:r>
          </a:p>
          <a:p>
            <a:pPr>
              <a:lnSpc>
                <a:spcPct val="90000"/>
              </a:lnSpc>
            </a:pPr>
            <a:endParaRPr lang="es-ES" sz="1300" dirty="0">
              <a:solidFill>
                <a:srgbClr val="FFFFFF"/>
              </a:solidFill>
            </a:endParaRPr>
          </a:p>
        </p:txBody>
      </p:sp>
    </p:spTree>
    <p:extLst>
      <p:ext uri="{BB962C8B-B14F-4D97-AF65-F5344CB8AC3E}">
        <p14:creationId xmlns:p14="http://schemas.microsoft.com/office/powerpoint/2010/main" val="25140987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0">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ítulo 1">
            <a:extLst>
              <a:ext uri="{FF2B5EF4-FFF2-40B4-BE49-F238E27FC236}">
                <a16:creationId xmlns:a16="http://schemas.microsoft.com/office/drawing/2014/main" id="{AD9C6316-A4D6-437E-B434-4B9433F6309E}"/>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Ranking TIOBE</a:t>
            </a:r>
          </a:p>
        </p:txBody>
      </p:sp>
      <p:pic>
        <p:nvPicPr>
          <p:cNvPr id="4" name="Marcador de contenido 3">
            <a:extLst>
              <a:ext uri="{FF2B5EF4-FFF2-40B4-BE49-F238E27FC236}">
                <a16:creationId xmlns:a16="http://schemas.microsoft.com/office/drawing/2014/main" id="{0DEFC5CD-28E1-4531-8F14-C6041D0B062B}"/>
              </a:ext>
            </a:extLst>
          </p:cNvPr>
          <p:cNvPicPr>
            <a:picLocks noGrp="1" noChangeAspect="1"/>
          </p:cNvPicPr>
          <p:nvPr>
            <p:ph idx="1"/>
          </p:nvPr>
        </p:nvPicPr>
        <p:blipFill>
          <a:blip r:embed="rId2" cstate="print"/>
          <a:stretch>
            <a:fillRect/>
          </a:stretch>
        </p:blipFill>
        <p:spPr>
          <a:xfrm>
            <a:off x="451514" y="2349499"/>
            <a:ext cx="8842788" cy="3691864"/>
          </a:xfrm>
          <a:prstGeom prst="roundRect">
            <a:avLst>
              <a:gd name="adj" fmla="val 3876"/>
            </a:avLst>
          </a:prstGeom>
          <a:ln>
            <a:solidFill>
              <a:schemeClr val="accent1"/>
            </a:solidFill>
          </a:ln>
          <a:effectLst/>
        </p:spPr>
      </p:pic>
      <p:sp>
        <p:nvSpPr>
          <p:cNvPr id="5" name="Rectángulo 4">
            <a:extLst>
              <a:ext uri="{FF2B5EF4-FFF2-40B4-BE49-F238E27FC236}">
                <a16:creationId xmlns:a16="http://schemas.microsoft.com/office/drawing/2014/main" id="{D8A95225-3CEF-4FBA-8800-CE4CE06D0895}"/>
              </a:ext>
            </a:extLst>
          </p:cNvPr>
          <p:cNvSpPr/>
          <p:nvPr/>
        </p:nvSpPr>
        <p:spPr>
          <a:xfrm>
            <a:off x="540234" y="3348085"/>
            <a:ext cx="8360228" cy="3095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096A36DF-1DD9-4061-9792-7D51BA071C55}"/>
              </a:ext>
            </a:extLst>
          </p:cNvPr>
          <p:cNvSpPr/>
          <p:nvPr/>
        </p:nvSpPr>
        <p:spPr>
          <a:xfrm>
            <a:off x="540234" y="5045892"/>
            <a:ext cx="8360228" cy="3095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0234416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EFE309-9A0F-41F2-84E0-D0C515902523}"/>
              </a:ext>
            </a:extLst>
          </p:cNvPr>
          <p:cNvSpPr>
            <a:spLocks noGrp="1"/>
          </p:cNvSpPr>
          <p:nvPr>
            <p:ph type="title"/>
          </p:nvPr>
        </p:nvSpPr>
        <p:spPr/>
        <p:txBody>
          <a:bodyPr/>
          <a:lstStyle/>
          <a:p>
            <a:r>
              <a:rPr lang="es-ES" dirty="0"/>
              <a:t>Usos del MVC - Laravel</a:t>
            </a:r>
          </a:p>
        </p:txBody>
      </p:sp>
      <p:sp>
        <p:nvSpPr>
          <p:cNvPr id="3" name="Marcador de contenido 2">
            <a:extLst>
              <a:ext uri="{FF2B5EF4-FFF2-40B4-BE49-F238E27FC236}">
                <a16:creationId xmlns:a16="http://schemas.microsoft.com/office/drawing/2014/main" id="{0449D6C9-A57B-43BC-90D7-BC45FE95A7A8}"/>
              </a:ext>
            </a:extLst>
          </p:cNvPr>
          <p:cNvSpPr>
            <a:spLocks noGrp="1"/>
          </p:cNvSpPr>
          <p:nvPr>
            <p:ph idx="1"/>
          </p:nvPr>
        </p:nvSpPr>
        <p:spPr/>
        <p:txBody>
          <a:bodyPr/>
          <a:lstStyle/>
          <a:p>
            <a:r>
              <a:rPr lang="es-ES" dirty="0"/>
              <a:t>Laravel propone el uso del “</a:t>
            </a:r>
            <a:r>
              <a:rPr lang="es-ES" dirty="0" err="1"/>
              <a:t>Routes</a:t>
            </a:r>
            <a:r>
              <a:rPr lang="es-ES" dirty="0"/>
              <a:t> </a:t>
            </a:r>
            <a:r>
              <a:rPr lang="es-ES" dirty="0" err="1"/>
              <a:t>with</a:t>
            </a:r>
            <a:r>
              <a:rPr lang="es-ES" dirty="0"/>
              <a:t> </a:t>
            </a:r>
            <a:r>
              <a:rPr lang="es-ES" dirty="0" err="1"/>
              <a:t>clousures</a:t>
            </a:r>
            <a:r>
              <a:rPr lang="es-ES" dirty="0"/>
              <a:t>”, en el cual podemos llamar a la vista sin pasar por el controlador con el objetivo de hacer el código mas claro.</a:t>
            </a:r>
          </a:p>
          <a:p>
            <a:r>
              <a:rPr lang="es-ES" dirty="0"/>
              <a:t>Sin embargo también se puede usar el MVC tradicional y utilizar un controlador intermedio.</a:t>
            </a:r>
          </a:p>
        </p:txBody>
      </p:sp>
      <p:pic>
        <p:nvPicPr>
          <p:cNvPr id="5" name="Imagen 4" descr="Forma, Rectángulo&#10;&#10;Descripción generada automáticamente">
            <a:extLst>
              <a:ext uri="{FF2B5EF4-FFF2-40B4-BE49-F238E27FC236}">
                <a16:creationId xmlns:a16="http://schemas.microsoft.com/office/drawing/2014/main" id="{4487AAF0-CDDF-4E5A-9C96-46E7461F9A6B}"/>
              </a:ext>
            </a:extLst>
          </p:cNvPr>
          <p:cNvPicPr>
            <a:picLocks noChangeAspect="1"/>
          </p:cNvPicPr>
          <p:nvPr/>
        </p:nvPicPr>
        <p:blipFill rotWithShape="1">
          <a:blip r:embed="rId2" cstate="print"/>
          <a:srcRect t="16289" r="57413"/>
          <a:stretch/>
        </p:blipFill>
        <p:spPr>
          <a:xfrm>
            <a:off x="1302203" y="5213266"/>
            <a:ext cx="2779003" cy="765560"/>
          </a:xfrm>
          <a:prstGeom prst="rect">
            <a:avLst/>
          </a:prstGeom>
        </p:spPr>
      </p:pic>
      <p:pic>
        <p:nvPicPr>
          <p:cNvPr id="7" name="Imagen 6">
            <a:extLst>
              <a:ext uri="{FF2B5EF4-FFF2-40B4-BE49-F238E27FC236}">
                <a16:creationId xmlns:a16="http://schemas.microsoft.com/office/drawing/2014/main" id="{8F1B559B-EB16-4801-880C-B40C8E7517F2}"/>
              </a:ext>
            </a:extLst>
          </p:cNvPr>
          <p:cNvPicPr>
            <a:picLocks noChangeAspect="1"/>
          </p:cNvPicPr>
          <p:nvPr/>
        </p:nvPicPr>
        <p:blipFill rotWithShape="1">
          <a:blip r:embed="rId3" cstate="print"/>
          <a:srcRect r="43259"/>
          <a:stretch/>
        </p:blipFill>
        <p:spPr>
          <a:xfrm>
            <a:off x="6692125" y="5082174"/>
            <a:ext cx="3664855" cy="533474"/>
          </a:xfrm>
          <a:prstGeom prst="rect">
            <a:avLst/>
          </a:prstGeom>
        </p:spPr>
      </p:pic>
      <p:sp>
        <p:nvSpPr>
          <p:cNvPr id="8" name="CuadroTexto 7">
            <a:extLst>
              <a:ext uri="{FF2B5EF4-FFF2-40B4-BE49-F238E27FC236}">
                <a16:creationId xmlns:a16="http://schemas.microsoft.com/office/drawing/2014/main" id="{4451D332-96FA-43C2-BD8F-FA48C5BF387A}"/>
              </a:ext>
            </a:extLst>
          </p:cNvPr>
          <p:cNvSpPr txBox="1"/>
          <p:nvPr/>
        </p:nvSpPr>
        <p:spPr>
          <a:xfrm>
            <a:off x="1071544" y="5982368"/>
            <a:ext cx="2698023" cy="369332"/>
          </a:xfrm>
          <a:prstGeom prst="rect">
            <a:avLst/>
          </a:prstGeom>
          <a:noFill/>
        </p:spPr>
        <p:txBody>
          <a:bodyPr wrap="square" rtlCol="0">
            <a:spAutoFit/>
          </a:bodyPr>
          <a:lstStyle/>
          <a:p>
            <a:r>
              <a:rPr lang="es-ES" dirty="0" err="1"/>
              <a:t>Route</a:t>
            </a:r>
            <a:r>
              <a:rPr lang="es-ES" dirty="0"/>
              <a:t> </a:t>
            </a:r>
            <a:r>
              <a:rPr lang="es-ES" dirty="0" err="1"/>
              <a:t>with</a:t>
            </a:r>
            <a:r>
              <a:rPr lang="es-ES" dirty="0"/>
              <a:t> </a:t>
            </a:r>
            <a:r>
              <a:rPr lang="es-ES" dirty="0" err="1"/>
              <a:t>clousure</a:t>
            </a:r>
            <a:endParaRPr lang="es-ES" dirty="0"/>
          </a:p>
        </p:txBody>
      </p:sp>
      <p:sp>
        <p:nvSpPr>
          <p:cNvPr id="9" name="CuadroTexto 8">
            <a:extLst>
              <a:ext uri="{FF2B5EF4-FFF2-40B4-BE49-F238E27FC236}">
                <a16:creationId xmlns:a16="http://schemas.microsoft.com/office/drawing/2014/main" id="{81B994E9-07DA-403B-A2FC-944FA2D939CD}"/>
              </a:ext>
            </a:extLst>
          </p:cNvPr>
          <p:cNvSpPr txBox="1"/>
          <p:nvPr/>
        </p:nvSpPr>
        <p:spPr>
          <a:xfrm>
            <a:off x="6942645" y="5982368"/>
            <a:ext cx="2959579" cy="369332"/>
          </a:xfrm>
          <a:prstGeom prst="rect">
            <a:avLst/>
          </a:prstGeom>
          <a:noFill/>
        </p:spPr>
        <p:txBody>
          <a:bodyPr wrap="square" rtlCol="0">
            <a:spAutoFit/>
          </a:bodyPr>
          <a:lstStyle/>
          <a:p>
            <a:r>
              <a:rPr lang="es-ES" dirty="0"/>
              <a:t>Llamada a controlador</a:t>
            </a:r>
          </a:p>
        </p:txBody>
      </p:sp>
    </p:spTree>
    <p:extLst>
      <p:ext uri="{BB962C8B-B14F-4D97-AF65-F5344CB8AC3E}">
        <p14:creationId xmlns:p14="http://schemas.microsoft.com/office/powerpoint/2010/main" val="13952001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349453-4CB2-49BD-90C0-62DD551FA967}"/>
              </a:ext>
            </a:extLst>
          </p:cNvPr>
          <p:cNvSpPr>
            <a:spLocks noGrp="1"/>
          </p:cNvSpPr>
          <p:nvPr>
            <p:ph type="title"/>
          </p:nvPr>
        </p:nvSpPr>
        <p:spPr>
          <a:xfrm>
            <a:off x="810000" y="447188"/>
            <a:ext cx="10571998" cy="970450"/>
          </a:xfrm>
        </p:spPr>
        <p:txBody>
          <a:bodyPr>
            <a:normAutofit/>
          </a:bodyPr>
          <a:lstStyle/>
          <a:p>
            <a:r>
              <a:rPr lang="es-ES"/>
              <a:t>Usos del MVC - Django</a:t>
            </a:r>
            <a:endParaRPr lang="es-ES" dirty="0"/>
          </a:p>
        </p:txBody>
      </p:sp>
      <p:sp>
        <p:nvSpPr>
          <p:cNvPr id="3" name="Marcador de contenido 2">
            <a:extLst>
              <a:ext uri="{FF2B5EF4-FFF2-40B4-BE49-F238E27FC236}">
                <a16:creationId xmlns:a16="http://schemas.microsoft.com/office/drawing/2014/main" id="{05915848-2222-4EE7-97C6-C25D6DCAB7F8}"/>
              </a:ext>
            </a:extLst>
          </p:cNvPr>
          <p:cNvSpPr>
            <a:spLocks noGrp="1"/>
          </p:cNvSpPr>
          <p:nvPr>
            <p:ph idx="1"/>
          </p:nvPr>
        </p:nvSpPr>
        <p:spPr>
          <a:xfrm>
            <a:off x="818713" y="2413000"/>
            <a:ext cx="3835583" cy="3632200"/>
          </a:xfrm>
        </p:spPr>
        <p:txBody>
          <a:bodyPr>
            <a:normAutofit/>
          </a:bodyPr>
          <a:lstStyle/>
          <a:p>
            <a:pPr>
              <a:lnSpc>
                <a:spcPct val="90000"/>
              </a:lnSpc>
            </a:pPr>
            <a:r>
              <a:rPr lang="es-ES" sz="1200"/>
              <a:t>En Django nuestro controlador es 	manejado por el propio framework, por lo tanto este es conocido como un framework MTV, que es una variante del MVC.</a:t>
            </a:r>
          </a:p>
          <a:p>
            <a:pPr>
              <a:lnSpc>
                <a:spcPct val="90000"/>
              </a:lnSpc>
            </a:pPr>
            <a:r>
              <a:rPr lang="es-ES" sz="1200"/>
              <a:t>M de “Model” (modelo), el cual sigue siendo la capa de interacción y comunicación con la base de datos </a:t>
            </a:r>
          </a:p>
          <a:p>
            <a:pPr>
              <a:lnSpc>
                <a:spcPct val="90000"/>
              </a:lnSpc>
            </a:pPr>
            <a:r>
              <a:rPr lang="es-ES" sz="1200"/>
              <a:t>T de “Template” (plantilla), la cual cumple la funcion de la vista del MVC, que es la designada a la lógica de negocios, es decir la representación de nuestros datos en HTML.</a:t>
            </a:r>
          </a:p>
          <a:p>
            <a:pPr>
              <a:lnSpc>
                <a:spcPct val="90000"/>
              </a:lnSpc>
            </a:pPr>
            <a:r>
              <a:rPr lang="es-ES" sz="1200"/>
              <a:t>V de “View” (vista), que en este caso funciona de capa intermedia entre el modelo y la plantilla, similar al controlador del MVC.</a:t>
            </a:r>
          </a:p>
          <a:p>
            <a:pPr marL="0" indent="0">
              <a:lnSpc>
                <a:spcPct val="90000"/>
              </a:lnSpc>
              <a:buNone/>
            </a:pPr>
            <a:endParaRPr lang="es-ES" sz="1200"/>
          </a:p>
          <a:p>
            <a:pPr>
              <a:lnSpc>
                <a:spcPct val="90000"/>
              </a:lnSpc>
            </a:pPr>
            <a:endParaRPr lang="es-ES" sz="1200"/>
          </a:p>
        </p:txBody>
      </p:sp>
      <p:pic>
        <p:nvPicPr>
          <p:cNvPr id="5" name="Imagen 4" descr="Diagrama&#10;&#10;Descripción generada automáticamente">
            <a:extLst>
              <a:ext uri="{FF2B5EF4-FFF2-40B4-BE49-F238E27FC236}">
                <a16:creationId xmlns:a16="http://schemas.microsoft.com/office/drawing/2014/main" id="{08D391CD-F5D3-4177-B594-B0A0708EB531}"/>
              </a:ext>
            </a:extLst>
          </p:cNvPr>
          <p:cNvPicPr>
            <a:picLocks noChangeAspect="1"/>
          </p:cNvPicPr>
          <p:nvPr/>
        </p:nvPicPr>
        <p:blipFill>
          <a:blip r:embed="rId2" cstate="print"/>
          <a:stretch>
            <a:fillRect/>
          </a:stretch>
        </p:blipFill>
        <p:spPr>
          <a:xfrm>
            <a:off x="6382356" y="2413000"/>
            <a:ext cx="3716338"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8395382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7EAED-35A1-45F7-9508-F7C0B5310402}"/>
              </a:ext>
            </a:extLst>
          </p:cNvPr>
          <p:cNvSpPr>
            <a:spLocks noGrp="1"/>
          </p:cNvSpPr>
          <p:nvPr>
            <p:ph type="title"/>
          </p:nvPr>
        </p:nvSpPr>
        <p:spPr/>
        <p:txBody>
          <a:bodyPr>
            <a:normAutofit fontScale="90000"/>
          </a:bodyPr>
          <a:lstStyle/>
          <a:p>
            <a:r>
              <a:rPr lang="es-ES" dirty="0"/>
              <a:t> Instalar y crear un proyecto de Django</a:t>
            </a:r>
          </a:p>
        </p:txBody>
      </p:sp>
      <p:sp>
        <p:nvSpPr>
          <p:cNvPr id="3" name="Marcador de contenido 2">
            <a:extLst>
              <a:ext uri="{FF2B5EF4-FFF2-40B4-BE49-F238E27FC236}">
                <a16:creationId xmlns:a16="http://schemas.microsoft.com/office/drawing/2014/main" id="{C1838F42-F080-49B4-B622-B1E0AC96503A}"/>
              </a:ext>
            </a:extLst>
          </p:cNvPr>
          <p:cNvSpPr>
            <a:spLocks noGrp="1"/>
          </p:cNvSpPr>
          <p:nvPr>
            <p:ph idx="1"/>
          </p:nvPr>
        </p:nvSpPr>
        <p:spPr>
          <a:xfrm>
            <a:off x="762000" y="2611385"/>
            <a:ext cx="10668000" cy="3048001"/>
          </a:xfrm>
        </p:spPr>
        <p:txBody>
          <a:bodyPr/>
          <a:lstStyle/>
          <a:p>
            <a:r>
              <a:rPr lang="es-ES" dirty="0"/>
              <a:t>Necesitamos una versión actualizada de Python</a:t>
            </a:r>
          </a:p>
          <a:p>
            <a:r>
              <a:rPr lang="es-ES" dirty="0"/>
              <a:t>Realizamos el comando &gt; </a:t>
            </a:r>
            <a:r>
              <a:rPr lang="es-ES" dirty="0" err="1"/>
              <a:t>pip</a:t>
            </a:r>
            <a:r>
              <a:rPr lang="es-ES" dirty="0"/>
              <a:t> </a:t>
            </a:r>
            <a:r>
              <a:rPr lang="es-ES" dirty="0" err="1"/>
              <a:t>install</a:t>
            </a:r>
            <a:r>
              <a:rPr lang="es-ES" dirty="0"/>
              <a:t> </a:t>
            </a:r>
            <a:r>
              <a:rPr lang="es-ES" dirty="0" err="1"/>
              <a:t>django</a:t>
            </a:r>
            <a:endParaRPr lang="es-ES" dirty="0"/>
          </a:p>
          <a:p>
            <a:r>
              <a:rPr lang="es-ES" dirty="0"/>
              <a:t>Vemos nuestra versión de Django con &gt;</a:t>
            </a:r>
            <a:r>
              <a:rPr lang="es-ES" dirty="0" err="1"/>
              <a:t>django-admin</a:t>
            </a:r>
            <a:r>
              <a:rPr lang="es-ES" dirty="0"/>
              <a:t> –versión</a:t>
            </a:r>
          </a:p>
          <a:p>
            <a:endParaRPr lang="es-ES" dirty="0"/>
          </a:p>
          <a:p>
            <a:endParaRPr lang="es-ES" dirty="0"/>
          </a:p>
          <a:p>
            <a:endParaRPr lang="es-ES" dirty="0"/>
          </a:p>
          <a:p>
            <a:endParaRPr lang="es-ES" dirty="0"/>
          </a:p>
          <a:p>
            <a:endParaRPr lang="es-ES" dirty="0"/>
          </a:p>
          <a:p>
            <a:endParaRPr lang="es-ES" dirty="0"/>
          </a:p>
        </p:txBody>
      </p:sp>
      <p:pic>
        <p:nvPicPr>
          <p:cNvPr id="7" name="Imagen 6" descr="Interfaz de usuario gráfica, Texto, Aplicación&#10;&#10;Descripción generada automáticamente con confianza media">
            <a:extLst>
              <a:ext uri="{FF2B5EF4-FFF2-40B4-BE49-F238E27FC236}">
                <a16:creationId xmlns:a16="http://schemas.microsoft.com/office/drawing/2014/main" id="{2AAA75D4-EC61-4A36-BEAB-106901F23461}"/>
              </a:ext>
            </a:extLst>
          </p:cNvPr>
          <p:cNvPicPr>
            <a:picLocks noChangeAspect="1"/>
          </p:cNvPicPr>
          <p:nvPr/>
        </p:nvPicPr>
        <p:blipFill rotWithShape="1">
          <a:blip r:embed="rId2" cstate="print"/>
          <a:srcRect b="30522"/>
          <a:stretch/>
        </p:blipFill>
        <p:spPr>
          <a:xfrm>
            <a:off x="1944750" y="4129216"/>
            <a:ext cx="7477125" cy="2514600"/>
          </a:xfrm>
          <a:prstGeom prst="rect">
            <a:avLst/>
          </a:prstGeom>
        </p:spPr>
      </p:pic>
    </p:spTree>
    <p:extLst>
      <p:ext uri="{BB962C8B-B14F-4D97-AF65-F5344CB8AC3E}">
        <p14:creationId xmlns:p14="http://schemas.microsoft.com/office/powerpoint/2010/main" val="29296917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898E87-DCCC-49FF-ACE5-FBAD9E669768}"/>
              </a:ext>
            </a:extLst>
          </p:cNvPr>
          <p:cNvSpPr>
            <a:spLocks noGrp="1"/>
          </p:cNvSpPr>
          <p:nvPr>
            <p:ph type="title"/>
          </p:nvPr>
        </p:nvSpPr>
        <p:spPr>
          <a:xfrm>
            <a:off x="762000" y="296538"/>
            <a:ext cx="9144000" cy="1263649"/>
          </a:xfrm>
        </p:spPr>
        <p:txBody>
          <a:bodyPr/>
          <a:lstStyle/>
          <a:p>
            <a:r>
              <a:rPr lang="es-ES" dirty="0"/>
              <a:t>Como crear un proyecto de Django</a:t>
            </a:r>
          </a:p>
        </p:txBody>
      </p:sp>
      <p:sp>
        <p:nvSpPr>
          <p:cNvPr id="3" name="Marcador de contenido 2">
            <a:extLst>
              <a:ext uri="{FF2B5EF4-FFF2-40B4-BE49-F238E27FC236}">
                <a16:creationId xmlns:a16="http://schemas.microsoft.com/office/drawing/2014/main" id="{7F35F071-9D7B-4BF1-8F37-7C55D6301F35}"/>
              </a:ext>
            </a:extLst>
          </p:cNvPr>
          <p:cNvSpPr>
            <a:spLocks noGrp="1"/>
          </p:cNvSpPr>
          <p:nvPr>
            <p:ph idx="1"/>
          </p:nvPr>
        </p:nvSpPr>
        <p:spPr>
          <a:xfrm>
            <a:off x="762000" y="1820537"/>
            <a:ext cx="10668000" cy="3048001"/>
          </a:xfrm>
        </p:spPr>
        <p:txBody>
          <a:bodyPr/>
          <a:lstStyle/>
          <a:p>
            <a:r>
              <a:rPr lang="es-ES" dirty="0"/>
              <a:t>Creamos el proyecto con el comando &gt;</a:t>
            </a:r>
            <a:r>
              <a:rPr lang="es-ES" dirty="0" err="1"/>
              <a:t>django-admin</a:t>
            </a:r>
            <a:r>
              <a:rPr lang="es-ES" dirty="0"/>
              <a:t> </a:t>
            </a:r>
            <a:r>
              <a:rPr lang="es-ES" dirty="0" err="1"/>
              <a:t>startproject</a:t>
            </a:r>
            <a:r>
              <a:rPr lang="es-ES" dirty="0"/>
              <a:t> *nombre*</a:t>
            </a:r>
          </a:p>
          <a:p>
            <a:r>
              <a:rPr lang="es-ES" dirty="0"/>
              <a:t>Podemos ejecutar el proyecto montando un servidor con el comando                                &gt;</a:t>
            </a:r>
            <a:r>
              <a:rPr lang="es-ES" dirty="0" err="1"/>
              <a:t>python</a:t>
            </a:r>
            <a:r>
              <a:rPr lang="es-ES" dirty="0"/>
              <a:t> manage.py </a:t>
            </a:r>
            <a:r>
              <a:rPr lang="es-ES" dirty="0" err="1"/>
              <a:t>runserver</a:t>
            </a:r>
            <a:endParaRPr lang="es-ES" dirty="0"/>
          </a:p>
          <a:p>
            <a:r>
              <a:rPr lang="es-ES" dirty="0"/>
              <a:t>Para ver la pagina estándar de Django abrimos en un navegador la dirección 127.0.0.1:8000</a:t>
            </a:r>
          </a:p>
          <a:p>
            <a:endParaRPr lang="es-ES" dirty="0"/>
          </a:p>
          <a:p>
            <a:endParaRPr lang="es-ES" dirty="0"/>
          </a:p>
          <a:p>
            <a:endParaRPr lang="es-ES" dirty="0"/>
          </a:p>
          <a:p>
            <a:pPr marL="0" indent="0">
              <a:buNone/>
            </a:pPr>
            <a:endParaRPr lang="es-ES" dirty="0"/>
          </a:p>
          <a:p>
            <a:endParaRPr lang="es-ES" dirty="0"/>
          </a:p>
        </p:txBody>
      </p:sp>
      <p:pic>
        <p:nvPicPr>
          <p:cNvPr id="5" name="Imagen 4" descr="Interfaz de usuario gráfica, Texto, Aplicación, Chat o mensaje de texto&#10;&#10;Descripción generada automáticamente">
            <a:extLst>
              <a:ext uri="{FF2B5EF4-FFF2-40B4-BE49-F238E27FC236}">
                <a16:creationId xmlns:a16="http://schemas.microsoft.com/office/drawing/2014/main" id="{78D6DF67-A5FF-414A-B8D4-650EA5CF5525}"/>
              </a:ext>
            </a:extLst>
          </p:cNvPr>
          <p:cNvPicPr>
            <a:picLocks noChangeAspect="1"/>
          </p:cNvPicPr>
          <p:nvPr/>
        </p:nvPicPr>
        <p:blipFill>
          <a:blip r:embed="rId2" cstate="print"/>
          <a:stretch>
            <a:fillRect/>
          </a:stretch>
        </p:blipFill>
        <p:spPr>
          <a:xfrm>
            <a:off x="4267200" y="4646141"/>
            <a:ext cx="3659502" cy="1982230"/>
          </a:xfrm>
          <a:prstGeom prst="rect">
            <a:avLst/>
          </a:prstGeom>
        </p:spPr>
      </p:pic>
    </p:spTree>
    <p:extLst>
      <p:ext uri="{BB962C8B-B14F-4D97-AF65-F5344CB8AC3E}">
        <p14:creationId xmlns:p14="http://schemas.microsoft.com/office/powerpoint/2010/main" val="3973978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7B95A3-E04B-4A6D-9BAB-44AAFFB5BA8E}"/>
              </a:ext>
            </a:extLst>
          </p:cNvPr>
          <p:cNvSpPr>
            <a:spLocks noGrp="1"/>
          </p:cNvSpPr>
          <p:nvPr>
            <p:ph type="title"/>
          </p:nvPr>
        </p:nvSpPr>
        <p:spPr/>
        <p:txBody>
          <a:bodyPr/>
          <a:lstStyle/>
          <a:p>
            <a:r>
              <a:rPr lang="es-ES" dirty="0"/>
              <a:t>Como crear una App</a:t>
            </a:r>
          </a:p>
        </p:txBody>
      </p:sp>
      <p:sp>
        <p:nvSpPr>
          <p:cNvPr id="3" name="Marcador de contenido 2">
            <a:extLst>
              <a:ext uri="{FF2B5EF4-FFF2-40B4-BE49-F238E27FC236}">
                <a16:creationId xmlns:a16="http://schemas.microsoft.com/office/drawing/2014/main" id="{FD1ACF8A-2A70-45BA-80EE-E44ED318E576}"/>
              </a:ext>
            </a:extLst>
          </p:cNvPr>
          <p:cNvSpPr>
            <a:spLocks noGrp="1"/>
          </p:cNvSpPr>
          <p:nvPr>
            <p:ph idx="1"/>
          </p:nvPr>
        </p:nvSpPr>
        <p:spPr/>
        <p:txBody>
          <a:bodyPr/>
          <a:lstStyle/>
          <a:p>
            <a:r>
              <a:rPr lang="es-ES" dirty="0"/>
              <a:t>Para crear una aplicación basta con ejecutar el comando                                                     &gt;</a:t>
            </a:r>
            <a:r>
              <a:rPr lang="es-ES" dirty="0" err="1"/>
              <a:t>python</a:t>
            </a:r>
            <a:r>
              <a:rPr lang="es-ES" dirty="0"/>
              <a:t> manage.py </a:t>
            </a:r>
            <a:r>
              <a:rPr lang="es-ES" dirty="0" err="1"/>
              <a:t>startapp</a:t>
            </a:r>
            <a:r>
              <a:rPr lang="es-ES" dirty="0"/>
              <a:t> *</a:t>
            </a:r>
            <a:r>
              <a:rPr lang="es-ES" dirty="0" err="1"/>
              <a:t>nombre_aplicación</a:t>
            </a:r>
            <a:r>
              <a:rPr lang="es-ES" dirty="0"/>
              <a:t>*</a:t>
            </a:r>
          </a:p>
          <a:p>
            <a:r>
              <a:rPr lang="es-ES" dirty="0"/>
              <a:t>Una vez creada la aplicación se nos crea automáticamente una carpeta en la dirección del proyecto con los archivos necesarios</a:t>
            </a:r>
          </a:p>
        </p:txBody>
      </p:sp>
      <p:pic>
        <p:nvPicPr>
          <p:cNvPr id="5" name="Imagen 4" descr="Texto&#10;&#10;Descripción generada automáticamente con confianza media">
            <a:extLst>
              <a:ext uri="{FF2B5EF4-FFF2-40B4-BE49-F238E27FC236}">
                <a16:creationId xmlns:a16="http://schemas.microsoft.com/office/drawing/2014/main" id="{C572D5D6-319D-4E1B-B8AB-0772538E44E3}"/>
              </a:ext>
            </a:extLst>
          </p:cNvPr>
          <p:cNvPicPr>
            <a:picLocks noChangeAspect="1"/>
          </p:cNvPicPr>
          <p:nvPr/>
        </p:nvPicPr>
        <p:blipFill>
          <a:blip r:embed="rId2" cstate="print"/>
          <a:stretch>
            <a:fillRect/>
          </a:stretch>
        </p:blipFill>
        <p:spPr>
          <a:xfrm>
            <a:off x="6400536" y="4905640"/>
            <a:ext cx="1886213" cy="1590897"/>
          </a:xfrm>
          <a:prstGeom prst="rect">
            <a:avLst/>
          </a:prstGeom>
        </p:spPr>
      </p:pic>
    </p:spTree>
    <p:extLst>
      <p:ext uri="{BB962C8B-B14F-4D97-AF65-F5344CB8AC3E}">
        <p14:creationId xmlns:p14="http://schemas.microsoft.com/office/powerpoint/2010/main" val="2723528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241F69-F470-421E-A06D-3CBD7A9F7497}"/>
              </a:ext>
            </a:extLst>
          </p:cNvPr>
          <p:cNvSpPr>
            <a:spLocks noGrp="1"/>
          </p:cNvSpPr>
          <p:nvPr>
            <p:ph type="title"/>
          </p:nvPr>
        </p:nvSpPr>
        <p:spPr>
          <a:xfrm>
            <a:off x="762000" y="477774"/>
            <a:ext cx="9144000" cy="1263649"/>
          </a:xfrm>
        </p:spPr>
        <p:txBody>
          <a:bodyPr>
            <a:normAutofit fontScale="90000"/>
          </a:bodyPr>
          <a:lstStyle/>
          <a:p>
            <a:r>
              <a:rPr lang="es-ES" dirty="0"/>
              <a:t>Instalar y crear un proyecto de Laravel</a:t>
            </a:r>
          </a:p>
        </p:txBody>
      </p:sp>
      <p:sp>
        <p:nvSpPr>
          <p:cNvPr id="3" name="Marcador de contenido 2">
            <a:extLst>
              <a:ext uri="{FF2B5EF4-FFF2-40B4-BE49-F238E27FC236}">
                <a16:creationId xmlns:a16="http://schemas.microsoft.com/office/drawing/2014/main" id="{43FEDD48-718D-4714-97AF-79C64DC7D39C}"/>
              </a:ext>
            </a:extLst>
          </p:cNvPr>
          <p:cNvSpPr>
            <a:spLocks noGrp="1"/>
          </p:cNvSpPr>
          <p:nvPr>
            <p:ph idx="1"/>
          </p:nvPr>
        </p:nvSpPr>
        <p:spPr>
          <a:xfrm>
            <a:off x="762000" y="2001773"/>
            <a:ext cx="10668000" cy="3048001"/>
          </a:xfrm>
        </p:spPr>
        <p:txBody>
          <a:bodyPr/>
          <a:lstStyle/>
          <a:p>
            <a:r>
              <a:rPr lang="es-ES" dirty="0"/>
              <a:t>Antes de instalar Laravel necesitamos descargar unas aplicaciones previas.</a:t>
            </a:r>
          </a:p>
          <a:p>
            <a:r>
              <a:rPr lang="es-ES" dirty="0" err="1"/>
              <a:t>Composer</a:t>
            </a:r>
            <a:r>
              <a:rPr lang="es-ES" dirty="0"/>
              <a:t>: Es el administrador de dependencias de paquetes de Laravel.</a:t>
            </a:r>
          </a:p>
          <a:p>
            <a:r>
              <a:rPr lang="es-ES" dirty="0"/>
              <a:t>PHP: Es el lenguaje en el que esta escrito Laravel.</a:t>
            </a:r>
          </a:p>
          <a:p>
            <a:endParaRPr lang="es-ES" dirty="0"/>
          </a:p>
          <a:p>
            <a:endParaRPr lang="es-ES" dirty="0"/>
          </a:p>
          <a:p>
            <a:endParaRPr lang="es-ES" dirty="0"/>
          </a:p>
        </p:txBody>
      </p:sp>
      <p:pic>
        <p:nvPicPr>
          <p:cNvPr id="5" name="Imagen 4" descr="Logotipo&#10;&#10;Descripción generada automáticamente">
            <a:extLst>
              <a:ext uri="{FF2B5EF4-FFF2-40B4-BE49-F238E27FC236}">
                <a16:creationId xmlns:a16="http://schemas.microsoft.com/office/drawing/2014/main" id="{6306796C-777F-440E-A80A-D23CD3BA839E}"/>
              </a:ext>
            </a:extLst>
          </p:cNvPr>
          <p:cNvPicPr>
            <a:picLocks noChangeAspect="1"/>
          </p:cNvPicPr>
          <p:nvPr/>
        </p:nvPicPr>
        <p:blipFill>
          <a:blip r:embed="rId2" cstate="print"/>
          <a:stretch>
            <a:fillRect/>
          </a:stretch>
        </p:blipFill>
        <p:spPr>
          <a:xfrm>
            <a:off x="2043546" y="4183852"/>
            <a:ext cx="2253496" cy="2674148"/>
          </a:xfrm>
          <a:prstGeom prst="rect">
            <a:avLst/>
          </a:prstGeom>
        </p:spPr>
      </p:pic>
      <p:pic>
        <p:nvPicPr>
          <p:cNvPr id="6" name="Imagen 5" descr="Logotipo&#10;&#10;Descripción generada automáticamente">
            <a:extLst>
              <a:ext uri="{FF2B5EF4-FFF2-40B4-BE49-F238E27FC236}">
                <a16:creationId xmlns:a16="http://schemas.microsoft.com/office/drawing/2014/main" id="{708BE57F-9899-4283-9531-27A4314DCA41}"/>
              </a:ext>
            </a:extLst>
          </p:cNvPr>
          <p:cNvPicPr>
            <a:picLocks noChangeAspect="1"/>
          </p:cNvPicPr>
          <p:nvPr/>
        </p:nvPicPr>
        <p:blipFill>
          <a:blip r:embed="rId3" cstate="print"/>
          <a:stretch>
            <a:fillRect/>
          </a:stretch>
        </p:blipFill>
        <p:spPr>
          <a:xfrm>
            <a:off x="6884220" y="4657574"/>
            <a:ext cx="2477033" cy="1337597"/>
          </a:xfrm>
          <a:prstGeom prst="rect">
            <a:avLst/>
          </a:prstGeom>
        </p:spPr>
      </p:pic>
    </p:spTree>
    <p:extLst>
      <p:ext uri="{BB962C8B-B14F-4D97-AF65-F5344CB8AC3E}">
        <p14:creationId xmlns:p14="http://schemas.microsoft.com/office/powerpoint/2010/main" val="3338375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96DB41-E279-4B7B-A9F5-EDFC9592D928}"/>
              </a:ext>
            </a:extLst>
          </p:cNvPr>
          <p:cNvSpPr>
            <a:spLocks noGrp="1"/>
          </p:cNvSpPr>
          <p:nvPr>
            <p:ph type="title"/>
          </p:nvPr>
        </p:nvSpPr>
        <p:spPr>
          <a:xfrm>
            <a:off x="712573" y="304800"/>
            <a:ext cx="9144000" cy="1263649"/>
          </a:xfrm>
        </p:spPr>
        <p:txBody>
          <a:bodyPr>
            <a:normAutofit fontScale="90000"/>
          </a:bodyPr>
          <a:lstStyle/>
          <a:p>
            <a:r>
              <a:rPr lang="es-ES" dirty="0"/>
              <a:t>Instalar y crear un proyecto de Laravel</a:t>
            </a:r>
          </a:p>
        </p:txBody>
      </p:sp>
      <p:sp>
        <p:nvSpPr>
          <p:cNvPr id="3" name="Marcador de contenido 2">
            <a:extLst>
              <a:ext uri="{FF2B5EF4-FFF2-40B4-BE49-F238E27FC236}">
                <a16:creationId xmlns:a16="http://schemas.microsoft.com/office/drawing/2014/main" id="{066CCFCF-F646-4D06-B8E7-9B554D901A5A}"/>
              </a:ext>
            </a:extLst>
          </p:cNvPr>
          <p:cNvSpPr>
            <a:spLocks noGrp="1"/>
          </p:cNvSpPr>
          <p:nvPr>
            <p:ph idx="1"/>
          </p:nvPr>
        </p:nvSpPr>
        <p:spPr>
          <a:xfrm>
            <a:off x="712573" y="1828799"/>
            <a:ext cx="10668000" cy="3048001"/>
          </a:xfrm>
        </p:spPr>
        <p:txBody>
          <a:bodyPr/>
          <a:lstStyle/>
          <a:p>
            <a:r>
              <a:rPr lang="es-ES" dirty="0"/>
              <a:t>Ahora si, para descargar Laravel utilizamos el comando:</a:t>
            </a:r>
          </a:p>
          <a:p>
            <a:pPr marL="0" indent="0">
              <a:buNone/>
            </a:pPr>
            <a:r>
              <a:rPr lang="es-ES" dirty="0"/>
              <a:t> &gt;</a:t>
            </a:r>
            <a:r>
              <a:rPr lang="es-ES" dirty="0" err="1"/>
              <a:t>composer</a:t>
            </a:r>
            <a:r>
              <a:rPr lang="es-ES" dirty="0"/>
              <a:t> global </a:t>
            </a:r>
            <a:r>
              <a:rPr lang="es-ES" dirty="0" err="1"/>
              <a:t>require</a:t>
            </a:r>
            <a:r>
              <a:rPr lang="es-ES" dirty="0"/>
              <a:t> </a:t>
            </a:r>
            <a:r>
              <a:rPr lang="es-ES" dirty="0" err="1"/>
              <a:t>laravel</a:t>
            </a:r>
            <a:r>
              <a:rPr lang="es-ES" dirty="0"/>
              <a:t>/</a:t>
            </a:r>
            <a:r>
              <a:rPr lang="es-ES" dirty="0" err="1"/>
              <a:t>installer</a:t>
            </a:r>
            <a:endParaRPr lang="es-ES" dirty="0"/>
          </a:p>
          <a:p>
            <a:r>
              <a:rPr lang="es-ES" dirty="0"/>
              <a:t>Para ver si la descarga ha funcionado y comprobar la versión introducimos el comando &gt;Laravel, y así nos aseguramos de que este en el PATH.</a:t>
            </a:r>
          </a:p>
          <a:p>
            <a:endParaRPr lang="es-ES" dirty="0"/>
          </a:p>
          <a:p>
            <a:endParaRPr lang="es-ES" dirty="0"/>
          </a:p>
          <a:p>
            <a:endParaRPr lang="es-ES" dirty="0"/>
          </a:p>
          <a:p>
            <a:pPr marL="0" indent="0">
              <a:buNone/>
            </a:pPr>
            <a:endParaRPr lang="es-ES" dirty="0"/>
          </a:p>
          <a:p>
            <a:pPr marL="0" indent="0">
              <a:buNone/>
            </a:pPr>
            <a:endParaRPr lang="es-ES" dirty="0"/>
          </a:p>
        </p:txBody>
      </p:sp>
      <p:pic>
        <p:nvPicPr>
          <p:cNvPr id="10" name="Imagen 9" descr="Texto&#10;&#10;Descripción generada automáticamente">
            <a:extLst>
              <a:ext uri="{FF2B5EF4-FFF2-40B4-BE49-F238E27FC236}">
                <a16:creationId xmlns:a16="http://schemas.microsoft.com/office/drawing/2014/main" id="{89680987-C101-46CD-BEEA-C6BF3E0BB45E}"/>
              </a:ext>
            </a:extLst>
          </p:cNvPr>
          <p:cNvPicPr>
            <a:picLocks noChangeAspect="1"/>
          </p:cNvPicPr>
          <p:nvPr/>
        </p:nvPicPr>
        <p:blipFill>
          <a:blip r:embed="rId2" cstate="print"/>
          <a:stretch>
            <a:fillRect/>
          </a:stretch>
        </p:blipFill>
        <p:spPr>
          <a:xfrm>
            <a:off x="2356022" y="4139743"/>
            <a:ext cx="7125729" cy="2565100"/>
          </a:xfrm>
          <a:prstGeom prst="rect">
            <a:avLst/>
          </a:prstGeom>
        </p:spPr>
      </p:pic>
    </p:spTree>
    <p:extLst>
      <p:ext uri="{BB962C8B-B14F-4D97-AF65-F5344CB8AC3E}">
        <p14:creationId xmlns:p14="http://schemas.microsoft.com/office/powerpoint/2010/main" val="14178206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96DB41-E279-4B7B-A9F5-EDFC9592D928}"/>
              </a:ext>
            </a:extLst>
          </p:cNvPr>
          <p:cNvSpPr>
            <a:spLocks noGrp="1"/>
          </p:cNvSpPr>
          <p:nvPr>
            <p:ph type="title"/>
          </p:nvPr>
        </p:nvSpPr>
        <p:spPr>
          <a:xfrm>
            <a:off x="819664" y="288325"/>
            <a:ext cx="9144000" cy="1263649"/>
          </a:xfrm>
        </p:spPr>
        <p:txBody>
          <a:bodyPr/>
          <a:lstStyle/>
          <a:p>
            <a:r>
              <a:rPr lang="es-ES" dirty="0"/>
              <a:t>Crear un proyecto de Laravel</a:t>
            </a:r>
          </a:p>
        </p:txBody>
      </p:sp>
      <p:sp>
        <p:nvSpPr>
          <p:cNvPr id="3" name="Marcador de contenido 2">
            <a:extLst>
              <a:ext uri="{FF2B5EF4-FFF2-40B4-BE49-F238E27FC236}">
                <a16:creationId xmlns:a16="http://schemas.microsoft.com/office/drawing/2014/main" id="{066CCFCF-F646-4D06-B8E7-9B554D901A5A}"/>
              </a:ext>
            </a:extLst>
          </p:cNvPr>
          <p:cNvSpPr>
            <a:spLocks noGrp="1"/>
          </p:cNvSpPr>
          <p:nvPr>
            <p:ph idx="1"/>
          </p:nvPr>
        </p:nvSpPr>
        <p:spPr>
          <a:xfrm>
            <a:off x="819664" y="1812324"/>
            <a:ext cx="10668000" cy="3048001"/>
          </a:xfrm>
        </p:spPr>
        <p:txBody>
          <a:bodyPr>
            <a:normAutofit fontScale="92500" lnSpcReduction="20000"/>
          </a:bodyPr>
          <a:lstStyle/>
          <a:p>
            <a:r>
              <a:rPr lang="es-ES" dirty="0"/>
              <a:t>Lo siguiente es crear el proyecto, lo cual se hace desde la consola con el comando:</a:t>
            </a:r>
          </a:p>
          <a:p>
            <a:pPr marL="0" indent="0">
              <a:buNone/>
            </a:pPr>
            <a:r>
              <a:rPr lang="es-ES" dirty="0"/>
              <a:t>&gt;Laravel new *nombre del proyecto*</a:t>
            </a:r>
          </a:p>
          <a:p>
            <a:r>
              <a:rPr lang="es-ES" dirty="0"/>
              <a:t>Podemos ejecutar el proyecto yendo al directorio de nuestro proyecto y montando un servidor con el comando :</a:t>
            </a:r>
          </a:p>
          <a:p>
            <a:pPr marL="0" indent="0">
              <a:buNone/>
            </a:pPr>
            <a:r>
              <a:rPr lang="es-ES" dirty="0"/>
              <a:t>&gt;php </a:t>
            </a:r>
            <a:r>
              <a:rPr lang="es-ES" dirty="0" err="1"/>
              <a:t>artisan</a:t>
            </a:r>
            <a:r>
              <a:rPr lang="es-ES" dirty="0"/>
              <a:t> serve</a:t>
            </a:r>
          </a:p>
          <a:p>
            <a:r>
              <a:rPr lang="es-ES" dirty="0"/>
              <a:t>Para ver la pagina estándar de Laravel abrimos en un navegador la dirección 127.0.0.1:8000</a:t>
            </a:r>
          </a:p>
          <a:p>
            <a:endParaRPr lang="es-ES" dirty="0"/>
          </a:p>
          <a:p>
            <a:pPr marL="0" indent="0">
              <a:buNone/>
            </a:pPr>
            <a:endParaRPr lang="es-ES" dirty="0"/>
          </a:p>
          <a:p>
            <a:pPr marL="0" indent="0">
              <a:buNone/>
            </a:pPr>
            <a:endParaRPr lang="es-ES" dirty="0"/>
          </a:p>
        </p:txBody>
      </p:sp>
      <p:pic>
        <p:nvPicPr>
          <p:cNvPr id="5" name="Imagen 4" descr="Interfaz de usuario gráfica, Texto, Aplicación&#10;&#10;Descripción generada automáticamente">
            <a:extLst>
              <a:ext uri="{FF2B5EF4-FFF2-40B4-BE49-F238E27FC236}">
                <a16:creationId xmlns:a16="http://schemas.microsoft.com/office/drawing/2014/main" id="{9728CAF0-FB34-4A42-9601-2860C88331B5}"/>
              </a:ext>
            </a:extLst>
          </p:cNvPr>
          <p:cNvPicPr>
            <a:picLocks noChangeAspect="1"/>
          </p:cNvPicPr>
          <p:nvPr/>
        </p:nvPicPr>
        <p:blipFill>
          <a:blip r:embed="rId2" cstate="print"/>
          <a:stretch>
            <a:fillRect/>
          </a:stretch>
        </p:blipFill>
        <p:spPr>
          <a:xfrm>
            <a:off x="3392055" y="4673296"/>
            <a:ext cx="4506686" cy="1959939"/>
          </a:xfrm>
          <a:prstGeom prst="rect">
            <a:avLst/>
          </a:prstGeom>
        </p:spPr>
      </p:pic>
    </p:spTree>
    <p:extLst>
      <p:ext uri="{BB962C8B-B14F-4D97-AF65-F5344CB8AC3E}">
        <p14:creationId xmlns:p14="http://schemas.microsoft.com/office/powerpoint/2010/main" val="21953101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DF6CA4-85B4-42AB-BA5C-ADCA18006F0A}"/>
              </a:ext>
            </a:extLst>
          </p:cNvPr>
          <p:cNvSpPr>
            <a:spLocks noGrp="1"/>
          </p:cNvSpPr>
          <p:nvPr>
            <p:ph type="title"/>
          </p:nvPr>
        </p:nvSpPr>
        <p:spPr>
          <a:xfrm>
            <a:off x="990600" y="338328"/>
            <a:ext cx="10210800" cy="1078992"/>
          </a:xfrm>
        </p:spPr>
        <p:txBody>
          <a:bodyPr vert="horz" lIns="91440" tIns="45720" rIns="91440" bIns="45720" rtlCol="0" anchor="b">
            <a:normAutofit/>
          </a:bodyPr>
          <a:lstStyle/>
          <a:p>
            <a:pPr algn="ctr"/>
            <a:r>
              <a:rPr lang="en-US" sz="5400" b="1"/>
              <a:t>Comparación</a:t>
            </a:r>
          </a:p>
        </p:txBody>
      </p:sp>
      <p:sp>
        <p:nvSpPr>
          <p:cNvPr id="21" name="Rectangle 20">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5D7F9A8A-09BD-483E-BDC9-AC1F0E97DA63}"/>
              </a:ext>
            </a:extLst>
          </p:cNvPr>
          <p:cNvPicPr>
            <a:picLocks noChangeAspect="1"/>
          </p:cNvPicPr>
          <p:nvPr/>
        </p:nvPicPr>
        <p:blipFill>
          <a:blip r:embed="rId2" cstate="print"/>
          <a:stretch>
            <a:fillRect/>
          </a:stretch>
        </p:blipFill>
        <p:spPr>
          <a:xfrm>
            <a:off x="639148" y="3729217"/>
            <a:ext cx="4974336" cy="1318199"/>
          </a:xfrm>
          <a:prstGeom prst="rect">
            <a:avLst/>
          </a:prstGeom>
        </p:spPr>
      </p:pic>
      <p:sp>
        <p:nvSpPr>
          <p:cNvPr id="25"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00EF13B3-E7B3-498C-B6ED-7095C8B649F5}"/>
              </a:ext>
            </a:extLst>
          </p:cNvPr>
          <p:cNvPicPr>
            <a:picLocks noChangeAspect="1"/>
          </p:cNvPicPr>
          <p:nvPr/>
        </p:nvPicPr>
        <p:blipFill>
          <a:blip r:embed="rId3" cstate="print"/>
          <a:stretch>
            <a:fillRect/>
          </a:stretch>
        </p:blipFill>
        <p:spPr>
          <a:xfrm>
            <a:off x="6578516" y="3737769"/>
            <a:ext cx="4974336" cy="1305763"/>
          </a:xfrm>
          <a:prstGeom prst="rect">
            <a:avLst/>
          </a:prstGeom>
        </p:spPr>
      </p:pic>
      <p:sp>
        <p:nvSpPr>
          <p:cNvPr id="10" name="CuadroTexto 9">
            <a:extLst>
              <a:ext uri="{FF2B5EF4-FFF2-40B4-BE49-F238E27FC236}">
                <a16:creationId xmlns:a16="http://schemas.microsoft.com/office/drawing/2014/main" id="{1DB4993C-8E88-48A6-AA24-DD633586697C}"/>
              </a:ext>
            </a:extLst>
          </p:cNvPr>
          <p:cNvSpPr txBox="1"/>
          <p:nvPr/>
        </p:nvSpPr>
        <p:spPr>
          <a:xfrm>
            <a:off x="706341" y="2940855"/>
            <a:ext cx="4844999" cy="375855"/>
          </a:xfrm>
          <a:prstGeom prst="rect">
            <a:avLst/>
          </a:prstGeom>
          <a:noFill/>
        </p:spPr>
        <p:txBody>
          <a:bodyPr wrap="square" rtlCol="0">
            <a:spAutoFit/>
          </a:bodyPr>
          <a:lstStyle/>
          <a:p>
            <a:pPr algn="ctr"/>
            <a:r>
              <a:rPr lang="es-ES" b="1" dirty="0"/>
              <a:t>Django</a:t>
            </a:r>
          </a:p>
        </p:txBody>
      </p:sp>
      <p:sp>
        <p:nvSpPr>
          <p:cNvPr id="11" name="CuadroTexto 10">
            <a:extLst>
              <a:ext uri="{FF2B5EF4-FFF2-40B4-BE49-F238E27FC236}">
                <a16:creationId xmlns:a16="http://schemas.microsoft.com/office/drawing/2014/main" id="{3BE305B5-30E1-4867-8198-840DA4138C95}"/>
              </a:ext>
            </a:extLst>
          </p:cNvPr>
          <p:cNvSpPr txBox="1"/>
          <p:nvPr/>
        </p:nvSpPr>
        <p:spPr>
          <a:xfrm>
            <a:off x="7578962" y="2946701"/>
            <a:ext cx="2965142" cy="369332"/>
          </a:xfrm>
          <a:prstGeom prst="rect">
            <a:avLst/>
          </a:prstGeom>
          <a:noFill/>
        </p:spPr>
        <p:txBody>
          <a:bodyPr wrap="square" rtlCol="0">
            <a:spAutoFit/>
          </a:bodyPr>
          <a:lstStyle/>
          <a:p>
            <a:pPr algn="ctr"/>
            <a:r>
              <a:rPr lang="es-ES" b="1" dirty="0"/>
              <a:t>Laravel</a:t>
            </a:r>
          </a:p>
        </p:txBody>
      </p:sp>
    </p:spTree>
    <p:extLst>
      <p:ext uri="{BB962C8B-B14F-4D97-AF65-F5344CB8AC3E}">
        <p14:creationId xmlns:p14="http://schemas.microsoft.com/office/powerpoint/2010/main" val="6177526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3CE9B2-DD9C-4411-9755-939217AAB5D8}"/>
              </a:ext>
            </a:extLst>
          </p:cNvPr>
          <p:cNvSpPr>
            <a:spLocks noGrp="1"/>
          </p:cNvSpPr>
          <p:nvPr>
            <p:ph type="title"/>
          </p:nvPr>
        </p:nvSpPr>
        <p:spPr/>
        <p:txBody>
          <a:bodyPr/>
          <a:lstStyle/>
          <a:p>
            <a:pPr algn="ctr"/>
            <a:r>
              <a:rPr lang="es-ES" b="1" dirty="0"/>
              <a:t>Servidor</a:t>
            </a:r>
          </a:p>
        </p:txBody>
      </p:sp>
      <p:sp>
        <p:nvSpPr>
          <p:cNvPr id="3" name="Marcador de contenido 2">
            <a:extLst>
              <a:ext uri="{FF2B5EF4-FFF2-40B4-BE49-F238E27FC236}">
                <a16:creationId xmlns:a16="http://schemas.microsoft.com/office/drawing/2014/main" id="{DA745762-1BE7-4164-B33C-6B4E23D5A671}"/>
              </a:ext>
            </a:extLst>
          </p:cNvPr>
          <p:cNvSpPr>
            <a:spLocks noGrp="1"/>
          </p:cNvSpPr>
          <p:nvPr>
            <p:ph idx="1"/>
          </p:nvPr>
        </p:nvSpPr>
        <p:spPr/>
        <p:txBody>
          <a:bodyPr/>
          <a:lstStyle/>
          <a:p>
            <a:r>
              <a:rPr lang="es-ES" dirty="0"/>
              <a:t>Django lleva incorporado un simple servidor web de desarrollo que se puede usar para probar de forma local aplicaciones web Django con el explorador web de nuestro ordenador</a:t>
            </a:r>
          </a:p>
          <a:p>
            <a:r>
              <a:rPr lang="es-ES" dirty="0" err="1"/>
              <a:t>Lavarel</a:t>
            </a:r>
            <a:r>
              <a:rPr lang="es-ES" dirty="0"/>
              <a:t> al ser un </a:t>
            </a:r>
            <a:r>
              <a:rPr lang="es-ES" dirty="0" err="1"/>
              <a:t>framework</a:t>
            </a:r>
            <a:r>
              <a:rPr lang="es-ES" dirty="0"/>
              <a:t> de PHP no lleva incorporado un servidor, por lo que si queremos probarlo deberemos de hacer uso de herramientas como </a:t>
            </a:r>
            <a:r>
              <a:rPr lang="es-ES" dirty="0" err="1"/>
              <a:t>xampp</a:t>
            </a:r>
            <a:endParaRPr lang="es-ES" dirty="0"/>
          </a:p>
        </p:txBody>
      </p:sp>
    </p:spTree>
    <p:extLst>
      <p:ext uri="{BB962C8B-B14F-4D97-AF65-F5344CB8AC3E}">
        <p14:creationId xmlns:p14="http://schemas.microsoft.com/office/powerpoint/2010/main" val="37198313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EEC654-7276-4EF7-9221-8D159CEB25CE}"/>
              </a:ext>
            </a:extLst>
          </p:cNvPr>
          <p:cNvSpPr>
            <a:spLocks noGrp="1"/>
          </p:cNvSpPr>
          <p:nvPr>
            <p:ph type="title"/>
          </p:nvPr>
        </p:nvSpPr>
        <p:spPr>
          <a:xfrm>
            <a:off x="648928" y="338328"/>
            <a:ext cx="3685032" cy="1608328"/>
          </a:xfrm>
        </p:spPr>
        <p:txBody>
          <a:bodyPr>
            <a:normAutofit fontScale="90000"/>
          </a:bodyPr>
          <a:lstStyle/>
          <a:p>
            <a:r>
              <a:rPr lang="es-ES" sz="3600" b="1"/>
              <a:t>Paradigma de comunicación servidor-aplicación</a:t>
            </a:r>
          </a:p>
        </p:txBody>
      </p:sp>
      <p:sp>
        <p:nvSpPr>
          <p:cNvPr id="3" name="Marcador de contenido 2">
            <a:extLst>
              <a:ext uri="{FF2B5EF4-FFF2-40B4-BE49-F238E27FC236}">
                <a16:creationId xmlns:a16="http://schemas.microsoft.com/office/drawing/2014/main" id="{4FD368B9-0A9D-49BF-AED8-79CB98D459A7}"/>
              </a:ext>
            </a:extLst>
          </p:cNvPr>
          <p:cNvSpPr>
            <a:spLocks noGrp="1"/>
          </p:cNvSpPr>
          <p:nvPr>
            <p:ph idx="1"/>
          </p:nvPr>
        </p:nvSpPr>
        <p:spPr>
          <a:xfrm>
            <a:off x="4864100" y="338328"/>
            <a:ext cx="6675627" cy="1605083"/>
          </a:xfrm>
        </p:spPr>
        <p:txBody>
          <a:bodyPr anchor="ctr">
            <a:normAutofit/>
          </a:bodyPr>
          <a:lstStyle/>
          <a:p>
            <a:r>
              <a:rPr lang="es-ES" sz="2000" dirty="0"/>
              <a:t>Django usa WSGI (Web Server Gateway Interface)</a:t>
            </a:r>
          </a:p>
          <a:p>
            <a:r>
              <a:rPr lang="es-ES" sz="2000" dirty="0"/>
              <a:t>Laravel usa GCI (</a:t>
            </a:r>
            <a:r>
              <a:rPr lang="es-ES" sz="2000" dirty="0" err="1"/>
              <a:t>Common</a:t>
            </a:r>
            <a:r>
              <a:rPr lang="es-ES" sz="2000" dirty="0"/>
              <a:t> Gateway Interface)</a:t>
            </a:r>
          </a:p>
        </p:txBody>
      </p:sp>
      <p:sp>
        <p:nvSpPr>
          <p:cNvPr id="15" name="Rectangle 9">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ounded Rectangle 26">
            <a:extLst>
              <a:ext uri="{FF2B5EF4-FFF2-40B4-BE49-F238E27FC236}">
                <a16:creationId xmlns:a16="http://schemas.microsoft.com/office/drawing/2014/main" id="{1B10F861-B8F1-49C7-BD58-EAB20CEE7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71F348F8-2365-482D-BDE7-361E1903A82D}"/>
              </a:ext>
            </a:extLst>
          </p:cNvPr>
          <p:cNvPicPr>
            <a:picLocks noChangeAspect="1"/>
          </p:cNvPicPr>
          <p:nvPr/>
        </p:nvPicPr>
        <p:blipFill>
          <a:blip r:embed="rId2" cstate="print"/>
          <a:stretch>
            <a:fillRect/>
          </a:stretch>
        </p:blipFill>
        <p:spPr>
          <a:xfrm>
            <a:off x="1016915" y="2742397"/>
            <a:ext cx="4222865" cy="3291840"/>
          </a:xfrm>
          <a:prstGeom prst="rect">
            <a:avLst/>
          </a:prstGeom>
        </p:spPr>
      </p:pic>
      <p:sp>
        <p:nvSpPr>
          <p:cNvPr id="14" name="Rounded Rectangle 16">
            <a:extLst>
              <a:ext uri="{FF2B5EF4-FFF2-40B4-BE49-F238E27FC236}">
                <a16:creationId xmlns:a16="http://schemas.microsoft.com/office/drawing/2014/main" id="{61F6E425-22AB-4DA2-8FAC-58ADB58E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B6AF7FC-49B6-47D0-B38A-1D8128A4F8F3}"/>
              </a:ext>
            </a:extLst>
          </p:cNvPr>
          <p:cNvPicPr>
            <a:picLocks noChangeAspect="1"/>
          </p:cNvPicPr>
          <p:nvPr/>
        </p:nvPicPr>
        <p:blipFill>
          <a:blip r:embed="rId3" cstate="print"/>
          <a:stretch>
            <a:fillRect/>
          </a:stretch>
        </p:blipFill>
        <p:spPr>
          <a:xfrm>
            <a:off x="6576484" y="2933324"/>
            <a:ext cx="4974336" cy="2909986"/>
          </a:xfrm>
          <a:prstGeom prst="rect">
            <a:avLst/>
          </a:prstGeom>
        </p:spPr>
      </p:pic>
    </p:spTree>
    <p:extLst>
      <p:ext uri="{BB962C8B-B14F-4D97-AF65-F5344CB8AC3E}">
        <p14:creationId xmlns:p14="http://schemas.microsoft.com/office/powerpoint/2010/main" val="7549057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76D97D-29F4-4C71-BF90-750560725BAD}"/>
              </a:ext>
            </a:extLst>
          </p:cNvPr>
          <p:cNvSpPr>
            <a:spLocks noGrp="1"/>
          </p:cNvSpPr>
          <p:nvPr>
            <p:ph type="title"/>
          </p:nvPr>
        </p:nvSpPr>
        <p:spPr>
          <a:xfrm>
            <a:off x="990600" y="338328"/>
            <a:ext cx="10210800" cy="1078992"/>
          </a:xfrm>
        </p:spPr>
        <p:txBody>
          <a:bodyPr vert="horz" lIns="91440" tIns="45720" rIns="91440" bIns="45720" rtlCol="0" anchor="b">
            <a:normAutofit/>
          </a:bodyPr>
          <a:lstStyle/>
          <a:p>
            <a:pPr algn="ctr"/>
            <a:r>
              <a:rPr lang="en-US" sz="5400" b="1"/>
              <a:t>Estructura de la aplicación</a:t>
            </a:r>
          </a:p>
        </p:txBody>
      </p:sp>
      <p:sp>
        <p:nvSpPr>
          <p:cNvPr id="16" name="Rectangle 9">
            <a:extLst>
              <a:ext uri="{FF2B5EF4-FFF2-40B4-BE49-F238E27FC236}">
                <a16:creationId xmlns:a16="http://schemas.microsoft.com/office/drawing/2014/main" id="{70BDD0CE-06A4-404B-8A13-580229C1C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41750"/>
            <a:ext cx="12192000" cy="4716250"/>
          </a:xfrm>
          <a:prstGeom prst="rect">
            <a:avLst/>
          </a:prstGeom>
          <a:solidFill>
            <a:srgbClr val="5D90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26">
            <a:extLst>
              <a:ext uri="{FF2B5EF4-FFF2-40B4-BE49-F238E27FC236}">
                <a16:creationId xmlns:a16="http://schemas.microsoft.com/office/drawing/2014/main" id="{EE9899FA-8881-472C-AA59-D08A89CA8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0627E740-FA7F-4B36-B9FB-8FBFD40B0366}"/>
              </a:ext>
            </a:extLst>
          </p:cNvPr>
          <p:cNvPicPr>
            <a:picLocks noChangeAspect="1"/>
          </p:cNvPicPr>
          <p:nvPr/>
        </p:nvPicPr>
        <p:blipFill>
          <a:blip r:embed="rId2" cstate="print"/>
          <a:stretch>
            <a:fillRect/>
          </a:stretch>
        </p:blipFill>
        <p:spPr>
          <a:xfrm>
            <a:off x="2570818" y="2742397"/>
            <a:ext cx="1110995" cy="3291840"/>
          </a:xfrm>
          <a:prstGeom prst="rect">
            <a:avLst/>
          </a:prstGeom>
        </p:spPr>
      </p:pic>
      <p:sp>
        <p:nvSpPr>
          <p:cNvPr id="18" name="Rounded Rectangle 16">
            <a:extLst>
              <a:ext uri="{FF2B5EF4-FFF2-40B4-BE49-F238E27FC236}">
                <a16:creationId xmlns:a16="http://schemas.microsoft.com/office/drawing/2014/main" id="{080B7D90-3DF1-4514-B26D-616BE35553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4749" y="2423160"/>
            <a:ext cx="5613569"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a:extLst>
              <a:ext uri="{FF2B5EF4-FFF2-40B4-BE49-F238E27FC236}">
                <a16:creationId xmlns:a16="http://schemas.microsoft.com/office/drawing/2014/main" id="{8B5A8120-8779-477B-9D82-22C525E36B3B}"/>
              </a:ext>
            </a:extLst>
          </p:cNvPr>
          <p:cNvPicPr>
            <a:picLocks noGrp="1" noChangeAspect="1"/>
          </p:cNvPicPr>
          <p:nvPr>
            <p:ph idx="1"/>
          </p:nvPr>
        </p:nvPicPr>
        <p:blipFill>
          <a:blip r:embed="rId3" cstate="print"/>
          <a:stretch>
            <a:fillRect/>
          </a:stretch>
        </p:blipFill>
        <p:spPr>
          <a:xfrm>
            <a:off x="8411985" y="2744731"/>
            <a:ext cx="1307397" cy="3291840"/>
          </a:xfrm>
          <a:prstGeom prst="rect">
            <a:avLst/>
          </a:prstGeom>
        </p:spPr>
      </p:pic>
      <p:sp>
        <p:nvSpPr>
          <p:cNvPr id="3" name="CuadroTexto 2">
            <a:extLst>
              <a:ext uri="{FF2B5EF4-FFF2-40B4-BE49-F238E27FC236}">
                <a16:creationId xmlns:a16="http://schemas.microsoft.com/office/drawing/2014/main" id="{CA44DD66-22CB-4057-ACB9-998F6E62B08F}"/>
              </a:ext>
            </a:extLst>
          </p:cNvPr>
          <p:cNvSpPr txBox="1"/>
          <p:nvPr/>
        </p:nvSpPr>
        <p:spPr>
          <a:xfrm>
            <a:off x="3848488" y="4130543"/>
            <a:ext cx="1660124" cy="369332"/>
          </a:xfrm>
          <a:prstGeom prst="rect">
            <a:avLst/>
          </a:prstGeom>
          <a:noFill/>
        </p:spPr>
        <p:txBody>
          <a:bodyPr wrap="square" rtlCol="0">
            <a:spAutoFit/>
          </a:bodyPr>
          <a:lstStyle/>
          <a:p>
            <a:r>
              <a:rPr lang="es-ES" b="1" dirty="0"/>
              <a:t>Django</a:t>
            </a:r>
          </a:p>
        </p:txBody>
      </p:sp>
      <p:sp>
        <p:nvSpPr>
          <p:cNvPr id="6" name="CuadroTexto 5">
            <a:extLst>
              <a:ext uri="{FF2B5EF4-FFF2-40B4-BE49-F238E27FC236}">
                <a16:creationId xmlns:a16="http://schemas.microsoft.com/office/drawing/2014/main" id="{CF8F24B8-A3CC-4411-ABCF-A0BEC17B8EA2}"/>
              </a:ext>
            </a:extLst>
          </p:cNvPr>
          <p:cNvSpPr txBox="1"/>
          <p:nvPr/>
        </p:nvSpPr>
        <p:spPr>
          <a:xfrm>
            <a:off x="7117142" y="4130543"/>
            <a:ext cx="971161" cy="369332"/>
          </a:xfrm>
          <a:prstGeom prst="rect">
            <a:avLst/>
          </a:prstGeom>
          <a:noFill/>
        </p:spPr>
        <p:txBody>
          <a:bodyPr wrap="square" rtlCol="0">
            <a:spAutoFit/>
          </a:bodyPr>
          <a:lstStyle/>
          <a:p>
            <a:r>
              <a:rPr lang="es-ES" b="1" dirty="0"/>
              <a:t>Laravel</a:t>
            </a:r>
          </a:p>
        </p:txBody>
      </p:sp>
    </p:spTree>
    <p:extLst>
      <p:ext uri="{BB962C8B-B14F-4D97-AF65-F5344CB8AC3E}">
        <p14:creationId xmlns:p14="http://schemas.microsoft.com/office/powerpoint/2010/main" val="10563959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7C4D3D-6FE2-42EC-AFA5-B9F1311665E4}"/>
              </a:ext>
            </a:extLst>
          </p:cNvPr>
          <p:cNvSpPr>
            <a:spLocks noGrp="1"/>
          </p:cNvSpPr>
          <p:nvPr>
            <p:ph type="title"/>
          </p:nvPr>
        </p:nvSpPr>
        <p:spPr>
          <a:xfrm>
            <a:off x="648929" y="629266"/>
            <a:ext cx="3505495" cy="1622321"/>
          </a:xfrm>
        </p:spPr>
        <p:txBody>
          <a:bodyPr>
            <a:normAutofit fontScale="90000"/>
          </a:bodyPr>
          <a:lstStyle/>
          <a:p>
            <a:r>
              <a:rPr lang="es-ES" b="1"/>
              <a:t>Modelo vista-controlador</a:t>
            </a:r>
          </a:p>
        </p:txBody>
      </p:sp>
      <p:sp>
        <p:nvSpPr>
          <p:cNvPr id="3" name="Marcador de contenido 2">
            <a:extLst>
              <a:ext uri="{FF2B5EF4-FFF2-40B4-BE49-F238E27FC236}">
                <a16:creationId xmlns:a16="http://schemas.microsoft.com/office/drawing/2014/main" id="{E4E4EB76-C1E3-4FB3-A588-487652366896}"/>
              </a:ext>
            </a:extLst>
          </p:cNvPr>
          <p:cNvSpPr>
            <a:spLocks noGrp="1"/>
          </p:cNvSpPr>
          <p:nvPr>
            <p:ph idx="1"/>
          </p:nvPr>
        </p:nvSpPr>
        <p:spPr>
          <a:xfrm>
            <a:off x="648931" y="2438400"/>
            <a:ext cx="3505494" cy="3785419"/>
          </a:xfrm>
        </p:spPr>
        <p:txBody>
          <a:bodyPr>
            <a:normAutofit/>
          </a:bodyPr>
          <a:lstStyle/>
          <a:p>
            <a:r>
              <a:rPr lang="es-ES" sz="1700"/>
              <a:t>Django usa el modelo vista-template (MVT)</a:t>
            </a:r>
          </a:p>
          <a:p>
            <a:pPr lvl="1"/>
            <a:r>
              <a:rPr lang="es-ES" sz="1700"/>
              <a:t>M significa "Model" (Modelo), la capa de acceso a la base de datos.</a:t>
            </a:r>
          </a:p>
          <a:p>
            <a:pPr lvl="1"/>
            <a:r>
              <a:rPr lang="es-ES" sz="1700"/>
              <a:t>T significa "Template" (Plantilla), la capa de presentación.</a:t>
            </a:r>
          </a:p>
          <a:p>
            <a:pPr lvl="1"/>
            <a:r>
              <a:rPr lang="es-ES" sz="1700"/>
              <a:t>V significa "View" (Vista), la capa de la lógica de negocios.</a:t>
            </a:r>
          </a:p>
          <a:p>
            <a:r>
              <a:rPr lang="es-ES" sz="1700"/>
              <a:t>Lavarel no usa el modelo vista-controlador, a pesar de lo que mucha gente cree.</a:t>
            </a:r>
          </a:p>
          <a:p>
            <a:pPr lvl="1"/>
            <a:endParaRPr lang="es-ES" sz="1700"/>
          </a:p>
        </p:txBody>
      </p:sp>
      <p:sp>
        <p:nvSpPr>
          <p:cNvPr id="13" name="Rectangle 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Texto, Aplicación, Correo electrónico&#10;&#10;Descripción generada automáticamente">
            <a:extLst>
              <a:ext uri="{FF2B5EF4-FFF2-40B4-BE49-F238E27FC236}">
                <a16:creationId xmlns:a16="http://schemas.microsoft.com/office/drawing/2014/main" id="{BA952938-D422-42AB-9855-13BCF6FBF097}"/>
              </a:ext>
            </a:extLst>
          </p:cNvPr>
          <p:cNvPicPr>
            <a:picLocks noChangeAspect="1"/>
          </p:cNvPicPr>
          <p:nvPr/>
        </p:nvPicPr>
        <p:blipFill>
          <a:blip r:embed="rId2" cstate="print"/>
          <a:stretch>
            <a:fillRect/>
          </a:stretch>
        </p:blipFill>
        <p:spPr>
          <a:xfrm>
            <a:off x="5405862" y="2118173"/>
            <a:ext cx="6019331" cy="2618408"/>
          </a:xfrm>
          <a:prstGeom prst="rect">
            <a:avLst/>
          </a:prstGeom>
          <a:effectLst/>
        </p:spPr>
      </p:pic>
    </p:spTree>
    <p:extLst>
      <p:ext uri="{BB962C8B-B14F-4D97-AF65-F5344CB8AC3E}">
        <p14:creationId xmlns:p14="http://schemas.microsoft.com/office/powerpoint/2010/main" val="20347575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ítulo 3">
            <a:extLst>
              <a:ext uri="{FF2B5EF4-FFF2-40B4-BE49-F238E27FC236}">
                <a16:creationId xmlns:a16="http://schemas.microsoft.com/office/drawing/2014/main" id="{8CDC41BD-7C21-43C7-A9AF-A0426D2EB6A4}"/>
              </a:ext>
            </a:extLst>
          </p:cNvPr>
          <p:cNvSpPr>
            <a:spLocks noGrp="1"/>
          </p:cNvSpPr>
          <p:nvPr>
            <p:ph type="ctrTitle"/>
          </p:nvPr>
        </p:nvSpPr>
        <p:spPr>
          <a:xfrm>
            <a:off x="1280559" y="1286935"/>
            <a:ext cx="9638153" cy="2668377"/>
          </a:xfrm>
          <a:effectLst/>
        </p:spPr>
        <p:txBody>
          <a:bodyPr>
            <a:normAutofit/>
          </a:bodyPr>
          <a:lstStyle/>
          <a:p>
            <a:pPr algn="ctr"/>
            <a:r>
              <a:rPr lang="es-ES" dirty="0">
                <a:solidFill>
                  <a:schemeClr val="tx1"/>
                </a:solidFill>
              </a:rPr>
              <a:t>FIN  - </a:t>
            </a:r>
            <a:r>
              <a:rPr lang="es-ES" dirty="0" err="1">
                <a:solidFill>
                  <a:schemeClr val="tx1"/>
                </a:solidFill>
              </a:rPr>
              <a:t>Laravel</a:t>
            </a:r>
            <a:endParaRPr lang="es-ES" dirty="0">
              <a:solidFill>
                <a:schemeClr val="tx1"/>
              </a:solidFill>
            </a:endParaRPr>
          </a:p>
        </p:txBody>
      </p:sp>
    </p:spTree>
    <p:extLst>
      <p:ext uri="{BB962C8B-B14F-4D97-AF65-F5344CB8AC3E}">
        <p14:creationId xmlns:p14="http://schemas.microsoft.com/office/powerpoint/2010/main" val="14020460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78107-91C2-4157-9454-310E49D59323}"/>
              </a:ext>
            </a:extLst>
          </p:cNvPr>
          <p:cNvSpPr>
            <a:spLocks noGrp="1"/>
          </p:cNvSpPr>
          <p:nvPr>
            <p:ph type="title"/>
          </p:nvPr>
        </p:nvSpPr>
        <p:spPr/>
        <p:txBody>
          <a:bodyPr/>
          <a:lstStyle/>
          <a:p>
            <a:r>
              <a:rPr lang="en-US" dirty="0"/>
              <a:t>Java - Spring</a:t>
            </a:r>
            <a:endParaRPr lang="es-ES" dirty="0"/>
          </a:p>
        </p:txBody>
      </p:sp>
      <p:sp>
        <p:nvSpPr>
          <p:cNvPr id="3" name="Marcador de contenido 2">
            <a:extLst>
              <a:ext uri="{FF2B5EF4-FFF2-40B4-BE49-F238E27FC236}">
                <a16:creationId xmlns:a16="http://schemas.microsoft.com/office/drawing/2014/main" id="{D2DA3345-8309-42DF-AA6A-4E9D91C9B036}"/>
              </a:ext>
            </a:extLst>
          </p:cNvPr>
          <p:cNvSpPr>
            <a:spLocks noGrp="1"/>
          </p:cNvSpPr>
          <p:nvPr>
            <p:ph idx="1"/>
          </p:nvPr>
        </p:nvSpPr>
        <p:spPr/>
        <p:txBody>
          <a:bodyPr/>
          <a:lstStyle/>
          <a:p>
            <a:r>
              <a:rPr lang="en-US" dirty="0"/>
              <a:t>Es un framework </a:t>
            </a:r>
            <a:r>
              <a:rPr lang="en-US" dirty="0" err="1"/>
              <a:t>derivado</a:t>
            </a:r>
            <a:r>
              <a:rPr lang="en-US" dirty="0"/>
              <a:t> de Java que </a:t>
            </a:r>
            <a:r>
              <a:rPr lang="en-US" dirty="0" err="1"/>
              <a:t>permite</a:t>
            </a:r>
            <a:r>
              <a:rPr lang="en-US" dirty="0"/>
              <a:t> una  </a:t>
            </a:r>
            <a:r>
              <a:rPr lang="en-US" dirty="0" err="1"/>
              <a:t>programaci</a:t>
            </a:r>
            <a:r>
              <a:rPr lang="es-ES" dirty="0" err="1"/>
              <a:t>ón</a:t>
            </a:r>
            <a:r>
              <a:rPr lang="es-ES" dirty="0"/>
              <a:t> en este lenguaje más fácil y veloz.</a:t>
            </a:r>
          </a:p>
          <a:p>
            <a:r>
              <a:rPr lang="es-ES" dirty="0"/>
              <a:t>Permite el desarrollo de microservicios, nube, aplicaciones web y automatizaciones.</a:t>
            </a:r>
          </a:p>
          <a:p>
            <a:endParaRPr lang="es-ES" dirty="0"/>
          </a:p>
          <a:p>
            <a:r>
              <a:rPr lang="es-ES" dirty="0">
                <a:hlinkClick r:id="rId2"/>
              </a:rPr>
              <a:t>Tutorial</a:t>
            </a:r>
            <a:endParaRPr lang="es-ES" dirty="0"/>
          </a:p>
        </p:txBody>
      </p:sp>
      <p:pic>
        <p:nvPicPr>
          <p:cNvPr id="1030" name="Picture 6" descr="java png - Java Spring Framework Training - Logo Spring Boot Png | #3954241  - Vippng">
            <a:extLst>
              <a:ext uri="{FF2B5EF4-FFF2-40B4-BE49-F238E27FC236}">
                <a16:creationId xmlns:a16="http://schemas.microsoft.com/office/drawing/2014/main" id="{708281F9-4AB0-4EF1-AEEE-2A55D1C9909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504" r="26223" b="42278"/>
          <a:stretch/>
        </p:blipFill>
        <p:spPr bwMode="auto">
          <a:xfrm>
            <a:off x="8824587" y="483970"/>
            <a:ext cx="2605413" cy="230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5584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4D6486-4223-4D1E-AEF4-623F98B755E5}"/>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C54B33C5-F56B-4B9A-9E3C-6662BAEFE099}"/>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4FEDF206-D533-4053-9715-623B262C46FB}"/>
              </a:ext>
            </a:extLst>
          </p:cNvPr>
          <p:cNvPicPr>
            <a:picLocks noChangeAspect="1"/>
          </p:cNvPicPr>
          <p:nvPr/>
        </p:nvPicPr>
        <p:blipFill>
          <a:blip r:embed="rId2" cstate="print"/>
          <a:stretch>
            <a:fillRect/>
          </a:stretch>
        </p:blipFill>
        <p:spPr>
          <a:xfrm>
            <a:off x="598441" y="231491"/>
            <a:ext cx="10831559" cy="6395017"/>
          </a:xfrm>
          <a:prstGeom prst="rect">
            <a:avLst/>
          </a:prstGeom>
        </p:spPr>
      </p:pic>
    </p:spTree>
    <p:extLst>
      <p:ext uri="{BB962C8B-B14F-4D97-AF65-F5344CB8AC3E}">
        <p14:creationId xmlns:p14="http://schemas.microsoft.com/office/powerpoint/2010/main" val="394933666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4FEAF-4807-48FF-B8B5-B42B7DDE999B}"/>
              </a:ext>
            </a:extLst>
          </p:cNvPr>
          <p:cNvSpPr>
            <a:spLocks noGrp="1"/>
          </p:cNvSpPr>
          <p:nvPr>
            <p:ph type="title"/>
          </p:nvPr>
        </p:nvSpPr>
        <p:spPr/>
        <p:txBody>
          <a:bodyPr/>
          <a:lstStyle/>
          <a:p>
            <a:r>
              <a:rPr lang="es-ES" dirty="0"/>
              <a:t>C</a:t>
            </a:r>
            <a:r>
              <a:rPr lang="en-US" dirty="0"/>
              <a:t># </a:t>
            </a:r>
            <a:r>
              <a:rPr lang="en-US" dirty="0" err="1"/>
              <a:t>.Net</a:t>
            </a:r>
            <a:endParaRPr lang="es-ES" dirty="0"/>
          </a:p>
        </p:txBody>
      </p:sp>
      <p:sp>
        <p:nvSpPr>
          <p:cNvPr id="3" name="Marcador de contenido 2">
            <a:extLst>
              <a:ext uri="{FF2B5EF4-FFF2-40B4-BE49-F238E27FC236}">
                <a16:creationId xmlns:a16="http://schemas.microsoft.com/office/drawing/2014/main" id="{903D494A-E005-4E7E-B906-FDDBDCA6D594}"/>
              </a:ext>
            </a:extLst>
          </p:cNvPr>
          <p:cNvSpPr>
            <a:spLocks noGrp="1"/>
          </p:cNvSpPr>
          <p:nvPr>
            <p:ph idx="1"/>
          </p:nvPr>
        </p:nvSpPr>
        <p:spPr/>
        <p:txBody>
          <a:bodyPr>
            <a:normAutofit lnSpcReduction="10000"/>
          </a:bodyPr>
          <a:lstStyle/>
          <a:p>
            <a:r>
              <a:rPr lang="en-US" dirty="0"/>
              <a:t>Microsoft </a:t>
            </a:r>
            <a:r>
              <a:rPr lang="en-US" dirty="0" err="1"/>
              <a:t>.Net</a:t>
            </a:r>
            <a:r>
              <a:rPr lang="en-US" dirty="0"/>
              <a:t> es un framework </a:t>
            </a:r>
            <a:r>
              <a:rPr lang="en-US" dirty="0" err="1"/>
              <a:t>destinado</a:t>
            </a:r>
            <a:r>
              <a:rPr lang="en-US" dirty="0"/>
              <a:t> al Desarrollo </a:t>
            </a:r>
            <a:r>
              <a:rPr lang="en-US" dirty="0" err="1"/>
              <a:t>multiplataformas</a:t>
            </a:r>
            <a:r>
              <a:rPr lang="en-US" dirty="0"/>
              <a:t> de forma m</a:t>
            </a:r>
            <a:r>
              <a:rPr lang="es-ES" dirty="0" err="1"/>
              <a:t>ás</a:t>
            </a:r>
            <a:r>
              <a:rPr lang="es-ES" dirty="0"/>
              <a:t> eficaz.</a:t>
            </a:r>
          </a:p>
          <a:p>
            <a:r>
              <a:rPr lang="es-ES" dirty="0"/>
              <a:t> También sirve para el desarrollo de aplicaciones móviles, desarrollo de videojuegos e </a:t>
            </a:r>
            <a:r>
              <a:rPr lang="es-ES" dirty="0" err="1"/>
              <a:t>IoT</a:t>
            </a:r>
            <a:r>
              <a:rPr lang="es-ES" dirty="0"/>
              <a:t>.</a:t>
            </a:r>
          </a:p>
          <a:p>
            <a:endParaRPr lang="es-ES" dirty="0"/>
          </a:p>
          <a:p>
            <a:endParaRPr lang="es-ES" dirty="0"/>
          </a:p>
          <a:p>
            <a:r>
              <a:rPr lang="es-ES" dirty="0"/>
              <a:t>Tutorial</a:t>
            </a:r>
          </a:p>
        </p:txBody>
      </p:sp>
      <p:pic>
        <p:nvPicPr>
          <p:cNvPr id="4" name="Imagen 3">
            <a:extLst>
              <a:ext uri="{FF2B5EF4-FFF2-40B4-BE49-F238E27FC236}">
                <a16:creationId xmlns:a16="http://schemas.microsoft.com/office/drawing/2014/main" id="{B03A6AAE-32B9-4CDC-B366-030E44B58BD1}"/>
              </a:ext>
            </a:extLst>
          </p:cNvPr>
          <p:cNvPicPr>
            <a:picLocks noChangeAspect="1"/>
          </p:cNvPicPr>
          <p:nvPr/>
        </p:nvPicPr>
        <p:blipFill rotWithShape="1">
          <a:blip r:embed="rId2" cstate="print"/>
          <a:srcRect l="19918" r="17149" b="50000"/>
          <a:stretch/>
        </p:blipFill>
        <p:spPr>
          <a:xfrm>
            <a:off x="8373107" y="801687"/>
            <a:ext cx="3409317" cy="1444626"/>
          </a:xfrm>
          <a:prstGeom prst="rect">
            <a:avLst/>
          </a:prstGeom>
        </p:spPr>
      </p:pic>
    </p:spTree>
    <p:extLst>
      <p:ext uri="{BB962C8B-B14F-4D97-AF65-F5344CB8AC3E}">
        <p14:creationId xmlns:p14="http://schemas.microsoft.com/office/powerpoint/2010/main" val="37204484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AB1E0-6ADD-40B0-A1CC-91148FA09ACB}"/>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3B4A288C-0786-4E8D-966C-AF642BD8DC18}"/>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6DFCA0C9-0E85-44F4-947E-CCF5272203BE}"/>
              </a:ext>
            </a:extLst>
          </p:cNvPr>
          <p:cNvPicPr>
            <a:picLocks noChangeAspect="1"/>
          </p:cNvPicPr>
          <p:nvPr/>
        </p:nvPicPr>
        <p:blipFill>
          <a:blip r:embed="rId2" cstate="print"/>
          <a:stretch>
            <a:fillRect/>
          </a:stretch>
        </p:blipFill>
        <p:spPr>
          <a:xfrm>
            <a:off x="79488" y="925613"/>
            <a:ext cx="12033023" cy="5006774"/>
          </a:xfrm>
          <a:prstGeom prst="rect">
            <a:avLst/>
          </a:prstGeom>
        </p:spPr>
      </p:pic>
    </p:spTree>
    <p:extLst>
      <p:ext uri="{BB962C8B-B14F-4D97-AF65-F5344CB8AC3E}">
        <p14:creationId xmlns:p14="http://schemas.microsoft.com/office/powerpoint/2010/main" val="30673627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AB2F20-FCF3-4656-98ED-95848297560C}"/>
              </a:ext>
            </a:extLst>
          </p:cNvPr>
          <p:cNvSpPr>
            <a:spLocks noGrp="1"/>
          </p:cNvSpPr>
          <p:nvPr>
            <p:ph type="title"/>
          </p:nvPr>
        </p:nvSpPr>
        <p:spPr/>
        <p:txBody>
          <a:bodyPr/>
          <a:lstStyle/>
          <a:p>
            <a:r>
              <a:rPr lang="en-US" dirty="0" err="1"/>
              <a:t>Comparaci</a:t>
            </a:r>
            <a:r>
              <a:rPr lang="es-ES" dirty="0" err="1"/>
              <a:t>ón</a:t>
            </a:r>
            <a:r>
              <a:rPr lang="es-ES" dirty="0"/>
              <a:t> Spring </a:t>
            </a:r>
            <a:r>
              <a:rPr lang="en-US" dirty="0"/>
              <a:t>- .Net</a:t>
            </a:r>
            <a:endParaRPr lang="es-ES" dirty="0"/>
          </a:p>
        </p:txBody>
      </p:sp>
      <p:graphicFrame>
        <p:nvGraphicFramePr>
          <p:cNvPr id="4" name="Tabla 4">
            <a:extLst>
              <a:ext uri="{FF2B5EF4-FFF2-40B4-BE49-F238E27FC236}">
                <a16:creationId xmlns:a16="http://schemas.microsoft.com/office/drawing/2014/main" id="{9B581FB2-1079-4F48-B0DD-626A034264B9}"/>
              </a:ext>
            </a:extLst>
          </p:cNvPr>
          <p:cNvGraphicFramePr>
            <a:graphicFrameLocks noGrp="1"/>
          </p:cNvGraphicFramePr>
          <p:nvPr>
            <p:ph idx="1"/>
            <p:extLst>
              <p:ext uri="{D42A27DB-BD31-4B8C-83A1-F6EECF244321}">
                <p14:modId xmlns:p14="http://schemas.microsoft.com/office/powerpoint/2010/main" val="2042848794"/>
              </p:ext>
            </p:extLst>
          </p:nvPr>
        </p:nvGraphicFramePr>
        <p:xfrm>
          <a:off x="762000" y="3048000"/>
          <a:ext cx="10668000" cy="3067050"/>
        </p:xfrm>
        <a:graphic>
          <a:graphicData uri="http://schemas.openxmlformats.org/drawingml/2006/table">
            <a:tbl>
              <a:tblPr firstRow="1" bandRow="1">
                <a:tableStyleId>{073A0DAA-6AF3-43AB-8588-CEC1D06C72B9}</a:tableStyleId>
              </a:tblPr>
              <a:tblGrid>
                <a:gridCol w="3556000">
                  <a:extLst>
                    <a:ext uri="{9D8B030D-6E8A-4147-A177-3AD203B41FA5}">
                      <a16:colId xmlns:a16="http://schemas.microsoft.com/office/drawing/2014/main" val="2385531200"/>
                    </a:ext>
                  </a:extLst>
                </a:gridCol>
                <a:gridCol w="3556000">
                  <a:extLst>
                    <a:ext uri="{9D8B030D-6E8A-4147-A177-3AD203B41FA5}">
                      <a16:colId xmlns:a16="http://schemas.microsoft.com/office/drawing/2014/main" val="4218738416"/>
                    </a:ext>
                  </a:extLst>
                </a:gridCol>
                <a:gridCol w="3556000">
                  <a:extLst>
                    <a:ext uri="{9D8B030D-6E8A-4147-A177-3AD203B41FA5}">
                      <a16:colId xmlns:a16="http://schemas.microsoft.com/office/drawing/2014/main" val="3102150943"/>
                    </a:ext>
                  </a:extLst>
                </a:gridCol>
              </a:tblGrid>
              <a:tr h="613410">
                <a:tc>
                  <a:txBody>
                    <a:bodyPr/>
                    <a:lstStyle/>
                    <a:p>
                      <a:endParaRPr lang="es-ES"/>
                    </a:p>
                  </a:txBody>
                  <a:tcPr/>
                </a:tc>
                <a:tc>
                  <a:txBody>
                    <a:bodyPr/>
                    <a:lstStyle/>
                    <a:p>
                      <a:r>
                        <a:rPr lang="en-US" dirty="0"/>
                        <a:t>Spring</a:t>
                      </a:r>
                      <a:endParaRPr lang="es-ES" dirty="0"/>
                    </a:p>
                  </a:txBody>
                  <a:tcPr/>
                </a:tc>
                <a:tc>
                  <a:txBody>
                    <a:bodyPr/>
                    <a:lstStyle/>
                    <a:p>
                      <a:r>
                        <a:rPr lang="en-US" dirty="0"/>
                        <a:t>.Net</a:t>
                      </a:r>
                      <a:endParaRPr lang="es-ES" dirty="0"/>
                    </a:p>
                  </a:txBody>
                  <a:tcPr/>
                </a:tc>
                <a:extLst>
                  <a:ext uri="{0D108BD9-81ED-4DB2-BD59-A6C34878D82A}">
                    <a16:rowId xmlns:a16="http://schemas.microsoft.com/office/drawing/2014/main" val="295542540"/>
                  </a:ext>
                </a:extLst>
              </a:tr>
              <a:tr h="613410">
                <a:tc>
                  <a:txBody>
                    <a:bodyPr/>
                    <a:lstStyle/>
                    <a:p>
                      <a:r>
                        <a:rPr lang="es-ES" dirty="0"/>
                        <a:t>Lenguaje</a:t>
                      </a:r>
                    </a:p>
                  </a:txBody>
                  <a:tcPr/>
                </a:tc>
                <a:tc>
                  <a:txBody>
                    <a:bodyPr/>
                    <a:lstStyle/>
                    <a:p>
                      <a:pPr algn="ctr"/>
                      <a:r>
                        <a:rPr lang="es-ES" sz="1800" dirty="0"/>
                        <a:t>Java</a:t>
                      </a:r>
                    </a:p>
                  </a:txBody>
                  <a:tcPr/>
                </a:tc>
                <a:tc>
                  <a:txBody>
                    <a:bodyPr/>
                    <a:lstStyle/>
                    <a:p>
                      <a:pPr algn="ctr"/>
                      <a:r>
                        <a:rPr lang="es-ES" dirty="0"/>
                        <a:t>C</a:t>
                      </a:r>
                      <a:r>
                        <a:rPr lang="en-US" dirty="0"/>
                        <a:t>#</a:t>
                      </a:r>
                      <a:endParaRPr lang="es-ES" dirty="0"/>
                    </a:p>
                  </a:txBody>
                  <a:tcPr/>
                </a:tc>
                <a:extLst>
                  <a:ext uri="{0D108BD9-81ED-4DB2-BD59-A6C34878D82A}">
                    <a16:rowId xmlns:a16="http://schemas.microsoft.com/office/drawing/2014/main" val="2277275643"/>
                  </a:ext>
                </a:extLst>
              </a:tr>
              <a:tr h="613410">
                <a:tc>
                  <a:txBody>
                    <a:bodyPr/>
                    <a:lstStyle/>
                    <a:p>
                      <a:r>
                        <a:rPr lang="en-US" dirty="0" err="1"/>
                        <a:t>Servidor</a:t>
                      </a:r>
                      <a:endParaRPr lang="es-ES" dirty="0"/>
                    </a:p>
                  </a:txBody>
                  <a:tcPr/>
                </a:tc>
                <a:tc>
                  <a:txBody>
                    <a:bodyPr/>
                    <a:lstStyle/>
                    <a:p>
                      <a:pPr algn="ctr"/>
                      <a:r>
                        <a:rPr lang="en-US" sz="1600" dirty="0"/>
                        <a:t>Apache Tomcat (Puerto 8080)</a:t>
                      </a:r>
                      <a:endParaRPr lang="es-ES" sz="1600" dirty="0"/>
                    </a:p>
                  </a:txBody>
                  <a:tcPr/>
                </a:tc>
                <a:tc>
                  <a:txBody>
                    <a:bodyPr/>
                    <a:lstStyle/>
                    <a:p>
                      <a:pPr algn="ctr"/>
                      <a:r>
                        <a:rPr lang="en-US" dirty="0"/>
                        <a:t>ISS (Puerto 44398)</a:t>
                      </a:r>
                      <a:endParaRPr lang="es-ES" dirty="0"/>
                    </a:p>
                  </a:txBody>
                  <a:tcPr/>
                </a:tc>
                <a:extLst>
                  <a:ext uri="{0D108BD9-81ED-4DB2-BD59-A6C34878D82A}">
                    <a16:rowId xmlns:a16="http://schemas.microsoft.com/office/drawing/2014/main" val="2951983889"/>
                  </a:ext>
                </a:extLst>
              </a:tr>
              <a:tr h="613410">
                <a:tc>
                  <a:txBody>
                    <a:bodyPr/>
                    <a:lstStyle/>
                    <a:p>
                      <a:r>
                        <a:rPr lang="en-US" dirty="0" err="1"/>
                        <a:t>Paradigma</a:t>
                      </a:r>
                      <a:r>
                        <a:rPr lang="en-US" dirty="0"/>
                        <a:t> de </a:t>
                      </a:r>
                      <a:r>
                        <a:rPr lang="en-US" dirty="0" err="1"/>
                        <a:t>comunicaci</a:t>
                      </a:r>
                      <a:r>
                        <a:rPr lang="es-ES" dirty="0" err="1"/>
                        <a:t>ón</a:t>
                      </a:r>
                      <a:endParaRPr lang="es-ES" dirty="0"/>
                    </a:p>
                  </a:txBody>
                  <a:tcPr/>
                </a:tc>
                <a:tc>
                  <a:txBody>
                    <a:bodyPr/>
                    <a:lstStyle/>
                    <a:p>
                      <a:pPr algn="ctr"/>
                      <a:r>
                        <a:rPr lang="en-US" dirty="0"/>
                        <a:t>HTTP</a:t>
                      </a:r>
                      <a:endParaRPr lang="es-ES" dirty="0"/>
                    </a:p>
                  </a:txBody>
                  <a:tcPr/>
                </a:tc>
                <a:tc>
                  <a:txBody>
                    <a:bodyPr/>
                    <a:lstStyle/>
                    <a:p>
                      <a:pPr algn="ctr"/>
                      <a:r>
                        <a:rPr lang="en-US" dirty="0"/>
                        <a:t>HSTS</a:t>
                      </a:r>
                      <a:endParaRPr lang="es-ES" dirty="0"/>
                    </a:p>
                  </a:txBody>
                  <a:tcPr/>
                </a:tc>
                <a:extLst>
                  <a:ext uri="{0D108BD9-81ED-4DB2-BD59-A6C34878D82A}">
                    <a16:rowId xmlns:a16="http://schemas.microsoft.com/office/drawing/2014/main" val="3461315581"/>
                  </a:ext>
                </a:extLst>
              </a:tr>
              <a:tr h="613410">
                <a:tc>
                  <a:txBody>
                    <a:bodyPr/>
                    <a:lstStyle/>
                    <a:p>
                      <a:r>
                        <a:rPr lang="es-ES" dirty="0"/>
                        <a:t>Modelo</a:t>
                      </a:r>
                      <a:r>
                        <a:rPr lang="en-US" dirty="0"/>
                        <a:t> Vista-</a:t>
                      </a:r>
                      <a:r>
                        <a:rPr lang="en-US" dirty="0" err="1"/>
                        <a:t>Controlador</a:t>
                      </a:r>
                      <a:endParaRPr lang="es-ES" dirty="0"/>
                    </a:p>
                  </a:txBody>
                  <a:tcPr/>
                </a:tc>
                <a:tc>
                  <a:txBody>
                    <a:bodyPr/>
                    <a:lstStyle/>
                    <a:p>
                      <a:pPr algn="ctr"/>
                      <a:r>
                        <a:rPr lang="en-US" dirty="0"/>
                        <a:t>Servlet</a:t>
                      </a:r>
                      <a:endParaRPr lang="es-ES" dirty="0"/>
                    </a:p>
                  </a:txBody>
                  <a:tcPr/>
                </a:tc>
                <a:tc>
                  <a:txBody>
                    <a:bodyPr/>
                    <a:lstStyle/>
                    <a:p>
                      <a:pPr algn="ctr"/>
                      <a:r>
                        <a:rPr lang="en-US" dirty="0"/>
                        <a:t>CGI</a:t>
                      </a:r>
                      <a:endParaRPr lang="es-ES" dirty="0"/>
                    </a:p>
                  </a:txBody>
                  <a:tcPr/>
                </a:tc>
                <a:extLst>
                  <a:ext uri="{0D108BD9-81ED-4DB2-BD59-A6C34878D82A}">
                    <a16:rowId xmlns:a16="http://schemas.microsoft.com/office/drawing/2014/main" val="404037111"/>
                  </a:ext>
                </a:extLst>
              </a:tr>
            </a:tbl>
          </a:graphicData>
        </a:graphic>
      </p:graphicFrame>
    </p:spTree>
    <p:extLst>
      <p:ext uri="{BB962C8B-B14F-4D97-AF65-F5344CB8AC3E}">
        <p14:creationId xmlns:p14="http://schemas.microsoft.com/office/powerpoint/2010/main" val="23684572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ítulo 3">
            <a:extLst>
              <a:ext uri="{FF2B5EF4-FFF2-40B4-BE49-F238E27FC236}">
                <a16:creationId xmlns:a16="http://schemas.microsoft.com/office/drawing/2014/main" id="{8CDC41BD-7C21-43C7-A9AF-A0426D2EB6A4}"/>
              </a:ext>
            </a:extLst>
          </p:cNvPr>
          <p:cNvSpPr>
            <a:spLocks noGrp="1"/>
          </p:cNvSpPr>
          <p:nvPr>
            <p:ph type="ctrTitle"/>
          </p:nvPr>
        </p:nvSpPr>
        <p:spPr>
          <a:xfrm>
            <a:off x="1280559" y="1286935"/>
            <a:ext cx="9638153" cy="2668377"/>
          </a:xfrm>
          <a:effectLst/>
        </p:spPr>
        <p:txBody>
          <a:bodyPr>
            <a:normAutofit/>
          </a:bodyPr>
          <a:lstStyle/>
          <a:p>
            <a:pPr algn="ctr"/>
            <a:r>
              <a:rPr lang="es-ES" dirty="0">
                <a:solidFill>
                  <a:schemeClr val="tx1"/>
                </a:solidFill>
              </a:rPr>
              <a:t>FIN  - </a:t>
            </a:r>
            <a:r>
              <a:rPr lang="es-ES" dirty="0" err="1">
                <a:solidFill>
                  <a:schemeClr val="tx1"/>
                </a:solidFill>
              </a:rPr>
              <a:t>.Net</a:t>
            </a:r>
            <a:endParaRPr lang="es-ES" dirty="0">
              <a:solidFill>
                <a:schemeClr val="tx1"/>
              </a:solidFill>
            </a:endParaRPr>
          </a:p>
        </p:txBody>
      </p:sp>
    </p:spTree>
    <p:extLst>
      <p:ext uri="{BB962C8B-B14F-4D97-AF65-F5344CB8AC3E}">
        <p14:creationId xmlns:p14="http://schemas.microsoft.com/office/powerpoint/2010/main" val="14020460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2AEC5A-21FA-4672-AA12-B6D403D8DADF}"/>
              </a:ext>
            </a:extLst>
          </p:cNvPr>
          <p:cNvSpPr>
            <a:spLocks noGrp="1"/>
          </p:cNvSpPr>
          <p:nvPr>
            <p:ph type="title"/>
          </p:nvPr>
        </p:nvSpPr>
        <p:spPr/>
        <p:txBody>
          <a:bodyPr/>
          <a:lstStyle/>
          <a:p>
            <a:r>
              <a:rPr lang="es-ES" dirty="0"/>
              <a:t>INSTALACION </a:t>
            </a:r>
            <a:r>
              <a:rPr lang="en-US" dirty="0" err="1"/>
              <a:t>NodeJS</a:t>
            </a:r>
            <a:r>
              <a:rPr lang="en-US" dirty="0"/>
              <a:t> </a:t>
            </a:r>
            <a:r>
              <a:rPr lang="es-ES" dirty="0"/>
              <a:t>EXPRESS</a:t>
            </a:r>
          </a:p>
        </p:txBody>
      </p:sp>
      <p:sp>
        <p:nvSpPr>
          <p:cNvPr id="3" name="Marcador de contenido 2">
            <a:extLst>
              <a:ext uri="{FF2B5EF4-FFF2-40B4-BE49-F238E27FC236}">
                <a16:creationId xmlns:a16="http://schemas.microsoft.com/office/drawing/2014/main" id="{80639C33-E772-4B3E-AE57-37028CB496EB}"/>
              </a:ext>
            </a:extLst>
          </p:cNvPr>
          <p:cNvSpPr>
            <a:spLocks noGrp="1"/>
          </p:cNvSpPr>
          <p:nvPr>
            <p:ph idx="1"/>
          </p:nvPr>
        </p:nvSpPr>
        <p:spPr/>
        <p:txBody>
          <a:bodyPr/>
          <a:lstStyle/>
          <a:p>
            <a:r>
              <a:rPr lang="es-ES" dirty="0"/>
              <a:t>Instalar </a:t>
            </a:r>
            <a:r>
              <a:rPr lang="es-ES" dirty="0" err="1"/>
              <a:t>node</a:t>
            </a:r>
            <a:r>
              <a:rPr lang="es-ES" dirty="0"/>
              <a:t> </a:t>
            </a:r>
            <a:r>
              <a:rPr lang="es-ES" dirty="0" err="1"/>
              <a:t>js</a:t>
            </a:r>
            <a:endParaRPr lang="es-ES" dirty="0"/>
          </a:p>
          <a:p>
            <a:r>
              <a:rPr lang="es-ES" dirty="0"/>
              <a:t>Instalar </a:t>
            </a:r>
            <a:r>
              <a:rPr lang="es-ES" dirty="0" err="1"/>
              <a:t>express</a:t>
            </a:r>
            <a:endParaRPr lang="es-ES" dirty="0"/>
          </a:p>
          <a:p>
            <a:r>
              <a:rPr lang="es-ES"/>
              <a:t>Instalar servidor </a:t>
            </a:r>
            <a:r>
              <a:rPr lang="es-ES" dirty="0" err="1"/>
              <a:t>bbdd</a:t>
            </a:r>
            <a:endParaRPr lang="es-ES" dirty="0"/>
          </a:p>
        </p:txBody>
      </p:sp>
    </p:spTree>
    <p:extLst>
      <p:ext uri="{BB962C8B-B14F-4D97-AF65-F5344CB8AC3E}">
        <p14:creationId xmlns:p14="http://schemas.microsoft.com/office/powerpoint/2010/main" val="31224339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7EDD5F-E633-49BE-A510-5CDFEC18C49F}"/>
              </a:ext>
            </a:extLst>
          </p:cNvPr>
          <p:cNvSpPr>
            <a:spLocks noGrp="1"/>
          </p:cNvSpPr>
          <p:nvPr>
            <p:ph type="title"/>
          </p:nvPr>
        </p:nvSpPr>
        <p:spPr/>
        <p:txBody>
          <a:bodyPr>
            <a:normAutofit fontScale="90000"/>
          </a:bodyPr>
          <a:lstStyle/>
          <a:p>
            <a:r>
              <a:rPr lang="es-ES" dirty="0"/>
              <a:t>INSTALACION PHP CODEIGNITER</a:t>
            </a:r>
          </a:p>
        </p:txBody>
      </p:sp>
      <p:sp>
        <p:nvSpPr>
          <p:cNvPr id="3" name="Marcador de contenido 2">
            <a:extLst>
              <a:ext uri="{FF2B5EF4-FFF2-40B4-BE49-F238E27FC236}">
                <a16:creationId xmlns:a16="http://schemas.microsoft.com/office/drawing/2014/main" id="{70F567CE-8568-40DE-A633-7292B7A77ECF}"/>
              </a:ext>
            </a:extLst>
          </p:cNvPr>
          <p:cNvSpPr>
            <a:spLocks noGrp="1"/>
          </p:cNvSpPr>
          <p:nvPr>
            <p:ph idx="1"/>
          </p:nvPr>
        </p:nvSpPr>
        <p:spPr/>
        <p:txBody>
          <a:bodyPr/>
          <a:lstStyle/>
          <a:p>
            <a:r>
              <a:rPr lang="es-ES" dirty="0"/>
              <a:t>Instalar </a:t>
            </a:r>
            <a:r>
              <a:rPr lang="es-ES" dirty="0" err="1"/>
              <a:t>codeIgniter</a:t>
            </a:r>
            <a:endParaRPr lang="es-ES" dirty="0"/>
          </a:p>
          <a:p>
            <a:r>
              <a:rPr lang="es-ES" dirty="0"/>
              <a:t>Instalar servidor externo</a:t>
            </a:r>
          </a:p>
          <a:p>
            <a:r>
              <a:rPr lang="es-ES" dirty="0"/>
              <a:t>Instalar </a:t>
            </a:r>
            <a:r>
              <a:rPr lang="es-ES" dirty="0" err="1"/>
              <a:t>bbdd</a:t>
            </a:r>
            <a:endParaRPr lang="es-ES" dirty="0"/>
          </a:p>
        </p:txBody>
      </p:sp>
    </p:spTree>
    <p:extLst>
      <p:ext uri="{BB962C8B-B14F-4D97-AF65-F5344CB8AC3E}">
        <p14:creationId xmlns:p14="http://schemas.microsoft.com/office/powerpoint/2010/main" val="24690850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4AF808-8026-4682-BD08-08C11B808062}"/>
              </a:ext>
            </a:extLst>
          </p:cNvPr>
          <p:cNvSpPr>
            <a:spLocks noGrp="1"/>
          </p:cNvSpPr>
          <p:nvPr>
            <p:ph type="title"/>
          </p:nvPr>
        </p:nvSpPr>
        <p:spPr/>
        <p:txBody>
          <a:bodyPr/>
          <a:lstStyle/>
          <a:p>
            <a:r>
              <a:rPr lang="es-ES" dirty="0"/>
              <a:t>SERVIDOR</a:t>
            </a:r>
          </a:p>
        </p:txBody>
      </p:sp>
      <p:sp>
        <p:nvSpPr>
          <p:cNvPr id="3" name="Marcador de contenido 2">
            <a:extLst>
              <a:ext uri="{FF2B5EF4-FFF2-40B4-BE49-F238E27FC236}">
                <a16:creationId xmlns:a16="http://schemas.microsoft.com/office/drawing/2014/main" id="{69C85D82-0FCF-4EE9-9F51-3B7296CBF42B}"/>
              </a:ext>
            </a:extLst>
          </p:cNvPr>
          <p:cNvSpPr>
            <a:spLocks noGrp="1"/>
          </p:cNvSpPr>
          <p:nvPr>
            <p:ph idx="1"/>
          </p:nvPr>
        </p:nvSpPr>
        <p:spPr>
          <a:xfrm>
            <a:off x="1007896" y="2189649"/>
            <a:ext cx="10353762" cy="4058751"/>
          </a:xfrm>
        </p:spPr>
        <p:txBody>
          <a:bodyPr/>
          <a:lstStyle/>
          <a:p>
            <a:r>
              <a:rPr lang="en-US" dirty="0" err="1"/>
              <a:t>NodeJS</a:t>
            </a:r>
            <a:r>
              <a:rPr lang="en-US" dirty="0"/>
              <a:t> </a:t>
            </a:r>
            <a:r>
              <a:rPr lang="es-ES" dirty="0"/>
              <a:t>Express: posee servidor propio, por lo que no hace falta utilizar uno externo.</a:t>
            </a:r>
          </a:p>
          <a:p>
            <a:endParaRPr lang="es-ES" dirty="0"/>
          </a:p>
          <a:p>
            <a:endParaRPr lang="es-ES" dirty="0"/>
          </a:p>
          <a:p>
            <a:r>
              <a:rPr lang="es-ES" dirty="0"/>
              <a:t>PHP </a:t>
            </a:r>
            <a:r>
              <a:rPr lang="es-ES" dirty="0" err="1"/>
              <a:t>CodeIgniter</a:t>
            </a:r>
            <a:r>
              <a:rPr lang="es-ES" dirty="0"/>
              <a:t>: no posee servidor propio. Habrá que utilizar uno externo como XAMPP.</a:t>
            </a:r>
          </a:p>
        </p:txBody>
      </p:sp>
    </p:spTree>
    <p:extLst>
      <p:ext uri="{BB962C8B-B14F-4D97-AF65-F5344CB8AC3E}">
        <p14:creationId xmlns:p14="http://schemas.microsoft.com/office/powerpoint/2010/main" val="16111690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BA6C3C-7C1F-4766-BCC7-776F9F3D624D}"/>
              </a:ext>
            </a:extLst>
          </p:cNvPr>
          <p:cNvSpPr>
            <a:spLocks noGrp="1"/>
          </p:cNvSpPr>
          <p:nvPr>
            <p:ph type="title"/>
          </p:nvPr>
        </p:nvSpPr>
        <p:spPr/>
        <p:txBody>
          <a:bodyPr>
            <a:normAutofit/>
          </a:bodyPr>
          <a:lstStyle/>
          <a:p>
            <a:r>
              <a:rPr lang="es-ES" sz="2400" dirty="0"/>
              <a:t>PARADIGMA DE COMUNICACIÓN SERVIDOR-APLICACION </a:t>
            </a:r>
          </a:p>
        </p:txBody>
      </p:sp>
      <p:sp>
        <p:nvSpPr>
          <p:cNvPr id="3" name="Marcador de contenido 2">
            <a:extLst>
              <a:ext uri="{FF2B5EF4-FFF2-40B4-BE49-F238E27FC236}">
                <a16:creationId xmlns:a16="http://schemas.microsoft.com/office/drawing/2014/main" id="{ABFD7C41-6597-40EA-BC55-8C5192CAB3FE}"/>
              </a:ext>
            </a:extLst>
          </p:cNvPr>
          <p:cNvSpPr>
            <a:spLocks noGrp="1"/>
          </p:cNvSpPr>
          <p:nvPr>
            <p:ph idx="1"/>
          </p:nvPr>
        </p:nvSpPr>
        <p:spPr>
          <a:xfrm>
            <a:off x="851651" y="1306321"/>
            <a:ext cx="10353762" cy="4058751"/>
          </a:xfrm>
        </p:spPr>
        <p:txBody>
          <a:bodyPr/>
          <a:lstStyle/>
          <a:p>
            <a:pPr marL="36900" indent="0">
              <a:buNone/>
            </a:pPr>
            <a:r>
              <a:rPr lang="es-ES" dirty="0"/>
              <a:t> </a:t>
            </a:r>
          </a:p>
          <a:p>
            <a:endParaRPr lang="es-ES" dirty="0"/>
          </a:p>
          <a:p>
            <a:r>
              <a:rPr lang="en-US" dirty="0" err="1"/>
              <a:t>NodeJS</a:t>
            </a:r>
            <a:r>
              <a:rPr lang="en-US" dirty="0"/>
              <a:t> </a:t>
            </a:r>
            <a:r>
              <a:rPr lang="es-ES" dirty="0" err="1"/>
              <a:t>CodeIgniter</a:t>
            </a:r>
            <a:r>
              <a:rPr lang="es-ES" dirty="0"/>
              <a:t>: utiliza CGI (</a:t>
            </a:r>
            <a:r>
              <a:rPr lang="es-ES" dirty="0" err="1"/>
              <a:t>Common</a:t>
            </a:r>
            <a:r>
              <a:rPr lang="es-ES" dirty="0"/>
              <a:t> Gateway Interface), es decir, ejecuta el script como un proceso separado para cada una de las solicitudes y utiliza variables de entorno como </a:t>
            </a:r>
            <a:r>
              <a:rPr lang="es-ES" dirty="0" err="1"/>
              <a:t>stdin</a:t>
            </a:r>
            <a:r>
              <a:rPr lang="es-ES" dirty="0"/>
              <a:t> y </a:t>
            </a:r>
            <a:r>
              <a:rPr lang="es-ES" dirty="0" err="1"/>
              <a:t>stdout</a:t>
            </a:r>
            <a:r>
              <a:rPr lang="es-ES" dirty="0"/>
              <a:t> para llevar a cabo el proceso de comunicación con el.</a:t>
            </a:r>
          </a:p>
          <a:p>
            <a:endParaRPr lang="es-ES" dirty="0"/>
          </a:p>
          <a:p>
            <a:r>
              <a:rPr lang="es-ES" dirty="0"/>
              <a:t>PHP Express: también utiliza CGI.</a:t>
            </a:r>
          </a:p>
        </p:txBody>
      </p:sp>
    </p:spTree>
    <p:extLst>
      <p:ext uri="{BB962C8B-B14F-4D97-AF65-F5344CB8AC3E}">
        <p14:creationId xmlns:p14="http://schemas.microsoft.com/office/powerpoint/2010/main" val="4338120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442825-E9E1-4C47-9139-7DCACC8E1FBE}"/>
              </a:ext>
            </a:extLst>
          </p:cNvPr>
          <p:cNvSpPr>
            <a:spLocks noGrp="1"/>
          </p:cNvSpPr>
          <p:nvPr>
            <p:ph type="title"/>
          </p:nvPr>
        </p:nvSpPr>
        <p:spPr/>
        <p:txBody>
          <a:bodyPr>
            <a:normAutofit/>
          </a:bodyPr>
          <a:lstStyle/>
          <a:p>
            <a:r>
              <a:rPr lang="es-ES" sz="2800" dirty="0"/>
              <a:t>ESTRUCTURA DE LA APLICACIÓN (</a:t>
            </a:r>
            <a:r>
              <a:rPr lang="en-US" sz="2800" dirty="0" err="1"/>
              <a:t>NodeJS</a:t>
            </a:r>
            <a:r>
              <a:rPr lang="en-US" sz="2800" dirty="0"/>
              <a:t> </a:t>
            </a:r>
            <a:r>
              <a:rPr lang="es-ES" sz="2800" dirty="0"/>
              <a:t>CODEIGNITER)</a:t>
            </a:r>
          </a:p>
        </p:txBody>
      </p:sp>
      <p:sp>
        <p:nvSpPr>
          <p:cNvPr id="3" name="Marcador de contenido 2">
            <a:extLst>
              <a:ext uri="{FF2B5EF4-FFF2-40B4-BE49-F238E27FC236}">
                <a16:creationId xmlns:a16="http://schemas.microsoft.com/office/drawing/2014/main" id="{C4842853-E710-4D1D-A3DF-5C8D7925720C}"/>
              </a:ext>
            </a:extLst>
          </p:cNvPr>
          <p:cNvSpPr>
            <a:spLocks noGrp="1"/>
          </p:cNvSpPr>
          <p:nvPr>
            <p:ph idx="1"/>
          </p:nvPr>
        </p:nvSpPr>
        <p:spPr/>
        <p:txBody>
          <a:bodyPr>
            <a:normAutofit fontScale="70000" lnSpcReduction="20000"/>
          </a:bodyPr>
          <a:lstStyle/>
          <a:p>
            <a:r>
              <a:rPr lang="es-ES" dirty="0"/>
              <a:t>Utiliza un MVC (Modelo Vista Controlador).</a:t>
            </a:r>
          </a:p>
          <a:p>
            <a:r>
              <a:rPr lang="es-ES" dirty="0"/>
              <a:t>Modelo Vista Controlador (MVC) es un estilo de arquitectura de software que separa los datos de una aplicación, la interfaz de usuario, y la lógica de control en tres componentes distintos.</a:t>
            </a:r>
          </a:p>
          <a:p>
            <a:r>
              <a:rPr lang="es-ES" u="sng" dirty="0"/>
              <a:t>El Modelo </a:t>
            </a:r>
            <a:r>
              <a:rPr lang="es-ES" dirty="0"/>
              <a:t>que contiene una representación de los datos que maneja el sistema, su lógica de negocio, y sus mecanismos de persistencia.</a:t>
            </a:r>
          </a:p>
          <a:p>
            <a:r>
              <a:rPr lang="es-ES" u="sng" dirty="0"/>
              <a:t>La Vista</a:t>
            </a:r>
            <a:r>
              <a:rPr lang="es-ES" dirty="0"/>
              <a:t>, o interfaz de usuario, que compone la información que se envía al cliente y los mecanismos interacción con éste.</a:t>
            </a:r>
          </a:p>
          <a:p>
            <a:r>
              <a:rPr lang="es-ES" u="sng" dirty="0"/>
              <a:t>El Controlador</a:t>
            </a:r>
            <a:r>
              <a:rPr lang="es-ES" dirty="0"/>
              <a:t>, que actúa como intermediario entre el Modelo y la Vista, gestionando el flujo de información entre ellos y las transformaciones para adaptar los datos a las necesidades de cada uno.</a:t>
            </a:r>
          </a:p>
        </p:txBody>
      </p:sp>
    </p:spTree>
    <p:extLst>
      <p:ext uri="{BB962C8B-B14F-4D97-AF65-F5344CB8AC3E}">
        <p14:creationId xmlns:p14="http://schemas.microsoft.com/office/powerpoint/2010/main" val="19674641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30839F-1674-45C5-9C86-FC60C2B7284C}"/>
              </a:ext>
            </a:extLst>
          </p:cNvPr>
          <p:cNvSpPr>
            <a:spLocks noGrp="1"/>
          </p:cNvSpPr>
          <p:nvPr>
            <p:ph type="title"/>
          </p:nvPr>
        </p:nvSpPr>
        <p:spPr/>
        <p:txBody>
          <a:bodyPr>
            <a:normAutofit/>
          </a:bodyPr>
          <a:lstStyle/>
          <a:p>
            <a:r>
              <a:rPr lang="es-ES" sz="2800" dirty="0"/>
              <a:t>ESTRUCTURA DE LA APLICACIÓN (PHP EXPRESS)</a:t>
            </a:r>
          </a:p>
        </p:txBody>
      </p:sp>
      <p:pic>
        <p:nvPicPr>
          <p:cNvPr id="5" name="Imagen 4">
            <a:extLst>
              <a:ext uri="{FF2B5EF4-FFF2-40B4-BE49-F238E27FC236}">
                <a16:creationId xmlns:a16="http://schemas.microsoft.com/office/drawing/2014/main" id="{A5F2D124-3AA8-405E-9837-3373E4CCEF79}"/>
              </a:ext>
            </a:extLst>
          </p:cNvPr>
          <p:cNvPicPr>
            <a:picLocks noChangeAspect="1"/>
          </p:cNvPicPr>
          <p:nvPr/>
        </p:nvPicPr>
        <p:blipFill>
          <a:blip r:embed="rId2" cstate="print"/>
          <a:stretch>
            <a:fillRect/>
          </a:stretch>
        </p:blipFill>
        <p:spPr>
          <a:xfrm>
            <a:off x="4324420" y="2381450"/>
            <a:ext cx="3532511" cy="3866950"/>
          </a:xfrm>
          <a:prstGeom prst="rect">
            <a:avLst/>
          </a:prstGeom>
        </p:spPr>
      </p:pic>
    </p:spTree>
    <p:extLst>
      <p:ext uri="{BB962C8B-B14F-4D97-AF65-F5344CB8AC3E}">
        <p14:creationId xmlns:p14="http://schemas.microsoft.com/office/powerpoint/2010/main" val="41332741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34"/>
            <a:ext cx="12191999" cy="6857964"/>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893401" y="827532"/>
            <a:ext cx="5567680" cy="1494426"/>
          </a:xfrm>
          <a:prstGeom prst="rect">
            <a:avLst/>
          </a:prstGeom>
        </p:spPr>
        <p:txBody>
          <a:bodyPr vert="horz" wrap="square" lIns="0" tIns="16933" rIns="0" bIns="0" rtlCol="0">
            <a:spAutoFit/>
          </a:bodyPr>
          <a:lstStyle/>
          <a:p>
            <a:pPr marL="16933" marR="6773">
              <a:lnSpc>
                <a:spcPct val="100000"/>
              </a:lnSpc>
              <a:spcBef>
                <a:spcPts val="133"/>
              </a:spcBef>
            </a:pPr>
            <a:r>
              <a:rPr sz="4800" spc="827" dirty="0"/>
              <a:t>Frameworks:  </a:t>
            </a:r>
            <a:r>
              <a:rPr sz="4800" spc="553" dirty="0"/>
              <a:t>DjaN</a:t>
            </a:r>
            <a:r>
              <a:rPr sz="4800" spc="760" dirty="0"/>
              <a:t>G</a:t>
            </a:r>
            <a:r>
              <a:rPr sz="4800" spc="-207" dirty="0"/>
              <a:t>O</a:t>
            </a:r>
            <a:r>
              <a:rPr sz="4800" spc="407" dirty="0"/>
              <a:t>-</a:t>
            </a:r>
            <a:r>
              <a:rPr sz="4800" spc="13" dirty="0"/>
              <a:t>METEOR</a:t>
            </a:r>
            <a:endParaRPr sz="4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8"/>
            <a:ext cx="12191999" cy="685427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195765" y="604520"/>
            <a:ext cx="4715087" cy="2048424"/>
          </a:xfrm>
          <a:prstGeom prst="rect">
            <a:avLst/>
          </a:prstGeom>
        </p:spPr>
        <p:txBody>
          <a:bodyPr vert="horz" wrap="square" lIns="0" tIns="16933" rIns="0" bIns="0" rtlCol="0">
            <a:spAutoFit/>
          </a:bodyPr>
          <a:lstStyle/>
          <a:p>
            <a:pPr marL="16933">
              <a:lnSpc>
                <a:spcPct val="100000"/>
              </a:lnSpc>
              <a:spcBef>
                <a:spcPts val="133"/>
              </a:spcBef>
            </a:pPr>
            <a:r>
              <a:rPr spc="540" dirty="0"/>
              <a:t>Comparación</a:t>
            </a:r>
            <a:r>
              <a:rPr spc="-200" dirty="0"/>
              <a:t> </a:t>
            </a:r>
            <a:r>
              <a:rPr spc="753" dirty="0"/>
              <a:t>entre</a:t>
            </a:r>
          </a:p>
          <a:p>
            <a:pPr marL="16933">
              <a:lnSpc>
                <a:spcPct val="100000"/>
              </a:lnSpc>
            </a:pPr>
            <a:r>
              <a:rPr spc="707" dirty="0"/>
              <a:t>lenguajes</a:t>
            </a:r>
          </a:p>
        </p:txBody>
      </p:sp>
      <p:sp>
        <p:nvSpPr>
          <p:cNvPr id="4" name="object 4"/>
          <p:cNvSpPr txBox="1"/>
          <p:nvPr/>
        </p:nvSpPr>
        <p:spPr>
          <a:xfrm>
            <a:off x="1318442" y="2905159"/>
            <a:ext cx="4234180" cy="3365878"/>
          </a:xfrm>
          <a:prstGeom prst="rect">
            <a:avLst/>
          </a:prstGeom>
        </p:spPr>
        <p:txBody>
          <a:bodyPr vert="horz" wrap="square" lIns="0" tIns="16086" rIns="0" bIns="0" rtlCol="0">
            <a:spAutoFit/>
          </a:bodyPr>
          <a:lstStyle/>
          <a:p>
            <a:pPr marL="3387" algn="ctr">
              <a:spcBef>
                <a:spcPts val="127"/>
              </a:spcBef>
            </a:pPr>
            <a:r>
              <a:rPr sz="2100" spc="413" dirty="0">
                <a:solidFill>
                  <a:srgbClr val="FFFFFF"/>
                </a:solidFill>
                <a:latin typeface="Arial"/>
                <a:cs typeface="Arial"/>
              </a:rPr>
              <a:t>Django</a:t>
            </a:r>
            <a:r>
              <a:rPr sz="2100" spc="-413" dirty="0">
                <a:solidFill>
                  <a:srgbClr val="FFFFFF"/>
                </a:solidFill>
                <a:latin typeface="Arial"/>
                <a:cs typeface="Arial"/>
              </a:rPr>
              <a:t> </a:t>
            </a:r>
            <a:r>
              <a:rPr sz="2100" spc="180" dirty="0">
                <a:solidFill>
                  <a:srgbClr val="FFFFFF"/>
                </a:solidFill>
                <a:latin typeface="Arial"/>
                <a:cs typeface="Arial"/>
              </a:rPr>
              <a:t>- </a:t>
            </a:r>
            <a:r>
              <a:rPr sz="2100" spc="413" dirty="0">
                <a:solidFill>
                  <a:srgbClr val="FFFFFF"/>
                </a:solidFill>
                <a:latin typeface="Arial"/>
                <a:cs typeface="Arial"/>
              </a:rPr>
              <a:t>Python</a:t>
            </a:r>
            <a:endParaRPr sz="2100" dirty="0">
              <a:latin typeface="Arial"/>
              <a:cs typeface="Arial"/>
            </a:endParaRPr>
          </a:p>
          <a:p>
            <a:pPr>
              <a:spcBef>
                <a:spcPts val="53"/>
              </a:spcBef>
            </a:pPr>
            <a:endParaRPr sz="2400" dirty="0">
              <a:latin typeface="Arial"/>
              <a:cs typeface="Arial"/>
            </a:endParaRPr>
          </a:p>
          <a:p>
            <a:pPr marL="419090">
              <a:spcBef>
                <a:spcPts val="7"/>
              </a:spcBef>
              <a:tabLst>
                <a:tab pos="800927" algn="l"/>
              </a:tabLst>
            </a:pPr>
            <a:r>
              <a:rPr sz="1900" spc="80" dirty="0">
                <a:solidFill>
                  <a:srgbClr val="FFFFFF"/>
                </a:solidFill>
                <a:latin typeface="Trebuchet MS"/>
                <a:cs typeface="Trebuchet MS"/>
              </a:rPr>
              <a:t>-	</a:t>
            </a:r>
            <a:r>
              <a:rPr sz="1900" spc="-93" dirty="0">
                <a:solidFill>
                  <a:srgbClr val="FFFFFF"/>
                </a:solidFill>
                <a:latin typeface="Trebuchet MS"/>
                <a:cs typeface="Trebuchet MS"/>
              </a:rPr>
              <a:t>Rápido </a:t>
            </a:r>
            <a:r>
              <a:rPr sz="1900" spc="-100" dirty="0">
                <a:solidFill>
                  <a:srgbClr val="FFFFFF"/>
                </a:solidFill>
                <a:latin typeface="Trebuchet MS"/>
                <a:cs typeface="Trebuchet MS"/>
              </a:rPr>
              <a:t>desarrollo </a:t>
            </a:r>
            <a:r>
              <a:rPr sz="1900" spc="-13" dirty="0">
                <a:solidFill>
                  <a:srgbClr val="FFFFFF"/>
                </a:solidFill>
                <a:latin typeface="Trebuchet MS"/>
                <a:cs typeface="Trebuchet MS"/>
              </a:rPr>
              <a:t>y </a:t>
            </a:r>
            <a:r>
              <a:rPr sz="1900" spc="-127" dirty="0">
                <a:solidFill>
                  <a:srgbClr val="FFFFFF"/>
                </a:solidFill>
                <a:latin typeface="Trebuchet MS"/>
                <a:cs typeface="Trebuchet MS"/>
              </a:rPr>
              <a:t>código</a:t>
            </a:r>
            <a:r>
              <a:rPr sz="1900" spc="-67" dirty="0">
                <a:solidFill>
                  <a:srgbClr val="FFFFFF"/>
                </a:solidFill>
                <a:latin typeface="Trebuchet MS"/>
                <a:cs typeface="Trebuchet MS"/>
              </a:rPr>
              <a:t> </a:t>
            </a:r>
            <a:r>
              <a:rPr sz="1900" spc="-127" dirty="0">
                <a:solidFill>
                  <a:srgbClr val="FFFFFF"/>
                </a:solidFill>
                <a:latin typeface="Trebuchet MS"/>
                <a:cs typeface="Trebuchet MS"/>
              </a:rPr>
              <a:t>claro</a:t>
            </a:r>
            <a:endParaRPr sz="1900" dirty="0">
              <a:latin typeface="Trebuchet MS"/>
              <a:cs typeface="Trebuchet MS"/>
            </a:endParaRPr>
          </a:p>
          <a:p>
            <a:pPr>
              <a:spcBef>
                <a:spcPts val="67"/>
              </a:spcBef>
            </a:pPr>
            <a:endParaRPr sz="1900" dirty="0">
              <a:latin typeface="Trebuchet MS"/>
              <a:cs typeface="Trebuchet MS"/>
            </a:endParaRPr>
          </a:p>
          <a:p>
            <a:pPr marL="847" algn="ctr">
              <a:tabLst>
                <a:tab pos="382684" algn="l"/>
              </a:tabLst>
            </a:pPr>
            <a:r>
              <a:rPr sz="1900" spc="80" dirty="0">
                <a:solidFill>
                  <a:srgbClr val="FFFFFF"/>
                </a:solidFill>
                <a:latin typeface="Trebuchet MS"/>
                <a:cs typeface="Trebuchet MS"/>
              </a:rPr>
              <a:t>-	</a:t>
            </a:r>
            <a:r>
              <a:rPr sz="1900" spc="-133" dirty="0">
                <a:solidFill>
                  <a:srgbClr val="FFFFFF"/>
                </a:solidFill>
                <a:latin typeface="Trebuchet MS"/>
                <a:cs typeface="Trebuchet MS"/>
              </a:rPr>
              <a:t>Facilidad </a:t>
            </a:r>
            <a:r>
              <a:rPr sz="1900" spc="-180" dirty="0">
                <a:solidFill>
                  <a:srgbClr val="FFFFFF"/>
                </a:solidFill>
                <a:latin typeface="Trebuchet MS"/>
                <a:cs typeface="Trebuchet MS"/>
              </a:rPr>
              <a:t>de </a:t>
            </a:r>
            <a:r>
              <a:rPr sz="1900" spc="-152" dirty="0">
                <a:solidFill>
                  <a:srgbClr val="FFFFFF"/>
                </a:solidFill>
                <a:latin typeface="Trebuchet MS"/>
                <a:cs typeface="Trebuchet MS"/>
              </a:rPr>
              <a:t>mantenimiento</a:t>
            </a:r>
            <a:r>
              <a:rPr sz="1900" spc="-260" dirty="0">
                <a:solidFill>
                  <a:srgbClr val="FFFFFF"/>
                </a:solidFill>
                <a:latin typeface="Trebuchet MS"/>
                <a:cs typeface="Trebuchet MS"/>
              </a:rPr>
              <a:t> </a:t>
            </a:r>
            <a:r>
              <a:rPr sz="1900" spc="-13" dirty="0">
                <a:solidFill>
                  <a:srgbClr val="FFFFFF"/>
                </a:solidFill>
                <a:latin typeface="Trebuchet MS"/>
                <a:cs typeface="Trebuchet MS"/>
              </a:rPr>
              <a:t>y</a:t>
            </a:r>
            <a:endParaRPr sz="1900" dirty="0">
              <a:latin typeface="Trebuchet MS"/>
              <a:cs typeface="Trebuchet MS"/>
            </a:endParaRPr>
          </a:p>
          <a:p>
            <a:pPr marL="1666198"/>
            <a:r>
              <a:rPr sz="1900" spc="-120" dirty="0">
                <a:solidFill>
                  <a:srgbClr val="FFFFFF"/>
                </a:solidFill>
                <a:latin typeface="Trebuchet MS"/>
                <a:cs typeface="Trebuchet MS"/>
              </a:rPr>
              <a:t>extensibilidad</a:t>
            </a:r>
            <a:endParaRPr sz="1900" dirty="0">
              <a:latin typeface="Trebuchet MS"/>
              <a:cs typeface="Trebuchet MS"/>
            </a:endParaRPr>
          </a:p>
          <a:p>
            <a:pPr>
              <a:lnSpc>
                <a:spcPct val="100000"/>
              </a:lnSpc>
            </a:pPr>
            <a:endParaRPr sz="1900" dirty="0">
              <a:latin typeface="Trebuchet MS"/>
              <a:cs typeface="Trebuchet MS"/>
            </a:endParaRPr>
          </a:p>
          <a:p>
            <a:pPr algn="ctr">
              <a:tabLst>
                <a:tab pos="381837" algn="l"/>
              </a:tabLst>
            </a:pPr>
            <a:r>
              <a:rPr sz="1900" spc="80" dirty="0">
                <a:solidFill>
                  <a:srgbClr val="FFFFFF"/>
                </a:solidFill>
                <a:latin typeface="Trebuchet MS"/>
                <a:cs typeface="Trebuchet MS"/>
              </a:rPr>
              <a:t>-	</a:t>
            </a:r>
            <a:r>
              <a:rPr sz="1900" spc="-113" dirty="0">
                <a:solidFill>
                  <a:srgbClr val="FFFFFF"/>
                </a:solidFill>
                <a:latin typeface="Trebuchet MS"/>
                <a:cs typeface="Trebuchet MS"/>
              </a:rPr>
              <a:t>Algo </a:t>
            </a:r>
            <a:r>
              <a:rPr sz="1900" spc="-160" dirty="0">
                <a:solidFill>
                  <a:srgbClr val="FFFFFF"/>
                </a:solidFill>
                <a:latin typeface="Trebuchet MS"/>
                <a:cs typeface="Trebuchet MS"/>
              </a:rPr>
              <a:t>lento </a:t>
            </a:r>
            <a:r>
              <a:rPr sz="1900" spc="-133" dirty="0">
                <a:solidFill>
                  <a:srgbClr val="FFFFFF"/>
                </a:solidFill>
                <a:latin typeface="Trebuchet MS"/>
                <a:cs typeface="Trebuchet MS"/>
              </a:rPr>
              <a:t>comparado con </a:t>
            </a:r>
            <a:r>
              <a:rPr sz="1900" spc="-127" dirty="0">
                <a:solidFill>
                  <a:srgbClr val="FFFFFF"/>
                </a:solidFill>
                <a:latin typeface="Trebuchet MS"/>
                <a:cs typeface="Trebuchet MS"/>
              </a:rPr>
              <a:t>la</a:t>
            </a:r>
            <a:r>
              <a:rPr sz="1900" spc="152" dirty="0">
                <a:solidFill>
                  <a:srgbClr val="FFFFFF"/>
                </a:solidFill>
                <a:latin typeface="Trebuchet MS"/>
                <a:cs typeface="Trebuchet MS"/>
              </a:rPr>
              <a:t> </a:t>
            </a:r>
            <a:r>
              <a:rPr sz="1900" spc="-167" dirty="0">
                <a:solidFill>
                  <a:srgbClr val="FFFFFF"/>
                </a:solidFill>
                <a:latin typeface="Trebuchet MS"/>
                <a:cs typeface="Trebuchet MS"/>
              </a:rPr>
              <a:t>competencia</a:t>
            </a:r>
            <a:endParaRPr sz="1900" dirty="0">
              <a:latin typeface="Trebuchet MS"/>
              <a:cs typeface="Trebuchet MS"/>
            </a:endParaRPr>
          </a:p>
          <a:p>
            <a:pPr>
              <a:spcBef>
                <a:spcPts val="7"/>
              </a:spcBef>
            </a:pPr>
            <a:endParaRPr sz="1900" dirty="0">
              <a:latin typeface="Trebuchet MS"/>
              <a:cs typeface="Trebuchet MS"/>
            </a:endParaRPr>
          </a:p>
          <a:p>
            <a:pPr marL="1693" algn="ctr">
              <a:tabLst>
                <a:tab pos="383530" algn="l"/>
              </a:tabLst>
            </a:pPr>
            <a:r>
              <a:rPr sz="1900" spc="80" dirty="0">
                <a:solidFill>
                  <a:srgbClr val="FFFFFF"/>
                </a:solidFill>
                <a:latin typeface="Trebuchet MS"/>
                <a:cs typeface="Trebuchet MS"/>
              </a:rPr>
              <a:t>-	</a:t>
            </a:r>
            <a:r>
              <a:rPr sz="1900" spc="-33" dirty="0">
                <a:solidFill>
                  <a:srgbClr val="FFFFFF"/>
                </a:solidFill>
                <a:latin typeface="Trebuchet MS"/>
                <a:cs typeface="Trebuchet MS"/>
              </a:rPr>
              <a:t>No </a:t>
            </a:r>
            <a:r>
              <a:rPr sz="1900" spc="-80" dirty="0">
                <a:solidFill>
                  <a:srgbClr val="FFFFFF"/>
                </a:solidFill>
                <a:latin typeface="Trebuchet MS"/>
                <a:cs typeface="Trebuchet MS"/>
              </a:rPr>
              <a:t>es </a:t>
            </a:r>
            <a:r>
              <a:rPr sz="1900" spc="-127" dirty="0">
                <a:solidFill>
                  <a:srgbClr val="FFFFFF"/>
                </a:solidFill>
                <a:latin typeface="Trebuchet MS"/>
                <a:cs typeface="Trebuchet MS"/>
              </a:rPr>
              <a:t>la </a:t>
            </a:r>
            <a:r>
              <a:rPr sz="1900" spc="-173" dirty="0">
                <a:solidFill>
                  <a:srgbClr val="FFFFFF"/>
                </a:solidFill>
                <a:latin typeface="Trebuchet MS"/>
                <a:cs typeface="Trebuchet MS"/>
              </a:rPr>
              <a:t>mejor </a:t>
            </a:r>
            <a:r>
              <a:rPr sz="1900" spc="-107" dirty="0">
                <a:solidFill>
                  <a:srgbClr val="FFFFFF"/>
                </a:solidFill>
                <a:latin typeface="Trebuchet MS"/>
                <a:cs typeface="Trebuchet MS"/>
              </a:rPr>
              <a:t>solución </a:t>
            </a:r>
            <a:r>
              <a:rPr sz="1900" spc="-113" dirty="0">
                <a:solidFill>
                  <a:srgbClr val="FFFFFF"/>
                </a:solidFill>
                <a:latin typeface="Trebuchet MS"/>
                <a:cs typeface="Trebuchet MS"/>
              </a:rPr>
              <a:t>para</a:t>
            </a:r>
            <a:r>
              <a:rPr sz="1900" spc="20" dirty="0">
                <a:solidFill>
                  <a:srgbClr val="FFFFFF"/>
                </a:solidFill>
                <a:latin typeface="Trebuchet MS"/>
                <a:cs typeface="Trebuchet MS"/>
              </a:rPr>
              <a:t> </a:t>
            </a:r>
            <a:r>
              <a:rPr sz="1900" i="1" spc="-207" dirty="0">
                <a:solidFill>
                  <a:srgbClr val="FFFFFF"/>
                </a:solidFill>
                <a:latin typeface="Trebuchet MS"/>
                <a:cs typeface="Trebuchet MS"/>
              </a:rPr>
              <a:t>real-time</a:t>
            </a:r>
            <a:r>
              <a:rPr sz="1900" spc="-207" dirty="0">
                <a:solidFill>
                  <a:srgbClr val="FFFFFF"/>
                </a:solidFill>
                <a:latin typeface="Trebuchet MS"/>
                <a:cs typeface="Trebuchet MS"/>
              </a:rPr>
              <a:t>.</a:t>
            </a:r>
            <a:endParaRPr sz="1900" dirty="0">
              <a:latin typeface="Trebuchet MS"/>
              <a:cs typeface="Trebuchet MS"/>
            </a:endParaRPr>
          </a:p>
        </p:txBody>
      </p:sp>
      <p:sp>
        <p:nvSpPr>
          <p:cNvPr id="5" name="object 5"/>
          <p:cNvSpPr txBox="1"/>
          <p:nvPr/>
        </p:nvSpPr>
        <p:spPr>
          <a:xfrm>
            <a:off x="6146155" y="3004011"/>
            <a:ext cx="4516120" cy="3358184"/>
          </a:xfrm>
          <a:prstGeom prst="rect">
            <a:avLst/>
          </a:prstGeom>
        </p:spPr>
        <p:txBody>
          <a:bodyPr vert="horz" wrap="square" lIns="0" tIns="16086" rIns="0" bIns="0" rtlCol="0">
            <a:spAutoFit/>
          </a:bodyPr>
          <a:lstStyle/>
          <a:p>
            <a:pPr marL="5080" algn="ctr">
              <a:spcBef>
                <a:spcPts val="127"/>
              </a:spcBef>
            </a:pPr>
            <a:r>
              <a:rPr sz="2100" spc="413" dirty="0">
                <a:solidFill>
                  <a:srgbClr val="FFFFFF"/>
                </a:solidFill>
                <a:latin typeface="Arial"/>
                <a:cs typeface="Arial"/>
              </a:rPr>
              <a:t>meteor</a:t>
            </a:r>
            <a:r>
              <a:rPr sz="2100" spc="-380" dirty="0">
                <a:solidFill>
                  <a:srgbClr val="FFFFFF"/>
                </a:solidFill>
                <a:latin typeface="Arial"/>
                <a:cs typeface="Arial"/>
              </a:rPr>
              <a:t> </a:t>
            </a:r>
            <a:r>
              <a:rPr sz="2100" spc="180" dirty="0">
                <a:solidFill>
                  <a:srgbClr val="FFFFFF"/>
                </a:solidFill>
                <a:latin typeface="Arial"/>
                <a:cs typeface="Arial"/>
              </a:rPr>
              <a:t>- JS</a:t>
            </a:r>
            <a:endParaRPr sz="2100" dirty="0">
              <a:latin typeface="Arial"/>
              <a:cs typeface="Arial"/>
            </a:endParaRPr>
          </a:p>
          <a:p>
            <a:pPr>
              <a:spcBef>
                <a:spcPts val="53"/>
              </a:spcBef>
            </a:pPr>
            <a:endParaRPr sz="2400" dirty="0">
              <a:latin typeface="Arial"/>
              <a:cs typeface="Arial"/>
            </a:endParaRPr>
          </a:p>
          <a:p>
            <a:pPr marL="398770" indent="-382684">
              <a:spcBef>
                <a:spcPts val="7"/>
              </a:spcBef>
              <a:buChar char="-"/>
              <a:tabLst>
                <a:tab pos="398770" algn="l"/>
                <a:tab pos="399617" algn="l"/>
              </a:tabLst>
            </a:pPr>
            <a:r>
              <a:rPr sz="1900" spc="-167" dirty="0">
                <a:solidFill>
                  <a:srgbClr val="FFFFFF"/>
                </a:solidFill>
                <a:latin typeface="Trebuchet MS"/>
                <a:cs typeface="Trebuchet MS"/>
              </a:rPr>
              <a:t>Todo </a:t>
            </a:r>
            <a:r>
              <a:rPr sz="1900" spc="-133" dirty="0">
                <a:solidFill>
                  <a:srgbClr val="FFFFFF"/>
                </a:solidFill>
                <a:latin typeface="Trebuchet MS"/>
                <a:cs typeface="Trebuchet MS"/>
              </a:rPr>
              <a:t>con </a:t>
            </a:r>
            <a:r>
              <a:rPr sz="1900" spc="-140" dirty="0">
                <a:solidFill>
                  <a:srgbClr val="FFFFFF"/>
                </a:solidFill>
                <a:latin typeface="Trebuchet MS"/>
                <a:cs typeface="Trebuchet MS"/>
              </a:rPr>
              <a:t>un </a:t>
            </a:r>
            <a:r>
              <a:rPr sz="1900" spc="-120" dirty="0">
                <a:solidFill>
                  <a:srgbClr val="FFFFFF"/>
                </a:solidFill>
                <a:latin typeface="Trebuchet MS"/>
                <a:cs typeface="Trebuchet MS"/>
              </a:rPr>
              <a:t>único </a:t>
            </a:r>
            <a:r>
              <a:rPr sz="1900" spc="-193" dirty="0">
                <a:solidFill>
                  <a:srgbClr val="FFFFFF"/>
                </a:solidFill>
                <a:latin typeface="Trebuchet MS"/>
                <a:cs typeface="Trebuchet MS"/>
              </a:rPr>
              <a:t>lenguaje, </a:t>
            </a:r>
            <a:r>
              <a:rPr sz="1900" spc="-127" dirty="0">
                <a:solidFill>
                  <a:srgbClr val="FFFFFF"/>
                </a:solidFill>
                <a:latin typeface="Trebuchet MS"/>
                <a:cs typeface="Trebuchet MS"/>
              </a:rPr>
              <a:t>la</a:t>
            </a:r>
            <a:r>
              <a:rPr sz="1900" spc="-20" dirty="0">
                <a:solidFill>
                  <a:srgbClr val="FFFFFF"/>
                </a:solidFill>
                <a:latin typeface="Trebuchet MS"/>
                <a:cs typeface="Trebuchet MS"/>
              </a:rPr>
              <a:t> </a:t>
            </a:r>
            <a:r>
              <a:rPr sz="1900" spc="-133" dirty="0">
                <a:solidFill>
                  <a:srgbClr val="FFFFFF"/>
                </a:solidFill>
                <a:latin typeface="Trebuchet MS"/>
                <a:cs typeface="Trebuchet MS"/>
              </a:rPr>
              <a:t>frontera </a:t>
            </a:r>
            <a:r>
              <a:rPr sz="1900" spc="-173" dirty="0">
                <a:solidFill>
                  <a:srgbClr val="FFFFFF"/>
                </a:solidFill>
                <a:latin typeface="Trebuchet MS"/>
                <a:cs typeface="Trebuchet MS"/>
              </a:rPr>
              <a:t>entre</a:t>
            </a:r>
            <a:endParaRPr sz="1900" dirty="0">
              <a:latin typeface="Trebuchet MS"/>
              <a:cs typeface="Trebuchet MS"/>
            </a:endParaRPr>
          </a:p>
          <a:p>
            <a:pPr marL="382684" algn="ctr"/>
            <a:r>
              <a:rPr sz="1900" spc="-133" dirty="0">
                <a:solidFill>
                  <a:srgbClr val="FFFFFF"/>
                </a:solidFill>
                <a:latin typeface="Trebuchet MS"/>
                <a:cs typeface="Trebuchet MS"/>
              </a:rPr>
              <a:t>front </a:t>
            </a:r>
            <a:r>
              <a:rPr sz="1900" spc="-13" dirty="0">
                <a:solidFill>
                  <a:srgbClr val="FFFFFF"/>
                </a:solidFill>
                <a:latin typeface="Trebuchet MS"/>
                <a:cs typeface="Trebuchet MS"/>
              </a:rPr>
              <a:t>y </a:t>
            </a:r>
            <a:r>
              <a:rPr sz="1900" spc="-147" dirty="0">
                <a:solidFill>
                  <a:srgbClr val="FFFFFF"/>
                </a:solidFill>
                <a:latin typeface="Trebuchet MS"/>
                <a:cs typeface="Trebuchet MS"/>
              </a:rPr>
              <a:t>backend </a:t>
            </a:r>
            <a:r>
              <a:rPr sz="1900" spc="-87" dirty="0">
                <a:solidFill>
                  <a:srgbClr val="FFFFFF"/>
                </a:solidFill>
                <a:latin typeface="Trebuchet MS"/>
                <a:cs typeface="Trebuchet MS"/>
              </a:rPr>
              <a:t>se</a:t>
            </a:r>
            <a:r>
              <a:rPr sz="1900" spc="53" dirty="0">
                <a:solidFill>
                  <a:srgbClr val="FFFFFF"/>
                </a:solidFill>
                <a:latin typeface="Trebuchet MS"/>
                <a:cs typeface="Trebuchet MS"/>
              </a:rPr>
              <a:t> </a:t>
            </a:r>
            <a:r>
              <a:rPr sz="1900" spc="-107" dirty="0">
                <a:solidFill>
                  <a:srgbClr val="FFFFFF"/>
                </a:solidFill>
                <a:latin typeface="Trebuchet MS"/>
                <a:cs typeface="Trebuchet MS"/>
              </a:rPr>
              <a:t>minimiza</a:t>
            </a:r>
            <a:endParaRPr sz="1900" dirty="0">
              <a:latin typeface="Trebuchet MS"/>
              <a:cs typeface="Trebuchet MS"/>
            </a:endParaRPr>
          </a:p>
          <a:p>
            <a:pPr>
              <a:spcBef>
                <a:spcPts val="67"/>
              </a:spcBef>
            </a:pPr>
            <a:endParaRPr sz="1900" dirty="0">
              <a:latin typeface="Trebuchet MS"/>
              <a:cs typeface="Trebuchet MS"/>
            </a:endParaRPr>
          </a:p>
          <a:p>
            <a:pPr marL="384377" lvl="1" indent="-384377">
              <a:buChar char="-"/>
              <a:tabLst>
                <a:tab pos="384377" algn="l"/>
                <a:tab pos="523227" algn="l"/>
              </a:tabLst>
            </a:pPr>
            <a:r>
              <a:rPr sz="1900" spc="-33" dirty="0">
                <a:solidFill>
                  <a:srgbClr val="FFFFFF"/>
                </a:solidFill>
                <a:latin typeface="Trebuchet MS"/>
                <a:cs typeface="Trebuchet MS"/>
              </a:rPr>
              <a:t>No </a:t>
            </a:r>
            <a:r>
              <a:rPr sz="1900" spc="-152" dirty="0">
                <a:solidFill>
                  <a:srgbClr val="FFFFFF"/>
                </a:solidFill>
                <a:latin typeface="Trebuchet MS"/>
                <a:cs typeface="Trebuchet MS"/>
              </a:rPr>
              <a:t>recomendable </a:t>
            </a:r>
            <a:r>
              <a:rPr sz="1900" spc="-113" dirty="0">
                <a:solidFill>
                  <a:srgbClr val="FFFFFF"/>
                </a:solidFill>
                <a:latin typeface="Trebuchet MS"/>
                <a:cs typeface="Trebuchet MS"/>
              </a:rPr>
              <a:t>para </a:t>
            </a:r>
            <a:r>
              <a:rPr sz="1900" spc="-120" dirty="0">
                <a:solidFill>
                  <a:srgbClr val="FFFFFF"/>
                </a:solidFill>
                <a:latin typeface="Trebuchet MS"/>
                <a:cs typeface="Trebuchet MS"/>
              </a:rPr>
              <a:t>proyectos</a:t>
            </a:r>
            <a:r>
              <a:rPr sz="1900" spc="-73" dirty="0">
                <a:solidFill>
                  <a:srgbClr val="FFFFFF"/>
                </a:solidFill>
                <a:latin typeface="Trebuchet MS"/>
                <a:cs typeface="Trebuchet MS"/>
              </a:rPr>
              <a:t> </a:t>
            </a:r>
            <a:r>
              <a:rPr sz="1900" spc="-100" dirty="0">
                <a:solidFill>
                  <a:srgbClr val="FFFFFF"/>
                </a:solidFill>
                <a:latin typeface="Trebuchet MS"/>
                <a:cs typeface="Trebuchet MS"/>
              </a:rPr>
              <a:t>grandes</a:t>
            </a:r>
            <a:endParaRPr sz="1900" dirty="0">
              <a:latin typeface="Trebuchet MS"/>
              <a:cs typeface="Trebuchet MS"/>
            </a:endParaRPr>
          </a:p>
          <a:p>
            <a:pPr lvl="1">
              <a:lnSpc>
                <a:spcPct val="100000"/>
              </a:lnSpc>
              <a:buClr>
                <a:srgbClr val="FFFFFF"/>
              </a:buClr>
              <a:buFont typeface="Trebuchet MS"/>
              <a:buChar char="-"/>
            </a:pPr>
            <a:endParaRPr sz="1900" dirty="0">
              <a:latin typeface="Trebuchet MS"/>
              <a:cs typeface="Trebuchet MS"/>
            </a:endParaRPr>
          </a:p>
          <a:p>
            <a:pPr marL="648529">
              <a:tabLst>
                <a:tab pos="1030368" algn="l"/>
              </a:tabLst>
            </a:pPr>
            <a:r>
              <a:rPr sz="1900" spc="80" dirty="0">
                <a:solidFill>
                  <a:srgbClr val="FFFFFF"/>
                </a:solidFill>
                <a:latin typeface="Trebuchet MS"/>
                <a:cs typeface="Trebuchet MS"/>
              </a:rPr>
              <a:t>-	</a:t>
            </a:r>
            <a:r>
              <a:rPr sz="1900" spc="-93" dirty="0">
                <a:solidFill>
                  <a:srgbClr val="FFFFFF"/>
                </a:solidFill>
                <a:latin typeface="Trebuchet MS"/>
                <a:cs typeface="Trebuchet MS"/>
              </a:rPr>
              <a:t>Rápido </a:t>
            </a:r>
            <a:r>
              <a:rPr sz="1900" spc="-13" dirty="0">
                <a:solidFill>
                  <a:srgbClr val="FFFFFF"/>
                </a:solidFill>
                <a:latin typeface="Trebuchet MS"/>
                <a:cs typeface="Trebuchet MS"/>
              </a:rPr>
              <a:t>y </a:t>
            </a:r>
            <a:r>
              <a:rPr sz="1900" spc="-113" dirty="0">
                <a:solidFill>
                  <a:srgbClr val="FFFFFF"/>
                </a:solidFill>
                <a:latin typeface="Trebuchet MS"/>
                <a:cs typeface="Trebuchet MS"/>
              </a:rPr>
              <a:t>sencillo </a:t>
            </a:r>
            <a:r>
              <a:rPr sz="1900" spc="-180" dirty="0">
                <a:solidFill>
                  <a:srgbClr val="FFFFFF"/>
                </a:solidFill>
                <a:latin typeface="Trebuchet MS"/>
                <a:cs typeface="Trebuchet MS"/>
              </a:rPr>
              <a:t>de</a:t>
            </a:r>
            <a:r>
              <a:rPr sz="1900" dirty="0">
                <a:solidFill>
                  <a:srgbClr val="FFFFFF"/>
                </a:solidFill>
                <a:latin typeface="Trebuchet MS"/>
                <a:cs typeface="Trebuchet MS"/>
              </a:rPr>
              <a:t> </a:t>
            </a:r>
            <a:r>
              <a:rPr sz="1900" spc="-120" dirty="0">
                <a:solidFill>
                  <a:srgbClr val="FFFFFF"/>
                </a:solidFill>
                <a:latin typeface="Trebuchet MS"/>
                <a:cs typeface="Trebuchet MS"/>
              </a:rPr>
              <a:t>desplegar</a:t>
            </a:r>
            <a:endParaRPr sz="1900" dirty="0">
              <a:latin typeface="Trebuchet MS"/>
              <a:cs typeface="Trebuchet MS"/>
            </a:endParaRPr>
          </a:p>
          <a:p>
            <a:pPr>
              <a:spcBef>
                <a:spcPts val="7"/>
              </a:spcBef>
            </a:pPr>
            <a:endParaRPr sz="1900" dirty="0">
              <a:latin typeface="Trebuchet MS"/>
              <a:cs typeface="Trebuchet MS"/>
            </a:endParaRPr>
          </a:p>
          <a:p>
            <a:pPr marL="385224" lvl="1" indent="-385224">
              <a:lnSpc>
                <a:spcPts val="2313"/>
              </a:lnSpc>
              <a:buChar char="-"/>
              <a:tabLst>
                <a:tab pos="385224" algn="l"/>
                <a:tab pos="460575" algn="l"/>
              </a:tabLst>
            </a:pPr>
            <a:r>
              <a:rPr sz="1900" spc="-107" dirty="0">
                <a:solidFill>
                  <a:srgbClr val="FFFFFF"/>
                </a:solidFill>
                <a:latin typeface="Trebuchet MS"/>
                <a:cs typeface="Trebuchet MS"/>
              </a:rPr>
              <a:t>Realización </a:t>
            </a:r>
            <a:r>
              <a:rPr sz="1900" spc="-180" dirty="0">
                <a:solidFill>
                  <a:srgbClr val="FFFFFF"/>
                </a:solidFill>
                <a:latin typeface="Trebuchet MS"/>
                <a:cs typeface="Trebuchet MS"/>
              </a:rPr>
              <a:t>de </a:t>
            </a:r>
            <a:r>
              <a:rPr sz="1900" spc="-120" dirty="0">
                <a:solidFill>
                  <a:srgbClr val="FFFFFF"/>
                </a:solidFill>
                <a:latin typeface="Trebuchet MS"/>
                <a:cs typeface="Trebuchet MS"/>
              </a:rPr>
              <a:t>proyectos </a:t>
            </a:r>
            <a:r>
              <a:rPr sz="1900" i="1" spc="-180" dirty="0">
                <a:solidFill>
                  <a:srgbClr val="FFFFFF"/>
                </a:solidFill>
                <a:latin typeface="Trebuchet MS"/>
                <a:cs typeface="Trebuchet MS"/>
              </a:rPr>
              <a:t>real-time </a:t>
            </a:r>
            <a:r>
              <a:rPr sz="1900" spc="-13" dirty="0">
                <a:solidFill>
                  <a:srgbClr val="FFFFFF"/>
                </a:solidFill>
                <a:latin typeface="Trebuchet MS"/>
                <a:cs typeface="Trebuchet MS"/>
              </a:rPr>
              <a:t>y</a:t>
            </a:r>
            <a:r>
              <a:rPr sz="1900" spc="60" dirty="0">
                <a:solidFill>
                  <a:srgbClr val="FFFFFF"/>
                </a:solidFill>
                <a:latin typeface="Trebuchet MS"/>
                <a:cs typeface="Trebuchet MS"/>
              </a:rPr>
              <a:t> </a:t>
            </a:r>
            <a:r>
              <a:rPr sz="1900" spc="-93" dirty="0">
                <a:solidFill>
                  <a:srgbClr val="FFFFFF"/>
                </a:solidFill>
                <a:latin typeface="Trebuchet MS"/>
                <a:cs typeface="Trebuchet MS"/>
              </a:rPr>
              <a:t>pocos</a:t>
            </a:r>
            <a:endParaRPr sz="1900" dirty="0">
              <a:latin typeface="Trebuchet MS"/>
              <a:cs typeface="Trebuchet MS"/>
            </a:endParaRPr>
          </a:p>
          <a:p>
            <a:pPr marL="381837" algn="ctr">
              <a:lnSpc>
                <a:spcPts val="2233"/>
              </a:lnSpc>
            </a:pPr>
            <a:r>
              <a:rPr sz="1900" spc="-93" dirty="0">
                <a:solidFill>
                  <a:srgbClr val="FFFFFF"/>
                </a:solidFill>
                <a:latin typeface="Trebuchet MS"/>
                <a:cs typeface="Trebuchet MS"/>
              </a:rPr>
              <a:t>recursos </a:t>
            </a:r>
            <a:r>
              <a:rPr sz="1900" spc="-147" dirty="0">
                <a:solidFill>
                  <a:srgbClr val="FFFFFF"/>
                </a:solidFill>
                <a:latin typeface="Trebuchet MS"/>
                <a:cs typeface="Trebuchet MS"/>
              </a:rPr>
              <a:t>en</a:t>
            </a:r>
            <a:r>
              <a:rPr sz="1900" spc="-60" dirty="0">
                <a:solidFill>
                  <a:srgbClr val="FFFFFF"/>
                </a:solidFill>
                <a:latin typeface="Trebuchet MS"/>
                <a:cs typeface="Trebuchet MS"/>
              </a:rPr>
              <a:t> </a:t>
            </a:r>
            <a:r>
              <a:rPr sz="1900" spc="-93" dirty="0">
                <a:solidFill>
                  <a:srgbClr val="FFFFFF"/>
                </a:solidFill>
                <a:latin typeface="Trebuchet MS"/>
                <a:cs typeface="Trebuchet MS"/>
              </a:rPr>
              <a:t>servidor</a:t>
            </a:r>
            <a:endParaRPr sz="1900" dirty="0">
              <a:latin typeface="Trebuchet MS"/>
              <a:cs typeface="Trebuchet M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5765" y="604520"/>
            <a:ext cx="6823287" cy="1371315"/>
          </a:xfrm>
          <a:prstGeom prst="rect">
            <a:avLst/>
          </a:prstGeom>
        </p:spPr>
        <p:txBody>
          <a:bodyPr vert="horz" wrap="square" lIns="0" tIns="16933" rIns="0" bIns="0" rtlCol="0">
            <a:spAutoFit/>
          </a:bodyPr>
          <a:lstStyle/>
          <a:p>
            <a:pPr marL="16933" marR="6773">
              <a:lnSpc>
                <a:spcPct val="100000"/>
              </a:lnSpc>
              <a:spcBef>
                <a:spcPts val="133"/>
              </a:spcBef>
            </a:pPr>
            <a:r>
              <a:rPr spc="813" dirty="0"/>
              <a:t>servidor</a:t>
            </a:r>
            <a:r>
              <a:rPr spc="-160" dirty="0"/>
              <a:t> </a:t>
            </a:r>
            <a:r>
              <a:rPr spc="887" dirty="0"/>
              <a:t>utilizado</a:t>
            </a:r>
            <a:r>
              <a:rPr spc="-187" dirty="0"/>
              <a:t> </a:t>
            </a:r>
            <a:r>
              <a:rPr spc="467" dirty="0"/>
              <a:t>en</a:t>
            </a:r>
            <a:r>
              <a:rPr spc="-167" dirty="0"/>
              <a:t> </a:t>
            </a:r>
            <a:r>
              <a:rPr spc="527" dirty="0"/>
              <a:t>cada  </a:t>
            </a:r>
            <a:r>
              <a:rPr spc="660" dirty="0"/>
              <a:t>ejemplo</a:t>
            </a:r>
          </a:p>
        </p:txBody>
      </p:sp>
      <p:sp>
        <p:nvSpPr>
          <p:cNvPr id="3" name="object 3"/>
          <p:cNvSpPr txBox="1">
            <a:spLocks noGrp="1"/>
          </p:cNvSpPr>
          <p:nvPr>
            <p:ph sz="half" idx="2"/>
          </p:nvPr>
        </p:nvSpPr>
        <p:spPr>
          <a:xfrm>
            <a:off x="1346433" y="2787941"/>
            <a:ext cx="4572000" cy="3490699"/>
          </a:xfrm>
          <a:prstGeom prst="rect">
            <a:avLst/>
          </a:prstGeom>
        </p:spPr>
        <p:txBody>
          <a:bodyPr vert="horz" wrap="square" lIns="0" tIns="17780" rIns="0" bIns="0" rtlCol="0">
            <a:spAutoFit/>
          </a:bodyPr>
          <a:lstStyle/>
          <a:p>
            <a:pPr marL="48259" algn="ctr">
              <a:lnSpc>
                <a:spcPct val="100000"/>
              </a:lnSpc>
              <a:spcBef>
                <a:spcPts val="140"/>
              </a:spcBef>
            </a:pPr>
            <a:r>
              <a:rPr spc="-220" dirty="0"/>
              <a:t>Django</a:t>
            </a:r>
          </a:p>
          <a:p>
            <a:pPr>
              <a:lnSpc>
                <a:spcPct val="100000"/>
              </a:lnSpc>
              <a:spcBef>
                <a:spcPts val="53"/>
              </a:spcBef>
            </a:pPr>
            <a:endParaRPr sz="3300" dirty="0"/>
          </a:p>
          <a:p>
            <a:pPr marL="457189" marR="98211" indent="-441102">
              <a:lnSpc>
                <a:spcPct val="100000"/>
              </a:lnSpc>
              <a:buFont typeface="Times New Roman"/>
              <a:buChar char="●"/>
              <a:tabLst>
                <a:tab pos="457189" algn="l"/>
                <a:tab pos="458035" algn="l"/>
              </a:tabLst>
            </a:pPr>
            <a:r>
              <a:rPr sz="2100" spc="-160" dirty="0">
                <a:latin typeface="Trebuchet MS"/>
                <a:cs typeface="Trebuchet MS"/>
              </a:rPr>
              <a:t>Django </a:t>
            </a:r>
            <a:r>
              <a:rPr sz="2100" spc="-167" dirty="0">
                <a:latin typeface="Trebuchet MS"/>
                <a:cs typeface="Trebuchet MS"/>
              </a:rPr>
              <a:t>incluye un </a:t>
            </a:r>
            <a:r>
              <a:rPr sz="2100" spc="-127" dirty="0">
                <a:latin typeface="Trebuchet MS"/>
                <a:cs typeface="Trebuchet MS"/>
              </a:rPr>
              <a:t>servidor </a:t>
            </a:r>
            <a:r>
              <a:rPr sz="2100" spc="-167" dirty="0">
                <a:latin typeface="Trebuchet MS"/>
                <a:cs typeface="Trebuchet MS"/>
              </a:rPr>
              <a:t>web  </a:t>
            </a:r>
            <a:r>
              <a:rPr sz="2100" spc="-140" dirty="0">
                <a:latin typeface="Trebuchet MS"/>
                <a:cs typeface="Trebuchet MS"/>
              </a:rPr>
              <a:t>liviano </a:t>
            </a:r>
            <a:r>
              <a:rPr sz="2100" spc="-147" dirty="0">
                <a:latin typeface="Trebuchet MS"/>
                <a:cs typeface="Trebuchet MS"/>
              </a:rPr>
              <a:t>para </a:t>
            </a:r>
            <a:r>
              <a:rPr sz="2100" spc="-200" dirty="0">
                <a:latin typeface="Trebuchet MS"/>
                <a:cs typeface="Trebuchet MS"/>
              </a:rPr>
              <a:t>trabajar </a:t>
            </a:r>
            <a:r>
              <a:rPr sz="2100" spc="-173" dirty="0">
                <a:latin typeface="Trebuchet MS"/>
                <a:cs typeface="Trebuchet MS"/>
              </a:rPr>
              <a:t>en </a:t>
            </a:r>
            <a:r>
              <a:rPr sz="2100" spc="-167" dirty="0">
                <a:latin typeface="Trebuchet MS"/>
                <a:cs typeface="Trebuchet MS"/>
              </a:rPr>
              <a:t>la </a:t>
            </a:r>
            <a:r>
              <a:rPr sz="2100" spc="-207" dirty="0">
                <a:latin typeface="Trebuchet MS"/>
                <a:cs typeface="Trebuchet MS"/>
              </a:rPr>
              <a:t>etapa  de </a:t>
            </a:r>
            <a:r>
              <a:rPr sz="2100" spc="-167" dirty="0">
                <a:latin typeface="Trebuchet MS"/>
                <a:cs typeface="Trebuchet MS"/>
              </a:rPr>
              <a:t>desarrollo, </a:t>
            </a:r>
            <a:r>
              <a:rPr sz="2100" spc="-160" dirty="0">
                <a:latin typeface="Trebuchet MS"/>
                <a:cs typeface="Trebuchet MS"/>
              </a:rPr>
              <a:t>utilizado </a:t>
            </a:r>
            <a:r>
              <a:rPr sz="2100" spc="-173" dirty="0">
                <a:latin typeface="Trebuchet MS"/>
                <a:cs typeface="Trebuchet MS"/>
              </a:rPr>
              <a:t>en mi  </a:t>
            </a:r>
            <a:r>
              <a:rPr sz="2100" spc="-260" dirty="0">
                <a:latin typeface="Trebuchet MS"/>
                <a:cs typeface="Trebuchet MS"/>
              </a:rPr>
              <a:t>ejemplo.</a:t>
            </a:r>
            <a:endParaRPr sz="2100" dirty="0">
              <a:latin typeface="Trebuchet MS"/>
              <a:cs typeface="Trebuchet MS"/>
            </a:endParaRPr>
          </a:p>
          <a:p>
            <a:pPr>
              <a:lnSpc>
                <a:spcPct val="100000"/>
              </a:lnSpc>
              <a:spcBef>
                <a:spcPts val="7"/>
              </a:spcBef>
              <a:buClr>
                <a:srgbClr val="FFFFFF"/>
              </a:buClr>
              <a:buFont typeface="Times New Roman"/>
              <a:buChar char="●"/>
            </a:pPr>
            <a:endParaRPr sz="2200" dirty="0">
              <a:latin typeface="Trebuchet MS"/>
              <a:cs typeface="Trebuchet MS"/>
            </a:endParaRPr>
          </a:p>
          <a:p>
            <a:pPr marL="457189" marR="6773" indent="-441102">
              <a:lnSpc>
                <a:spcPct val="100000"/>
              </a:lnSpc>
              <a:buFont typeface="Times New Roman"/>
              <a:buChar char="●"/>
              <a:tabLst>
                <a:tab pos="457189" algn="l"/>
                <a:tab pos="458035" algn="l"/>
              </a:tabLst>
            </a:pPr>
            <a:r>
              <a:rPr sz="2100" spc="-27" dirty="0">
                <a:latin typeface="Trebuchet MS"/>
                <a:cs typeface="Trebuchet MS"/>
              </a:rPr>
              <a:t>Sin </a:t>
            </a:r>
            <a:r>
              <a:rPr sz="2100" spc="-200" dirty="0">
                <a:latin typeface="Trebuchet MS"/>
                <a:cs typeface="Trebuchet MS"/>
              </a:rPr>
              <a:t>embargo, </a:t>
            </a:r>
            <a:r>
              <a:rPr sz="2100" spc="-173" dirty="0">
                <a:latin typeface="Trebuchet MS"/>
                <a:cs typeface="Trebuchet MS"/>
              </a:rPr>
              <a:t>en </a:t>
            </a:r>
            <a:r>
              <a:rPr sz="2100" spc="-167" dirty="0">
                <a:latin typeface="Trebuchet MS"/>
                <a:cs typeface="Trebuchet MS"/>
              </a:rPr>
              <a:t>la </a:t>
            </a:r>
            <a:r>
              <a:rPr sz="2100" spc="-207" dirty="0">
                <a:latin typeface="Trebuchet MS"/>
                <a:cs typeface="Trebuchet MS"/>
              </a:rPr>
              <a:t>etapa de  </a:t>
            </a:r>
            <a:r>
              <a:rPr sz="2100" spc="-167" dirty="0">
                <a:latin typeface="Trebuchet MS"/>
                <a:cs typeface="Trebuchet MS"/>
              </a:rPr>
              <a:t>producción </a:t>
            </a:r>
            <a:r>
              <a:rPr sz="2100" spc="-93" dirty="0">
                <a:latin typeface="Trebuchet MS"/>
                <a:cs typeface="Trebuchet MS"/>
              </a:rPr>
              <a:t>se </a:t>
            </a:r>
            <a:r>
              <a:rPr sz="2100" spc="-173" dirty="0">
                <a:latin typeface="Trebuchet MS"/>
                <a:cs typeface="Trebuchet MS"/>
              </a:rPr>
              <a:t>recomienda </a:t>
            </a:r>
            <a:r>
              <a:rPr sz="2100" spc="-213" dirty="0">
                <a:latin typeface="Trebuchet MS"/>
                <a:cs typeface="Trebuchet MS"/>
              </a:rPr>
              <a:t>el </a:t>
            </a:r>
            <a:r>
              <a:rPr sz="2100" spc="-100" dirty="0">
                <a:latin typeface="Trebuchet MS"/>
                <a:cs typeface="Trebuchet MS"/>
              </a:rPr>
              <a:t>uso  </a:t>
            </a:r>
            <a:r>
              <a:rPr sz="2100" spc="-207" dirty="0">
                <a:latin typeface="Trebuchet MS"/>
                <a:cs typeface="Trebuchet MS"/>
              </a:rPr>
              <a:t>de </a:t>
            </a:r>
            <a:r>
              <a:rPr sz="2100" spc="-173" dirty="0">
                <a:latin typeface="Trebuchet MS"/>
                <a:cs typeface="Trebuchet MS"/>
              </a:rPr>
              <a:t>Apache </a:t>
            </a:r>
            <a:r>
              <a:rPr sz="2100" spc="-272" dirty="0">
                <a:latin typeface="Trebuchet MS"/>
                <a:cs typeface="Trebuchet MS"/>
              </a:rPr>
              <a:t>2 </a:t>
            </a:r>
            <a:r>
              <a:rPr sz="2100" spc="-160" dirty="0">
                <a:latin typeface="Trebuchet MS"/>
                <a:cs typeface="Trebuchet MS"/>
              </a:rPr>
              <a:t>con</a:t>
            </a:r>
            <a:r>
              <a:rPr sz="2100" spc="80" dirty="0">
                <a:latin typeface="Trebuchet MS"/>
                <a:cs typeface="Trebuchet MS"/>
              </a:rPr>
              <a:t> </a:t>
            </a:r>
            <a:r>
              <a:rPr sz="2100" spc="-160" dirty="0">
                <a:latin typeface="Trebuchet MS"/>
                <a:cs typeface="Trebuchet MS"/>
              </a:rPr>
              <a:t>mod_Python</a:t>
            </a:r>
            <a:endParaRPr sz="2100" dirty="0">
              <a:latin typeface="Trebuchet MS"/>
              <a:cs typeface="Trebuchet MS"/>
            </a:endParaRPr>
          </a:p>
        </p:txBody>
      </p:sp>
      <p:sp>
        <p:nvSpPr>
          <p:cNvPr id="4" name="object 4"/>
          <p:cNvSpPr txBox="1"/>
          <p:nvPr/>
        </p:nvSpPr>
        <p:spPr>
          <a:xfrm>
            <a:off x="7550279" y="2673668"/>
            <a:ext cx="3725333" cy="3218830"/>
          </a:xfrm>
          <a:prstGeom prst="rect">
            <a:avLst/>
          </a:prstGeom>
        </p:spPr>
        <p:txBody>
          <a:bodyPr vert="horz" wrap="square" lIns="0" tIns="17780" rIns="0" bIns="0" rtlCol="0">
            <a:spAutoFit/>
          </a:bodyPr>
          <a:lstStyle/>
          <a:p>
            <a:pPr marR="51645" algn="ctr">
              <a:spcBef>
                <a:spcPts val="140"/>
              </a:spcBef>
            </a:pPr>
            <a:r>
              <a:rPr sz="2700" b="1" spc="-260" dirty="0">
                <a:solidFill>
                  <a:srgbClr val="FFFFFF"/>
                </a:solidFill>
                <a:latin typeface="Trebuchet MS"/>
                <a:cs typeface="Trebuchet MS"/>
              </a:rPr>
              <a:t>Meteor</a:t>
            </a:r>
            <a:endParaRPr sz="2700" dirty="0">
              <a:latin typeface="Trebuchet MS"/>
              <a:cs typeface="Trebuchet MS"/>
            </a:endParaRPr>
          </a:p>
          <a:p>
            <a:pPr>
              <a:spcBef>
                <a:spcPts val="53"/>
              </a:spcBef>
            </a:pPr>
            <a:endParaRPr sz="3300" dirty="0">
              <a:latin typeface="Trebuchet MS"/>
              <a:cs typeface="Trebuchet MS"/>
            </a:endParaRPr>
          </a:p>
          <a:p>
            <a:pPr marL="457189" marR="6773" indent="-441102">
              <a:buFont typeface="Times New Roman"/>
              <a:buChar char="●"/>
              <a:tabLst>
                <a:tab pos="457189" algn="l"/>
                <a:tab pos="458035" algn="l"/>
              </a:tabLst>
            </a:pPr>
            <a:r>
              <a:rPr sz="2100" spc="-187" dirty="0">
                <a:solidFill>
                  <a:srgbClr val="FFFFFF"/>
                </a:solidFill>
                <a:latin typeface="Trebuchet MS"/>
                <a:cs typeface="Trebuchet MS"/>
              </a:rPr>
              <a:t>Meteor </a:t>
            </a:r>
            <a:r>
              <a:rPr sz="2100" spc="-180" dirty="0">
                <a:solidFill>
                  <a:srgbClr val="FFFFFF"/>
                </a:solidFill>
                <a:latin typeface="Trebuchet MS"/>
                <a:cs typeface="Trebuchet MS"/>
              </a:rPr>
              <a:t>también </a:t>
            </a:r>
            <a:r>
              <a:rPr sz="2100" spc="-200" dirty="0">
                <a:solidFill>
                  <a:srgbClr val="FFFFFF"/>
                </a:solidFill>
                <a:latin typeface="Trebuchet MS"/>
                <a:cs typeface="Trebuchet MS"/>
              </a:rPr>
              <a:t>implementa </a:t>
            </a:r>
            <a:r>
              <a:rPr sz="2100" spc="-167" dirty="0">
                <a:solidFill>
                  <a:srgbClr val="FFFFFF"/>
                </a:solidFill>
                <a:latin typeface="Trebuchet MS"/>
                <a:cs typeface="Trebuchet MS"/>
              </a:rPr>
              <a:t>un  </a:t>
            </a:r>
            <a:r>
              <a:rPr sz="2100" spc="-127" dirty="0">
                <a:solidFill>
                  <a:srgbClr val="FFFFFF"/>
                </a:solidFill>
                <a:latin typeface="Trebuchet MS"/>
                <a:cs typeface="Trebuchet MS"/>
              </a:rPr>
              <a:t>servidor </a:t>
            </a:r>
            <a:r>
              <a:rPr sz="2100" spc="-167" dirty="0">
                <a:solidFill>
                  <a:srgbClr val="FFFFFF"/>
                </a:solidFill>
                <a:latin typeface="Trebuchet MS"/>
                <a:cs typeface="Trebuchet MS"/>
              </a:rPr>
              <a:t>web </a:t>
            </a:r>
            <a:r>
              <a:rPr sz="2100" spc="-127" dirty="0">
                <a:solidFill>
                  <a:srgbClr val="FFFFFF"/>
                </a:solidFill>
                <a:latin typeface="Trebuchet MS"/>
                <a:cs typeface="Trebuchet MS"/>
              </a:rPr>
              <a:t>sobre </a:t>
            </a:r>
            <a:r>
              <a:rPr sz="2100" spc="-213" dirty="0">
                <a:solidFill>
                  <a:srgbClr val="FFFFFF"/>
                </a:solidFill>
                <a:latin typeface="Trebuchet MS"/>
                <a:cs typeface="Trebuchet MS"/>
              </a:rPr>
              <a:t>el </a:t>
            </a:r>
            <a:r>
              <a:rPr sz="2100" spc="-233" dirty="0">
                <a:solidFill>
                  <a:srgbClr val="FFFFFF"/>
                </a:solidFill>
                <a:latin typeface="Trebuchet MS"/>
                <a:cs typeface="Trebuchet MS"/>
              </a:rPr>
              <a:t>que  trabajar.</a:t>
            </a:r>
            <a:endParaRPr sz="2100" dirty="0">
              <a:latin typeface="Trebuchet MS"/>
              <a:cs typeface="Trebuchet MS"/>
            </a:endParaRPr>
          </a:p>
          <a:p>
            <a:pPr>
              <a:spcBef>
                <a:spcPts val="7"/>
              </a:spcBef>
              <a:buClr>
                <a:srgbClr val="FFFFFF"/>
              </a:buClr>
              <a:buFont typeface="Times New Roman"/>
              <a:buChar char="●"/>
            </a:pPr>
            <a:endParaRPr sz="2200" dirty="0">
              <a:latin typeface="Trebuchet MS"/>
              <a:cs typeface="Trebuchet MS"/>
            </a:endParaRPr>
          </a:p>
          <a:p>
            <a:pPr marL="457189" marR="345430" indent="-441102">
              <a:buFont typeface="Times New Roman"/>
              <a:buChar char="●"/>
              <a:tabLst>
                <a:tab pos="457189" algn="l"/>
                <a:tab pos="458035" algn="l"/>
              </a:tabLst>
            </a:pPr>
            <a:r>
              <a:rPr sz="2100" spc="-133" dirty="0">
                <a:solidFill>
                  <a:srgbClr val="FFFFFF"/>
                </a:solidFill>
                <a:latin typeface="Trebuchet MS"/>
                <a:cs typeface="Trebuchet MS"/>
              </a:rPr>
              <a:t>Además </a:t>
            </a:r>
            <a:r>
              <a:rPr sz="2100" spc="-167" dirty="0">
                <a:solidFill>
                  <a:srgbClr val="FFFFFF"/>
                </a:solidFill>
                <a:latin typeface="Trebuchet MS"/>
                <a:cs typeface="Trebuchet MS"/>
              </a:rPr>
              <a:t>incluye </a:t>
            </a:r>
            <a:r>
              <a:rPr sz="2100" spc="-140" dirty="0">
                <a:solidFill>
                  <a:srgbClr val="FFFFFF"/>
                </a:solidFill>
                <a:latin typeface="Trebuchet MS"/>
                <a:cs typeface="Trebuchet MS"/>
              </a:rPr>
              <a:t>otras  </a:t>
            </a:r>
            <a:r>
              <a:rPr sz="2100" spc="-160" dirty="0">
                <a:solidFill>
                  <a:srgbClr val="FFFFFF"/>
                </a:solidFill>
                <a:latin typeface="Trebuchet MS"/>
                <a:cs typeface="Trebuchet MS"/>
              </a:rPr>
              <a:t>herramientas </a:t>
            </a:r>
            <a:r>
              <a:rPr sz="2100" spc="-200" dirty="0">
                <a:solidFill>
                  <a:srgbClr val="FFFFFF"/>
                </a:solidFill>
                <a:latin typeface="Trebuchet MS"/>
                <a:cs typeface="Trebuchet MS"/>
              </a:rPr>
              <a:t>del </a:t>
            </a:r>
            <a:r>
              <a:rPr sz="2100" spc="-152" dirty="0">
                <a:solidFill>
                  <a:srgbClr val="FFFFFF"/>
                </a:solidFill>
                <a:latin typeface="Trebuchet MS"/>
                <a:cs typeface="Trebuchet MS"/>
              </a:rPr>
              <a:t>lado </a:t>
            </a:r>
            <a:r>
              <a:rPr sz="2100" spc="-200" dirty="0">
                <a:solidFill>
                  <a:srgbClr val="FFFFFF"/>
                </a:solidFill>
                <a:latin typeface="Trebuchet MS"/>
                <a:cs typeface="Trebuchet MS"/>
              </a:rPr>
              <a:t>del  </a:t>
            </a:r>
            <a:r>
              <a:rPr sz="2100" spc="-127" dirty="0">
                <a:solidFill>
                  <a:srgbClr val="FFFFFF"/>
                </a:solidFill>
                <a:latin typeface="Trebuchet MS"/>
                <a:cs typeface="Trebuchet MS"/>
              </a:rPr>
              <a:t>servidor </a:t>
            </a:r>
            <a:r>
              <a:rPr sz="2100" spc="-173" dirty="0">
                <a:solidFill>
                  <a:srgbClr val="FFFFFF"/>
                </a:solidFill>
                <a:latin typeface="Trebuchet MS"/>
                <a:cs typeface="Trebuchet MS"/>
              </a:rPr>
              <a:t>como </a:t>
            </a:r>
            <a:r>
              <a:rPr sz="2100" spc="-167" dirty="0">
                <a:solidFill>
                  <a:srgbClr val="FFFFFF"/>
                </a:solidFill>
                <a:latin typeface="Trebuchet MS"/>
                <a:cs typeface="Trebuchet MS"/>
              </a:rPr>
              <a:t>un</a:t>
            </a:r>
            <a:r>
              <a:rPr sz="2100" spc="140" dirty="0">
                <a:solidFill>
                  <a:srgbClr val="FFFFFF"/>
                </a:solidFill>
                <a:latin typeface="Trebuchet MS"/>
                <a:cs typeface="Trebuchet MS"/>
              </a:rPr>
              <a:t> </a:t>
            </a:r>
            <a:r>
              <a:rPr sz="2100" spc="-193" dirty="0">
                <a:solidFill>
                  <a:srgbClr val="FFFFFF"/>
                </a:solidFill>
                <a:latin typeface="Trebuchet MS"/>
                <a:cs typeface="Trebuchet MS"/>
              </a:rPr>
              <a:t>mongodb.</a:t>
            </a:r>
            <a:endParaRPr sz="2100" dirty="0">
              <a:latin typeface="Trebuchet MS"/>
              <a:cs typeface="Trebuchet M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8"/>
            <a:ext cx="12191999" cy="685427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195765" y="604520"/>
            <a:ext cx="7851140" cy="2725532"/>
          </a:xfrm>
          <a:prstGeom prst="rect">
            <a:avLst/>
          </a:prstGeom>
        </p:spPr>
        <p:txBody>
          <a:bodyPr vert="horz" wrap="square" lIns="0" tIns="16933" rIns="0" bIns="0" rtlCol="0">
            <a:spAutoFit/>
          </a:bodyPr>
          <a:lstStyle/>
          <a:p>
            <a:pPr marL="16933">
              <a:lnSpc>
                <a:spcPct val="100000"/>
              </a:lnSpc>
              <a:spcBef>
                <a:spcPts val="133"/>
              </a:spcBef>
            </a:pPr>
            <a:r>
              <a:rPr spc="633" dirty="0"/>
              <a:t>paradigma</a:t>
            </a:r>
            <a:r>
              <a:rPr spc="-180" dirty="0"/>
              <a:t> </a:t>
            </a:r>
            <a:r>
              <a:rPr spc="453" dirty="0"/>
              <a:t>de</a:t>
            </a:r>
            <a:r>
              <a:rPr spc="-173" dirty="0"/>
              <a:t> </a:t>
            </a:r>
            <a:r>
              <a:rPr spc="607" dirty="0"/>
              <a:t>comunicación</a:t>
            </a:r>
          </a:p>
          <a:p>
            <a:pPr marL="16933">
              <a:lnSpc>
                <a:spcPct val="100000"/>
              </a:lnSpc>
            </a:pPr>
            <a:r>
              <a:rPr spc="753" dirty="0"/>
              <a:t>servidor-aplicación</a:t>
            </a:r>
            <a:r>
              <a:rPr spc="-200" dirty="0"/>
              <a:t> </a:t>
            </a:r>
            <a:r>
              <a:rPr spc="887" dirty="0"/>
              <a:t>utilizado</a:t>
            </a:r>
          </a:p>
        </p:txBody>
      </p:sp>
      <p:sp>
        <p:nvSpPr>
          <p:cNvPr id="4" name="object 4"/>
          <p:cNvSpPr txBox="1"/>
          <p:nvPr/>
        </p:nvSpPr>
        <p:spPr>
          <a:xfrm>
            <a:off x="2494619" y="3508317"/>
            <a:ext cx="1226820" cy="360782"/>
          </a:xfrm>
          <a:prstGeom prst="rect">
            <a:avLst/>
          </a:prstGeom>
        </p:spPr>
        <p:txBody>
          <a:bodyPr vert="horz" wrap="square" lIns="0" tIns="22013" rIns="0" bIns="0" rtlCol="0">
            <a:spAutoFit/>
          </a:bodyPr>
          <a:lstStyle/>
          <a:p>
            <a:pPr marL="16933">
              <a:spcBef>
                <a:spcPts val="173"/>
              </a:spcBef>
            </a:pPr>
            <a:r>
              <a:rPr sz="2200" b="1" i="1" spc="313" dirty="0">
                <a:solidFill>
                  <a:srgbClr val="FFFFFF"/>
                </a:solidFill>
                <a:latin typeface="Arial"/>
                <a:cs typeface="Arial"/>
              </a:rPr>
              <a:t>Django</a:t>
            </a:r>
            <a:endParaRPr sz="2200" dirty="0">
              <a:latin typeface="Arial"/>
              <a:cs typeface="Arial"/>
            </a:endParaRPr>
          </a:p>
        </p:txBody>
      </p:sp>
      <p:sp>
        <p:nvSpPr>
          <p:cNvPr id="5" name="object 5"/>
          <p:cNvSpPr txBox="1"/>
          <p:nvPr/>
        </p:nvSpPr>
        <p:spPr>
          <a:xfrm>
            <a:off x="7636763" y="3508317"/>
            <a:ext cx="1194647" cy="360782"/>
          </a:xfrm>
          <a:prstGeom prst="rect">
            <a:avLst/>
          </a:prstGeom>
        </p:spPr>
        <p:txBody>
          <a:bodyPr vert="horz" wrap="square" lIns="0" tIns="22013" rIns="0" bIns="0" rtlCol="0">
            <a:spAutoFit/>
          </a:bodyPr>
          <a:lstStyle/>
          <a:p>
            <a:pPr marL="16933">
              <a:spcBef>
                <a:spcPts val="173"/>
              </a:spcBef>
            </a:pPr>
            <a:r>
              <a:rPr sz="2200" i="1" spc="380" dirty="0">
                <a:solidFill>
                  <a:srgbClr val="FFFFFF"/>
                </a:solidFill>
                <a:latin typeface="Arial"/>
                <a:cs typeface="Arial"/>
              </a:rPr>
              <a:t>meteor</a:t>
            </a:r>
            <a:endParaRPr sz="2200" dirty="0">
              <a:latin typeface="Arial"/>
              <a:cs typeface="Arial"/>
            </a:endParaRPr>
          </a:p>
        </p:txBody>
      </p:sp>
      <p:sp>
        <p:nvSpPr>
          <p:cNvPr id="6" name="object 6"/>
          <p:cNvSpPr txBox="1"/>
          <p:nvPr/>
        </p:nvSpPr>
        <p:spPr>
          <a:xfrm>
            <a:off x="1020198" y="4456413"/>
            <a:ext cx="4174067" cy="689077"/>
          </a:xfrm>
          <a:prstGeom prst="rect">
            <a:avLst/>
          </a:prstGeom>
        </p:spPr>
        <p:txBody>
          <a:bodyPr vert="horz" wrap="square" lIns="0" tIns="22013" rIns="0" bIns="0" rtlCol="0">
            <a:spAutoFit/>
          </a:bodyPr>
          <a:lstStyle/>
          <a:p>
            <a:pPr algn="ctr">
              <a:lnSpc>
                <a:spcPts val="2600"/>
              </a:lnSpc>
              <a:spcBef>
                <a:spcPts val="173"/>
              </a:spcBef>
            </a:pPr>
            <a:r>
              <a:rPr sz="2200" i="1" spc="47" dirty="0">
                <a:solidFill>
                  <a:srgbClr val="FFFFFF"/>
                </a:solidFill>
                <a:latin typeface="Arial"/>
                <a:cs typeface="Arial"/>
              </a:rPr>
              <a:t>WSGi</a:t>
            </a:r>
            <a:r>
              <a:rPr sz="2200" i="1" spc="-147" dirty="0">
                <a:solidFill>
                  <a:srgbClr val="FFFFFF"/>
                </a:solidFill>
                <a:latin typeface="Arial"/>
                <a:cs typeface="Arial"/>
              </a:rPr>
              <a:t> </a:t>
            </a:r>
            <a:r>
              <a:rPr sz="2200" i="1" spc="87" dirty="0">
                <a:solidFill>
                  <a:srgbClr val="FFFFFF"/>
                </a:solidFill>
                <a:latin typeface="Arial"/>
                <a:cs typeface="Arial"/>
              </a:rPr>
              <a:t>(Web</a:t>
            </a:r>
            <a:r>
              <a:rPr sz="2200" i="1" spc="-147" dirty="0">
                <a:solidFill>
                  <a:srgbClr val="FFFFFF"/>
                </a:solidFill>
                <a:latin typeface="Arial"/>
                <a:cs typeface="Arial"/>
              </a:rPr>
              <a:t> </a:t>
            </a:r>
            <a:r>
              <a:rPr sz="2200" i="1" spc="393" dirty="0">
                <a:solidFill>
                  <a:srgbClr val="FFFFFF"/>
                </a:solidFill>
                <a:latin typeface="Arial"/>
                <a:cs typeface="Arial"/>
              </a:rPr>
              <a:t>Server</a:t>
            </a:r>
            <a:r>
              <a:rPr sz="2200" i="1" spc="-120" dirty="0">
                <a:solidFill>
                  <a:srgbClr val="FFFFFF"/>
                </a:solidFill>
                <a:latin typeface="Arial"/>
                <a:cs typeface="Arial"/>
              </a:rPr>
              <a:t> </a:t>
            </a:r>
            <a:r>
              <a:rPr sz="2200" i="1" spc="280" dirty="0">
                <a:solidFill>
                  <a:srgbClr val="FFFFFF"/>
                </a:solidFill>
                <a:latin typeface="Arial"/>
                <a:cs typeface="Arial"/>
              </a:rPr>
              <a:t>Gateway</a:t>
            </a:r>
            <a:endParaRPr sz="2200" dirty="0">
              <a:latin typeface="Arial"/>
              <a:cs typeface="Arial"/>
            </a:endParaRPr>
          </a:p>
          <a:p>
            <a:pPr marL="847" algn="ctr">
              <a:lnSpc>
                <a:spcPts val="2600"/>
              </a:lnSpc>
            </a:pPr>
            <a:r>
              <a:rPr sz="2200" i="1" spc="440" dirty="0">
                <a:solidFill>
                  <a:srgbClr val="FFFFFF"/>
                </a:solidFill>
                <a:latin typeface="Arial"/>
                <a:cs typeface="Arial"/>
              </a:rPr>
              <a:t>Interface)</a:t>
            </a:r>
            <a:endParaRPr sz="2200" dirty="0">
              <a:latin typeface="Arial"/>
              <a:cs typeface="Arial"/>
            </a:endParaRPr>
          </a:p>
        </p:txBody>
      </p:sp>
      <p:sp>
        <p:nvSpPr>
          <p:cNvPr id="7" name="object 7"/>
          <p:cNvSpPr txBox="1"/>
          <p:nvPr/>
        </p:nvSpPr>
        <p:spPr>
          <a:xfrm>
            <a:off x="5984748" y="4456413"/>
            <a:ext cx="4174913" cy="689077"/>
          </a:xfrm>
          <a:prstGeom prst="rect">
            <a:avLst/>
          </a:prstGeom>
        </p:spPr>
        <p:txBody>
          <a:bodyPr vert="horz" wrap="square" lIns="0" tIns="22013" rIns="0" bIns="0" rtlCol="0">
            <a:spAutoFit/>
          </a:bodyPr>
          <a:lstStyle/>
          <a:p>
            <a:pPr algn="ctr">
              <a:lnSpc>
                <a:spcPts val="2600"/>
              </a:lnSpc>
              <a:spcBef>
                <a:spcPts val="173"/>
              </a:spcBef>
            </a:pPr>
            <a:r>
              <a:rPr sz="2200" i="1" spc="47" dirty="0">
                <a:solidFill>
                  <a:srgbClr val="FFFFFF"/>
                </a:solidFill>
                <a:latin typeface="Arial"/>
                <a:cs typeface="Arial"/>
              </a:rPr>
              <a:t>WSGi</a:t>
            </a:r>
            <a:r>
              <a:rPr sz="2200" i="1" spc="-147" dirty="0">
                <a:solidFill>
                  <a:srgbClr val="FFFFFF"/>
                </a:solidFill>
                <a:latin typeface="Arial"/>
                <a:cs typeface="Arial"/>
              </a:rPr>
              <a:t> </a:t>
            </a:r>
            <a:r>
              <a:rPr sz="2200" i="1" spc="87" dirty="0">
                <a:solidFill>
                  <a:srgbClr val="FFFFFF"/>
                </a:solidFill>
                <a:latin typeface="Arial"/>
                <a:cs typeface="Arial"/>
              </a:rPr>
              <a:t>(Web</a:t>
            </a:r>
            <a:r>
              <a:rPr sz="2200" i="1" spc="-147" dirty="0">
                <a:solidFill>
                  <a:srgbClr val="FFFFFF"/>
                </a:solidFill>
                <a:latin typeface="Arial"/>
                <a:cs typeface="Arial"/>
              </a:rPr>
              <a:t> </a:t>
            </a:r>
            <a:r>
              <a:rPr sz="2200" i="1" spc="393" dirty="0">
                <a:solidFill>
                  <a:srgbClr val="FFFFFF"/>
                </a:solidFill>
                <a:latin typeface="Arial"/>
                <a:cs typeface="Arial"/>
              </a:rPr>
              <a:t>Server</a:t>
            </a:r>
            <a:r>
              <a:rPr sz="2200" i="1" spc="-120" dirty="0">
                <a:solidFill>
                  <a:srgbClr val="FFFFFF"/>
                </a:solidFill>
                <a:latin typeface="Arial"/>
                <a:cs typeface="Arial"/>
              </a:rPr>
              <a:t> </a:t>
            </a:r>
            <a:r>
              <a:rPr sz="2200" i="1" spc="280" dirty="0">
                <a:solidFill>
                  <a:srgbClr val="FFFFFF"/>
                </a:solidFill>
                <a:latin typeface="Arial"/>
                <a:cs typeface="Arial"/>
              </a:rPr>
              <a:t>Gateway</a:t>
            </a:r>
            <a:endParaRPr sz="2200" dirty="0">
              <a:latin typeface="Arial"/>
              <a:cs typeface="Arial"/>
            </a:endParaRPr>
          </a:p>
          <a:p>
            <a:pPr marL="847" algn="ctr">
              <a:lnSpc>
                <a:spcPts val="2600"/>
              </a:lnSpc>
            </a:pPr>
            <a:r>
              <a:rPr sz="2200" i="1" spc="440" dirty="0">
                <a:solidFill>
                  <a:srgbClr val="FFFFFF"/>
                </a:solidFill>
                <a:latin typeface="Arial"/>
                <a:cs typeface="Arial"/>
              </a:rPr>
              <a:t>Interface)</a:t>
            </a:r>
            <a:endParaRPr sz="2200" dirty="0">
              <a:latin typeface="Arial"/>
              <a:cs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34"/>
            <a:ext cx="12191999" cy="685796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683511" y="2847000"/>
            <a:ext cx="3782907" cy="662574"/>
          </a:xfrm>
          <a:prstGeom prst="rect">
            <a:avLst/>
          </a:prstGeom>
        </p:spPr>
        <p:txBody>
          <a:bodyPr vert="horz" wrap="square" lIns="0" tIns="16086" rIns="0" bIns="0" rtlCol="0">
            <a:spAutoFit/>
          </a:bodyPr>
          <a:lstStyle/>
          <a:p>
            <a:pPr marL="457189" indent="-441102">
              <a:spcBef>
                <a:spcPts val="127"/>
              </a:spcBef>
              <a:buFont typeface="Times New Roman"/>
              <a:buChar char="●"/>
              <a:tabLst>
                <a:tab pos="457189" algn="l"/>
                <a:tab pos="458035" algn="l"/>
              </a:tabLst>
            </a:pPr>
            <a:r>
              <a:rPr sz="2100" spc="-187" dirty="0">
                <a:solidFill>
                  <a:srgbClr val="FFFFFF"/>
                </a:solidFill>
                <a:latin typeface="Trebuchet MS"/>
                <a:cs typeface="Trebuchet MS"/>
              </a:rPr>
              <a:t>Teniendo </a:t>
            </a:r>
            <a:r>
              <a:rPr sz="2100" spc="-147" dirty="0">
                <a:solidFill>
                  <a:srgbClr val="FFFFFF"/>
                </a:solidFill>
                <a:latin typeface="Trebuchet MS"/>
                <a:cs typeface="Trebuchet MS"/>
              </a:rPr>
              <a:t>instalado </a:t>
            </a:r>
            <a:r>
              <a:rPr sz="2100" spc="-173" dirty="0">
                <a:solidFill>
                  <a:srgbClr val="FFFFFF"/>
                </a:solidFill>
                <a:latin typeface="Trebuchet MS"/>
                <a:cs typeface="Trebuchet MS"/>
              </a:rPr>
              <a:t>Python,</a:t>
            </a:r>
            <a:r>
              <a:rPr sz="2100" spc="-220" dirty="0">
                <a:solidFill>
                  <a:srgbClr val="FFFFFF"/>
                </a:solidFill>
                <a:latin typeface="Trebuchet MS"/>
                <a:cs typeface="Trebuchet MS"/>
              </a:rPr>
              <a:t> </a:t>
            </a:r>
            <a:r>
              <a:rPr sz="2100" spc="-193" dirty="0">
                <a:solidFill>
                  <a:srgbClr val="FFFFFF"/>
                </a:solidFill>
                <a:latin typeface="Trebuchet MS"/>
                <a:cs typeface="Trebuchet MS"/>
              </a:rPr>
              <a:t>tan</a:t>
            </a:r>
            <a:endParaRPr sz="2100" dirty="0">
              <a:latin typeface="Trebuchet MS"/>
              <a:cs typeface="Trebuchet MS"/>
            </a:endParaRPr>
          </a:p>
          <a:p>
            <a:pPr marL="457189"/>
            <a:r>
              <a:rPr sz="2100" spc="-93" dirty="0">
                <a:solidFill>
                  <a:srgbClr val="FFFFFF"/>
                </a:solidFill>
                <a:latin typeface="Trebuchet MS"/>
                <a:cs typeface="Trebuchet MS"/>
              </a:rPr>
              <a:t>solo </a:t>
            </a:r>
            <a:r>
              <a:rPr sz="2100" spc="-240" dirty="0">
                <a:solidFill>
                  <a:srgbClr val="FFFFFF"/>
                </a:solidFill>
                <a:latin typeface="Trebuchet MS"/>
                <a:cs typeface="Trebuchet MS"/>
              </a:rPr>
              <a:t>ejecutar </a:t>
            </a:r>
            <a:r>
              <a:rPr sz="2100" spc="-253" dirty="0">
                <a:solidFill>
                  <a:srgbClr val="FFFFFF"/>
                </a:solidFill>
                <a:latin typeface="Trebuchet MS"/>
                <a:cs typeface="Trebuchet MS"/>
              </a:rPr>
              <a:t>“pip </a:t>
            </a:r>
            <a:r>
              <a:rPr sz="2100" spc="-147" dirty="0">
                <a:solidFill>
                  <a:srgbClr val="FFFFFF"/>
                </a:solidFill>
                <a:latin typeface="Trebuchet MS"/>
                <a:cs typeface="Trebuchet MS"/>
              </a:rPr>
              <a:t>install</a:t>
            </a:r>
            <a:r>
              <a:rPr sz="2100" spc="-407" dirty="0">
                <a:solidFill>
                  <a:srgbClr val="FFFFFF"/>
                </a:solidFill>
                <a:latin typeface="Trebuchet MS"/>
                <a:cs typeface="Trebuchet MS"/>
              </a:rPr>
              <a:t> </a:t>
            </a:r>
            <a:r>
              <a:rPr sz="2100" spc="-233" dirty="0">
                <a:solidFill>
                  <a:srgbClr val="FFFFFF"/>
                </a:solidFill>
                <a:latin typeface="Trebuchet MS"/>
                <a:cs typeface="Trebuchet MS"/>
              </a:rPr>
              <a:t>django”</a:t>
            </a:r>
            <a:endParaRPr sz="2100" dirty="0">
              <a:latin typeface="Trebuchet MS"/>
              <a:cs typeface="Trebuchet MS"/>
            </a:endParaRPr>
          </a:p>
        </p:txBody>
      </p:sp>
      <p:sp>
        <p:nvSpPr>
          <p:cNvPr id="4" name="object 4"/>
          <p:cNvSpPr txBox="1"/>
          <p:nvPr/>
        </p:nvSpPr>
        <p:spPr>
          <a:xfrm>
            <a:off x="6849534" y="2847000"/>
            <a:ext cx="3699933" cy="985739"/>
          </a:xfrm>
          <a:prstGeom prst="rect">
            <a:avLst/>
          </a:prstGeom>
        </p:spPr>
        <p:txBody>
          <a:bodyPr vert="horz" wrap="square" lIns="0" tIns="16086" rIns="0" bIns="0" rtlCol="0">
            <a:spAutoFit/>
          </a:bodyPr>
          <a:lstStyle/>
          <a:p>
            <a:pPr marL="457189" marR="6773" indent="-441102">
              <a:spcBef>
                <a:spcPts val="127"/>
              </a:spcBef>
              <a:buFont typeface="Times New Roman"/>
              <a:buChar char="●"/>
              <a:tabLst>
                <a:tab pos="457189" algn="l"/>
                <a:tab pos="458035" algn="l"/>
              </a:tabLst>
            </a:pPr>
            <a:r>
              <a:rPr sz="2100" spc="-140" dirty="0">
                <a:solidFill>
                  <a:srgbClr val="FFFFFF"/>
                </a:solidFill>
                <a:latin typeface="Trebuchet MS"/>
                <a:cs typeface="Trebuchet MS"/>
              </a:rPr>
              <a:t>Primero instalar </a:t>
            </a:r>
            <a:r>
              <a:rPr sz="2100" spc="-253" dirty="0">
                <a:solidFill>
                  <a:srgbClr val="FFFFFF"/>
                </a:solidFill>
                <a:latin typeface="Trebuchet MS"/>
                <a:cs typeface="Trebuchet MS"/>
              </a:rPr>
              <a:t>“Chocolatey” </a:t>
            </a:r>
            <a:r>
              <a:rPr sz="2100" spc="-33" dirty="0">
                <a:solidFill>
                  <a:srgbClr val="FFFFFF"/>
                </a:solidFill>
                <a:latin typeface="Trebuchet MS"/>
                <a:cs typeface="Trebuchet MS"/>
              </a:rPr>
              <a:t>y  </a:t>
            </a:r>
            <a:r>
              <a:rPr sz="2100" spc="-240" dirty="0">
                <a:solidFill>
                  <a:srgbClr val="FFFFFF"/>
                </a:solidFill>
                <a:latin typeface="Trebuchet MS"/>
                <a:cs typeface="Trebuchet MS"/>
              </a:rPr>
              <a:t>ejecutar “choco </a:t>
            </a:r>
            <a:r>
              <a:rPr sz="2100" spc="-147" dirty="0">
                <a:solidFill>
                  <a:srgbClr val="FFFFFF"/>
                </a:solidFill>
                <a:latin typeface="Trebuchet MS"/>
                <a:cs typeface="Trebuchet MS"/>
              </a:rPr>
              <a:t>install </a:t>
            </a:r>
            <a:r>
              <a:rPr sz="2100" spc="-267" dirty="0">
                <a:solidFill>
                  <a:srgbClr val="FFFFFF"/>
                </a:solidFill>
                <a:latin typeface="Trebuchet MS"/>
                <a:cs typeface="Trebuchet MS"/>
              </a:rPr>
              <a:t>meteor”  </a:t>
            </a:r>
            <a:r>
              <a:rPr sz="2100" spc="-173" dirty="0">
                <a:solidFill>
                  <a:srgbClr val="FFFFFF"/>
                </a:solidFill>
                <a:latin typeface="Trebuchet MS"/>
                <a:cs typeface="Trebuchet MS"/>
              </a:rPr>
              <a:t>en </a:t>
            </a:r>
            <a:r>
              <a:rPr sz="2100" spc="-272" dirty="0">
                <a:solidFill>
                  <a:srgbClr val="FFFFFF"/>
                </a:solidFill>
                <a:latin typeface="Trebuchet MS"/>
                <a:cs typeface="Trebuchet MS"/>
              </a:rPr>
              <a:t>tu </a:t>
            </a:r>
            <a:r>
              <a:rPr sz="2100" spc="-160" dirty="0">
                <a:solidFill>
                  <a:srgbClr val="FFFFFF"/>
                </a:solidFill>
                <a:latin typeface="Trebuchet MS"/>
                <a:cs typeface="Trebuchet MS"/>
              </a:rPr>
              <a:t>línea </a:t>
            </a:r>
            <a:r>
              <a:rPr sz="2100" spc="-207" dirty="0">
                <a:solidFill>
                  <a:srgbClr val="FFFFFF"/>
                </a:solidFill>
                <a:latin typeface="Trebuchet MS"/>
                <a:cs typeface="Trebuchet MS"/>
              </a:rPr>
              <a:t>de</a:t>
            </a:r>
            <a:r>
              <a:rPr sz="2100" spc="40" dirty="0">
                <a:solidFill>
                  <a:srgbClr val="FFFFFF"/>
                </a:solidFill>
                <a:latin typeface="Trebuchet MS"/>
                <a:cs typeface="Trebuchet MS"/>
              </a:rPr>
              <a:t> </a:t>
            </a:r>
            <a:r>
              <a:rPr sz="2100" spc="-180" dirty="0">
                <a:solidFill>
                  <a:srgbClr val="FFFFFF"/>
                </a:solidFill>
                <a:latin typeface="Trebuchet MS"/>
                <a:cs typeface="Trebuchet MS"/>
              </a:rPr>
              <a:t>comandos.</a:t>
            </a:r>
            <a:endParaRPr sz="2100" dirty="0">
              <a:latin typeface="Trebuchet MS"/>
              <a:cs typeface="Trebuchet MS"/>
            </a:endParaRPr>
          </a:p>
        </p:txBody>
      </p:sp>
      <p:sp>
        <p:nvSpPr>
          <p:cNvPr id="5" name="object 5"/>
          <p:cNvSpPr txBox="1">
            <a:spLocks noGrp="1"/>
          </p:cNvSpPr>
          <p:nvPr>
            <p:ph type="title"/>
          </p:nvPr>
        </p:nvSpPr>
        <p:spPr>
          <a:xfrm>
            <a:off x="1195764" y="604520"/>
            <a:ext cx="4831080" cy="2048424"/>
          </a:xfrm>
          <a:prstGeom prst="rect">
            <a:avLst/>
          </a:prstGeom>
        </p:spPr>
        <p:txBody>
          <a:bodyPr vert="horz" wrap="square" lIns="0" tIns="16933" rIns="0" bIns="0" rtlCol="0">
            <a:spAutoFit/>
          </a:bodyPr>
          <a:lstStyle/>
          <a:p>
            <a:pPr marL="16933">
              <a:lnSpc>
                <a:spcPct val="100000"/>
              </a:lnSpc>
              <a:spcBef>
                <a:spcPts val="133"/>
              </a:spcBef>
            </a:pPr>
            <a:r>
              <a:rPr spc="400" dirty="0"/>
              <a:t>cómo</a:t>
            </a:r>
            <a:r>
              <a:rPr spc="-673" dirty="0"/>
              <a:t> </a:t>
            </a:r>
            <a:r>
              <a:rPr spc="267" dirty="0"/>
              <a:t>INSTALAR </a:t>
            </a:r>
            <a:r>
              <a:rPr spc="40" dirty="0"/>
              <a:t>CADA</a:t>
            </a:r>
          </a:p>
          <a:p>
            <a:pPr marL="16933">
              <a:lnSpc>
                <a:spcPct val="100000"/>
              </a:lnSpc>
            </a:pPr>
            <a:r>
              <a:rPr spc="13" dirty="0"/>
              <a:t>FRAMEWORK</a:t>
            </a:r>
          </a:p>
        </p:txBody>
      </p:sp>
      <p:sp>
        <p:nvSpPr>
          <p:cNvPr id="6" name="object 6"/>
          <p:cNvSpPr txBox="1"/>
          <p:nvPr/>
        </p:nvSpPr>
        <p:spPr>
          <a:xfrm>
            <a:off x="3185836" y="1940729"/>
            <a:ext cx="951653" cy="441113"/>
          </a:xfrm>
          <a:prstGeom prst="rect">
            <a:avLst/>
          </a:prstGeom>
        </p:spPr>
        <p:txBody>
          <a:bodyPr vert="horz" wrap="square" lIns="0" tIns="17780" rIns="0" bIns="0" rtlCol="0">
            <a:spAutoFit/>
          </a:bodyPr>
          <a:lstStyle/>
          <a:p>
            <a:pPr marL="16933">
              <a:spcBef>
                <a:spcPts val="140"/>
              </a:spcBef>
            </a:pPr>
            <a:r>
              <a:rPr sz="2700" b="1" spc="-333" dirty="0">
                <a:solidFill>
                  <a:srgbClr val="FFFFFF"/>
                </a:solidFill>
                <a:latin typeface="Trebuchet MS"/>
                <a:cs typeface="Trebuchet MS"/>
              </a:rPr>
              <a:t>D</a:t>
            </a:r>
            <a:r>
              <a:rPr sz="2700" b="1" spc="-207" dirty="0">
                <a:solidFill>
                  <a:srgbClr val="FFFFFF"/>
                </a:solidFill>
                <a:latin typeface="Trebuchet MS"/>
                <a:cs typeface="Trebuchet MS"/>
              </a:rPr>
              <a:t>j</a:t>
            </a:r>
            <a:r>
              <a:rPr sz="2700" b="1" spc="-200" dirty="0">
                <a:solidFill>
                  <a:srgbClr val="FFFFFF"/>
                </a:solidFill>
                <a:latin typeface="Trebuchet MS"/>
                <a:cs typeface="Trebuchet MS"/>
              </a:rPr>
              <a:t>ango</a:t>
            </a:r>
            <a:endParaRPr sz="2700" dirty="0">
              <a:latin typeface="Trebuchet MS"/>
              <a:cs typeface="Trebuchet MS"/>
            </a:endParaRPr>
          </a:p>
        </p:txBody>
      </p:sp>
      <p:sp>
        <p:nvSpPr>
          <p:cNvPr id="7" name="object 7"/>
          <p:cNvSpPr txBox="1"/>
          <p:nvPr/>
        </p:nvSpPr>
        <p:spPr>
          <a:xfrm>
            <a:off x="8205386" y="1940729"/>
            <a:ext cx="950807" cy="441113"/>
          </a:xfrm>
          <a:prstGeom prst="rect">
            <a:avLst/>
          </a:prstGeom>
        </p:spPr>
        <p:txBody>
          <a:bodyPr vert="horz" wrap="square" lIns="0" tIns="17780" rIns="0" bIns="0" rtlCol="0">
            <a:spAutoFit/>
          </a:bodyPr>
          <a:lstStyle/>
          <a:p>
            <a:pPr marL="16933">
              <a:spcBef>
                <a:spcPts val="140"/>
              </a:spcBef>
            </a:pPr>
            <a:r>
              <a:rPr sz="2700" b="1" spc="-305" dirty="0">
                <a:solidFill>
                  <a:srgbClr val="FFFFFF"/>
                </a:solidFill>
                <a:latin typeface="Trebuchet MS"/>
                <a:cs typeface="Trebuchet MS"/>
              </a:rPr>
              <a:t>Met</a:t>
            </a:r>
            <a:r>
              <a:rPr sz="2700" b="1" spc="-320" dirty="0">
                <a:solidFill>
                  <a:srgbClr val="FFFFFF"/>
                </a:solidFill>
                <a:latin typeface="Trebuchet MS"/>
                <a:cs typeface="Trebuchet MS"/>
              </a:rPr>
              <a:t>e</a:t>
            </a:r>
            <a:r>
              <a:rPr sz="2700" b="1" spc="-167" dirty="0">
                <a:solidFill>
                  <a:srgbClr val="FFFFFF"/>
                </a:solidFill>
                <a:latin typeface="Trebuchet MS"/>
                <a:cs typeface="Trebuchet MS"/>
              </a:rPr>
              <a:t>or</a:t>
            </a:r>
            <a:endParaRPr sz="2700" dirty="0">
              <a:latin typeface="Trebuchet MS"/>
              <a:cs typeface="Trebuchet M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8"/>
            <a:ext cx="12191999" cy="6854275"/>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939326" y="2697559"/>
            <a:ext cx="3717713" cy="662574"/>
          </a:xfrm>
          <a:prstGeom prst="rect">
            <a:avLst/>
          </a:prstGeom>
        </p:spPr>
        <p:txBody>
          <a:bodyPr vert="horz" wrap="square" lIns="0" tIns="16086" rIns="0" bIns="0" rtlCol="0">
            <a:spAutoFit/>
          </a:bodyPr>
          <a:lstStyle/>
          <a:p>
            <a:pPr marL="16933" marR="6773">
              <a:spcBef>
                <a:spcPts val="127"/>
              </a:spcBef>
            </a:pPr>
            <a:r>
              <a:rPr sz="2100" spc="-113" dirty="0">
                <a:solidFill>
                  <a:srgbClr val="FFFFFF"/>
                </a:solidFill>
                <a:latin typeface="Trebuchet MS"/>
                <a:cs typeface="Trebuchet MS"/>
              </a:rPr>
              <a:t>Usando </a:t>
            </a:r>
            <a:r>
              <a:rPr sz="2100" spc="-180" dirty="0">
                <a:solidFill>
                  <a:srgbClr val="FFFFFF"/>
                </a:solidFill>
                <a:latin typeface="Trebuchet MS"/>
                <a:cs typeface="Trebuchet MS"/>
              </a:rPr>
              <a:t>“django-admin </a:t>
            </a:r>
            <a:r>
              <a:rPr sz="2100" spc="-240" dirty="0">
                <a:solidFill>
                  <a:srgbClr val="FFFFFF"/>
                </a:solidFill>
                <a:latin typeface="Trebuchet MS"/>
                <a:cs typeface="Trebuchet MS"/>
              </a:rPr>
              <a:t>startproject”  </a:t>
            </a:r>
            <a:r>
              <a:rPr sz="2100" spc="-147" dirty="0">
                <a:solidFill>
                  <a:srgbClr val="FFFFFF"/>
                </a:solidFill>
                <a:latin typeface="Trebuchet MS"/>
                <a:cs typeface="Trebuchet MS"/>
              </a:rPr>
              <a:t>creamos </a:t>
            </a:r>
            <a:r>
              <a:rPr sz="2100" spc="-167" dirty="0">
                <a:solidFill>
                  <a:srgbClr val="FFFFFF"/>
                </a:solidFill>
                <a:latin typeface="Trebuchet MS"/>
                <a:cs typeface="Trebuchet MS"/>
              </a:rPr>
              <a:t>la </a:t>
            </a:r>
            <a:r>
              <a:rPr sz="2100" spc="-200" dirty="0">
                <a:solidFill>
                  <a:srgbClr val="FFFFFF"/>
                </a:solidFill>
                <a:latin typeface="Trebuchet MS"/>
                <a:cs typeface="Trebuchet MS"/>
              </a:rPr>
              <a:t>estructura del</a:t>
            </a:r>
            <a:r>
              <a:rPr sz="2100" spc="-40" dirty="0">
                <a:solidFill>
                  <a:srgbClr val="FFFFFF"/>
                </a:solidFill>
                <a:latin typeface="Trebuchet MS"/>
                <a:cs typeface="Trebuchet MS"/>
              </a:rPr>
              <a:t> </a:t>
            </a:r>
            <a:r>
              <a:rPr sz="2100" spc="-213" dirty="0">
                <a:solidFill>
                  <a:srgbClr val="FFFFFF"/>
                </a:solidFill>
                <a:latin typeface="Trebuchet MS"/>
                <a:cs typeface="Trebuchet MS"/>
              </a:rPr>
              <a:t>proyecto:</a:t>
            </a:r>
            <a:endParaRPr sz="2100" dirty="0">
              <a:latin typeface="Trebuchet MS"/>
              <a:cs typeface="Trebuchet MS"/>
            </a:endParaRPr>
          </a:p>
        </p:txBody>
      </p:sp>
      <p:sp>
        <p:nvSpPr>
          <p:cNvPr id="4" name="object 4"/>
          <p:cNvSpPr txBox="1">
            <a:spLocks noGrp="1"/>
          </p:cNvSpPr>
          <p:nvPr>
            <p:ph type="title"/>
          </p:nvPr>
        </p:nvSpPr>
        <p:spPr>
          <a:xfrm>
            <a:off x="1195765" y="604520"/>
            <a:ext cx="7199207" cy="2048424"/>
          </a:xfrm>
          <a:prstGeom prst="rect">
            <a:avLst/>
          </a:prstGeom>
        </p:spPr>
        <p:txBody>
          <a:bodyPr vert="horz" wrap="square" lIns="0" tIns="16933" rIns="0" bIns="0" rtlCol="0">
            <a:spAutoFit/>
          </a:bodyPr>
          <a:lstStyle/>
          <a:p>
            <a:pPr marL="16933">
              <a:lnSpc>
                <a:spcPct val="100000"/>
              </a:lnSpc>
              <a:spcBef>
                <a:spcPts val="133"/>
              </a:spcBef>
            </a:pPr>
            <a:r>
              <a:rPr spc="800" dirty="0"/>
              <a:t>estructura</a:t>
            </a:r>
            <a:r>
              <a:rPr spc="-213" dirty="0"/>
              <a:t> </a:t>
            </a:r>
            <a:r>
              <a:rPr spc="460" dirty="0"/>
              <a:t>de</a:t>
            </a:r>
            <a:r>
              <a:rPr spc="-207" dirty="0"/>
              <a:t> </a:t>
            </a:r>
            <a:r>
              <a:rPr spc="1033" dirty="0"/>
              <a:t>la</a:t>
            </a:r>
            <a:r>
              <a:rPr spc="-207" dirty="0"/>
              <a:t> </a:t>
            </a:r>
            <a:r>
              <a:rPr spc="713" dirty="0"/>
              <a:t>aplicación:</a:t>
            </a:r>
          </a:p>
          <a:p>
            <a:pPr marL="16933">
              <a:lnSpc>
                <a:spcPct val="100000"/>
              </a:lnSpc>
            </a:pPr>
            <a:r>
              <a:rPr spc="720" dirty="0"/>
              <a:t>django</a:t>
            </a:r>
          </a:p>
        </p:txBody>
      </p:sp>
      <p:grpSp>
        <p:nvGrpSpPr>
          <p:cNvPr id="5" name="object 5"/>
          <p:cNvGrpSpPr/>
          <p:nvPr/>
        </p:nvGrpSpPr>
        <p:grpSpPr>
          <a:xfrm>
            <a:off x="11301984" y="243839"/>
            <a:ext cx="577427" cy="497840"/>
            <a:chOff x="8476488" y="182879"/>
            <a:chExt cx="433070" cy="373380"/>
          </a:xfrm>
        </p:grpSpPr>
        <p:sp>
          <p:nvSpPr>
            <p:cNvPr id="6" name="object 6"/>
            <p:cNvSpPr/>
            <p:nvPr/>
          </p:nvSpPr>
          <p:spPr>
            <a:xfrm>
              <a:off x="8476488" y="182879"/>
              <a:ext cx="433070" cy="373380"/>
            </a:xfrm>
            <a:custGeom>
              <a:avLst/>
              <a:gdLst/>
              <a:ahLst/>
              <a:cxnLst/>
              <a:rect l="l" t="t" r="r" b="b"/>
              <a:pathLst>
                <a:path w="433070" h="373380">
                  <a:moveTo>
                    <a:pt x="432816" y="0"/>
                  </a:moveTo>
                  <a:lnTo>
                    <a:pt x="0" y="0"/>
                  </a:lnTo>
                  <a:lnTo>
                    <a:pt x="0" y="373379"/>
                  </a:lnTo>
                  <a:lnTo>
                    <a:pt x="432816" y="373379"/>
                  </a:lnTo>
                  <a:lnTo>
                    <a:pt x="432816" y="0"/>
                  </a:lnTo>
                  <a:close/>
                </a:path>
              </a:pathLst>
            </a:custGeom>
            <a:solidFill>
              <a:srgbClr val="FFFFFF">
                <a:alpha val="36862"/>
              </a:srgbClr>
            </a:solidFill>
          </p:spPr>
          <p:txBody>
            <a:bodyPr wrap="square" lIns="0" tIns="0" rIns="0" bIns="0" rtlCol="0"/>
            <a:lstStyle/>
            <a:p>
              <a:endParaRPr/>
            </a:p>
          </p:txBody>
        </p:sp>
        <p:sp>
          <p:nvSpPr>
            <p:cNvPr id="7" name="object 7"/>
            <p:cNvSpPr/>
            <p:nvPr/>
          </p:nvSpPr>
          <p:spPr>
            <a:xfrm>
              <a:off x="8560308" y="246887"/>
              <a:ext cx="265430" cy="245745"/>
            </a:xfrm>
            <a:custGeom>
              <a:avLst/>
              <a:gdLst/>
              <a:ahLst/>
              <a:cxnLst/>
              <a:rect l="l" t="t" r="r" b="b"/>
              <a:pathLst>
                <a:path w="265429" h="245745">
                  <a:moveTo>
                    <a:pt x="37211" y="203200"/>
                  </a:moveTo>
                  <a:lnTo>
                    <a:pt x="32893" y="203200"/>
                  </a:lnTo>
                  <a:lnTo>
                    <a:pt x="31242" y="204977"/>
                  </a:lnTo>
                  <a:lnTo>
                    <a:pt x="31242" y="241173"/>
                  </a:lnTo>
                  <a:lnTo>
                    <a:pt x="35433" y="245363"/>
                  </a:lnTo>
                  <a:lnTo>
                    <a:pt x="229108" y="245363"/>
                  </a:lnTo>
                  <a:lnTo>
                    <a:pt x="233299" y="241173"/>
                  </a:lnTo>
                  <a:lnTo>
                    <a:pt x="233299" y="237744"/>
                  </a:lnTo>
                  <a:lnTo>
                    <a:pt x="40005" y="237744"/>
                  </a:lnTo>
                  <a:lnTo>
                    <a:pt x="39116" y="236854"/>
                  </a:lnTo>
                  <a:lnTo>
                    <a:pt x="39116" y="204977"/>
                  </a:lnTo>
                  <a:lnTo>
                    <a:pt x="37211" y="203200"/>
                  </a:lnTo>
                  <a:close/>
                </a:path>
                <a:path w="265429" h="245745">
                  <a:moveTo>
                    <a:pt x="163830" y="133223"/>
                  </a:moveTo>
                  <a:lnTo>
                    <a:pt x="105918" y="133223"/>
                  </a:lnTo>
                  <a:lnTo>
                    <a:pt x="101600" y="137413"/>
                  </a:lnTo>
                  <a:lnTo>
                    <a:pt x="101600" y="237744"/>
                  </a:lnTo>
                  <a:lnTo>
                    <a:pt x="109727" y="237744"/>
                  </a:lnTo>
                  <a:lnTo>
                    <a:pt x="109727" y="141732"/>
                  </a:lnTo>
                  <a:lnTo>
                    <a:pt x="110363" y="141097"/>
                  </a:lnTo>
                  <a:lnTo>
                    <a:pt x="168021" y="141097"/>
                  </a:lnTo>
                  <a:lnTo>
                    <a:pt x="168021" y="137413"/>
                  </a:lnTo>
                  <a:lnTo>
                    <a:pt x="163830" y="133223"/>
                  </a:lnTo>
                  <a:close/>
                </a:path>
                <a:path w="265429" h="245745">
                  <a:moveTo>
                    <a:pt x="168021" y="141097"/>
                  </a:moveTo>
                  <a:lnTo>
                    <a:pt x="160147" y="141097"/>
                  </a:lnTo>
                  <a:lnTo>
                    <a:pt x="160782" y="141732"/>
                  </a:lnTo>
                  <a:lnTo>
                    <a:pt x="160782" y="237744"/>
                  </a:lnTo>
                  <a:lnTo>
                    <a:pt x="168021" y="237744"/>
                  </a:lnTo>
                  <a:lnTo>
                    <a:pt x="168021" y="141097"/>
                  </a:lnTo>
                  <a:close/>
                </a:path>
                <a:path w="265429" h="245745">
                  <a:moveTo>
                    <a:pt x="144684" y="38353"/>
                  </a:moveTo>
                  <a:lnTo>
                    <a:pt x="132588" y="38353"/>
                  </a:lnTo>
                  <a:lnTo>
                    <a:pt x="226060" y="119887"/>
                  </a:lnTo>
                  <a:lnTo>
                    <a:pt x="226060" y="236854"/>
                  </a:lnTo>
                  <a:lnTo>
                    <a:pt x="225171" y="237744"/>
                  </a:lnTo>
                  <a:lnTo>
                    <a:pt x="233299" y="237744"/>
                  </a:lnTo>
                  <a:lnTo>
                    <a:pt x="233299" y="121665"/>
                  </a:lnTo>
                  <a:lnTo>
                    <a:pt x="260985" y="121665"/>
                  </a:lnTo>
                  <a:lnTo>
                    <a:pt x="263144" y="120269"/>
                  </a:lnTo>
                  <a:lnTo>
                    <a:pt x="263778" y="117728"/>
                  </a:lnTo>
                  <a:lnTo>
                    <a:pt x="265175" y="115697"/>
                  </a:lnTo>
                  <a:lnTo>
                    <a:pt x="265010" y="114046"/>
                  </a:lnTo>
                  <a:lnTo>
                    <a:pt x="231140" y="114046"/>
                  </a:lnTo>
                  <a:lnTo>
                    <a:pt x="144684" y="38353"/>
                  </a:lnTo>
                  <a:close/>
                </a:path>
                <a:path w="265429" h="245745">
                  <a:moveTo>
                    <a:pt x="84455" y="20827"/>
                  </a:moveTo>
                  <a:lnTo>
                    <a:pt x="34290" y="20827"/>
                  </a:lnTo>
                  <a:lnTo>
                    <a:pt x="31496" y="23622"/>
                  </a:lnTo>
                  <a:lnTo>
                    <a:pt x="31496" y="40894"/>
                  </a:lnTo>
                  <a:lnTo>
                    <a:pt x="34290" y="43687"/>
                  </a:lnTo>
                  <a:lnTo>
                    <a:pt x="40005" y="43687"/>
                  </a:lnTo>
                  <a:lnTo>
                    <a:pt x="40005" y="78994"/>
                  </a:lnTo>
                  <a:lnTo>
                    <a:pt x="635" y="113411"/>
                  </a:lnTo>
                  <a:lnTo>
                    <a:pt x="0" y="115950"/>
                  </a:lnTo>
                  <a:lnTo>
                    <a:pt x="635" y="118237"/>
                  </a:lnTo>
                  <a:lnTo>
                    <a:pt x="1397" y="120523"/>
                  </a:lnTo>
                  <a:lnTo>
                    <a:pt x="3937" y="121920"/>
                  </a:lnTo>
                  <a:lnTo>
                    <a:pt x="31242" y="121920"/>
                  </a:lnTo>
                  <a:lnTo>
                    <a:pt x="31242" y="191135"/>
                  </a:lnTo>
                  <a:lnTo>
                    <a:pt x="32893" y="193039"/>
                  </a:lnTo>
                  <a:lnTo>
                    <a:pt x="37211" y="193039"/>
                  </a:lnTo>
                  <a:lnTo>
                    <a:pt x="39116" y="191135"/>
                  </a:lnTo>
                  <a:lnTo>
                    <a:pt x="39116" y="119887"/>
                  </a:lnTo>
                  <a:lnTo>
                    <a:pt x="45813" y="114046"/>
                  </a:lnTo>
                  <a:lnTo>
                    <a:pt x="10160" y="114046"/>
                  </a:lnTo>
                  <a:lnTo>
                    <a:pt x="58076" y="72136"/>
                  </a:lnTo>
                  <a:lnTo>
                    <a:pt x="47625" y="72136"/>
                  </a:lnTo>
                  <a:lnTo>
                    <a:pt x="47625" y="43434"/>
                  </a:lnTo>
                  <a:lnTo>
                    <a:pt x="91332" y="43434"/>
                  </a:lnTo>
                  <a:lnTo>
                    <a:pt x="98604" y="37211"/>
                  </a:lnTo>
                  <a:lnTo>
                    <a:pt x="87249" y="37211"/>
                  </a:lnTo>
                  <a:lnTo>
                    <a:pt x="87249" y="35813"/>
                  </a:lnTo>
                  <a:lnTo>
                    <a:pt x="39370" y="35813"/>
                  </a:lnTo>
                  <a:lnTo>
                    <a:pt x="39370" y="28194"/>
                  </a:lnTo>
                  <a:lnTo>
                    <a:pt x="87249" y="28194"/>
                  </a:lnTo>
                  <a:lnTo>
                    <a:pt x="87249" y="23622"/>
                  </a:lnTo>
                  <a:lnTo>
                    <a:pt x="84455" y="20827"/>
                  </a:lnTo>
                  <a:close/>
                </a:path>
                <a:path w="265429" h="245745">
                  <a:moveTo>
                    <a:pt x="133731" y="29717"/>
                  </a:moveTo>
                  <a:lnTo>
                    <a:pt x="131064" y="29717"/>
                  </a:lnTo>
                  <a:lnTo>
                    <a:pt x="129667" y="30099"/>
                  </a:lnTo>
                  <a:lnTo>
                    <a:pt x="128397" y="30987"/>
                  </a:lnTo>
                  <a:lnTo>
                    <a:pt x="33527" y="114046"/>
                  </a:lnTo>
                  <a:lnTo>
                    <a:pt x="45813" y="114046"/>
                  </a:lnTo>
                  <a:lnTo>
                    <a:pt x="132588" y="38353"/>
                  </a:lnTo>
                  <a:lnTo>
                    <a:pt x="144684" y="38353"/>
                  </a:lnTo>
                  <a:lnTo>
                    <a:pt x="136271" y="30987"/>
                  </a:lnTo>
                  <a:lnTo>
                    <a:pt x="135127" y="30099"/>
                  </a:lnTo>
                  <a:lnTo>
                    <a:pt x="133731" y="29717"/>
                  </a:lnTo>
                  <a:close/>
                </a:path>
                <a:path w="265429" h="245745">
                  <a:moveTo>
                    <a:pt x="206756" y="62737"/>
                  </a:moveTo>
                  <a:lnTo>
                    <a:pt x="204850" y="62737"/>
                  </a:lnTo>
                  <a:lnTo>
                    <a:pt x="203708" y="63246"/>
                  </a:lnTo>
                  <a:lnTo>
                    <a:pt x="201549" y="65404"/>
                  </a:lnTo>
                  <a:lnTo>
                    <a:pt x="201802" y="67945"/>
                  </a:lnTo>
                  <a:lnTo>
                    <a:pt x="203200" y="69341"/>
                  </a:lnTo>
                  <a:lnTo>
                    <a:pt x="254508" y="114046"/>
                  </a:lnTo>
                  <a:lnTo>
                    <a:pt x="265010" y="114046"/>
                  </a:lnTo>
                  <a:lnTo>
                    <a:pt x="264922" y="113157"/>
                  </a:lnTo>
                  <a:lnTo>
                    <a:pt x="262890" y="111506"/>
                  </a:lnTo>
                  <a:lnTo>
                    <a:pt x="208280" y="63753"/>
                  </a:lnTo>
                  <a:lnTo>
                    <a:pt x="207645" y="63119"/>
                  </a:lnTo>
                  <a:lnTo>
                    <a:pt x="206756" y="62737"/>
                  </a:lnTo>
                  <a:close/>
                </a:path>
                <a:path w="265429" h="245745">
                  <a:moveTo>
                    <a:pt x="91332" y="43434"/>
                  </a:moveTo>
                  <a:lnTo>
                    <a:pt x="73151" y="43434"/>
                  </a:lnTo>
                  <a:lnTo>
                    <a:pt x="73151" y="49529"/>
                  </a:lnTo>
                  <a:lnTo>
                    <a:pt x="47625" y="72136"/>
                  </a:lnTo>
                  <a:lnTo>
                    <a:pt x="58076" y="72136"/>
                  </a:lnTo>
                  <a:lnTo>
                    <a:pt x="78867" y="54101"/>
                  </a:lnTo>
                  <a:lnTo>
                    <a:pt x="91332" y="43434"/>
                  </a:lnTo>
                  <a:close/>
                </a:path>
                <a:path w="265429" h="245745">
                  <a:moveTo>
                    <a:pt x="144120" y="8127"/>
                  </a:moveTo>
                  <a:lnTo>
                    <a:pt x="132588" y="8127"/>
                  </a:lnTo>
                  <a:lnTo>
                    <a:pt x="189738" y="57785"/>
                  </a:lnTo>
                  <a:lnTo>
                    <a:pt x="190373" y="58420"/>
                  </a:lnTo>
                  <a:lnTo>
                    <a:pt x="191135" y="58674"/>
                  </a:lnTo>
                  <a:lnTo>
                    <a:pt x="193040" y="58674"/>
                  </a:lnTo>
                  <a:lnTo>
                    <a:pt x="194056" y="58292"/>
                  </a:lnTo>
                  <a:lnTo>
                    <a:pt x="196215" y="56134"/>
                  </a:lnTo>
                  <a:lnTo>
                    <a:pt x="195961" y="53594"/>
                  </a:lnTo>
                  <a:lnTo>
                    <a:pt x="194564" y="52197"/>
                  </a:lnTo>
                  <a:lnTo>
                    <a:pt x="144120" y="8127"/>
                  </a:lnTo>
                  <a:close/>
                </a:path>
                <a:path w="265429" h="245745">
                  <a:moveTo>
                    <a:pt x="133731" y="0"/>
                  </a:moveTo>
                  <a:lnTo>
                    <a:pt x="131064" y="0"/>
                  </a:lnTo>
                  <a:lnTo>
                    <a:pt x="129667" y="508"/>
                  </a:lnTo>
                  <a:lnTo>
                    <a:pt x="128397" y="1270"/>
                  </a:lnTo>
                  <a:lnTo>
                    <a:pt x="87249" y="37211"/>
                  </a:lnTo>
                  <a:lnTo>
                    <a:pt x="98604" y="37211"/>
                  </a:lnTo>
                  <a:lnTo>
                    <a:pt x="132588" y="8127"/>
                  </a:lnTo>
                  <a:lnTo>
                    <a:pt x="144120" y="8127"/>
                  </a:lnTo>
                  <a:lnTo>
                    <a:pt x="136271" y="1270"/>
                  </a:lnTo>
                  <a:lnTo>
                    <a:pt x="135127" y="508"/>
                  </a:lnTo>
                  <a:lnTo>
                    <a:pt x="133731" y="0"/>
                  </a:lnTo>
                  <a:close/>
                </a:path>
                <a:path w="265429" h="245745">
                  <a:moveTo>
                    <a:pt x="87249" y="28194"/>
                  </a:moveTo>
                  <a:lnTo>
                    <a:pt x="80264" y="28194"/>
                  </a:lnTo>
                  <a:lnTo>
                    <a:pt x="80264" y="35813"/>
                  </a:lnTo>
                  <a:lnTo>
                    <a:pt x="87249" y="35813"/>
                  </a:lnTo>
                  <a:lnTo>
                    <a:pt x="87249" y="28194"/>
                  </a:lnTo>
                  <a:close/>
                </a:path>
              </a:pathLst>
            </a:custGeom>
            <a:solidFill>
              <a:srgbClr val="FFFFFF"/>
            </a:solidFill>
          </p:spPr>
          <p:txBody>
            <a:bodyPr wrap="square" lIns="0" tIns="0" rIns="0" bIns="0" rtlCol="0"/>
            <a:lstStyle/>
            <a:p>
              <a:endParaRPr/>
            </a:p>
          </p:txBody>
        </p:sp>
      </p:grpSp>
      <p:sp>
        <p:nvSpPr>
          <p:cNvPr id="8" name="object 8"/>
          <p:cNvSpPr/>
          <p:nvPr/>
        </p:nvSpPr>
        <p:spPr>
          <a:xfrm>
            <a:off x="1578863" y="4037323"/>
            <a:ext cx="2741168" cy="2151888"/>
          </a:xfrm>
          <a:prstGeom prst="rect">
            <a:avLst/>
          </a:prstGeom>
          <a:blipFill>
            <a:blip r:embed="rId3" cstate="print"/>
            <a:stretch>
              <a:fillRect/>
            </a:stretch>
          </a:blipFill>
        </p:spPr>
        <p:txBody>
          <a:bodyPr wrap="square" lIns="0" tIns="0" rIns="0" bIns="0" rtlCol="0"/>
          <a:lstStyle/>
          <a:p>
            <a:endParaRPr/>
          </a:p>
        </p:txBody>
      </p:sp>
      <p:sp>
        <p:nvSpPr>
          <p:cNvPr id="9" name="object 9"/>
          <p:cNvSpPr txBox="1"/>
          <p:nvPr/>
        </p:nvSpPr>
        <p:spPr>
          <a:xfrm>
            <a:off x="5614923" y="2697559"/>
            <a:ext cx="6020647" cy="985739"/>
          </a:xfrm>
          <a:prstGeom prst="rect">
            <a:avLst/>
          </a:prstGeom>
        </p:spPr>
        <p:txBody>
          <a:bodyPr vert="horz" wrap="square" lIns="0" tIns="16086" rIns="0" bIns="0" rtlCol="0">
            <a:spAutoFit/>
          </a:bodyPr>
          <a:lstStyle/>
          <a:p>
            <a:pPr marL="16933" marR="6773">
              <a:spcBef>
                <a:spcPts val="127"/>
              </a:spcBef>
            </a:pPr>
            <a:r>
              <a:rPr sz="2100" spc="-113" dirty="0">
                <a:solidFill>
                  <a:srgbClr val="FFFFFF"/>
                </a:solidFill>
                <a:latin typeface="Trebuchet MS"/>
                <a:cs typeface="Trebuchet MS"/>
              </a:rPr>
              <a:t>Usando </a:t>
            </a:r>
            <a:r>
              <a:rPr sz="2100" spc="-207" dirty="0">
                <a:solidFill>
                  <a:srgbClr val="FFFFFF"/>
                </a:solidFill>
                <a:latin typeface="Trebuchet MS"/>
                <a:cs typeface="Trebuchet MS"/>
              </a:rPr>
              <a:t>“python3 </a:t>
            </a:r>
            <a:r>
              <a:rPr sz="2100" spc="-187" dirty="0">
                <a:solidFill>
                  <a:srgbClr val="FFFFFF"/>
                </a:solidFill>
                <a:latin typeface="Trebuchet MS"/>
                <a:cs typeface="Trebuchet MS"/>
              </a:rPr>
              <a:t>manage.py </a:t>
            </a:r>
            <a:r>
              <a:rPr sz="2100" spc="-173" dirty="0">
                <a:solidFill>
                  <a:srgbClr val="FFFFFF"/>
                </a:solidFill>
                <a:latin typeface="Trebuchet MS"/>
                <a:cs typeface="Trebuchet MS"/>
              </a:rPr>
              <a:t>startapp </a:t>
            </a:r>
            <a:r>
              <a:rPr sz="2100" spc="-233" dirty="0">
                <a:solidFill>
                  <a:srgbClr val="FFFFFF"/>
                </a:solidFill>
                <a:latin typeface="Trebuchet MS"/>
                <a:cs typeface="Trebuchet MS"/>
              </a:rPr>
              <a:t>catalog” </a:t>
            </a:r>
            <a:r>
              <a:rPr sz="2100" spc="-147" dirty="0">
                <a:solidFill>
                  <a:srgbClr val="FFFFFF"/>
                </a:solidFill>
                <a:latin typeface="Trebuchet MS"/>
                <a:cs typeface="Trebuchet MS"/>
              </a:rPr>
              <a:t>creamos </a:t>
            </a:r>
            <a:r>
              <a:rPr sz="2100" spc="-167" dirty="0">
                <a:solidFill>
                  <a:srgbClr val="FFFFFF"/>
                </a:solidFill>
                <a:latin typeface="Trebuchet MS"/>
                <a:cs typeface="Trebuchet MS"/>
              </a:rPr>
              <a:t>la  </a:t>
            </a:r>
            <a:r>
              <a:rPr sz="2100" spc="-200" dirty="0">
                <a:solidFill>
                  <a:srgbClr val="FFFFFF"/>
                </a:solidFill>
                <a:latin typeface="Trebuchet MS"/>
                <a:cs typeface="Trebuchet MS"/>
              </a:rPr>
              <a:t>estructura </a:t>
            </a:r>
            <a:r>
              <a:rPr sz="2100" spc="-207" dirty="0">
                <a:solidFill>
                  <a:srgbClr val="FFFFFF"/>
                </a:solidFill>
                <a:latin typeface="Trebuchet MS"/>
                <a:cs typeface="Trebuchet MS"/>
              </a:rPr>
              <a:t>de </a:t>
            </a:r>
            <a:r>
              <a:rPr sz="2100" spc="-167" dirty="0">
                <a:solidFill>
                  <a:srgbClr val="FFFFFF"/>
                </a:solidFill>
                <a:latin typeface="Trebuchet MS"/>
                <a:cs typeface="Trebuchet MS"/>
              </a:rPr>
              <a:t>la </a:t>
            </a:r>
            <a:r>
              <a:rPr sz="2100" spc="-160" dirty="0">
                <a:solidFill>
                  <a:srgbClr val="FFFFFF"/>
                </a:solidFill>
                <a:latin typeface="Trebuchet MS"/>
                <a:cs typeface="Trebuchet MS"/>
              </a:rPr>
              <a:t>aplicación </a:t>
            </a:r>
            <a:r>
              <a:rPr sz="2100" spc="-173" dirty="0">
                <a:solidFill>
                  <a:srgbClr val="FFFFFF"/>
                </a:solidFill>
                <a:latin typeface="Trebuchet MS"/>
                <a:cs typeface="Trebuchet MS"/>
              </a:rPr>
              <a:t>llamada </a:t>
            </a:r>
            <a:r>
              <a:rPr sz="2100" spc="-300" dirty="0">
                <a:solidFill>
                  <a:srgbClr val="FFFFFF"/>
                </a:solidFill>
                <a:latin typeface="Trebuchet MS"/>
                <a:cs typeface="Trebuchet MS"/>
              </a:rPr>
              <a:t>“catalog”. </a:t>
            </a:r>
            <a:r>
              <a:rPr sz="2100" spc="-167" dirty="0">
                <a:solidFill>
                  <a:srgbClr val="FFFFFF"/>
                </a:solidFill>
                <a:latin typeface="Trebuchet MS"/>
                <a:cs typeface="Trebuchet MS"/>
              </a:rPr>
              <a:t>Directorio  actualizado </a:t>
            </a:r>
            <a:r>
              <a:rPr sz="2100" spc="-200" dirty="0">
                <a:solidFill>
                  <a:srgbClr val="FFFFFF"/>
                </a:solidFill>
                <a:latin typeface="Trebuchet MS"/>
                <a:cs typeface="Trebuchet MS"/>
              </a:rPr>
              <a:t>del</a:t>
            </a:r>
            <a:r>
              <a:rPr sz="2100" spc="93" dirty="0">
                <a:solidFill>
                  <a:srgbClr val="FFFFFF"/>
                </a:solidFill>
                <a:latin typeface="Trebuchet MS"/>
                <a:cs typeface="Trebuchet MS"/>
              </a:rPr>
              <a:t> </a:t>
            </a:r>
            <a:r>
              <a:rPr sz="2100" spc="-213" dirty="0">
                <a:solidFill>
                  <a:srgbClr val="FFFFFF"/>
                </a:solidFill>
                <a:latin typeface="Trebuchet MS"/>
                <a:cs typeface="Trebuchet MS"/>
              </a:rPr>
              <a:t>proyecto:</a:t>
            </a:r>
            <a:endParaRPr sz="2100" dirty="0">
              <a:latin typeface="Trebuchet MS"/>
              <a:cs typeface="Trebuchet MS"/>
            </a:endParaRPr>
          </a:p>
        </p:txBody>
      </p:sp>
      <p:sp>
        <p:nvSpPr>
          <p:cNvPr id="10" name="object 10"/>
          <p:cNvSpPr/>
          <p:nvPr/>
        </p:nvSpPr>
        <p:spPr>
          <a:xfrm>
            <a:off x="7282851" y="3945924"/>
            <a:ext cx="1910576" cy="2570206"/>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68"/>
            <a:ext cx="12191999" cy="6854275"/>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894333" y="1910001"/>
            <a:ext cx="3929380" cy="662574"/>
          </a:xfrm>
          <a:prstGeom prst="rect">
            <a:avLst/>
          </a:prstGeom>
        </p:spPr>
        <p:txBody>
          <a:bodyPr vert="horz" wrap="square" lIns="0" tIns="16086" rIns="0" bIns="0" rtlCol="0">
            <a:spAutoFit/>
          </a:bodyPr>
          <a:lstStyle/>
          <a:p>
            <a:pPr marL="16933">
              <a:spcBef>
                <a:spcPts val="127"/>
              </a:spcBef>
            </a:pPr>
            <a:r>
              <a:rPr sz="2100" spc="-187" dirty="0">
                <a:solidFill>
                  <a:srgbClr val="FFFFFF"/>
                </a:solidFill>
                <a:latin typeface="Trebuchet MS"/>
                <a:cs typeface="Trebuchet MS"/>
              </a:rPr>
              <a:t>Estructura </a:t>
            </a:r>
            <a:r>
              <a:rPr sz="2100" spc="-140" dirty="0">
                <a:solidFill>
                  <a:srgbClr val="FFFFFF"/>
                </a:solidFill>
                <a:latin typeface="Trebuchet MS"/>
                <a:cs typeface="Trebuchet MS"/>
              </a:rPr>
              <a:t>tras </a:t>
            </a:r>
            <a:r>
              <a:rPr sz="2100" spc="-240" dirty="0">
                <a:solidFill>
                  <a:srgbClr val="FFFFFF"/>
                </a:solidFill>
                <a:latin typeface="Trebuchet MS"/>
                <a:cs typeface="Trebuchet MS"/>
              </a:rPr>
              <a:t>ejecutar </a:t>
            </a:r>
            <a:r>
              <a:rPr sz="2100" spc="-305" dirty="0">
                <a:solidFill>
                  <a:srgbClr val="FFFFFF"/>
                </a:solidFill>
                <a:latin typeface="Trebuchet MS"/>
                <a:cs typeface="Trebuchet MS"/>
              </a:rPr>
              <a:t>“meteor” </a:t>
            </a:r>
            <a:r>
              <a:rPr sz="2100" spc="-173" dirty="0">
                <a:solidFill>
                  <a:srgbClr val="FFFFFF"/>
                </a:solidFill>
                <a:latin typeface="Trebuchet MS"/>
                <a:cs typeface="Trebuchet MS"/>
              </a:rPr>
              <a:t>en</a:t>
            </a:r>
            <a:r>
              <a:rPr sz="2100" spc="-453" dirty="0">
                <a:solidFill>
                  <a:srgbClr val="FFFFFF"/>
                </a:solidFill>
                <a:latin typeface="Trebuchet MS"/>
                <a:cs typeface="Trebuchet MS"/>
              </a:rPr>
              <a:t> </a:t>
            </a:r>
            <a:r>
              <a:rPr sz="2100" spc="-167" dirty="0">
                <a:solidFill>
                  <a:srgbClr val="FFFFFF"/>
                </a:solidFill>
                <a:latin typeface="Trebuchet MS"/>
                <a:cs typeface="Trebuchet MS"/>
              </a:rPr>
              <a:t>la</a:t>
            </a:r>
            <a:endParaRPr sz="2100" dirty="0">
              <a:latin typeface="Trebuchet MS"/>
              <a:cs typeface="Trebuchet MS"/>
            </a:endParaRPr>
          </a:p>
          <a:p>
            <a:pPr marL="16933"/>
            <a:r>
              <a:rPr sz="2100" spc="-200" dirty="0">
                <a:solidFill>
                  <a:srgbClr val="FFFFFF"/>
                </a:solidFill>
                <a:latin typeface="Trebuchet MS"/>
                <a:cs typeface="Trebuchet MS"/>
              </a:rPr>
              <a:t>carpeta del</a:t>
            </a:r>
            <a:r>
              <a:rPr sz="2100" spc="-327" dirty="0">
                <a:solidFill>
                  <a:srgbClr val="FFFFFF"/>
                </a:solidFill>
                <a:latin typeface="Trebuchet MS"/>
                <a:cs typeface="Trebuchet MS"/>
              </a:rPr>
              <a:t> </a:t>
            </a:r>
            <a:r>
              <a:rPr sz="2100" spc="-213" dirty="0">
                <a:solidFill>
                  <a:srgbClr val="FFFFFF"/>
                </a:solidFill>
                <a:latin typeface="Trebuchet MS"/>
                <a:cs typeface="Trebuchet MS"/>
              </a:rPr>
              <a:t>proyecto:</a:t>
            </a:r>
            <a:endParaRPr sz="2100" dirty="0">
              <a:latin typeface="Trebuchet MS"/>
              <a:cs typeface="Trebuchet MS"/>
            </a:endParaRPr>
          </a:p>
        </p:txBody>
      </p:sp>
      <p:sp>
        <p:nvSpPr>
          <p:cNvPr id="4" name="object 4"/>
          <p:cNvSpPr txBox="1">
            <a:spLocks noGrp="1"/>
          </p:cNvSpPr>
          <p:nvPr>
            <p:ph type="title"/>
          </p:nvPr>
        </p:nvSpPr>
        <p:spPr>
          <a:xfrm>
            <a:off x="1195765" y="406907"/>
            <a:ext cx="9513424" cy="1371315"/>
          </a:xfrm>
          <a:prstGeom prst="rect">
            <a:avLst/>
          </a:prstGeom>
        </p:spPr>
        <p:txBody>
          <a:bodyPr vert="horz" wrap="square" lIns="0" tIns="16933" rIns="0" bIns="0" rtlCol="0">
            <a:spAutoFit/>
          </a:bodyPr>
          <a:lstStyle/>
          <a:p>
            <a:pPr marL="16933">
              <a:lnSpc>
                <a:spcPct val="100000"/>
              </a:lnSpc>
              <a:spcBef>
                <a:spcPts val="133"/>
              </a:spcBef>
            </a:pPr>
            <a:r>
              <a:rPr spc="800" dirty="0"/>
              <a:t>estructura</a:t>
            </a:r>
            <a:r>
              <a:rPr spc="-213" dirty="0"/>
              <a:t> </a:t>
            </a:r>
            <a:r>
              <a:rPr spc="460" dirty="0"/>
              <a:t>de</a:t>
            </a:r>
            <a:r>
              <a:rPr spc="-207" dirty="0"/>
              <a:t> </a:t>
            </a:r>
            <a:r>
              <a:rPr spc="1033" dirty="0"/>
              <a:t>la</a:t>
            </a:r>
            <a:r>
              <a:rPr spc="-207" dirty="0"/>
              <a:t> </a:t>
            </a:r>
            <a:r>
              <a:rPr spc="713" dirty="0"/>
              <a:t>aplicación:</a:t>
            </a:r>
          </a:p>
          <a:p>
            <a:pPr marL="16933">
              <a:lnSpc>
                <a:spcPct val="100000"/>
              </a:lnSpc>
            </a:pPr>
            <a:r>
              <a:rPr spc="627" dirty="0"/>
              <a:t>meteor</a:t>
            </a:r>
          </a:p>
        </p:txBody>
      </p:sp>
      <p:grpSp>
        <p:nvGrpSpPr>
          <p:cNvPr id="5" name="object 5"/>
          <p:cNvGrpSpPr/>
          <p:nvPr/>
        </p:nvGrpSpPr>
        <p:grpSpPr>
          <a:xfrm>
            <a:off x="11301984" y="243839"/>
            <a:ext cx="577427" cy="497840"/>
            <a:chOff x="8476488" y="182879"/>
            <a:chExt cx="433070" cy="373380"/>
          </a:xfrm>
        </p:grpSpPr>
        <p:sp>
          <p:nvSpPr>
            <p:cNvPr id="6" name="object 6"/>
            <p:cNvSpPr/>
            <p:nvPr/>
          </p:nvSpPr>
          <p:spPr>
            <a:xfrm>
              <a:off x="8476488" y="182879"/>
              <a:ext cx="433070" cy="373380"/>
            </a:xfrm>
            <a:custGeom>
              <a:avLst/>
              <a:gdLst/>
              <a:ahLst/>
              <a:cxnLst/>
              <a:rect l="l" t="t" r="r" b="b"/>
              <a:pathLst>
                <a:path w="433070" h="373380">
                  <a:moveTo>
                    <a:pt x="432816" y="0"/>
                  </a:moveTo>
                  <a:lnTo>
                    <a:pt x="0" y="0"/>
                  </a:lnTo>
                  <a:lnTo>
                    <a:pt x="0" y="373379"/>
                  </a:lnTo>
                  <a:lnTo>
                    <a:pt x="432816" y="373379"/>
                  </a:lnTo>
                  <a:lnTo>
                    <a:pt x="432816" y="0"/>
                  </a:lnTo>
                  <a:close/>
                </a:path>
              </a:pathLst>
            </a:custGeom>
            <a:solidFill>
              <a:srgbClr val="FFFFFF">
                <a:alpha val="36862"/>
              </a:srgbClr>
            </a:solidFill>
          </p:spPr>
          <p:txBody>
            <a:bodyPr wrap="square" lIns="0" tIns="0" rIns="0" bIns="0" rtlCol="0"/>
            <a:lstStyle/>
            <a:p>
              <a:endParaRPr/>
            </a:p>
          </p:txBody>
        </p:sp>
        <p:sp>
          <p:nvSpPr>
            <p:cNvPr id="7" name="object 7"/>
            <p:cNvSpPr/>
            <p:nvPr/>
          </p:nvSpPr>
          <p:spPr>
            <a:xfrm>
              <a:off x="8560308" y="246887"/>
              <a:ext cx="265430" cy="245745"/>
            </a:xfrm>
            <a:custGeom>
              <a:avLst/>
              <a:gdLst/>
              <a:ahLst/>
              <a:cxnLst/>
              <a:rect l="l" t="t" r="r" b="b"/>
              <a:pathLst>
                <a:path w="265429" h="245745">
                  <a:moveTo>
                    <a:pt x="37211" y="203200"/>
                  </a:moveTo>
                  <a:lnTo>
                    <a:pt x="32893" y="203200"/>
                  </a:lnTo>
                  <a:lnTo>
                    <a:pt x="31242" y="204977"/>
                  </a:lnTo>
                  <a:lnTo>
                    <a:pt x="31242" y="241173"/>
                  </a:lnTo>
                  <a:lnTo>
                    <a:pt x="35433" y="245363"/>
                  </a:lnTo>
                  <a:lnTo>
                    <a:pt x="229108" y="245363"/>
                  </a:lnTo>
                  <a:lnTo>
                    <a:pt x="233299" y="241173"/>
                  </a:lnTo>
                  <a:lnTo>
                    <a:pt x="233299" y="237744"/>
                  </a:lnTo>
                  <a:lnTo>
                    <a:pt x="40005" y="237744"/>
                  </a:lnTo>
                  <a:lnTo>
                    <a:pt x="39116" y="236854"/>
                  </a:lnTo>
                  <a:lnTo>
                    <a:pt x="39116" y="204977"/>
                  </a:lnTo>
                  <a:lnTo>
                    <a:pt x="37211" y="203200"/>
                  </a:lnTo>
                  <a:close/>
                </a:path>
                <a:path w="265429" h="245745">
                  <a:moveTo>
                    <a:pt x="163830" y="133223"/>
                  </a:moveTo>
                  <a:lnTo>
                    <a:pt x="105918" y="133223"/>
                  </a:lnTo>
                  <a:lnTo>
                    <a:pt x="101600" y="137413"/>
                  </a:lnTo>
                  <a:lnTo>
                    <a:pt x="101600" y="237744"/>
                  </a:lnTo>
                  <a:lnTo>
                    <a:pt x="109727" y="237744"/>
                  </a:lnTo>
                  <a:lnTo>
                    <a:pt x="109727" y="141732"/>
                  </a:lnTo>
                  <a:lnTo>
                    <a:pt x="110363" y="141097"/>
                  </a:lnTo>
                  <a:lnTo>
                    <a:pt x="168021" y="141097"/>
                  </a:lnTo>
                  <a:lnTo>
                    <a:pt x="168021" y="137413"/>
                  </a:lnTo>
                  <a:lnTo>
                    <a:pt x="163830" y="133223"/>
                  </a:lnTo>
                  <a:close/>
                </a:path>
                <a:path w="265429" h="245745">
                  <a:moveTo>
                    <a:pt x="168021" y="141097"/>
                  </a:moveTo>
                  <a:lnTo>
                    <a:pt x="160147" y="141097"/>
                  </a:lnTo>
                  <a:lnTo>
                    <a:pt x="160782" y="141732"/>
                  </a:lnTo>
                  <a:lnTo>
                    <a:pt x="160782" y="237744"/>
                  </a:lnTo>
                  <a:lnTo>
                    <a:pt x="168021" y="237744"/>
                  </a:lnTo>
                  <a:lnTo>
                    <a:pt x="168021" y="141097"/>
                  </a:lnTo>
                  <a:close/>
                </a:path>
                <a:path w="265429" h="245745">
                  <a:moveTo>
                    <a:pt x="144684" y="38353"/>
                  </a:moveTo>
                  <a:lnTo>
                    <a:pt x="132588" y="38353"/>
                  </a:lnTo>
                  <a:lnTo>
                    <a:pt x="226060" y="119887"/>
                  </a:lnTo>
                  <a:lnTo>
                    <a:pt x="226060" y="236854"/>
                  </a:lnTo>
                  <a:lnTo>
                    <a:pt x="225171" y="237744"/>
                  </a:lnTo>
                  <a:lnTo>
                    <a:pt x="233299" y="237744"/>
                  </a:lnTo>
                  <a:lnTo>
                    <a:pt x="233299" y="121665"/>
                  </a:lnTo>
                  <a:lnTo>
                    <a:pt x="260985" y="121665"/>
                  </a:lnTo>
                  <a:lnTo>
                    <a:pt x="263144" y="120269"/>
                  </a:lnTo>
                  <a:lnTo>
                    <a:pt x="263778" y="117728"/>
                  </a:lnTo>
                  <a:lnTo>
                    <a:pt x="265175" y="115697"/>
                  </a:lnTo>
                  <a:lnTo>
                    <a:pt x="265010" y="114046"/>
                  </a:lnTo>
                  <a:lnTo>
                    <a:pt x="231140" y="114046"/>
                  </a:lnTo>
                  <a:lnTo>
                    <a:pt x="144684" y="38353"/>
                  </a:lnTo>
                  <a:close/>
                </a:path>
                <a:path w="265429" h="245745">
                  <a:moveTo>
                    <a:pt x="84455" y="20827"/>
                  </a:moveTo>
                  <a:lnTo>
                    <a:pt x="34290" y="20827"/>
                  </a:lnTo>
                  <a:lnTo>
                    <a:pt x="31496" y="23622"/>
                  </a:lnTo>
                  <a:lnTo>
                    <a:pt x="31496" y="40894"/>
                  </a:lnTo>
                  <a:lnTo>
                    <a:pt x="34290" y="43687"/>
                  </a:lnTo>
                  <a:lnTo>
                    <a:pt x="40005" y="43687"/>
                  </a:lnTo>
                  <a:lnTo>
                    <a:pt x="40005" y="78994"/>
                  </a:lnTo>
                  <a:lnTo>
                    <a:pt x="635" y="113411"/>
                  </a:lnTo>
                  <a:lnTo>
                    <a:pt x="0" y="115950"/>
                  </a:lnTo>
                  <a:lnTo>
                    <a:pt x="635" y="118237"/>
                  </a:lnTo>
                  <a:lnTo>
                    <a:pt x="1397" y="120523"/>
                  </a:lnTo>
                  <a:lnTo>
                    <a:pt x="3937" y="121920"/>
                  </a:lnTo>
                  <a:lnTo>
                    <a:pt x="31242" y="121920"/>
                  </a:lnTo>
                  <a:lnTo>
                    <a:pt x="31242" y="191135"/>
                  </a:lnTo>
                  <a:lnTo>
                    <a:pt x="32893" y="193039"/>
                  </a:lnTo>
                  <a:lnTo>
                    <a:pt x="37211" y="193039"/>
                  </a:lnTo>
                  <a:lnTo>
                    <a:pt x="39116" y="191135"/>
                  </a:lnTo>
                  <a:lnTo>
                    <a:pt x="39116" y="119887"/>
                  </a:lnTo>
                  <a:lnTo>
                    <a:pt x="45813" y="114046"/>
                  </a:lnTo>
                  <a:lnTo>
                    <a:pt x="10160" y="114046"/>
                  </a:lnTo>
                  <a:lnTo>
                    <a:pt x="58076" y="72136"/>
                  </a:lnTo>
                  <a:lnTo>
                    <a:pt x="47625" y="72136"/>
                  </a:lnTo>
                  <a:lnTo>
                    <a:pt x="47625" y="43434"/>
                  </a:lnTo>
                  <a:lnTo>
                    <a:pt x="91332" y="43434"/>
                  </a:lnTo>
                  <a:lnTo>
                    <a:pt x="98604" y="37211"/>
                  </a:lnTo>
                  <a:lnTo>
                    <a:pt x="87249" y="37211"/>
                  </a:lnTo>
                  <a:lnTo>
                    <a:pt x="87249" y="35813"/>
                  </a:lnTo>
                  <a:lnTo>
                    <a:pt x="39370" y="35813"/>
                  </a:lnTo>
                  <a:lnTo>
                    <a:pt x="39370" y="28194"/>
                  </a:lnTo>
                  <a:lnTo>
                    <a:pt x="87249" y="28194"/>
                  </a:lnTo>
                  <a:lnTo>
                    <a:pt x="87249" y="23622"/>
                  </a:lnTo>
                  <a:lnTo>
                    <a:pt x="84455" y="20827"/>
                  </a:lnTo>
                  <a:close/>
                </a:path>
                <a:path w="265429" h="245745">
                  <a:moveTo>
                    <a:pt x="133731" y="29717"/>
                  </a:moveTo>
                  <a:lnTo>
                    <a:pt x="131064" y="29717"/>
                  </a:lnTo>
                  <a:lnTo>
                    <a:pt x="129667" y="30099"/>
                  </a:lnTo>
                  <a:lnTo>
                    <a:pt x="128397" y="30987"/>
                  </a:lnTo>
                  <a:lnTo>
                    <a:pt x="33527" y="114046"/>
                  </a:lnTo>
                  <a:lnTo>
                    <a:pt x="45813" y="114046"/>
                  </a:lnTo>
                  <a:lnTo>
                    <a:pt x="132588" y="38353"/>
                  </a:lnTo>
                  <a:lnTo>
                    <a:pt x="144684" y="38353"/>
                  </a:lnTo>
                  <a:lnTo>
                    <a:pt x="136271" y="30987"/>
                  </a:lnTo>
                  <a:lnTo>
                    <a:pt x="135127" y="30099"/>
                  </a:lnTo>
                  <a:lnTo>
                    <a:pt x="133731" y="29717"/>
                  </a:lnTo>
                  <a:close/>
                </a:path>
                <a:path w="265429" h="245745">
                  <a:moveTo>
                    <a:pt x="206756" y="62737"/>
                  </a:moveTo>
                  <a:lnTo>
                    <a:pt x="204850" y="62737"/>
                  </a:lnTo>
                  <a:lnTo>
                    <a:pt x="203708" y="63246"/>
                  </a:lnTo>
                  <a:lnTo>
                    <a:pt x="201549" y="65404"/>
                  </a:lnTo>
                  <a:lnTo>
                    <a:pt x="201802" y="67945"/>
                  </a:lnTo>
                  <a:lnTo>
                    <a:pt x="203200" y="69341"/>
                  </a:lnTo>
                  <a:lnTo>
                    <a:pt x="254508" y="114046"/>
                  </a:lnTo>
                  <a:lnTo>
                    <a:pt x="265010" y="114046"/>
                  </a:lnTo>
                  <a:lnTo>
                    <a:pt x="264922" y="113157"/>
                  </a:lnTo>
                  <a:lnTo>
                    <a:pt x="262890" y="111506"/>
                  </a:lnTo>
                  <a:lnTo>
                    <a:pt x="208280" y="63753"/>
                  </a:lnTo>
                  <a:lnTo>
                    <a:pt x="207645" y="63119"/>
                  </a:lnTo>
                  <a:lnTo>
                    <a:pt x="206756" y="62737"/>
                  </a:lnTo>
                  <a:close/>
                </a:path>
                <a:path w="265429" h="245745">
                  <a:moveTo>
                    <a:pt x="91332" y="43434"/>
                  </a:moveTo>
                  <a:lnTo>
                    <a:pt x="73151" y="43434"/>
                  </a:lnTo>
                  <a:lnTo>
                    <a:pt x="73151" y="49529"/>
                  </a:lnTo>
                  <a:lnTo>
                    <a:pt x="47625" y="72136"/>
                  </a:lnTo>
                  <a:lnTo>
                    <a:pt x="58076" y="72136"/>
                  </a:lnTo>
                  <a:lnTo>
                    <a:pt x="78867" y="54101"/>
                  </a:lnTo>
                  <a:lnTo>
                    <a:pt x="91332" y="43434"/>
                  </a:lnTo>
                  <a:close/>
                </a:path>
                <a:path w="265429" h="245745">
                  <a:moveTo>
                    <a:pt x="144120" y="8127"/>
                  </a:moveTo>
                  <a:lnTo>
                    <a:pt x="132588" y="8127"/>
                  </a:lnTo>
                  <a:lnTo>
                    <a:pt x="189738" y="57785"/>
                  </a:lnTo>
                  <a:lnTo>
                    <a:pt x="190373" y="58420"/>
                  </a:lnTo>
                  <a:lnTo>
                    <a:pt x="191135" y="58674"/>
                  </a:lnTo>
                  <a:lnTo>
                    <a:pt x="193040" y="58674"/>
                  </a:lnTo>
                  <a:lnTo>
                    <a:pt x="194056" y="58292"/>
                  </a:lnTo>
                  <a:lnTo>
                    <a:pt x="196215" y="56134"/>
                  </a:lnTo>
                  <a:lnTo>
                    <a:pt x="195961" y="53594"/>
                  </a:lnTo>
                  <a:lnTo>
                    <a:pt x="194564" y="52197"/>
                  </a:lnTo>
                  <a:lnTo>
                    <a:pt x="144120" y="8127"/>
                  </a:lnTo>
                  <a:close/>
                </a:path>
                <a:path w="265429" h="245745">
                  <a:moveTo>
                    <a:pt x="133731" y="0"/>
                  </a:moveTo>
                  <a:lnTo>
                    <a:pt x="131064" y="0"/>
                  </a:lnTo>
                  <a:lnTo>
                    <a:pt x="129667" y="508"/>
                  </a:lnTo>
                  <a:lnTo>
                    <a:pt x="128397" y="1270"/>
                  </a:lnTo>
                  <a:lnTo>
                    <a:pt x="87249" y="37211"/>
                  </a:lnTo>
                  <a:lnTo>
                    <a:pt x="98604" y="37211"/>
                  </a:lnTo>
                  <a:lnTo>
                    <a:pt x="132588" y="8127"/>
                  </a:lnTo>
                  <a:lnTo>
                    <a:pt x="144120" y="8127"/>
                  </a:lnTo>
                  <a:lnTo>
                    <a:pt x="136271" y="1270"/>
                  </a:lnTo>
                  <a:lnTo>
                    <a:pt x="135127" y="508"/>
                  </a:lnTo>
                  <a:lnTo>
                    <a:pt x="133731" y="0"/>
                  </a:lnTo>
                  <a:close/>
                </a:path>
                <a:path w="265429" h="245745">
                  <a:moveTo>
                    <a:pt x="87249" y="28194"/>
                  </a:moveTo>
                  <a:lnTo>
                    <a:pt x="80264" y="28194"/>
                  </a:lnTo>
                  <a:lnTo>
                    <a:pt x="80264" y="35813"/>
                  </a:lnTo>
                  <a:lnTo>
                    <a:pt x="87249" y="35813"/>
                  </a:lnTo>
                  <a:lnTo>
                    <a:pt x="87249" y="28194"/>
                  </a:lnTo>
                  <a:close/>
                </a:path>
              </a:pathLst>
            </a:custGeom>
            <a:solidFill>
              <a:srgbClr val="FFFFFF"/>
            </a:solidFill>
          </p:spPr>
          <p:txBody>
            <a:bodyPr wrap="square" lIns="0" tIns="0" rIns="0" bIns="0" rtlCol="0"/>
            <a:lstStyle/>
            <a:p>
              <a:endParaRPr/>
            </a:p>
          </p:txBody>
        </p:sp>
      </p:grpSp>
      <p:sp>
        <p:nvSpPr>
          <p:cNvPr id="8" name="object 8"/>
          <p:cNvSpPr/>
          <p:nvPr/>
        </p:nvSpPr>
        <p:spPr>
          <a:xfrm>
            <a:off x="6740145" y="1811449"/>
            <a:ext cx="2489199" cy="4354576"/>
          </a:xfrm>
          <a:prstGeom prst="rect">
            <a:avLst/>
          </a:prstGeom>
          <a:blipFill>
            <a:blip r:embed="rId3" cstate="print"/>
            <a:stretch>
              <a:fillRect/>
            </a:stretch>
          </a:blipFill>
        </p:spPr>
        <p:txBody>
          <a:bodyPr wrap="square" lIns="0" tIns="0" rIns="0" bIns="0" rtlCol="0"/>
          <a:lstStyle/>
          <a:p>
            <a:endParaRPr/>
          </a:p>
        </p:txBody>
      </p:sp>
      <p:sp>
        <p:nvSpPr>
          <p:cNvPr id="9" name="object 9"/>
          <p:cNvSpPr txBox="1"/>
          <p:nvPr/>
        </p:nvSpPr>
        <p:spPr>
          <a:xfrm>
            <a:off x="648207" y="3067226"/>
            <a:ext cx="5543972" cy="2498120"/>
          </a:xfrm>
          <a:prstGeom prst="rect">
            <a:avLst/>
          </a:prstGeom>
          <a:solidFill>
            <a:srgbClr val="FFFFFF"/>
          </a:solidFill>
        </p:spPr>
        <p:txBody>
          <a:bodyPr vert="horz" wrap="square" lIns="0" tIns="5080" rIns="0" bIns="0" rtlCol="0">
            <a:spAutoFit/>
          </a:bodyPr>
          <a:lstStyle/>
          <a:p>
            <a:pPr>
              <a:spcBef>
                <a:spcPts val="40"/>
              </a:spcBef>
            </a:pPr>
            <a:endParaRPr sz="1400" dirty="0">
              <a:latin typeface="Times New Roman"/>
              <a:cs typeface="Times New Roman"/>
            </a:endParaRPr>
          </a:p>
          <a:p>
            <a:pPr marL="190495" indent="-70272">
              <a:spcBef>
                <a:spcPts val="7"/>
              </a:spcBef>
              <a:buSzPct val="90000"/>
              <a:buFont typeface="Arial Black"/>
              <a:buChar char="•"/>
              <a:tabLst>
                <a:tab pos="191342" algn="l"/>
              </a:tabLst>
            </a:pPr>
            <a:r>
              <a:rPr sz="1300" b="1" spc="-40" dirty="0">
                <a:solidFill>
                  <a:srgbClr val="181818"/>
                </a:solidFill>
                <a:latin typeface="Trebuchet MS"/>
                <a:cs typeface="Trebuchet MS"/>
              </a:rPr>
              <a:t>client: </a:t>
            </a:r>
            <a:r>
              <a:rPr sz="1300" spc="-173" dirty="0">
                <a:solidFill>
                  <a:srgbClr val="333333"/>
                </a:solidFill>
                <a:latin typeface="Arial Black"/>
                <a:cs typeface="Arial Black"/>
              </a:rPr>
              <a:t>Equivale al </a:t>
            </a:r>
            <a:r>
              <a:rPr sz="1300" spc="-133" dirty="0">
                <a:solidFill>
                  <a:srgbClr val="333333"/>
                </a:solidFill>
                <a:latin typeface="Arial Black"/>
                <a:cs typeface="Arial Black"/>
              </a:rPr>
              <a:t>bloque </a:t>
            </a:r>
            <a:r>
              <a:rPr sz="1300" spc="-152" dirty="0">
                <a:solidFill>
                  <a:srgbClr val="333333"/>
                </a:solidFill>
                <a:latin typeface="Arial Black"/>
                <a:cs typeface="Arial Black"/>
              </a:rPr>
              <a:t>de </a:t>
            </a:r>
            <a:r>
              <a:rPr sz="1300" spc="-147" dirty="0">
                <a:solidFill>
                  <a:srgbClr val="333333"/>
                </a:solidFill>
                <a:latin typeface="Arial Black"/>
                <a:cs typeface="Arial Black"/>
              </a:rPr>
              <a:t>código </a:t>
            </a:r>
            <a:r>
              <a:rPr sz="1300" spc="-173" dirty="0">
                <a:solidFill>
                  <a:srgbClr val="333333"/>
                </a:solidFill>
                <a:latin typeface="Arial Black"/>
                <a:cs typeface="Arial Black"/>
              </a:rPr>
              <a:t>encabezado </a:t>
            </a:r>
            <a:r>
              <a:rPr sz="1300" spc="-120" dirty="0">
                <a:solidFill>
                  <a:srgbClr val="333333"/>
                </a:solidFill>
                <a:latin typeface="Arial Black"/>
                <a:cs typeface="Arial Black"/>
              </a:rPr>
              <a:t>por </a:t>
            </a:r>
            <a:r>
              <a:rPr sz="1300" spc="-7" dirty="0">
                <a:solidFill>
                  <a:srgbClr val="E83D8B"/>
                </a:solidFill>
                <a:latin typeface="Carlito"/>
                <a:cs typeface="Carlito"/>
              </a:rPr>
              <a:t>Meteor.isClient</a:t>
            </a:r>
            <a:r>
              <a:rPr sz="1300" spc="87" dirty="0">
                <a:solidFill>
                  <a:srgbClr val="E83D8B"/>
                </a:solidFill>
                <a:latin typeface="Carlito"/>
                <a:cs typeface="Carlito"/>
              </a:rPr>
              <a:t> </a:t>
            </a:r>
            <a:r>
              <a:rPr sz="1300" spc="-160" dirty="0">
                <a:solidFill>
                  <a:srgbClr val="333333"/>
                </a:solidFill>
                <a:latin typeface="Arial Black"/>
                <a:cs typeface="Arial Black"/>
              </a:rPr>
              <a:t>.</a:t>
            </a:r>
            <a:endParaRPr sz="1300" dirty="0">
              <a:latin typeface="Arial Black"/>
              <a:cs typeface="Arial Black"/>
            </a:endParaRPr>
          </a:p>
          <a:p>
            <a:pPr>
              <a:lnSpc>
                <a:spcPct val="100000"/>
              </a:lnSpc>
              <a:buClr>
                <a:srgbClr val="181818"/>
              </a:buClr>
              <a:buFont typeface="Arial Black"/>
              <a:buChar char="•"/>
            </a:pPr>
            <a:endParaRPr sz="1100" dirty="0">
              <a:latin typeface="Arial Black"/>
              <a:cs typeface="Arial Black"/>
            </a:endParaRPr>
          </a:p>
          <a:p>
            <a:pPr marL="190495" indent="-70272">
              <a:buSzPct val="90000"/>
              <a:buFont typeface="Arial Black"/>
              <a:buChar char="•"/>
              <a:tabLst>
                <a:tab pos="191342" algn="l"/>
              </a:tabLst>
            </a:pPr>
            <a:r>
              <a:rPr sz="1300" b="1" spc="-40" dirty="0">
                <a:solidFill>
                  <a:srgbClr val="181818"/>
                </a:solidFill>
                <a:latin typeface="Trebuchet MS"/>
                <a:cs typeface="Trebuchet MS"/>
              </a:rPr>
              <a:t>server: </a:t>
            </a:r>
            <a:r>
              <a:rPr sz="1300" spc="-173" dirty="0">
                <a:solidFill>
                  <a:srgbClr val="333333"/>
                </a:solidFill>
                <a:latin typeface="Arial Black"/>
                <a:cs typeface="Arial Black"/>
              </a:rPr>
              <a:t>Equivale al </a:t>
            </a:r>
            <a:r>
              <a:rPr sz="1300" spc="-133" dirty="0">
                <a:solidFill>
                  <a:srgbClr val="333333"/>
                </a:solidFill>
                <a:latin typeface="Arial Black"/>
                <a:cs typeface="Arial Black"/>
              </a:rPr>
              <a:t>bloque </a:t>
            </a:r>
            <a:r>
              <a:rPr sz="1300" spc="-152" dirty="0">
                <a:solidFill>
                  <a:srgbClr val="333333"/>
                </a:solidFill>
                <a:latin typeface="Arial Black"/>
                <a:cs typeface="Arial Black"/>
              </a:rPr>
              <a:t>de </a:t>
            </a:r>
            <a:r>
              <a:rPr sz="1300" spc="-147" dirty="0">
                <a:solidFill>
                  <a:srgbClr val="333333"/>
                </a:solidFill>
                <a:latin typeface="Arial Black"/>
                <a:cs typeface="Arial Black"/>
              </a:rPr>
              <a:t>código </a:t>
            </a:r>
            <a:r>
              <a:rPr sz="1300" spc="-160" dirty="0">
                <a:solidFill>
                  <a:srgbClr val="333333"/>
                </a:solidFill>
                <a:latin typeface="Arial Black"/>
                <a:cs typeface="Arial Black"/>
              </a:rPr>
              <a:t>iniciado </a:t>
            </a:r>
            <a:r>
              <a:rPr sz="1300" spc="-120" dirty="0">
                <a:solidFill>
                  <a:srgbClr val="333333"/>
                </a:solidFill>
                <a:latin typeface="Arial Black"/>
                <a:cs typeface="Arial Black"/>
              </a:rPr>
              <a:t>por </a:t>
            </a:r>
            <a:r>
              <a:rPr sz="1300" spc="-7" dirty="0">
                <a:solidFill>
                  <a:srgbClr val="E83D8B"/>
                </a:solidFill>
                <a:latin typeface="Carlito"/>
                <a:cs typeface="Carlito"/>
              </a:rPr>
              <a:t>Meteor.isServer</a:t>
            </a:r>
            <a:r>
              <a:rPr sz="1300" spc="40" dirty="0">
                <a:solidFill>
                  <a:srgbClr val="E83D8B"/>
                </a:solidFill>
                <a:latin typeface="Carlito"/>
                <a:cs typeface="Carlito"/>
              </a:rPr>
              <a:t> </a:t>
            </a:r>
            <a:r>
              <a:rPr sz="1300" spc="-160" dirty="0">
                <a:solidFill>
                  <a:srgbClr val="333333"/>
                </a:solidFill>
                <a:latin typeface="Arial Black"/>
                <a:cs typeface="Arial Black"/>
              </a:rPr>
              <a:t>.</a:t>
            </a:r>
            <a:endParaRPr sz="1300" dirty="0">
              <a:latin typeface="Arial Black"/>
              <a:cs typeface="Arial Black"/>
            </a:endParaRPr>
          </a:p>
          <a:p>
            <a:pPr>
              <a:spcBef>
                <a:spcPts val="33"/>
              </a:spcBef>
              <a:buClr>
                <a:srgbClr val="181818"/>
              </a:buClr>
              <a:buFont typeface="Arial Black"/>
              <a:buChar char="•"/>
            </a:pPr>
            <a:endParaRPr sz="1100" dirty="0">
              <a:latin typeface="Arial Black"/>
              <a:cs typeface="Arial Black"/>
            </a:endParaRPr>
          </a:p>
          <a:p>
            <a:pPr marL="190495" indent="-70272">
              <a:buSzPct val="90000"/>
              <a:buFont typeface="Arial Black"/>
              <a:buChar char="•"/>
              <a:tabLst>
                <a:tab pos="191342" algn="l"/>
              </a:tabLst>
            </a:pPr>
            <a:r>
              <a:rPr sz="1300" b="1" spc="-20" dirty="0">
                <a:solidFill>
                  <a:srgbClr val="181818"/>
                </a:solidFill>
                <a:latin typeface="Trebuchet MS"/>
                <a:cs typeface="Trebuchet MS"/>
              </a:rPr>
              <a:t>public: </a:t>
            </a:r>
            <a:r>
              <a:rPr sz="1300" spc="-160" dirty="0">
                <a:solidFill>
                  <a:srgbClr val="333333"/>
                </a:solidFill>
                <a:latin typeface="Arial Black"/>
                <a:cs typeface="Arial Black"/>
              </a:rPr>
              <a:t>Albergará </a:t>
            </a:r>
            <a:r>
              <a:rPr sz="1300" spc="-167" dirty="0">
                <a:solidFill>
                  <a:srgbClr val="333333"/>
                </a:solidFill>
                <a:latin typeface="Arial Black"/>
                <a:cs typeface="Arial Black"/>
              </a:rPr>
              <a:t>los </a:t>
            </a:r>
            <a:r>
              <a:rPr sz="1300" spc="-173" dirty="0">
                <a:solidFill>
                  <a:srgbClr val="333333"/>
                </a:solidFill>
                <a:latin typeface="Arial Black"/>
                <a:cs typeface="Arial Black"/>
              </a:rPr>
              <a:t>componentes </a:t>
            </a:r>
            <a:r>
              <a:rPr sz="1300" spc="-200" dirty="0">
                <a:solidFill>
                  <a:srgbClr val="333333"/>
                </a:solidFill>
                <a:latin typeface="Arial Black"/>
                <a:cs typeface="Arial Black"/>
              </a:rPr>
              <a:t>estáticos </a:t>
            </a:r>
            <a:r>
              <a:rPr sz="1300" spc="-173" dirty="0">
                <a:solidFill>
                  <a:srgbClr val="333333"/>
                </a:solidFill>
                <a:latin typeface="Arial Black"/>
                <a:cs typeface="Arial Black"/>
              </a:rPr>
              <a:t>y</a:t>
            </a:r>
            <a:r>
              <a:rPr sz="1300" spc="-93" dirty="0">
                <a:solidFill>
                  <a:srgbClr val="333333"/>
                </a:solidFill>
                <a:latin typeface="Arial Black"/>
                <a:cs typeface="Arial Black"/>
              </a:rPr>
              <a:t> </a:t>
            </a:r>
            <a:r>
              <a:rPr sz="1300" spc="-193" dirty="0">
                <a:solidFill>
                  <a:srgbClr val="333333"/>
                </a:solidFill>
                <a:latin typeface="Arial Black"/>
                <a:cs typeface="Arial Black"/>
              </a:rPr>
              <a:t>comunes.</a:t>
            </a:r>
            <a:endParaRPr sz="1300" dirty="0">
              <a:latin typeface="Arial Black"/>
              <a:cs typeface="Arial Black"/>
            </a:endParaRPr>
          </a:p>
          <a:p>
            <a:pPr>
              <a:lnSpc>
                <a:spcPct val="100000"/>
              </a:lnSpc>
              <a:buClr>
                <a:srgbClr val="181818"/>
              </a:buClr>
              <a:buFont typeface="Arial Black"/>
              <a:buChar char="•"/>
            </a:pPr>
            <a:endParaRPr sz="1100" dirty="0">
              <a:latin typeface="Arial Black"/>
              <a:cs typeface="Arial Black"/>
            </a:endParaRPr>
          </a:p>
          <a:p>
            <a:pPr marL="121070" marR="231134">
              <a:buSzPct val="90000"/>
              <a:buFont typeface="Arial Black"/>
              <a:buChar char="•"/>
              <a:tabLst>
                <a:tab pos="191342" algn="l"/>
              </a:tabLst>
            </a:pPr>
            <a:r>
              <a:rPr sz="1300" b="1" spc="-27" dirty="0">
                <a:solidFill>
                  <a:srgbClr val="181818"/>
                </a:solidFill>
                <a:latin typeface="Trebuchet MS"/>
                <a:cs typeface="Trebuchet MS"/>
              </a:rPr>
              <a:t>private: </a:t>
            </a:r>
            <a:r>
              <a:rPr sz="1300" spc="-160" dirty="0">
                <a:solidFill>
                  <a:srgbClr val="333333"/>
                </a:solidFill>
                <a:latin typeface="Arial Black"/>
                <a:cs typeface="Arial Black"/>
              </a:rPr>
              <a:t>Contendrá </a:t>
            </a:r>
            <a:r>
              <a:rPr sz="1300" spc="-167" dirty="0">
                <a:solidFill>
                  <a:srgbClr val="333333"/>
                </a:solidFill>
                <a:latin typeface="Arial Black"/>
                <a:cs typeface="Arial Black"/>
              </a:rPr>
              <a:t>los </a:t>
            </a:r>
            <a:r>
              <a:rPr sz="1300" spc="-173" dirty="0">
                <a:solidFill>
                  <a:srgbClr val="333333"/>
                </a:solidFill>
                <a:latin typeface="Arial Black"/>
                <a:cs typeface="Arial Black"/>
              </a:rPr>
              <a:t>componentes </a:t>
            </a:r>
            <a:r>
              <a:rPr sz="1300" spc="-113" dirty="0">
                <a:solidFill>
                  <a:srgbClr val="333333"/>
                </a:solidFill>
                <a:latin typeface="Arial Black"/>
                <a:cs typeface="Arial Black"/>
              </a:rPr>
              <a:t>o </a:t>
            </a:r>
            <a:r>
              <a:rPr sz="1300" spc="-167" dirty="0">
                <a:solidFill>
                  <a:srgbClr val="333333"/>
                </a:solidFill>
                <a:latin typeface="Arial Black"/>
                <a:cs typeface="Arial Black"/>
              </a:rPr>
              <a:t>datos </a:t>
            </a:r>
            <a:r>
              <a:rPr sz="1300" spc="-180" dirty="0">
                <a:solidFill>
                  <a:srgbClr val="333333"/>
                </a:solidFill>
                <a:latin typeface="Arial Black"/>
                <a:cs typeface="Arial Black"/>
              </a:rPr>
              <a:t>únicamente </a:t>
            </a:r>
            <a:r>
              <a:rPr sz="1300" spc="-140" dirty="0">
                <a:solidFill>
                  <a:srgbClr val="333333"/>
                </a:solidFill>
                <a:latin typeface="Arial Black"/>
                <a:cs typeface="Arial Black"/>
              </a:rPr>
              <a:t>disponible  </a:t>
            </a:r>
            <a:r>
              <a:rPr sz="1300" spc="-167" dirty="0">
                <a:solidFill>
                  <a:srgbClr val="333333"/>
                </a:solidFill>
                <a:latin typeface="Arial Black"/>
                <a:cs typeface="Arial Black"/>
              </a:rPr>
              <a:t>para el </a:t>
            </a:r>
            <a:r>
              <a:rPr sz="1300" spc="-147" dirty="0">
                <a:solidFill>
                  <a:srgbClr val="333333"/>
                </a:solidFill>
                <a:latin typeface="Arial Black"/>
                <a:cs typeface="Arial Black"/>
              </a:rPr>
              <a:t>lado del</a:t>
            </a:r>
            <a:r>
              <a:rPr sz="1300" spc="-100" dirty="0">
                <a:solidFill>
                  <a:srgbClr val="333333"/>
                </a:solidFill>
                <a:latin typeface="Arial Black"/>
                <a:cs typeface="Arial Black"/>
              </a:rPr>
              <a:t> </a:t>
            </a:r>
            <a:r>
              <a:rPr sz="1300" spc="-160" dirty="0">
                <a:solidFill>
                  <a:srgbClr val="333333"/>
                </a:solidFill>
                <a:latin typeface="Arial Black"/>
                <a:cs typeface="Arial Black"/>
              </a:rPr>
              <a:t>servidor.</a:t>
            </a:r>
            <a:endParaRPr sz="1300" dirty="0">
              <a:latin typeface="Arial Black"/>
              <a:cs typeface="Arial Black"/>
            </a:endParaRPr>
          </a:p>
          <a:p>
            <a:pPr>
              <a:spcBef>
                <a:spcPts val="7"/>
              </a:spcBef>
              <a:buClr>
                <a:srgbClr val="181818"/>
              </a:buClr>
              <a:buFont typeface="Arial Black"/>
              <a:buChar char="•"/>
            </a:pPr>
            <a:endParaRPr sz="1100" dirty="0">
              <a:latin typeface="Arial Black"/>
              <a:cs typeface="Arial Black"/>
            </a:endParaRPr>
          </a:p>
          <a:p>
            <a:pPr marL="190495" indent="-70272">
              <a:buSzPct val="90000"/>
              <a:buFont typeface="Arial Black"/>
              <a:buChar char="•"/>
              <a:tabLst>
                <a:tab pos="191342" algn="l"/>
              </a:tabLst>
            </a:pPr>
            <a:r>
              <a:rPr sz="1300" b="1" spc="-33" dirty="0">
                <a:solidFill>
                  <a:srgbClr val="181818"/>
                </a:solidFill>
                <a:latin typeface="Trebuchet MS"/>
                <a:cs typeface="Trebuchet MS"/>
              </a:rPr>
              <a:t>tests: </a:t>
            </a:r>
            <a:r>
              <a:rPr sz="1300" spc="-140" dirty="0">
                <a:solidFill>
                  <a:srgbClr val="333333"/>
                </a:solidFill>
                <a:latin typeface="Arial Black"/>
                <a:cs typeface="Arial Black"/>
              </a:rPr>
              <a:t>Aquí </a:t>
            </a:r>
            <a:r>
              <a:rPr sz="1300" spc="-152" dirty="0">
                <a:solidFill>
                  <a:srgbClr val="333333"/>
                </a:solidFill>
                <a:latin typeface="Arial Black"/>
                <a:cs typeface="Arial Black"/>
              </a:rPr>
              <a:t>podremos </a:t>
            </a:r>
            <a:r>
              <a:rPr sz="1300" spc="-160" dirty="0">
                <a:solidFill>
                  <a:srgbClr val="333333"/>
                </a:solidFill>
                <a:latin typeface="Arial Black"/>
                <a:cs typeface="Arial Black"/>
              </a:rPr>
              <a:t>incluir </a:t>
            </a:r>
            <a:r>
              <a:rPr sz="1300" spc="-152" dirty="0">
                <a:solidFill>
                  <a:srgbClr val="333333"/>
                </a:solidFill>
                <a:latin typeface="Arial Black"/>
                <a:cs typeface="Arial Black"/>
              </a:rPr>
              <a:t>bloques de </a:t>
            </a:r>
            <a:r>
              <a:rPr sz="1300" spc="-147" dirty="0">
                <a:solidFill>
                  <a:srgbClr val="333333"/>
                </a:solidFill>
                <a:latin typeface="Arial Black"/>
                <a:cs typeface="Arial Black"/>
              </a:rPr>
              <a:t>código que </a:t>
            </a:r>
            <a:r>
              <a:rPr sz="1300" spc="-167" dirty="0">
                <a:solidFill>
                  <a:srgbClr val="333333"/>
                </a:solidFill>
                <a:latin typeface="Arial Black"/>
                <a:cs typeface="Arial Black"/>
              </a:rPr>
              <a:t>aún</a:t>
            </a:r>
            <a:r>
              <a:rPr sz="1300" spc="-120" dirty="0">
                <a:solidFill>
                  <a:srgbClr val="333333"/>
                </a:solidFill>
                <a:latin typeface="Arial Black"/>
                <a:cs typeface="Arial Black"/>
              </a:rPr>
              <a:t> </a:t>
            </a:r>
            <a:r>
              <a:rPr sz="1300" spc="-127" dirty="0">
                <a:solidFill>
                  <a:srgbClr val="333333"/>
                </a:solidFill>
                <a:latin typeface="Arial Black"/>
                <a:cs typeface="Arial Black"/>
              </a:rPr>
              <a:t>no</a:t>
            </a:r>
            <a:endParaRPr sz="1300" dirty="0">
              <a:latin typeface="Arial Black"/>
              <a:cs typeface="Arial Black"/>
            </a:endParaRPr>
          </a:p>
          <a:p>
            <a:pPr marL="121070"/>
            <a:r>
              <a:rPr sz="1300" spc="-173" dirty="0">
                <a:solidFill>
                  <a:srgbClr val="333333"/>
                </a:solidFill>
                <a:latin typeface="Arial Black"/>
                <a:cs typeface="Arial Black"/>
              </a:rPr>
              <a:t>queramos </a:t>
            </a:r>
            <a:r>
              <a:rPr sz="1300" spc="-167" dirty="0">
                <a:solidFill>
                  <a:srgbClr val="333333"/>
                </a:solidFill>
                <a:latin typeface="Arial Black"/>
                <a:cs typeface="Arial Black"/>
              </a:rPr>
              <a:t>implementar </a:t>
            </a:r>
            <a:r>
              <a:rPr sz="1300" spc="-173" dirty="0">
                <a:solidFill>
                  <a:srgbClr val="333333"/>
                </a:solidFill>
                <a:latin typeface="Arial Black"/>
                <a:cs typeface="Arial Black"/>
              </a:rPr>
              <a:t>en </a:t>
            </a:r>
            <a:r>
              <a:rPr sz="1300" spc="-160" dirty="0">
                <a:solidFill>
                  <a:srgbClr val="333333"/>
                </a:solidFill>
                <a:latin typeface="Arial Black"/>
                <a:cs typeface="Arial Black"/>
              </a:rPr>
              <a:t>producción, </a:t>
            </a:r>
            <a:r>
              <a:rPr sz="1300" spc="-167" dirty="0">
                <a:solidFill>
                  <a:srgbClr val="333333"/>
                </a:solidFill>
                <a:latin typeface="Arial Black"/>
                <a:cs typeface="Arial Black"/>
              </a:rPr>
              <a:t>el </a:t>
            </a:r>
            <a:r>
              <a:rPr sz="1300" spc="-147" dirty="0">
                <a:solidFill>
                  <a:srgbClr val="333333"/>
                </a:solidFill>
                <a:latin typeface="Arial Black"/>
                <a:cs typeface="Arial Black"/>
              </a:rPr>
              <a:t>código </a:t>
            </a:r>
            <a:r>
              <a:rPr sz="1300" spc="-160" dirty="0">
                <a:solidFill>
                  <a:srgbClr val="333333"/>
                </a:solidFill>
                <a:latin typeface="Arial Black"/>
                <a:cs typeface="Arial Black"/>
              </a:rPr>
              <a:t>“de </a:t>
            </a:r>
            <a:r>
              <a:rPr sz="1300" spc="-167" dirty="0">
                <a:solidFill>
                  <a:srgbClr val="333333"/>
                </a:solidFill>
                <a:latin typeface="Arial Black"/>
                <a:cs typeface="Arial Black"/>
              </a:rPr>
              <a:t>pruebas”</a:t>
            </a:r>
            <a:r>
              <a:rPr sz="1300" spc="-152" dirty="0">
                <a:solidFill>
                  <a:srgbClr val="333333"/>
                </a:solidFill>
                <a:latin typeface="Arial Black"/>
                <a:cs typeface="Arial Black"/>
              </a:rPr>
              <a:t> </a:t>
            </a:r>
            <a:r>
              <a:rPr sz="1300" spc="-120" dirty="0">
                <a:solidFill>
                  <a:srgbClr val="333333"/>
                </a:solidFill>
                <a:latin typeface="Arial Black"/>
                <a:cs typeface="Arial Black"/>
              </a:rPr>
              <a:t>por</a:t>
            </a:r>
            <a:endParaRPr sz="1300" dirty="0">
              <a:latin typeface="Arial Black"/>
              <a:cs typeface="Arial Black"/>
            </a:endParaRPr>
          </a:p>
          <a:p>
            <a:pPr marL="121070"/>
            <a:r>
              <a:rPr sz="1300" spc="-160" dirty="0">
                <a:solidFill>
                  <a:srgbClr val="333333"/>
                </a:solidFill>
                <a:latin typeface="Arial Black"/>
                <a:cs typeface="Arial Black"/>
              </a:rPr>
              <a:t>decirlo </a:t>
            </a:r>
            <a:r>
              <a:rPr sz="1300" spc="-152" dirty="0">
                <a:solidFill>
                  <a:srgbClr val="333333"/>
                </a:solidFill>
                <a:latin typeface="Arial Black"/>
                <a:cs typeface="Arial Black"/>
              </a:rPr>
              <a:t>de </a:t>
            </a:r>
            <a:r>
              <a:rPr sz="1300" spc="-160" dirty="0">
                <a:solidFill>
                  <a:srgbClr val="333333"/>
                </a:solidFill>
                <a:latin typeface="Arial Black"/>
                <a:cs typeface="Arial Black"/>
              </a:rPr>
              <a:t>alguna</a:t>
            </a:r>
            <a:r>
              <a:rPr sz="1300" spc="-193" dirty="0">
                <a:solidFill>
                  <a:srgbClr val="333333"/>
                </a:solidFill>
                <a:latin typeface="Arial Black"/>
                <a:cs typeface="Arial Black"/>
              </a:rPr>
              <a:t> </a:t>
            </a:r>
            <a:r>
              <a:rPr sz="1300" spc="-152" dirty="0">
                <a:solidFill>
                  <a:srgbClr val="333333"/>
                </a:solidFill>
                <a:latin typeface="Arial Black"/>
                <a:cs typeface="Arial Black"/>
              </a:rPr>
              <a:t>forma.</a:t>
            </a:r>
            <a:endParaRPr sz="1300" dirty="0">
              <a:latin typeface="Arial Black"/>
              <a:cs typeface="Arial Black"/>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5765" y="604520"/>
            <a:ext cx="9595803" cy="694207"/>
          </a:xfrm>
          <a:prstGeom prst="rect">
            <a:avLst/>
          </a:prstGeom>
        </p:spPr>
        <p:txBody>
          <a:bodyPr vert="horz" wrap="square" lIns="0" tIns="16933" rIns="0" bIns="0" rtlCol="0">
            <a:spAutoFit/>
          </a:bodyPr>
          <a:lstStyle/>
          <a:p>
            <a:pPr marL="16933">
              <a:lnSpc>
                <a:spcPct val="100000"/>
              </a:lnSpc>
              <a:spcBef>
                <a:spcPts val="133"/>
              </a:spcBef>
            </a:pPr>
            <a:r>
              <a:rPr spc="733" dirty="0"/>
              <a:t>modelo-vista-controlador</a:t>
            </a:r>
          </a:p>
        </p:txBody>
      </p:sp>
      <p:sp>
        <p:nvSpPr>
          <p:cNvPr id="3" name="object 3"/>
          <p:cNvSpPr txBox="1"/>
          <p:nvPr/>
        </p:nvSpPr>
        <p:spPr>
          <a:xfrm>
            <a:off x="1683511" y="1940728"/>
            <a:ext cx="4101253" cy="3218830"/>
          </a:xfrm>
          <a:prstGeom prst="rect">
            <a:avLst/>
          </a:prstGeom>
        </p:spPr>
        <p:txBody>
          <a:bodyPr vert="horz" wrap="square" lIns="0" tIns="17780" rIns="0" bIns="0" rtlCol="0">
            <a:spAutoFit/>
          </a:bodyPr>
          <a:lstStyle/>
          <a:p>
            <a:pPr marR="133770" algn="ctr">
              <a:spcBef>
                <a:spcPts val="140"/>
              </a:spcBef>
            </a:pPr>
            <a:r>
              <a:rPr sz="2700" b="1" spc="-220" dirty="0">
                <a:solidFill>
                  <a:srgbClr val="FFFFFF"/>
                </a:solidFill>
                <a:latin typeface="Trebuchet MS"/>
                <a:cs typeface="Trebuchet MS"/>
              </a:rPr>
              <a:t>Django</a:t>
            </a:r>
            <a:endParaRPr sz="2700" dirty="0">
              <a:latin typeface="Trebuchet MS"/>
              <a:cs typeface="Trebuchet MS"/>
            </a:endParaRPr>
          </a:p>
          <a:p>
            <a:pPr>
              <a:spcBef>
                <a:spcPts val="53"/>
              </a:spcBef>
            </a:pPr>
            <a:endParaRPr sz="3300" dirty="0">
              <a:latin typeface="Trebuchet MS"/>
              <a:cs typeface="Trebuchet MS"/>
            </a:endParaRPr>
          </a:p>
          <a:p>
            <a:pPr marL="457189" marR="6773" indent="-441102" algn="just">
              <a:buFont typeface="Times New Roman"/>
              <a:buChar char="●"/>
              <a:tabLst>
                <a:tab pos="458035" algn="l"/>
              </a:tabLst>
            </a:pPr>
            <a:r>
              <a:rPr sz="2100" spc="-160" dirty="0">
                <a:solidFill>
                  <a:srgbClr val="FFFFFF"/>
                </a:solidFill>
                <a:latin typeface="Trebuchet MS"/>
                <a:cs typeface="Trebuchet MS"/>
              </a:rPr>
              <a:t>Django </a:t>
            </a:r>
            <a:r>
              <a:rPr sz="2100" spc="-180" dirty="0">
                <a:solidFill>
                  <a:srgbClr val="FFFFFF"/>
                </a:solidFill>
                <a:latin typeface="Trebuchet MS"/>
                <a:cs typeface="Trebuchet MS"/>
              </a:rPr>
              <a:t>redefine </a:t>
            </a:r>
            <a:r>
              <a:rPr sz="2100" spc="-193" dirty="0">
                <a:solidFill>
                  <a:srgbClr val="FFFFFF"/>
                </a:solidFill>
                <a:latin typeface="Trebuchet MS"/>
                <a:cs typeface="Trebuchet MS"/>
              </a:rPr>
              <a:t>este </a:t>
            </a:r>
            <a:r>
              <a:rPr sz="2100" spc="-173" dirty="0">
                <a:solidFill>
                  <a:srgbClr val="FFFFFF"/>
                </a:solidFill>
                <a:latin typeface="Trebuchet MS"/>
                <a:cs typeface="Trebuchet MS"/>
              </a:rPr>
              <a:t>modelo como  </a:t>
            </a:r>
            <a:r>
              <a:rPr sz="2100" spc="-247" dirty="0">
                <a:solidFill>
                  <a:srgbClr val="FFFFFF"/>
                </a:solidFill>
                <a:latin typeface="Trebuchet MS"/>
                <a:cs typeface="Trebuchet MS"/>
              </a:rPr>
              <a:t>MVT:</a:t>
            </a:r>
            <a:r>
              <a:rPr sz="2100" spc="-47" dirty="0">
                <a:solidFill>
                  <a:srgbClr val="FFFFFF"/>
                </a:solidFill>
                <a:latin typeface="Trebuchet MS"/>
                <a:cs typeface="Trebuchet MS"/>
              </a:rPr>
              <a:t> </a:t>
            </a:r>
            <a:r>
              <a:rPr sz="2100" spc="-167" dirty="0">
                <a:solidFill>
                  <a:srgbClr val="FFFFFF"/>
                </a:solidFill>
                <a:latin typeface="Trebuchet MS"/>
                <a:cs typeface="Trebuchet MS"/>
              </a:rPr>
              <a:t>Modelo-Vista-Template.</a:t>
            </a:r>
            <a:endParaRPr sz="2100" dirty="0">
              <a:latin typeface="Trebuchet MS"/>
              <a:cs typeface="Trebuchet MS"/>
            </a:endParaRPr>
          </a:p>
          <a:p>
            <a:pPr>
              <a:spcBef>
                <a:spcPts val="7"/>
              </a:spcBef>
              <a:buClr>
                <a:srgbClr val="FFFFFF"/>
              </a:buClr>
              <a:buFont typeface="Times New Roman"/>
              <a:buChar char="●"/>
            </a:pPr>
            <a:endParaRPr sz="2200" dirty="0">
              <a:latin typeface="Trebuchet MS"/>
              <a:cs typeface="Trebuchet MS"/>
            </a:endParaRPr>
          </a:p>
          <a:p>
            <a:pPr marL="457189" marR="52492" indent="-441102" algn="just">
              <a:buFont typeface="Times New Roman"/>
              <a:buChar char="●"/>
              <a:tabLst>
                <a:tab pos="458035" algn="l"/>
              </a:tabLst>
            </a:pPr>
            <a:r>
              <a:rPr sz="2100" spc="-167" dirty="0">
                <a:solidFill>
                  <a:srgbClr val="FFFFFF"/>
                </a:solidFill>
                <a:latin typeface="Trebuchet MS"/>
                <a:cs typeface="Trebuchet MS"/>
              </a:rPr>
              <a:t>El </a:t>
            </a:r>
            <a:r>
              <a:rPr sz="2100" spc="-180" dirty="0">
                <a:solidFill>
                  <a:srgbClr val="FFFFFF"/>
                </a:solidFill>
                <a:latin typeface="Trebuchet MS"/>
                <a:cs typeface="Trebuchet MS"/>
              </a:rPr>
              <a:t>control </a:t>
            </a:r>
            <a:r>
              <a:rPr sz="2100" spc="-152" dirty="0">
                <a:solidFill>
                  <a:srgbClr val="FFFFFF"/>
                </a:solidFill>
                <a:latin typeface="Trebuchet MS"/>
                <a:cs typeface="Trebuchet MS"/>
              </a:rPr>
              <a:t>lo </a:t>
            </a:r>
            <a:r>
              <a:rPr sz="2100" spc="-207" dirty="0">
                <a:solidFill>
                  <a:srgbClr val="FFFFFF"/>
                </a:solidFill>
                <a:latin typeface="Trebuchet MS"/>
                <a:cs typeface="Trebuchet MS"/>
              </a:rPr>
              <a:t>maneja </a:t>
            </a:r>
            <a:r>
              <a:rPr sz="2100" spc="-213" dirty="0">
                <a:solidFill>
                  <a:srgbClr val="FFFFFF"/>
                </a:solidFill>
                <a:latin typeface="Trebuchet MS"/>
                <a:cs typeface="Trebuchet MS"/>
              </a:rPr>
              <a:t>el </a:t>
            </a:r>
            <a:r>
              <a:rPr sz="2100" spc="-187" dirty="0">
                <a:solidFill>
                  <a:srgbClr val="FFFFFF"/>
                </a:solidFill>
                <a:latin typeface="Trebuchet MS"/>
                <a:cs typeface="Trebuchet MS"/>
              </a:rPr>
              <a:t>framework,  </a:t>
            </a:r>
            <a:r>
              <a:rPr sz="2100" spc="-120" dirty="0">
                <a:solidFill>
                  <a:srgbClr val="FFFFFF"/>
                </a:solidFill>
                <a:latin typeface="Trebuchet MS"/>
                <a:cs typeface="Trebuchet MS"/>
              </a:rPr>
              <a:t>no </a:t>
            </a:r>
            <a:r>
              <a:rPr sz="2100" spc="-100" dirty="0">
                <a:solidFill>
                  <a:srgbClr val="FFFFFF"/>
                </a:solidFill>
                <a:latin typeface="Trebuchet MS"/>
                <a:cs typeface="Trebuchet MS"/>
              </a:rPr>
              <a:t>hay </a:t>
            </a:r>
            <a:r>
              <a:rPr sz="2100" spc="-160" dirty="0">
                <a:solidFill>
                  <a:srgbClr val="FFFFFF"/>
                </a:solidFill>
                <a:latin typeface="Trebuchet MS"/>
                <a:cs typeface="Trebuchet MS"/>
              </a:rPr>
              <a:t>un </a:t>
            </a:r>
            <a:r>
              <a:rPr sz="2100" spc="-167" dirty="0">
                <a:solidFill>
                  <a:srgbClr val="FFFFFF"/>
                </a:solidFill>
                <a:latin typeface="Trebuchet MS"/>
                <a:cs typeface="Trebuchet MS"/>
              </a:rPr>
              <a:t>controlador </a:t>
            </a:r>
            <a:r>
              <a:rPr sz="2100" spc="-133" dirty="0">
                <a:solidFill>
                  <a:srgbClr val="FFFFFF"/>
                </a:solidFill>
                <a:latin typeface="Trebuchet MS"/>
                <a:cs typeface="Trebuchet MS"/>
              </a:rPr>
              <a:t>separado </a:t>
            </a:r>
            <a:r>
              <a:rPr sz="2100" spc="-33" dirty="0">
                <a:solidFill>
                  <a:srgbClr val="FFFFFF"/>
                </a:solidFill>
                <a:latin typeface="Trebuchet MS"/>
                <a:cs typeface="Trebuchet MS"/>
              </a:rPr>
              <a:t>y  </a:t>
            </a:r>
            <a:r>
              <a:rPr sz="2100" spc="-167" dirty="0">
                <a:solidFill>
                  <a:srgbClr val="FFFFFF"/>
                </a:solidFill>
                <a:latin typeface="Trebuchet MS"/>
                <a:cs typeface="Trebuchet MS"/>
              </a:rPr>
              <a:t>la </a:t>
            </a:r>
            <a:r>
              <a:rPr sz="2100" spc="-160" dirty="0">
                <a:solidFill>
                  <a:srgbClr val="FFFFFF"/>
                </a:solidFill>
                <a:latin typeface="Trebuchet MS"/>
                <a:cs typeface="Trebuchet MS"/>
              </a:rPr>
              <a:t>aplicación </a:t>
            </a:r>
            <a:r>
              <a:rPr sz="2100" spc="-207" dirty="0">
                <a:solidFill>
                  <a:srgbClr val="FFFFFF"/>
                </a:solidFill>
                <a:latin typeface="Trebuchet MS"/>
                <a:cs typeface="Trebuchet MS"/>
              </a:rPr>
              <a:t>completa </a:t>
            </a:r>
            <a:r>
              <a:rPr sz="2100" spc="-93" dirty="0">
                <a:solidFill>
                  <a:srgbClr val="FFFFFF"/>
                </a:solidFill>
                <a:latin typeface="Trebuchet MS"/>
                <a:cs typeface="Trebuchet MS"/>
              </a:rPr>
              <a:t>se </a:t>
            </a:r>
            <a:r>
              <a:rPr sz="2100" spc="-107" dirty="0">
                <a:solidFill>
                  <a:srgbClr val="FFFFFF"/>
                </a:solidFill>
                <a:latin typeface="Trebuchet MS"/>
                <a:cs typeface="Trebuchet MS"/>
              </a:rPr>
              <a:t>basa </a:t>
            </a:r>
            <a:r>
              <a:rPr sz="2100" spc="-173" dirty="0">
                <a:solidFill>
                  <a:srgbClr val="FFFFFF"/>
                </a:solidFill>
                <a:latin typeface="Trebuchet MS"/>
                <a:cs typeface="Trebuchet MS"/>
              </a:rPr>
              <a:t>en  </a:t>
            </a:r>
            <a:r>
              <a:rPr sz="2100" spc="-167" dirty="0">
                <a:solidFill>
                  <a:srgbClr val="FFFFFF"/>
                </a:solidFill>
                <a:latin typeface="Trebuchet MS"/>
                <a:cs typeface="Trebuchet MS"/>
              </a:rPr>
              <a:t>la </a:t>
            </a:r>
            <a:r>
              <a:rPr sz="2100" spc="-147" dirty="0">
                <a:solidFill>
                  <a:srgbClr val="FFFFFF"/>
                </a:solidFill>
                <a:latin typeface="Trebuchet MS"/>
                <a:cs typeface="Trebuchet MS"/>
              </a:rPr>
              <a:t>vista </a:t>
            </a:r>
            <a:r>
              <a:rPr sz="2100" spc="-200" dirty="0">
                <a:solidFill>
                  <a:srgbClr val="FFFFFF"/>
                </a:solidFill>
                <a:latin typeface="Trebuchet MS"/>
                <a:cs typeface="Trebuchet MS"/>
              </a:rPr>
              <a:t>del </a:t>
            </a:r>
            <a:r>
              <a:rPr sz="2100" spc="-173" dirty="0">
                <a:solidFill>
                  <a:srgbClr val="FFFFFF"/>
                </a:solidFill>
                <a:latin typeface="Trebuchet MS"/>
                <a:cs typeface="Trebuchet MS"/>
              </a:rPr>
              <a:t>modelo </a:t>
            </a:r>
            <a:r>
              <a:rPr sz="2100" spc="-33" dirty="0">
                <a:solidFill>
                  <a:srgbClr val="FFFFFF"/>
                </a:solidFill>
                <a:latin typeface="Trebuchet MS"/>
                <a:cs typeface="Trebuchet MS"/>
              </a:rPr>
              <a:t>y </a:t>
            </a:r>
            <a:r>
              <a:rPr sz="2100" spc="-160" dirty="0">
                <a:solidFill>
                  <a:srgbClr val="FFFFFF"/>
                </a:solidFill>
                <a:latin typeface="Trebuchet MS"/>
                <a:cs typeface="Trebuchet MS"/>
              </a:rPr>
              <a:t>la</a:t>
            </a:r>
            <a:r>
              <a:rPr sz="2100" spc="20" dirty="0">
                <a:solidFill>
                  <a:srgbClr val="FFFFFF"/>
                </a:solidFill>
                <a:latin typeface="Trebuchet MS"/>
                <a:cs typeface="Trebuchet MS"/>
              </a:rPr>
              <a:t> </a:t>
            </a:r>
            <a:r>
              <a:rPr sz="2100" spc="-207" dirty="0">
                <a:solidFill>
                  <a:srgbClr val="FFFFFF"/>
                </a:solidFill>
                <a:latin typeface="Trebuchet MS"/>
                <a:cs typeface="Trebuchet MS"/>
              </a:rPr>
              <a:t>plantilla,</a:t>
            </a:r>
            <a:endParaRPr sz="2100" dirty="0">
              <a:latin typeface="Trebuchet MS"/>
              <a:cs typeface="Trebuchet MS"/>
            </a:endParaRPr>
          </a:p>
        </p:txBody>
      </p:sp>
      <p:sp>
        <p:nvSpPr>
          <p:cNvPr id="4" name="object 4"/>
          <p:cNvSpPr txBox="1"/>
          <p:nvPr/>
        </p:nvSpPr>
        <p:spPr>
          <a:xfrm>
            <a:off x="6849533" y="1940728"/>
            <a:ext cx="4290907" cy="2895664"/>
          </a:xfrm>
          <a:prstGeom prst="rect">
            <a:avLst/>
          </a:prstGeom>
        </p:spPr>
        <p:txBody>
          <a:bodyPr vert="horz" wrap="square" lIns="0" tIns="17780" rIns="0" bIns="0" rtlCol="0">
            <a:spAutoFit/>
          </a:bodyPr>
          <a:lstStyle/>
          <a:p>
            <a:pPr marL="1372412">
              <a:spcBef>
                <a:spcPts val="140"/>
              </a:spcBef>
            </a:pPr>
            <a:r>
              <a:rPr sz="2700" b="1" spc="-260" dirty="0">
                <a:solidFill>
                  <a:srgbClr val="FFFFFF"/>
                </a:solidFill>
                <a:latin typeface="Trebuchet MS"/>
                <a:cs typeface="Trebuchet MS"/>
              </a:rPr>
              <a:t>Meteor</a:t>
            </a:r>
            <a:endParaRPr sz="2700" dirty="0">
              <a:latin typeface="Trebuchet MS"/>
              <a:cs typeface="Trebuchet MS"/>
            </a:endParaRPr>
          </a:p>
          <a:p>
            <a:pPr>
              <a:spcBef>
                <a:spcPts val="53"/>
              </a:spcBef>
            </a:pPr>
            <a:endParaRPr sz="3300" dirty="0">
              <a:latin typeface="Trebuchet MS"/>
              <a:cs typeface="Trebuchet MS"/>
            </a:endParaRPr>
          </a:p>
          <a:p>
            <a:pPr marL="457189" marR="585879" indent="-441102">
              <a:buFont typeface="Times New Roman"/>
              <a:buChar char="●"/>
              <a:tabLst>
                <a:tab pos="457189" algn="l"/>
                <a:tab pos="458035" algn="l"/>
              </a:tabLst>
            </a:pPr>
            <a:r>
              <a:rPr sz="2100" spc="-187" dirty="0">
                <a:solidFill>
                  <a:srgbClr val="FFFFFF"/>
                </a:solidFill>
                <a:latin typeface="Trebuchet MS"/>
                <a:cs typeface="Trebuchet MS"/>
              </a:rPr>
              <a:t>Meteor </a:t>
            </a:r>
            <a:r>
              <a:rPr sz="2100" spc="-167" dirty="0">
                <a:solidFill>
                  <a:srgbClr val="FFFFFF"/>
                </a:solidFill>
                <a:latin typeface="Trebuchet MS"/>
                <a:cs typeface="Trebuchet MS"/>
              </a:rPr>
              <a:t>utiliza </a:t>
            </a:r>
            <a:r>
              <a:rPr sz="2100" spc="-213" dirty="0">
                <a:solidFill>
                  <a:srgbClr val="FFFFFF"/>
                </a:solidFill>
                <a:latin typeface="Trebuchet MS"/>
                <a:cs typeface="Trebuchet MS"/>
              </a:rPr>
              <a:t>el </a:t>
            </a:r>
            <a:r>
              <a:rPr sz="2100" spc="-100" dirty="0">
                <a:solidFill>
                  <a:srgbClr val="FFFFFF"/>
                </a:solidFill>
                <a:latin typeface="Trebuchet MS"/>
                <a:cs typeface="Trebuchet MS"/>
              </a:rPr>
              <a:t>Modelo-Vista-  </a:t>
            </a:r>
            <a:r>
              <a:rPr sz="2100" spc="-173" dirty="0">
                <a:solidFill>
                  <a:srgbClr val="FFFFFF"/>
                </a:solidFill>
                <a:latin typeface="Trebuchet MS"/>
                <a:cs typeface="Trebuchet MS"/>
              </a:rPr>
              <a:t>Controlador</a:t>
            </a:r>
            <a:r>
              <a:rPr sz="2100" spc="7" dirty="0">
                <a:solidFill>
                  <a:srgbClr val="FFFFFF"/>
                </a:solidFill>
                <a:latin typeface="Trebuchet MS"/>
                <a:cs typeface="Trebuchet MS"/>
              </a:rPr>
              <a:t> </a:t>
            </a:r>
            <a:r>
              <a:rPr sz="2100" spc="-200" dirty="0">
                <a:solidFill>
                  <a:srgbClr val="FFFFFF"/>
                </a:solidFill>
                <a:latin typeface="Trebuchet MS"/>
                <a:cs typeface="Trebuchet MS"/>
              </a:rPr>
              <a:t>tradicional.</a:t>
            </a:r>
            <a:endParaRPr sz="2100" dirty="0">
              <a:latin typeface="Trebuchet MS"/>
              <a:cs typeface="Trebuchet MS"/>
            </a:endParaRPr>
          </a:p>
          <a:p>
            <a:pPr>
              <a:spcBef>
                <a:spcPts val="7"/>
              </a:spcBef>
              <a:buClr>
                <a:srgbClr val="FFFFFF"/>
              </a:buClr>
              <a:buFont typeface="Times New Roman"/>
              <a:buChar char="●"/>
            </a:pPr>
            <a:endParaRPr sz="2200" dirty="0">
              <a:latin typeface="Trebuchet MS"/>
              <a:cs typeface="Trebuchet MS"/>
            </a:endParaRPr>
          </a:p>
          <a:p>
            <a:pPr marL="457189" marR="6773" indent="-441102">
              <a:buFont typeface="Times New Roman"/>
              <a:buChar char="●"/>
              <a:tabLst>
                <a:tab pos="457189" algn="l"/>
                <a:tab pos="458035" algn="l"/>
              </a:tabLst>
            </a:pPr>
            <a:r>
              <a:rPr sz="2100" spc="-200" dirty="0">
                <a:solidFill>
                  <a:srgbClr val="FFFFFF"/>
                </a:solidFill>
                <a:latin typeface="Trebuchet MS"/>
                <a:cs typeface="Trebuchet MS"/>
              </a:rPr>
              <a:t>React </a:t>
            </a:r>
            <a:r>
              <a:rPr sz="2100" spc="-167" dirty="0">
                <a:solidFill>
                  <a:srgbClr val="FFFFFF"/>
                </a:solidFill>
                <a:latin typeface="Trebuchet MS"/>
                <a:cs typeface="Trebuchet MS"/>
              </a:rPr>
              <a:t>suele </a:t>
            </a:r>
            <a:r>
              <a:rPr sz="2100" spc="-107" dirty="0">
                <a:solidFill>
                  <a:srgbClr val="FFFFFF"/>
                </a:solidFill>
                <a:latin typeface="Trebuchet MS"/>
                <a:cs typeface="Trebuchet MS"/>
              </a:rPr>
              <a:t>ser </a:t>
            </a:r>
            <a:r>
              <a:rPr sz="2100" spc="-167" dirty="0">
                <a:solidFill>
                  <a:srgbClr val="FFFFFF"/>
                </a:solidFill>
                <a:latin typeface="Trebuchet MS"/>
                <a:cs typeface="Trebuchet MS"/>
              </a:rPr>
              <a:t>una </a:t>
            </a:r>
            <a:r>
              <a:rPr sz="2100" spc="-207" dirty="0">
                <a:solidFill>
                  <a:srgbClr val="FFFFFF"/>
                </a:solidFill>
                <a:latin typeface="Trebuchet MS"/>
                <a:cs typeface="Trebuchet MS"/>
              </a:rPr>
              <a:t>de </a:t>
            </a:r>
            <a:r>
              <a:rPr sz="2100" spc="-93" dirty="0">
                <a:solidFill>
                  <a:srgbClr val="FFFFFF"/>
                </a:solidFill>
                <a:latin typeface="Trebuchet MS"/>
                <a:cs typeface="Trebuchet MS"/>
              </a:rPr>
              <a:t>las </a:t>
            </a:r>
            <a:r>
              <a:rPr sz="2100" spc="-133" dirty="0">
                <a:solidFill>
                  <a:srgbClr val="FFFFFF"/>
                </a:solidFill>
                <a:latin typeface="Trebuchet MS"/>
                <a:cs typeface="Trebuchet MS"/>
              </a:rPr>
              <a:t>opciones  </a:t>
            </a:r>
            <a:r>
              <a:rPr sz="2100" spc="-73" dirty="0">
                <a:solidFill>
                  <a:srgbClr val="FFFFFF"/>
                </a:solidFill>
                <a:latin typeface="Trebuchet MS"/>
                <a:cs typeface="Trebuchet MS"/>
              </a:rPr>
              <a:t>más </a:t>
            </a:r>
            <a:r>
              <a:rPr sz="2100" spc="-147" dirty="0">
                <a:solidFill>
                  <a:srgbClr val="FFFFFF"/>
                </a:solidFill>
                <a:latin typeface="Trebuchet MS"/>
                <a:cs typeface="Trebuchet MS"/>
              </a:rPr>
              <a:t>utilizadas </a:t>
            </a:r>
            <a:r>
              <a:rPr sz="2100" spc="-173" dirty="0">
                <a:solidFill>
                  <a:srgbClr val="FFFFFF"/>
                </a:solidFill>
                <a:latin typeface="Trebuchet MS"/>
                <a:cs typeface="Trebuchet MS"/>
              </a:rPr>
              <a:t>en </a:t>
            </a:r>
            <a:r>
              <a:rPr sz="2100" spc="-167" dirty="0">
                <a:solidFill>
                  <a:srgbClr val="FFFFFF"/>
                </a:solidFill>
                <a:latin typeface="Trebuchet MS"/>
                <a:cs typeface="Trebuchet MS"/>
              </a:rPr>
              <a:t>la </a:t>
            </a:r>
            <a:r>
              <a:rPr sz="2100" spc="-187" dirty="0">
                <a:solidFill>
                  <a:srgbClr val="FFFFFF"/>
                </a:solidFill>
                <a:latin typeface="Trebuchet MS"/>
                <a:cs typeface="Trebuchet MS"/>
              </a:rPr>
              <a:t>implementación  </a:t>
            </a:r>
            <a:r>
              <a:rPr sz="2100" spc="-207" dirty="0">
                <a:solidFill>
                  <a:srgbClr val="FFFFFF"/>
                </a:solidFill>
                <a:latin typeface="Trebuchet MS"/>
                <a:cs typeface="Trebuchet MS"/>
              </a:rPr>
              <a:t>de </a:t>
            </a:r>
            <a:r>
              <a:rPr sz="2100" spc="-93" dirty="0">
                <a:solidFill>
                  <a:srgbClr val="FFFFFF"/>
                </a:solidFill>
                <a:latin typeface="Trebuchet MS"/>
                <a:cs typeface="Trebuchet MS"/>
              </a:rPr>
              <a:t>las </a:t>
            </a:r>
            <a:r>
              <a:rPr sz="2100" spc="-113" dirty="0">
                <a:solidFill>
                  <a:srgbClr val="FFFFFF"/>
                </a:solidFill>
                <a:latin typeface="Trebuchet MS"/>
                <a:cs typeface="Trebuchet MS"/>
              </a:rPr>
              <a:t>vistas </a:t>
            </a:r>
            <a:r>
              <a:rPr sz="2100" spc="-200" dirty="0">
                <a:solidFill>
                  <a:srgbClr val="FFFFFF"/>
                </a:solidFill>
                <a:latin typeface="Trebuchet MS"/>
                <a:cs typeface="Trebuchet MS"/>
              </a:rPr>
              <a:t>del</a:t>
            </a:r>
            <a:r>
              <a:rPr sz="2100" spc="-193" dirty="0">
                <a:solidFill>
                  <a:srgbClr val="FFFFFF"/>
                </a:solidFill>
                <a:latin typeface="Trebuchet MS"/>
                <a:cs typeface="Trebuchet MS"/>
              </a:rPr>
              <a:t> </a:t>
            </a:r>
            <a:r>
              <a:rPr sz="2100" spc="-227" dirty="0">
                <a:solidFill>
                  <a:srgbClr val="FFFFFF"/>
                </a:solidFill>
                <a:latin typeface="Trebuchet MS"/>
                <a:cs typeface="Trebuchet MS"/>
              </a:rPr>
              <a:t>modelo.</a:t>
            </a:r>
            <a:endParaRPr sz="2100" dirty="0">
              <a:latin typeface="Trebuchet MS"/>
              <a:cs typeface="Trebuchet M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9"/>
          <p:cNvSpPr>
            <a:spLocks noMove="1" noResize="1"/>
          </p:cNvSpPr>
          <p:nvPr/>
        </p:nvSpPr>
        <p:spPr>
          <a:xfrm rot="5399996" flipH="1">
            <a:off x="475940" y="-475977"/>
            <a:ext cx="6858000" cy="7809954"/>
          </a:xfrm>
          <a:custGeom>
            <a:avLst/>
            <a:gdLst>
              <a:gd name="f0" fmla="val 10800000"/>
              <a:gd name="f1" fmla="val 5400000"/>
              <a:gd name="f2" fmla="val 180"/>
              <a:gd name="f3" fmla="val w"/>
              <a:gd name="f4" fmla="val h"/>
              <a:gd name="f5" fmla="val 0"/>
              <a:gd name="f6" fmla="val 6858000"/>
              <a:gd name="f7" fmla="val 7809953"/>
              <a:gd name="f8" fmla="val 1344715"/>
              <a:gd name="f9" fmla="val 1177"/>
              <a:gd name="f10" fmla="val 6702323"/>
              <a:gd name="f11" fmla="val 26222"/>
              <a:gd name="f12" fmla="val 6547332"/>
              <a:gd name="f13" fmla="val 50091"/>
              <a:gd name="f14" fmla="val 6391656"/>
              <a:gd name="f15" fmla="val 73455"/>
              <a:gd name="f16" fmla="val 6235293"/>
              <a:gd name="f17" fmla="val 93458"/>
              <a:gd name="f18" fmla="val 6079617"/>
              <a:gd name="f19" fmla="val 113629"/>
              <a:gd name="f20" fmla="val 5923254"/>
              <a:gd name="f21" fmla="val 132455"/>
              <a:gd name="f22" fmla="val 5768949"/>
              <a:gd name="f23" fmla="val 148591"/>
              <a:gd name="f24" fmla="val 5612587"/>
              <a:gd name="f25" fmla="val 163887"/>
              <a:gd name="f26" fmla="val 5456910"/>
              <a:gd name="f27" fmla="val 177839"/>
              <a:gd name="f28" fmla="val 5303977"/>
              <a:gd name="f29" fmla="val 189941"/>
              <a:gd name="f30" fmla="val 5148986"/>
              <a:gd name="f31" fmla="val 202044"/>
              <a:gd name="f32" fmla="val 4996053"/>
              <a:gd name="f33" fmla="val 212129"/>
              <a:gd name="f34" fmla="val 4843119"/>
              <a:gd name="f35" fmla="val 220029"/>
              <a:gd name="f36" fmla="val 4690872"/>
              <a:gd name="f37" fmla="val 228266"/>
              <a:gd name="f38" fmla="val 4539996"/>
              <a:gd name="f39" fmla="val 235157"/>
              <a:gd name="f40" fmla="val 4390491"/>
              <a:gd name="f41" fmla="val 240032"/>
              <a:gd name="f42" fmla="val 4240987"/>
              <a:gd name="f43" fmla="val 244234"/>
              <a:gd name="f44" fmla="val 4092855"/>
              <a:gd name="f45" fmla="val 248268"/>
              <a:gd name="f46" fmla="val 3946779"/>
              <a:gd name="f47" fmla="val 250117"/>
              <a:gd name="f48" fmla="val 3800704"/>
              <a:gd name="f49" fmla="val 252134"/>
              <a:gd name="f50" fmla="val 3656685"/>
              <a:gd name="f51" fmla="val 253143"/>
              <a:gd name="f52" fmla="val 3514039"/>
              <a:gd name="f53" fmla="val 3372765"/>
              <a:gd name="f54" fmla="val 3232861"/>
              <a:gd name="f55" fmla="val 3095701"/>
              <a:gd name="f56" fmla="val 247092"/>
              <a:gd name="f57" fmla="val 2959913"/>
              <a:gd name="f58" fmla="val 2826868"/>
              <a:gd name="f59" fmla="val 241040"/>
              <a:gd name="f60" fmla="val 2694508"/>
              <a:gd name="f61" fmla="val 236166"/>
              <a:gd name="f62" fmla="val 2564207"/>
              <a:gd name="f63" fmla="val 230955"/>
              <a:gd name="f64" fmla="val 2436648"/>
              <a:gd name="f65" fmla="val 226249"/>
              <a:gd name="f66" fmla="val 2187702"/>
              <a:gd name="f67" fmla="val 212969"/>
              <a:gd name="f68" fmla="val 1949044"/>
              <a:gd name="f69" fmla="val 198850"/>
              <a:gd name="f70" fmla="val 1719987"/>
              <a:gd name="f71" fmla="val 184058"/>
              <a:gd name="f72" fmla="val 1503274"/>
              <a:gd name="f73" fmla="val 167753"/>
              <a:gd name="f74" fmla="val 1296162"/>
              <a:gd name="f75" fmla="val 150776"/>
              <a:gd name="f76" fmla="val 1104138"/>
              <a:gd name="f77" fmla="val 923773"/>
              <a:gd name="f78" fmla="val 114469"/>
              <a:gd name="f79" fmla="val 757809"/>
              <a:gd name="f80" fmla="val 96484"/>
              <a:gd name="f81" fmla="val 605562"/>
              <a:gd name="f82" fmla="val 79507"/>
              <a:gd name="f83" fmla="val 470459"/>
              <a:gd name="f84" fmla="val 63370"/>
              <a:gd name="f85" fmla="val 348387"/>
              <a:gd name="f86" fmla="val 48074"/>
              <a:gd name="f87" fmla="val 245517"/>
              <a:gd name="f88" fmla="val 35299"/>
              <a:gd name="f89" fmla="val 159106"/>
              <a:gd name="f90" fmla="val 23197"/>
              <a:gd name="f91" fmla="val 40462"/>
              <a:gd name="f92" fmla="val 5883"/>
              <a:gd name="f93" fmla="val 652830"/>
              <a:gd name="f94" fmla="val 6857999"/>
              <a:gd name="f95" fmla="+- 0 0 -90"/>
              <a:gd name="f96" fmla="*/ f3 1 6858000"/>
              <a:gd name="f97" fmla="*/ f4 1 7809953"/>
              <a:gd name="f98" fmla="+- f7 0 f5"/>
              <a:gd name="f99" fmla="+- f6 0 f5"/>
              <a:gd name="f100" fmla="*/ f95 f0 1"/>
              <a:gd name="f101" fmla="*/ f99 1 6858000"/>
              <a:gd name="f102" fmla="*/ f98 1 7809953"/>
              <a:gd name="f103" fmla="*/ 6858000 f99 1"/>
              <a:gd name="f104" fmla="*/ 1344715 f98 1"/>
              <a:gd name="f105" fmla="*/ 1177 f98 1"/>
              <a:gd name="f106" fmla="*/ 6702323 f99 1"/>
              <a:gd name="f107" fmla="*/ 26222 f98 1"/>
              <a:gd name="f108" fmla="*/ 6547332 f99 1"/>
              <a:gd name="f109" fmla="*/ 50091 f98 1"/>
              <a:gd name="f110" fmla="*/ 6391656 f99 1"/>
              <a:gd name="f111" fmla="*/ 73455 f98 1"/>
              <a:gd name="f112" fmla="*/ 6235293 f99 1"/>
              <a:gd name="f113" fmla="*/ 93458 f98 1"/>
              <a:gd name="f114" fmla="*/ 6079617 f99 1"/>
              <a:gd name="f115" fmla="*/ 113629 f98 1"/>
              <a:gd name="f116" fmla="*/ 5923254 f99 1"/>
              <a:gd name="f117" fmla="*/ 132455 f98 1"/>
              <a:gd name="f118" fmla="*/ 5768949 f99 1"/>
              <a:gd name="f119" fmla="*/ 148591 f98 1"/>
              <a:gd name="f120" fmla="*/ 5612587 f99 1"/>
              <a:gd name="f121" fmla="*/ 163887 f98 1"/>
              <a:gd name="f122" fmla="*/ 5456910 f99 1"/>
              <a:gd name="f123" fmla="*/ 177839 f98 1"/>
              <a:gd name="f124" fmla="*/ 5303977 f99 1"/>
              <a:gd name="f125" fmla="*/ 189941 f98 1"/>
              <a:gd name="f126" fmla="*/ 5148986 f99 1"/>
              <a:gd name="f127" fmla="*/ 202044 f98 1"/>
              <a:gd name="f128" fmla="*/ 4996053 f99 1"/>
              <a:gd name="f129" fmla="*/ 212129 f98 1"/>
              <a:gd name="f130" fmla="*/ 4843119 f99 1"/>
              <a:gd name="f131" fmla="*/ 220029 f98 1"/>
              <a:gd name="f132" fmla="*/ 4690872 f99 1"/>
              <a:gd name="f133" fmla="*/ 228266 f98 1"/>
              <a:gd name="f134" fmla="*/ 4539996 f99 1"/>
              <a:gd name="f135" fmla="*/ 235157 f98 1"/>
              <a:gd name="f136" fmla="*/ 4390491 f99 1"/>
              <a:gd name="f137" fmla="*/ 240032 f98 1"/>
              <a:gd name="f138" fmla="*/ 4240987 f99 1"/>
              <a:gd name="f139" fmla="*/ 244234 f98 1"/>
              <a:gd name="f140" fmla="*/ 4092855 f99 1"/>
              <a:gd name="f141" fmla="*/ 248268 f98 1"/>
              <a:gd name="f142" fmla="*/ 3946779 f99 1"/>
              <a:gd name="f143" fmla="*/ 250117 f98 1"/>
              <a:gd name="f144" fmla="*/ 3800704 f99 1"/>
              <a:gd name="f145" fmla="*/ 252134 f98 1"/>
              <a:gd name="f146" fmla="*/ 3656685 f99 1"/>
              <a:gd name="f147" fmla="*/ 253143 f98 1"/>
              <a:gd name="f148" fmla="*/ 3514039 f99 1"/>
              <a:gd name="f149" fmla="*/ 3372765 f99 1"/>
              <a:gd name="f150" fmla="*/ 3232861 f99 1"/>
              <a:gd name="f151" fmla="*/ 3095701 f99 1"/>
              <a:gd name="f152" fmla="*/ 247092 f98 1"/>
              <a:gd name="f153" fmla="*/ 2959913 f99 1"/>
              <a:gd name="f154" fmla="*/ 2826868 f99 1"/>
              <a:gd name="f155" fmla="*/ 241040 f98 1"/>
              <a:gd name="f156" fmla="*/ 2694508 f99 1"/>
              <a:gd name="f157" fmla="*/ 236166 f98 1"/>
              <a:gd name="f158" fmla="*/ 2564207 f99 1"/>
              <a:gd name="f159" fmla="*/ 230955 f98 1"/>
              <a:gd name="f160" fmla="*/ 2436648 f99 1"/>
              <a:gd name="f161" fmla="*/ 226249 f98 1"/>
              <a:gd name="f162" fmla="*/ 2187702 f99 1"/>
              <a:gd name="f163" fmla="*/ 212969 f98 1"/>
              <a:gd name="f164" fmla="*/ 1949044 f99 1"/>
              <a:gd name="f165" fmla="*/ 198850 f98 1"/>
              <a:gd name="f166" fmla="*/ 1719987 f99 1"/>
              <a:gd name="f167" fmla="*/ 184058 f98 1"/>
              <a:gd name="f168" fmla="*/ 1503274 f99 1"/>
              <a:gd name="f169" fmla="*/ 167753 f98 1"/>
              <a:gd name="f170" fmla="*/ 1296162 f99 1"/>
              <a:gd name="f171" fmla="*/ 150776 f98 1"/>
              <a:gd name="f172" fmla="*/ 1104138 f99 1"/>
              <a:gd name="f173" fmla="*/ 923773 f99 1"/>
              <a:gd name="f174" fmla="*/ 114469 f98 1"/>
              <a:gd name="f175" fmla="*/ 757809 f99 1"/>
              <a:gd name="f176" fmla="*/ 96484 f98 1"/>
              <a:gd name="f177" fmla="*/ 605562 f99 1"/>
              <a:gd name="f178" fmla="*/ 79507 f98 1"/>
              <a:gd name="f179" fmla="*/ 470459 f99 1"/>
              <a:gd name="f180" fmla="*/ 63370 f98 1"/>
              <a:gd name="f181" fmla="*/ 348387 f99 1"/>
              <a:gd name="f182" fmla="*/ 48074 f98 1"/>
              <a:gd name="f183" fmla="*/ 245517 f99 1"/>
              <a:gd name="f184" fmla="*/ 35299 f98 1"/>
              <a:gd name="f185" fmla="*/ 159106 f99 1"/>
              <a:gd name="f186" fmla="*/ 23197 f98 1"/>
              <a:gd name="f187" fmla="*/ 40462 f99 1"/>
              <a:gd name="f188" fmla="*/ 5883 f98 1"/>
              <a:gd name="f189" fmla="*/ 0 f99 1"/>
              <a:gd name="f190" fmla="*/ 0 f98 1"/>
              <a:gd name="f191" fmla="*/ 652830 f98 1"/>
              <a:gd name="f192" fmla="*/ 7809953 f98 1"/>
              <a:gd name="f193" fmla="*/ 6857999 f99 1"/>
              <a:gd name="f194" fmla="*/ f100 1 f2"/>
              <a:gd name="f195" fmla="*/ f103 1 6858000"/>
              <a:gd name="f196" fmla="*/ f104 1 7809953"/>
              <a:gd name="f197" fmla="*/ f105 1 7809953"/>
              <a:gd name="f198" fmla="*/ f106 1 6858000"/>
              <a:gd name="f199" fmla="*/ f107 1 7809953"/>
              <a:gd name="f200" fmla="*/ f108 1 6858000"/>
              <a:gd name="f201" fmla="*/ f109 1 7809953"/>
              <a:gd name="f202" fmla="*/ f110 1 6858000"/>
              <a:gd name="f203" fmla="*/ f111 1 7809953"/>
              <a:gd name="f204" fmla="*/ f112 1 6858000"/>
              <a:gd name="f205" fmla="*/ f113 1 7809953"/>
              <a:gd name="f206" fmla="*/ f114 1 6858000"/>
              <a:gd name="f207" fmla="*/ f115 1 7809953"/>
              <a:gd name="f208" fmla="*/ f116 1 6858000"/>
              <a:gd name="f209" fmla="*/ f117 1 7809953"/>
              <a:gd name="f210" fmla="*/ f118 1 6858000"/>
              <a:gd name="f211" fmla="*/ f119 1 7809953"/>
              <a:gd name="f212" fmla="*/ f120 1 6858000"/>
              <a:gd name="f213" fmla="*/ f121 1 7809953"/>
              <a:gd name="f214" fmla="*/ f122 1 6858000"/>
              <a:gd name="f215" fmla="*/ f123 1 7809953"/>
              <a:gd name="f216" fmla="*/ f124 1 6858000"/>
              <a:gd name="f217" fmla="*/ f125 1 7809953"/>
              <a:gd name="f218" fmla="*/ f126 1 6858000"/>
              <a:gd name="f219" fmla="*/ f127 1 7809953"/>
              <a:gd name="f220" fmla="*/ f128 1 6858000"/>
              <a:gd name="f221" fmla="*/ f129 1 7809953"/>
              <a:gd name="f222" fmla="*/ f130 1 6858000"/>
              <a:gd name="f223" fmla="*/ f131 1 7809953"/>
              <a:gd name="f224" fmla="*/ f132 1 6858000"/>
              <a:gd name="f225" fmla="*/ f133 1 7809953"/>
              <a:gd name="f226" fmla="*/ f134 1 6858000"/>
              <a:gd name="f227" fmla="*/ f135 1 7809953"/>
              <a:gd name="f228" fmla="*/ f136 1 6858000"/>
              <a:gd name="f229" fmla="*/ f137 1 7809953"/>
              <a:gd name="f230" fmla="*/ f138 1 6858000"/>
              <a:gd name="f231" fmla="*/ f139 1 7809953"/>
              <a:gd name="f232" fmla="*/ f140 1 6858000"/>
              <a:gd name="f233" fmla="*/ f141 1 7809953"/>
              <a:gd name="f234" fmla="*/ f142 1 6858000"/>
              <a:gd name="f235" fmla="*/ f143 1 7809953"/>
              <a:gd name="f236" fmla="*/ f144 1 6858000"/>
              <a:gd name="f237" fmla="*/ f145 1 7809953"/>
              <a:gd name="f238" fmla="*/ f146 1 6858000"/>
              <a:gd name="f239" fmla="*/ f147 1 7809953"/>
              <a:gd name="f240" fmla="*/ f148 1 6858000"/>
              <a:gd name="f241" fmla="*/ f149 1 6858000"/>
              <a:gd name="f242" fmla="*/ f150 1 6858000"/>
              <a:gd name="f243" fmla="*/ f151 1 6858000"/>
              <a:gd name="f244" fmla="*/ f152 1 7809953"/>
              <a:gd name="f245" fmla="*/ f153 1 6858000"/>
              <a:gd name="f246" fmla="*/ f154 1 6858000"/>
              <a:gd name="f247" fmla="*/ f155 1 7809953"/>
              <a:gd name="f248" fmla="*/ f156 1 6858000"/>
              <a:gd name="f249" fmla="*/ f157 1 7809953"/>
              <a:gd name="f250" fmla="*/ f158 1 6858000"/>
              <a:gd name="f251" fmla="*/ f159 1 7809953"/>
              <a:gd name="f252" fmla="*/ f160 1 6858000"/>
              <a:gd name="f253" fmla="*/ f161 1 7809953"/>
              <a:gd name="f254" fmla="*/ f162 1 6858000"/>
              <a:gd name="f255" fmla="*/ f163 1 7809953"/>
              <a:gd name="f256" fmla="*/ f164 1 6858000"/>
              <a:gd name="f257" fmla="*/ f165 1 7809953"/>
              <a:gd name="f258" fmla="*/ f166 1 6858000"/>
              <a:gd name="f259" fmla="*/ f167 1 7809953"/>
              <a:gd name="f260" fmla="*/ f168 1 6858000"/>
              <a:gd name="f261" fmla="*/ f169 1 7809953"/>
              <a:gd name="f262" fmla="*/ f170 1 6858000"/>
              <a:gd name="f263" fmla="*/ f171 1 7809953"/>
              <a:gd name="f264" fmla="*/ f172 1 6858000"/>
              <a:gd name="f265" fmla="*/ f173 1 6858000"/>
              <a:gd name="f266" fmla="*/ f174 1 7809953"/>
              <a:gd name="f267" fmla="*/ f175 1 6858000"/>
              <a:gd name="f268" fmla="*/ f176 1 7809953"/>
              <a:gd name="f269" fmla="*/ f177 1 6858000"/>
              <a:gd name="f270" fmla="*/ f178 1 7809953"/>
              <a:gd name="f271" fmla="*/ f179 1 6858000"/>
              <a:gd name="f272" fmla="*/ f180 1 7809953"/>
              <a:gd name="f273" fmla="*/ f181 1 6858000"/>
              <a:gd name="f274" fmla="*/ f182 1 7809953"/>
              <a:gd name="f275" fmla="*/ f183 1 6858000"/>
              <a:gd name="f276" fmla="*/ f184 1 7809953"/>
              <a:gd name="f277" fmla="*/ f185 1 6858000"/>
              <a:gd name="f278" fmla="*/ f186 1 7809953"/>
              <a:gd name="f279" fmla="*/ f187 1 6858000"/>
              <a:gd name="f280" fmla="*/ f188 1 7809953"/>
              <a:gd name="f281" fmla="*/ f189 1 6858000"/>
              <a:gd name="f282" fmla="*/ f190 1 7809953"/>
              <a:gd name="f283" fmla="*/ f191 1 7809953"/>
              <a:gd name="f284" fmla="*/ f192 1 7809953"/>
              <a:gd name="f285" fmla="*/ f193 1 6858000"/>
              <a:gd name="f286" fmla="*/ f5 1 f101"/>
              <a:gd name="f287" fmla="*/ f6 1 f101"/>
              <a:gd name="f288" fmla="*/ f5 1 f102"/>
              <a:gd name="f289" fmla="*/ f7 1 f102"/>
              <a:gd name="f290" fmla="+- f194 0 f1"/>
              <a:gd name="f291" fmla="*/ f195 1 f101"/>
              <a:gd name="f292" fmla="*/ f196 1 f102"/>
              <a:gd name="f293" fmla="*/ f197 1 f102"/>
              <a:gd name="f294" fmla="*/ f198 1 f101"/>
              <a:gd name="f295" fmla="*/ f199 1 f102"/>
              <a:gd name="f296" fmla="*/ f200 1 f101"/>
              <a:gd name="f297" fmla="*/ f201 1 f102"/>
              <a:gd name="f298" fmla="*/ f202 1 f101"/>
              <a:gd name="f299" fmla="*/ f203 1 f102"/>
              <a:gd name="f300" fmla="*/ f204 1 f101"/>
              <a:gd name="f301" fmla="*/ f205 1 f102"/>
              <a:gd name="f302" fmla="*/ f206 1 f101"/>
              <a:gd name="f303" fmla="*/ f207 1 f102"/>
              <a:gd name="f304" fmla="*/ f208 1 f101"/>
              <a:gd name="f305" fmla="*/ f209 1 f102"/>
              <a:gd name="f306" fmla="*/ f210 1 f101"/>
              <a:gd name="f307" fmla="*/ f211 1 f102"/>
              <a:gd name="f308" fmla="*/ f212 1 f101"/>
              <a:gd name="f309" fmla="*/ f213 1 f102"/>
              <a:gd name="f310" fmla="*/ f214 1 f101"/>
              <a:gd name="f311" fmla="*/ f215 1 f102"/>
              <a:gd name="f312" fmla="*/ f216 1 f101"/>
              <a:gd name="f313" fmla="*/ f217 1 f102"/>
              <a:gd name="f314" fmla="*/ f218 1 f101"/>
              <a:gd name="f315" fmla="*/ f219 1 f102"/>
              <a:gd name="f316" fmla="*/ f220 1 f101"/>
              <a:gd name="f317" fmla="*/ f221 1 f102"/>
              <a:gd name="f318" fmla="*/ f222 1 f101"/>
              <a:gd name="f319" fmla="*/ f223 1 f102"/>
              <a:gd name="f320" fmla="*/ f224 1 f101"/>
              <a:gd name="f321" fmla="*/ f225 1 f102"/>
              <a:gd name="f322" fmla="*/ f226 1 f101"/>
              <a:gd name="f323" fmla="*/ f227 1 f102"/>
              <a:gd name="f324" fmla="*/ f228 1 f101"/>
              <a:gd name="f325" fmla="*/ f229 1 f102"/>
              <a:gd name="f326" fmla="*/ f230 1 f101"/>
              <a:gd name="f327" fmla="*/ f231 1 f102"/>
              <a:gd name="f328" fmla="*/ f232 1 f101"/>
              <a:gd name="f329" fmla="*/ f233 1 f102"/>
              <a:gd name="f330" fmla="*/ f234 1 f101"/>
              <a:gd name="f331" fmla="*/ f235 1 f102"/>
              <a:gd name="f332" fmla="*/ f236 1 f101"/>
              <a:gd name="f333" fmla="*/ f237 1 f102"/>
              <a:gd name="f334" fmla="*/ f238 1 f101"/>
              <a:gd name="f335" fmla="*/ f239 1 f102"/>
              <a:gd name="f336" fmla="*/ f240 1 f101"/>
              <a:gd name="f337" fmla="*/ f241 1 f101"/>
              <a:gd name="f338" fmla="*/ f242 1 f101"/>
              <a:gd name="f339" fmla="*/ f243 1 f101"/>
              <a:gd name="f340" fmla="*/ f244 1 f102"/>
              <a:gd name="f341" fmla="*/ f245 1 f101"/>
              <a:gd name="f342" fmla="*/ f246 1 f101"/>
              <a:gd name="f343" fmla="*/ f247 1 f102"/>
              <a:gd name="f344" fmla="*/ f248 1 f101"/>
              <a:gd name="f345" fmla="*/ f249 1 f102"/>
              <a:gd name="f346" fmla="*/ f250 1 f101"/>
              <a:gd name="f347" fmla="*/ f251 1 f102"/>
              <a:gd name="f348" fmla="*/ f252 1 f101"/>
              <a:gd name="f349" fmla="*/ f253 1 f102"/>
              <a:gd name="f350" fmla="*/ f254 1 f101"/>
              <a:gd name="f351" fmla="*/ f255 1 f102"/>
              <a:gd name="f352" fmla="*/ f256 1 f101"/>
              <a:gd name="f353" fmla="*/ f257 1 f102"/>
              <a:gd name="f354" fmla="*/ f258 1 f101"/>
              <a:gd name="f355" fmla="*/ f259 1 f102"/>
              <a:gd name="f356" fmla="*/ f260 1 f101"/>
              <a:gd name="f357" fmla="*/ f261 1 f102"/>
              <a:gd name="f358" fmla="*/ f262 1 f101"/>
              <a:gd name="f359" fmla="*/ f263 1 f102"/>
              <a:gd name="f360" fmla="*/ f264 1 f101"/>
              <a:gd name="f361" fmla="*/ f265 1 f101"/>
              <a:gd name="f362" fmla="*/ f266 1 f102"/>
              <a:gd name="f363" fmla="*/ f267 1 f101"/>
              <a:gd name="f364" fmla="*/ f268 1 f102"/>
              <a:gd name="f365" fmla="*/ f269 1 f101"/>
              <a:gd name="f366" fmla="*/ f270 1 f102"/>
              <a:gd name="f367" fmla="*/ f271 1 f101"/>
              <a:gd name="f368" fmla="*/ f272 1 f102"/>
              <a:gd name="f369" fmla="*/ f273 1 f101"/>
              <a:gd name="f370" fmla="*/ f274 1 f102"/>
              <a:gd name="f371" fmla="*/ f275 1 f101"/>
              <a:gd name="f372" fmla="*/ f276 1 f102"/>
              <a:gd name="f373" fmla="*/ f277 1 f101"/>
              <a:gd name="f374" fmla="*/ f278 1 f102"/>
              <a:gd name="f375" fmla="*/ f279 1 f101"/>
              <a:gd name="f376" fmla="*/ f280 1 f102"/>
              <a:gd name="f377" fmla="*/ f281 1 f101"/>
              <a:gd name="f378" fmla="*/ f282 1 f102"/>
              <a:gd name="f379" fmla="*/ f283 1 f102"/>
              <a:gd name="f380" fmla="*/ f284 1 f102"/>
              <a:gd name="f381" fmla="*/ f285 1 f101"/>
              <a:gd name="f382" fmla="*/ f286 f96 1"/>
              <a:gd name="f383" fmla="*/ f287 f96 1"/>
              <a:gd name="f384" fmla="*/ f289 f97 1"/>
              <a:gd name="f385" fmla="*/ f288 f97 1"/>
              <a:gd name="f386" fmla="*/ f291 f96 1"/>
              <a:gd name="f387" fmla="*/ f292 f97 1"/>
              <a:gd name="f388" fmla="*/ f293 f97 1"/>
              <a:gd name="f389" fmla="*/ f294 f96 1"/>
              <a:gd name="f390" fmla="*/ f295 f97 1"/>
              <a:gd name="f391" fmla="*/ f296 f96 1"/>
              <a:gd name="f392" fmla="*/ f297 f97 1"/>
              <a:gd name="f393" fmla="*/ f298 f96 1"/>
              <a:gd name="f394" fmla="*/ f299 f97 1"/>
              <a:gd name="f395" fmla="*/ f300 f96 1"/>
              <a:gd name="f396" fmla="*/ f301 f97 1"/>
              <a:gd name="f397" fmla="*/ f302 f96 1"/>
              <a:gd name="f398" fmla="*/ f303 f97 1"/>
              <a:gd name="f399" fmla="*/ f304 f96 1"/>
              <a:gd name="f400" fmla="*/ f305 f97 1"/>
              <a:gd name="f401" fmla="*/ f306 f96 1"/>
              <a:gd name="f402" fmla="*/ f307 f97 1"/>
              <a:gd name="f403" fmla="*/ f308 f96 1"/>
              <a:gd name="f404" fmla="*/ f309 f97 1"/>
              <a:gd name="f405" fmla="*/ f310 f96 1"/>
              <a:gd name="f406" fmla="*/ f311 f97 1"/>
              <a:gd name="f407" fmla="*/ f312 f96 1"/>
              <a:gd name="f408" fmla="*/ f313 f97 1"/>
              <a:gd name="f409" fmla="*/ f314 f96 1"/>
              <a:gd name="f410" fmla="*/ f315 f97 1"/>
              <a:gd name="f411" fmla="*/ f316 f96 1"/>
              <a:gd name="f412" fmla="*/ f317 f97 1"/>
              <a:gd name="f413" fmla="*/ f318 f96 1"/>
              <a:gd name="f414" fmla="*/ f319 f97 1"/>
              <a:gd name="f415" fmla="*/ f320 f96 1"/>
              <a:gd name="f416" fmla="*/ f321 f97 1"/>
              <a:gd name="f417" fmla="*/ f322 f96 1"/>
              <a:gd name="f418" fmla="*/ f323 f97 1"/>
              <a:gd name="f419" fmla="*/ f324 f96 1"/>
              <a:gd name="f420" fmla="*/ f325 f97 1"/>
              <a:gd name="f421" fmla="*/ f326 f96 1"/>
              <a:gd name="f422" fmla="*/ f327 f97 1"/>
              <a:gd name="f423" fmla="*/ f328 f96 1"/>
              <a:gd name="f424" fmla="*/ f329 f97 1"/>
              <a:gd name="f425" fmla="*/ f330 f96 1"/>
              <a:gd name="f426" fmla="*/ f331 f97 1"/>
              <a:gd name="f427" fmla="*/ f332 f96 1"/>
              <a:gd name="f428" fmla="*/ f333 f97 1"/>
              <a:gd name="f429" fmla="*/ f334 f96 1"/>
              <a:gd name="f430" fmla="*/ f335 f97 1"/>
              <a:gd name="f431" fmla="*/ f336 f96 1"/>
              <a:gd name="f432" fmla="*/ f337 f96 1"/>
              <a:gd name="f433" fmla="*/ f338 f96 1"/>
              <a:gd name="f434" fmla="*/ f339 f96 1"/>
              <a:gd name="f435" fmla="*/ f340 f97 1"/>
              <a:gd name="f436" fmla="*/ f341 f96 1"/>
              <a:gd name="f437" fmla="*/ f342 f96 1"/>
              <a:gd name="f438" fmla="*/ f343 f97 1"/>
              <a:gd name="f439" fmla="*/ f344 f96 1"/>
              <a:gd name="f440" fmla="*/ f345 f97 1"/>
              <a:gd name="f441" fmla="*/ f346 f96 1"/>
              <a:gd name="f442" fmla="*/ f347 f97 1"/>
              <a:gd name="f443" fmla="*/ f348 f96 1"/>
              <a:gd name="f444" fmla="*/ f349 f97 1"/>
              <a:gd name="f445" fmla="*/ f350 f96 1"/>
              <a:gd name="f446" fmla="*/ f351 f97 1"/>
              <a:gd name="f447" fmla="*/ f352 f96 1"/>
              <a:gd name="f448" fmla="*/ f353 f97 1"/>
              <a:gd name="f449" fmla="*/ f354 f96 1"/>
              <a:gd name="f450" fmla="*/ f355 f97 1"/>
              <a:gd name="f451" fmla="*/ f356 f96 1"/>
              <a:gd name="f452" fmla="*/ f357 f97 1"/>
              <a:gd name="f453" fmla="*/ f358 f96 1"/>
              <a:gd name="f454" fmla="*/ f359 f97 1"/>
              <a:gd name="f455" fmla="*/ f360 f96 1"/>
              <a:gd name="f456" fmla="*/ f361 f96 1"/>
              <a:gd name="f457" fmla="*/ f362 f97 1"/>
              <a:gd name="f458" fmla="*/ f363 f96 1"/>
              <a:gd name="f459" fmla="*/ f364 f97 1"/>
              <a:gd name="f460" fmla="*/ f365 f96 1"/>
              <a:gd name="f461" fmla="*/ f366 f97 1"/>
              <a:gd name="f462" fmla="*/ f367 f96 1"/>
              <a:gd name="f463" fmla="*/ f368 f97 1"/>
              <a:gd name="f464" fmla="*/ f369 f96 1"/>
              <a:gd name="f465" fmla="*/ f370 f97 1"/>
              <a:gd name="f466" fmla="*/ f371 f96 1"/>
              <a:gd name="f467" fmla="*/ f372 f97 1"/>
              <a:gd name="f468" fmla="*/ f373 f96 1"/>
              <a:gd name="f469" fmla="*/ f374 f97 1"/>
              <a:gd name="f470" fmla="*/ f375 f96 1"/>
              <a:gd name="f471" fmla="*/ f376 f97 1"/>
              <a:gd name="f472" fmla="*/ f377 f96 1"/>
              <a:gd name="f473" fmla="*/ f378 f97 1"/>
              <a:gd name="f474" fmla="*/ f379 f97 1"/>
              <a:gd name="f475" fmla="*/ f380 f97 1"/>
              <a:gd name="f476" fmla="*/ f381 f96 1"/>
            </a:gdLst>
            <a:ahLst/>
            <a:cxnLst>
              <a:cxn ang="3cd4">
                <a:pos x="hc" y="t"/>
              </a:cxn>
              <a:cxn ang="0">
                <a:pos x="r" y="vc"/>
              </a:cxn>
              <a:cxn ang="cd4">
                <a:pos x="hc" y="b"/>
              </a:cxn>
              <a:cxn ang="cd2">
                <a:pos x="l" y="vc"/>
              </a:cxn>
              <a:cxn ang="f290">
                <a:pos x="f386" y="f387"/>
              </a:cxn>
              <a:cxn ang="f290">
                <a:pos x="f386" y="f388"/>
              </a:cxn>
              <a:cxn ang="f290">
                <a:pos x="f389" y="f390"/>
              </a:cxn>
              <a:cxn ang="f290">
                <a:pos x="f391" y="f392"/>
              </a:cxn>
              <a:cxn ang="f290">
                <a:pos x="f393" y="f394"/>
              </a:cxn>
              <a:cxn ang="f290">
                <a:pos x="f395" y="f396"/>
              </a:cxn>
              <a:cxn ang="f290">
                <a:pos x="f397" y="f398"/>
              </a:cxn>
              <a:cxn ang="f290">
                <a:pos x="f399" y="f400"/>
              </a:cxn>
              <a:cxn ang="f290">
                <a:pos x="f401" y="f402"/>
              </a:cxn>
              <a:cxn ang="f290">
                <a:pos x="f403" y="f404"/>
              </a:cxn>
              <a:cxn ang="f290">
                <a:pos x="f405" y="f406"/>
              </a:cxn>
              <a:cxn ang="f290">
                <a:pos x="f407" y="f408"/>
              </a:cxn>
              <a:cxn ang="f290">
                <a:pos x="f409" y="f410"/>
              </a:cxn>
              <a:cxn ang="f290">
                <a:pos x="f411" y="f412"/>
              </a:cxn>
              <a:cxn ang="f290">
                <a:pos x="f413" y="f414"/>
              </a:cxn>
              <a:cxn ang="f290">
                <a:pos x="f415" y="f416"/>
              </a:cxn>
              <a:cxn ang="f290">
                <a:pos x="f417" y="f418"/>
              </a:cxn>
              <a:cxn ang="f290">
                <a:pos x="f419" y="f420"/>
              </a:cxn>
              <a:cxn ang="f290">
                <a:pos x="f421" y="f422"/>
              </a:cxn>
              <a:cxn ang="f290">
                <a:pos x="f423" y="f424"/>
              </a:cxn>
              <a:cxn ang="f290">
                <a:pos x="f425" y="f426"/>
              </a:cxn>
              <a:cxn ang="f290">
                <a:pos x="f427" y="f428"/>
              </a:cxn>
              <a:cxn ang="f290">
                <a:pos x="f429" y="f430"/>
              </a:cxn>
              <a:cxn ang="f290">
                <a:pos x="f431" y="f428"/>
              </a:cxn>
              <a:cxn ang="f290">
                <a:pos x="f432" y="f428"/>
              </a:cxn>
              <a:cxn ang="f290">
                <a:pos x="f433" y="f426"/>
              </a:cxn>
              <a:cxn ang="f290">
                <a:pos x="f434" y="f435"/>
              </a:cxn>
              <a:cxn ang="f290">
                <a:pos x="f436" y="f422"/>
              </a:cxn>
              <a:cxn ang="f290">
                <a:pos x="f437" y="f438"/>
              </a:cxn>
              <a:cxn ang="f290">
                <a:pos x="f439" y="f440"/>
              </a:cxn>
              <a:cxn ang="f290">
                <a:pos x="f441" y="f442"/>
              </a:cxn>
              <a:cxn ang="f290">
                <a:pos x="f443" y="f444"/>
              </a:cxn>
              <a:cxn ang="f290">
                <a:pos x="f445" y="f446"/>
              </a:cxn>
              <a:cxn ang="f290">
                <a:pos x="f447" y="f448"/>
              </a:cxn>
              <a:cxn ang="f290">
                <a:pos x="f449" y="f450"/>
              </a:cxn>
              <a:cxn ang="f290">
                <a:pos x="f451" y="f452"/>
              </a:cxn>
              <a:cxn ang="f290">
                <a:pos x="f453" y="f454"/>
              </a:cxn>
              <a:cxn ang="f290">
                <a:pos x="f455" y="f400"/>
              </a:cxn>
              <a:cxn ang="f290">
                <a:pos x="f456" y="f457"/>
              </a:cxn>
              <a:cxn ang="f290">
                <a:pos x="f458" y="f459"/>
              </a:cxn>
              <a:cxn ang="f290">
                <a:pos x="f460" y="f461"/>
              </a:cxn>
              <a:cxn ang="f290">
                <a:pos x="f462" y="f463"/>
              </a:cxn>
              <a:cxn ang="f290">
                <a:pos x="f464" y="f465"/>
              </a:cxn>
              <a:cxn ang="f290">
                <a:pos x="f466" y="f467"/>
              </a:cxn>
              <a:cxn ang="f290">
                <a:pos x="f468" y="f469"/>
              </a:cxn>
              <a:cxn ang="f290">
                <a:pos x="f470" y="f471"/>
              </a:cxn>
              <a:cxn ang="f290">
                <a:pos x="f472" y="f473"/>
              </a:cxn>
              <a:cxn ang="f290">
                <a:pos x="f472" y="f474"/>
              </a:cxn>
              <a:cxn ang="f290">
                <a:pos x="f472" y="f474"/>
              </a:cxn>
              <a:cxn ang="f290">
                <a:pos x="f472" y="f475"/>
              </a:cxn>
              <a:cxn ang="f290">
                <a:pos x="f476" y="f475"/>
              </a:cxn>
              <a:cxn ang="f290">
                <a:pos x="f476" y="f387"/>
              </a:cxn>
            </a:cxnLst>
            <a:rect l="f382" t="f385" r="f383" b="f384"/>
            <a:pathLst>
              <a:path w="6858000" h="7809953">
                <a:moveTo>
                  <a:pt x="f6" y="f8"/>
                </a:moveTo>
                <a:lnTo>
                  <a:pt x="f6"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39"/>
                </a:lnTo>
                <a:lnTo>
                  <a:pt x="f40" y="f41"/>
                </a:lnTo>
                <a:lnTo>
                  <a:pt x="f42" y="f43"/>
                </a:lnTo>
                <a:lnTo>
                  <a:pt x="f44" y="f45"/>
                </a:lnTo>
                <a:lnTo>
                  <a:pt x="f46" y="f47"/>
                </a:lnTo>
                <a:lnTo>
                  <a:pt x="f48" y="f49"/>
                </a:lnTo>
                <a:lnTo>
                  <a:pt x="f50" y="f51"/>
                </a:lnTo>
                <a:lnTo>
                  <a:pt x="f52" y="f49"/>
                </a:lnTo>
                <a:lnTo>
                  <a:pt x="f53" y="f49"/>
                </a:lnTo>
                <a:lnTo>
                  <a:pt x="f54" y="f47"/>
                </a:lnTo>
                <a:lnTo>
                  <a:pt x="f55" y="f56"/>
                </a:lnTo>
                <a:lnTo>
                  <a:pt x="f57" y="f43"/>
                </a:lnTo>
                <a:lnTo>
                  <a:pt x="f58" y="f59"/>
                </a:lnTo>
                <a:lnTo>
                  <a:pt x="f60" y="f61"/>
                </a:lnTo>
                <a:lnTo>
                  <a:pt x="f62" y="f63"/>
                </a:lnTo>
                <a:lnTo>
                  <a:pt x="f64" y="f65"/>
                </a:lnTo>
                <a:lnTo>
                  <a:pt x="f66" y="f67"/>
                </a:lnTo>
                <a:lnTo>
                  <a:pt x="f68" y="f69"/>
                </a:lnTo>
                <a:lnTo>
                  <a:pt x="f70" y="f71"/>
                </a:lnTo>
                <a:lnTo>
                  <a:pt x="f72" y="f73"/>
                </a:lnTo>
                <a:lnTo>
                  <a:pt x="f74" y="f75"/>
                </a:lnTo>
                <a:lnTo>
                  <a:pt x="f76" y="f21"/>
                </a:lnTo>
                <a:lnTo>
                  <a:pt x="f77" y="f78"/>
                </a:lnTo>
                <a:lnTo>
                  <a:pt x="f79" y="f80"/>
                </a:lnTo>
                <a:lnTo>
                  <a:pt x="f81" y="f82"/>
                </a:lnTo>
                <a:lnTo>
                  <a:pt x="f83" y="f84"/>
                </a:lnTo>
                <a:lnTo>
                  <a:pt x="f85" y="f86"/>
                </a:lnTo>
                <a:lnTo>
                  <a:pt x="f87" y="f88"/>
                </a:lnTo>
                <a:lnTo>
                  <a:pt x="f89" y="f90"/>
                </a:lnTo>
                <a:lnTo>
                  <a:pt x="f91" y="f92"/>
                </a:lnTo>
                <a:lnTo>
                  <a:pt x="f5" y="f5"/>
                </a:lnTo>
                <a:lnTo>
                  <a:pt x="f5" y="f93"/>
                </a:lnTo>
                <a:lnTo>
                  <a:pt x="f5" y="f93"/>
                </a:lnTo>
                <a:lnTo>
                  <a:pt x="f5" y="f7"/>
                </a:lnTo>
                <a:lnTo>
                  <a:pt x="f94" y="f7"/>
                </a:lnTo>
                <a:lnTo>
                  <a:pt x="f94" y="f8"/>
                </a:lnTo>
                <a:close/>
              </a:path>
            </a:pathLst>
          </a:custGeom>
          <a:solidFill>
            <a:srgbClr val="FFFFFF"/>
          </a:solidFill>
          <a:ln>
            <a:noFill/>
            <a:prstDash val="solid"/>
          </a:ln>
        </p:spPr>
        <p:txBody>
          <a:bodyPr vert="horz" wrap="square" lIns="0" tIns="0" rIns="0" bIns="0" anchor="t" anchorCtr="0" compatLnSpc="1"/>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000000"/>
              </a:solidFill>
              <a:uFillTx/>
              <a:latin typeface="Calibri"/>
            </a:endParaRPr>
          </a:p>
        </p:txBody>
      </p:sp>
      <p:pic>
        <p:nvPicPr>
          <p:cNvPr id="4" name="Picture 2" descr="Codeigniter, coding, development, framework, js, logo, php icon - Free  download"/>
          <p:cNvPicPr>
            <a:picLocks noChangeAspect="1"/>
          </p:cNvPicPr>
          <p:nvPr/>
        </p:nvPicPr>
        <p:blipFill>
          <a:blip r:embed="rId2" cstate="print"/>
          <a:stretch>
            <a:fillRect/>
          </a:stretch>
        </p:blipFill>
        <p:spPr>
          <a:xfrm>
            <a:off x="2612815" y="3709638"/>
            <a:ext cx="2238058" cy="2658663"/>
          </a:xfrm>
          <a:prstGeom prst="rect">
            <a:avLst/>
          </a:prstGeom>
          <a:noFill/>
          <a:ln>
            <a:noFill/>
          </a:ln>
        </p:spPr>
      </p:pic>
      <p:sp>
        <p:nvSpPr>
          <p:cNvPr id="5" name="Freeform 31"/>
          <p:cNvSpPr>
            <a:spLocks noMove="1" noResize="1"/>
          </p:cNvSpPr>
          <p:nvPr/>
        </p:nvSpPr>
        <p:spPr>
          <a:xfrm flipH="1">
            <a:off x="7463680" y="0"/>
            <a:ext cx="559475" cy="3709638"/>
          </a:xfrm>
          <a:custGeom>
            <a:avLst/>
            <a:gdLst>
              <a:gd name="f0" fmla="val 10800000"/>
              <a:gd name="f1" fmla="val 5400000"/>
              <a:gd name="f2" fmla="val 180"/>
              <a:gd name="f3" fmla="val w"/>
              <a:gd name="f4" fmla="val h"/>
              <a:gd name="f5" fmla="val 0"/>
              <a:gd name="f6" fmla="val 559472"/>
              <a:gd name="f7" fmla="val 3709642"/>
              <a:gd name="f8" fmla="val 473952"/>
              <a:gd name="f9" fmla="val 485840"/>
              <a:gd name="f10" fmla="val 161194"/>
              <a:gd name="f11" fmla="val 552063"/>
              <a:gd name="f12" fmla="val 1147770"/>
              <a:gd name="f13" fmla="val 592441"/>
              <a:gd name="f14" fmla="val 3086737"/>
              <a:gd name="f15" fmla="val 523949"/>
              <a:gd name="f16" fmla="val 3672197"/>
              <a:gd name="f17" fmla="val 500842"/>
              <a:gd name="f18" fmla="val 3684557"/>
              <a:gd name="f19" fmla="val 477855"/>
              <a:gd name="f20" fmla="val 3697282"/>
              <a:gd name="f21" fmla="val 454748"/>
              <a:gd name="f22" fmla="val 448224"/>
              <a:gd name="f23" fmla="val 3510471"/>
              <a:gd name="f24" fmla="val 443564"/>
              <a:gd name="f25" fmla="val 3408563"/>
              <a:gd name="f26" fmla="val 438902"/>
              <a:gd name="f27" fmla="val 3304407"/>
              <a:gd name="f28" fmla="val 433941"/>
              <a:gd name="f29" fmla="val 3198777"/>
              <a:gd name="f30" fmla="val 427584"/>
              <a:gd name="f31" fmla="val 3092510"/>
              <a:gd name="f32" fmla="val 420988"/>
              <a:gd name="f33" fmla="val 2984390"/>
              <a:gd name="f34" fmla="val 414330"/>
              <a:gd name="f35" fmla="val 2874401"/>
              <a:gd name="f36" fmla="val 406840"/>
              <a:gd name="f37" fmla="val 2762980"/>
              <a:gd name="f38" fmla="val 397745"/>
              <a:gd name="f39" fmla="val 2650566"/>
              <a:gd name="f40" fmla="val 389154"/>
              <a:gd name="f41" fmla="val 2536612"/>
              <a:gd name="f42" fmla="val 379225"/>
              <a:gd name="f43" fmla="val 2421642"/>
              <a:gd name="f44" fmla="val 368316"/>
              <a:gd name="f45" fmla="val 2305627"/>
              <a:gd name="f46" fmla="val 357466"/>
              <a:gd name="f47" fmla="val 2189233"/>
              <a:gd name="f48" fmla="val 344982"/>
              <a:gd name="f49" fmla="val 2071473"/>
              <a:gd name="f50" fmla="val 332466"/>
              <a:gd name="f51" fmla="val 1952216"/>
              <a:gd name="f52" fmla="val 319121"/>
              <a:gd name="f53" fmla="val 1833776"/>
              <a:gd name="f54" fmla="val 304408"/>
              <a:gd name="f55" fmla="val 1713948"/>
              <a:gd name="f56" fmla="val 288685"/>
              <a:gd name="f57" fmla="val 1592703"/>
              <a:gd name="f58" fmla="val 273050"/>
              <a:gd name="f59" fmla="val 1471451"/>
              <a:gd name="f60" fmla="val 255813"/>
              <a:gd name="f61" fmla="val 1350328"/>
              <a:gd name="f62" fmla="val 237060"/>
              <a:gd name="f63" fmla="val 1227080"/>
              <a:gd name="f64" fmla="val 218488"/>
              <a:gd name="f65" fmla="val 1106065"/>
              <a:gd name="f66" fmla="val 198221"/>
              <a:gd name="f67" fmla="val 982940"/>
              <a:gd name="f68" fmla="val 177152"/>
              <a:gd name="f69" fmla="val 858755"/>
              <a:gd name="f70" fmla="val 155551"/>
              <a:gd name="f71" fmla="val 736861"/>
              <a:gd name="f72" fmla="val 131782"/>
              <a:gd name="f73" fmla="val 613645"/>
              <a:gd name="f74" fmla="val 107123"/>
              <a:gd name="f75" fmla="val 490500"/>
              <a:gd name="f76" fmla="val 82552"/>
              <a:gd name="f77" fmla="val 367348"/>
              <a:gd name="f78" fmla="val 55608"/>
              <a:gd name="f79" fmla="val 244762"/>
              <a:gd name="f80" fmla="val 28130"/>
              <a:gd name="f81" fmla="val 122220"/>
              <a:gd name="f82" fmla="+- 0 0 -90"/>
              <a:gd name="f83" fmla="*/ f3 1 559472"/>
              <a:gd name="f84" fmla="*/ f4 1 3709642"/>
              <a:gd name="f85" fmla="+- f7 0 f5"/>
              <a:gd name="f86" fmla="+- f6 0 f5"/>
              <a:gd name="f87" fmla="*/ f82 f0 1"/>
              <a:gd name="f88" fmla="*/ f86 1 559472"/>
              <a:gd name="f89" fmla="*/ f85 1 3709642"/>
              <a:gd name="f90" fmla="*/ 0 f86 1"/>
              <a:gd name="f91" fmla="*/ 0 f85 1"/>
              <a:gd name="f92" fmla="*/ 473952 f86 1"/>
              <a:gd name="f93" fmla="*/ 485840 f86 1"/>
              <a:gd name="f94" fmla="*/ 161194 f85 1"/>
              <a:gd name="f95" fmla="*/ 523949 f86 1"/>
              <a:gd name="f96" fmla="*/ 3672197 f85 1"/>
              <a:gd name="f97" fmla="*/ 454748 f86 1"/>
              <a:gd name="f98" fmla="*/ 3709642 f85 1"/>
              <a:gd name="f99" fmla="*/ 448224 f86 1"/>
              <a:gd name="f100" fmla="*/ 3510471 f85 1"/>
              <a:gd name="f101" fmla="*/ 443564 f86 1"/>
              <a:gd name="f102" fmla="*/ 3408563 f85 1"/>
              <a:gd name="f103" fmla="*/ 438902 f86 1"/>
              <a:gd name="f104" fmla="*/ 3304407 f85 1"/>
              <a:gd name="f105" fmla="*/ 433941 f86 1"/>
              <a:gd name="f106" fmla="*/ 3198777 f85 1"/>
              <a:gd name="f107" fmla="*/ 427584 f86 1"/>
              <a:gd name="f108" fmla="*/ 3092510 f85 1"/>
              <a:gd name="f109" fmla="*/ 420988 f86 1"/>
              <a:gd name="f110" fmla="*/ 2984390 f85 1"/>
              <a:gd name="f111" fmla="*/ 414330 f86 1"/>
              <a:gd name="f112" fmla="*/ 2874401 f85 1"/>
              <a:gd name="f113" fmla="*/ 406840 f86 1"/>
              <a:gd name="f114" fmla="*/ 2762980 f85 1"/>
              <a:gd name="f115" fmla="*/ 397745 f86 1"/>
              <a:gd name="f116" fmla="*/ 2650566 f85 1"/>
              <a:gd name="f117" fmla="*/ 389154 f86 1"/>
              <a:gd name="f118" fmla="*/ 2536612 f85 1"/>
              <a:gd name="f119" fmla="*/ 379225 f86 1"/>
              <a:gd name="f120" fmla="*/ 2421642 f85 1"/>
              <a:gd name="f121" fmla="*/ 368316 f86 1"/>
              <a:gd name="f122" fmla="*/ 2305627 f85 1"/>
              <a:gd name="f123" fmla="*/ 357466 f86 1"/>
              <a:gd name="f124" fmla="*/ 2189233 f85 1"/>
              <a:gd name="f125" fmla="*/ 344982 f86 1"/>
              <a:gd name="f126" fmla="*/ 2071473 f85 1"/>
              <a:gd name="f127" fmla="*/ 332466 f86 1"/>
              <a:gd name="f128" fmla="*/ 1952216 f85 1"/>
              <a:gd name="f129" fmla="*/ 319121 f86 1"/>
              <a:gd name="f130" fmla="*/ 1833776 f85 1"/>
              <a:gd name="f131" fmla="*/ 304408 f86 1"/>
              <a:gd name="f132" fmla="*/ 1713948 f85 1"/>
              <a:gd name="f133" fmla="*/ 288685 f86 1"/>
              <a:gd name="f134" fmla="*/ 1592703 f85 1"/>
              <a:gd name="f135" fmla="*/ 273050 f86 1"/>
              <a:gd name="f136" fmla="*/ 1471451 f85 1"/>
              <a:gd name="f137" fmla="*/ 255813 f86 1"/>
              <a:gd name="f138" fmla="*/ 1350328 f85 1"/>
              <a:gd name="f139" fmla="*/ 237060 f86 1"/>
              <a:gd name="f140" fmla="*/ 1227080 f85 1"/>
              <a:gd name="f141" fmla="*/ 218488 f86 1"/>
              <a:gd name="f142" fmla="*/ 1106065 f85 1"/>
              <a:gd name="f143" fmla="*/ 198221 f86 1"/>
              <a:gd name="f144" fmla="*/ 982940 f85 1"/>
              <a:gd name="f145" fmla="*/ 177152 f86 1"/>
              <a:gd name="f146" fmla="*/ 858755 f85 1"/>
              <a:gd name="f147" fmla="*/ 155551 f86 1"/>
              <a:gd name="f148" fmla="*/ 736861 f85 1"/>
              <a:gd name="f149" fmla="*/ 131782 f86 1"/>
              <a:gd name="f150" fmla="*/ 613645 f85 1"/>
              <a:gd name="f151" fmla="*/ 107123 f86 1"/>
              <a:gd name="f152" fmla="*/ 490500 f85 1"/>
              <a:gd name="f153" fmla="*/ 82552 f86 1"/>
              <a:gd name="f154" fmla="*/ 367348 f85 1"/>
              <a:gd name="f155" fmla="*/ 55608 f86 1"/>
              <a:gd name="f156" fmla="*/ 244762 f85 1"/>
              <a:gd name="f157" fmla="*/ 28130 f86 1"/>
              <a:gd name="f158" fmla="*/ 122220 f85 1"/>
              <a:gd name="f159" fmla="*/ f87 1 f2"/>
              <a:gd name="f160" fmla="*/ f90 1 559472"/>
              <a:gd name="f161" fmla="*/ f91 1 3709642"/>
              <a:gd name="f162" fmla="*/ f92 1 559472"/>
              <a:gd name="f163" fmla="*/ f93 1 559472"/>
              <a:gd name="f164" fmla="*/ f94 1 3709642"/>
              <a:gd name="f165" fmla="*/ f95 1 559472"/>
              <a:gd name="f166" fmla="*/ f96 1 3709642"/>
              <a:gd name="f167" fmla="*/ f97 1 559472"/>
              <a:gd name="f168" fmla="*/ f98 1 3709642"/>
              <a:gd name="f169" fmla="*/ f99 1 559472"/>
              <a:gd name="f170" fmla="*/ f100 1 3709642"/>
              <a:gd name="f171" fmla="*/ f101 1 559472"/>
              <a:gd name="f172" fmla="*/ f102 1 3709642"/>
              <a:gd name="f173" fmla="*/ f103 1 559472"/>
              <a:gd name="f174" fmla="*/ f104 1 3709642"/>
              <a:gd name="f175" fmla="*/ f105 1 559472"/>
              <a:gd name="f176" fmla="*/ f106 1 3709642"/>
              <a:gd name="f177" fmla="*/ f107 1 559472"/>
              <a:gd name="f178" fmla="*/ f108 1 3709642"/>
              <a:gd name="f179" fmla="*/ f109 1 559472"/>
              <a:gd name="f180" fmla="*/ f110 1 3709642"/>
              <a:gd name="f181" fmla="*/ f111 1 559472"/>
              <a:gd name="f182" fmla="*/ f112 1 3709642"/>
              <a:gd name="f183" fmla="*/ f113 1 559472"/>
              <a:gd name="f184" fmla="*/ f114 1 3709642"/>
              <a:gd name="f185" fmla="*/ f115 1 559472"/>
              <a:gd name="f186" fmla="*/ f116 1 3709642"/>
              <a:gd name="f187" fmla="*/ f117 1 559472"/>
              <a:gd name="f188" fmla="*/ f118 1 3709642"/>
              <a:gd name="f189" fmla="*/ f119 1 559472"/>
              <a:gd name="f190" fmla="*/ f120 1 3709642"/>
              <a:gd name="f191" fmla="*/ f121 1 559472"/>
              <a:gd name="f192" fmla="*/ f122 1 3709642"/>
              <a:gd name="f193" fmla="*/ f123 1 559472"/>
              <a:gd name="f194" fmla="*/ f124 1 3709642"/>
              <a:gd name="f195" fmla="*/ f125 1 559472"/>
              <a:gd name="f196" fmla="*/ f126 1 3709642"/>
              <a:gd name="f197" fmla="*/ f127 1 559472"/>
              <a:gd name="f198" fmla="*/ f128 1 3709642"/>
              <a:gd name="f199" fmla="*/ f129 1 559472"/>
              <a:gd name="f200" fmla="*/ f130 1 3709642"/>
              <a:gd name="f201" fmla="*/ f131 1 559472"/>
              <a:gd name="f202" fmla="*/ f132 1 3709642"/>
              <a:gd name="f203" fmla="*/ f133 1 559472"/>
              <a:gd name="f204" fmla="*/ f134 1 3709642"/>
              <a:gd name="f205" fmla="*/ f135 1 559472"/>
              <a:gd name="f206" fmla="*/ f136 1 3709642"/>
              <a:gd name="f207" fmla="*/ f137 1 559472"/>
              <a:gd name="f208" fmla="*/ f138 1 3709642"/>
              <a:gd name="f209" fmla="*/ f139 1 559472"/>
              <a:gd name="f210" fmla="*/ f140 1 3709642"/>
              <a:gd name="f211" fmla="*/ f141 1 559472"/>
              <a:gd name="f212" fmla="*/ f142 1 3709642"/>
              <a:gd name="f213" fmla="*/ f143 1 559472"/>
              <a:gd name="f214" fmla="*/ f144 1 3709642"/>
              <a:gd name="f215" fmla="*/ f145 1 559472"/>
              <a:gd name="f216" fmla="*/ f146 1 3709642"/>
              <a:gd name="f217" fmla="*/ f147 1 559472"/>
              <a:gd name="f218" fmla="*/ f148 1 3709642"/>
              <a:gd name="f219" fmla="*/ f149 1 559472"/>
              <a:gd name="f220" fmla="*/ f150 1 3709642"/>
              <a:gd name="f221" fmla="*/ f151 1 559472"/>
              <a:gd name="f222" fmla="*/ f152 1 3709642"/>
              <a:gd name="f223" fmla="*/ f153 1 559472"/>
              <a:gd name="f224" fmla="*/ f154 1 3709642"/>
              <a:gd name="f225" fmla="*/ f155 1 559472"/>
              <a:gd name="f226" fmla="*/ f156 1 3709642"/>
              <a:gd name="f227" fmla="*/ f157 1 559472"/>
              <a:gd name="f228" fmla="*/ f158 1 3709642"/>
              <a:gd name="f229" fmla="*/ f5 1 f88"/>
              <a:gd name="f230" fmla="*/ f6 1 f88"/>
              <a:gd name="f231" fmla="*/ f5 1 f89"/>
              <a:gd name="f232" fmla="*/ f7 1 f89"/>
              <a:gd name="f233" fmla="+- f159 0 f1"/>
              <a:gd name="f234" fmla="*/ f160 1 f88"/>
              <a:gd name="f235" fmla="*/ f161 1 f89"/>
              <a:gd name="f236" fmla="*/ f162 1 f88"/>
              <a:gd name="f237" fmla="*/ f163 1 f88"/>
              <a:gd name="f238" fmla="*/ f164 1 f89"/>
              <a:gd name="f239" fmla="*/ f165 1 f88"/>
              <a:gd name="f240" fmla="*/ f166 1 f89"/>
              <a:gd name="f241" fmla="*/ f167 1 f88"/>
              <a:gd name="f242" fmla="*/ f168 1 f89"/>
              <a:gd name="f243" fmla="*/ f169 1 f88"/>
              <a:gd name="f244" fmla="*/ f170 1 f89"/>
              <a:gd name="f245" fmla="*/ f171 1 f88"/>
              <a:gd name="f246" fmla="*/ f172 1 f89"/>
              <a:gd name="f247" fmla="*/ f173 1 f88"/>
              <a:gd name="f248" fmla="*/ f174 1 f89"/>
              <a:gd name="f249" fmla="*/ f175 1 f88"/>
              <a:gd name="f250" fmla="*/ f176 1 f89"/>
              <a:gd name="f251" fmla="*/ f177 1 f88"/>
              <a:gd name="f252" fmla="*/ f178 1 f89"/>
              <a:gd name="f253" fmla="*/ f179 1 f88"/>
              <a:gd name="f254" fmla="*/ f180 1 f89"/>
              <a:gd name="f255" fmla="*/ f181 1 f88"/>
              <a:gd name="f256" fmla="*/ f182 1 f89"/>
              <a:gd name="f257" fmla="*/ f183 1 f88"/>
              <a:gd name="f258" fmla="*/ f184 1 f89"/>
              <a:gd name="f259" fmla="*/ f185 1 f88"/>
              <a:gd name="f260" fmla="*/ f186 1 f89"/>
              <a:gd name="f261" fmla="*/ f187 1 f88"/>
              <a:gd name="f262" fmla="*/ f188 1 f89"/>
              <a:gd name="f263" fmla="*/ f189 1 f88"/>
              <a:gd name="f264" fmla="*/ f190 1 f89"/>
              <a:gd name="f265" fmla="*/ f191 1 f88"/>
              <a:gd name="f266" fmla="*/ f192 1 f89"/>
              <a:gd name="f267" fmla="*/ f193 1 f88"/>
              <a:gd name="f268" fmla="*/ f194 1 f89"/>
              <a:gd name="f269" fmla="*/ f195 1 f88"/>
              <a:gd name="f270" fmla="*/ f196 1 f89"/>
              <a:gd name="f271" fmla="*/ f197 1 f88"/>
              <a:gd name="f272" fmla="*/ f198 1 f89"/>
              <a:gd name="f273" fmla="*/ f199 1 f88"/>
              <a:gd name="f274" fmla="*/ f200 1 f89"/>
              <a:gd name="f275" fmla="*/ f201 1 f88"/>
              <a:gd name="f276" fmla="*/ f202 1 f89"/>
              <a:gd name="f277" fmla="*/ f203 1 f88"/>
              <a:gd name="f278" fmla="*/ f204 1 f89"/>
              <a:gd name="f279" fmla="*/ f205 1 f88"/>
              <a:gd name="f280" fmla="*/ f206 1 f89"/>
              <a:gd name="f281" fmla="*/ f207 1 f88"/>
              <a:gd name="f282" fmla="*/ f208 1 f89"/>
              <a:gd name="f283" fmla="*/ f209 1 f88"/>
              <a:gd name="f284" fmla="*/ f210 1 f89"/>
              <a:gd name="f285" fmla="*/ f211 1 f88"/>
              <a:gd name="f286" fmla="*/ f212 1 f89"/>
              <a:gd name="f287" fmla="*/ f213 1 f88"/>
              <a:gd name="f288" fmla="*/ f214 1 f89"/>
              <a:gd name="f289" fmla="*/ f215 1 f88"/>
              <a:gd name="f290" fmla="*/ f216 1 f89"/>
              <a:gd name="f291" fmla="*/ f217 1 f88"/>
              <a:gd name="f292" fmla="*/ f218 1 f89"/>
              <a:gd name="f293" fmla="*/ f219 1 f88"/>
              <a:gd name="f294" fmla="*/ f220 1 f89"/>
              <a:gd name="f295" fmla="*/ f221 1 f88"/>
              <a:gd name="f296" fmla="*/ f222 1 f89"/>
              <a:gd name="f297" fmla="*/ f223 1 f88"/>
              <a:gd name="f298" fmla="*/ f224 1 f89"/>
              <a:gd name="f299" fmla="*/ f225 1 f88"/>
              <a:gd name="f300" fmla="*/ f226 1 f89"/>
              <a:gd name="f301" fmla="*/ f227 1 f88"/>
              <a:gd name="f302" fmla="*/ f228 1 f89"/>
              <a:gd name="f303" fmla="*/ f229 f83 1"/>
              <a:gd name="f304" fmla="*/ f230 f83 1"/>
              <a:gd name="f305" fmla="*/ f232 f84 1"/>
              <a:gd name="f306" fmla="*/ f231 f84 1"/>
              <a:gd name="f307" fmla="*/ f234 f83 1"/>
              <a:gd name="f308" fmla="*/ f235 f84 1"/>
              <a:gd name="f309" fmla="*/ f236 f83 1"/>
              <a:gd name="f310" fmla="*/ f237 f83 1"/>
              <a:gd name="f311" fmla="*/ f238 f84 1"/>
              <a:gd name="f312" fmla="*/ f239 f83 1"/>
              <a:gd name="f313" fmla="*/ f240 f84 1"/>
              <a:gd name="f314" fmla="*/ f241 f83 1"/>
              <a:gd name="f315" fmla="*/ f242 f84 1"/>
              <a:gd name="f316" fmla="*/ f243 f83 1"/>
              <a:gd name="f317" fmla="*/ f244 f84 1"/>
              <a:gd name="f318" fmla="*/ f245 f83 1"/>
              <a:gd name="f319" fmla="*/ f246 f84 1"/>
              <a:gd name="f320" fmla="*/ f247 f83 1"/>
              <a:gd name="f321" fmla="*/ f248 f84 1"/>
              <a:gd name="f322" fmla="*/ f249 f83 1"/>
              <a:gd name="f323" fmla="*/ f250 f84 1"/>
              <a:gd name="f324" fmla="*/ f251 f83 1"/>
              <a:gd name="f325" fmla="*/ f252 f84 1"/>
              <a:gd name="f326" fmla="*/ f253 f83 1"/>
              <a:gd name="f327" fmla="*/ f254 f84 1"/>
              <a:gd name="f328" fmla="*/ f255 f83 1"/>
              <a:gd name="f329" fmla="*/ f256 f84 1"/>
              <a:gd name="f330" fmla="*/ f257 f83 1"/>
              <a:gd name="f331" fmla="*/ f258 f84 1"/>
              <a:gd name="f332" fmla="*/ f259 f83 1"/>
              <a:gd name="f333" fmla="*/ f260 f84 1"/>
              <a:gd name="f334" fmla="*/ f261 f83 1"/>
              <a:gd name="f335" fmla="*/ f262 f84 1"/>
              <a:gd name="f336" fmla="*/ f263 f83 1"/>
              <a:gd name="f337" fmla="*/ f264 f84 1"/>
              <a:gd name="f338" fmla="*/ f265 f83 1"/>
              <a:gd name="f339" fmla="*/ f266 f84 1"/>
              <a:gd name="f340" fmla="*/ f267 f83 1"/>
              <a:gd name="f341" fmla="*/ f268 f84 1"/>
              <a:gd name="f342" fmla="*/ f269 f83 1"/>
              <a:gd name="f343" fmla="*/ f270 f84 1"/>
              <a:gd name="f344" fmla="*/ f271 f83 1"/>
              <a:gd name="f345" fmla="*/ f272 f84 1"/>
              <a:gd name="f346" fmla="*/ f273 f83 1"/>
              <a:gd name="f347" fmla="*/ f274 f84 1"/>
              <a:gd name="f348" fmla="*/ f275 f83 1"/>
              <a:gd name="f349" fmla="*/ f276 f84 1"/>
              <a:gd name="f350" fmla="*/ f277 f83 1"/>
              <a:gd name="f351" fmla="*/ f278 f84 1"/>
              <a:gd name="f352" fmla="*/ f279 f83 1"/>
              <a:gd name="f353" fmla="*/ f280 f84 1"/>
              <a:gd name="f354" fmla="*/ f281 f83 1"/>
              <a:gd name="f355" fmla="*/ f282 f84 1"/>
              <a:gd name="f356" fmla="*/ f283 f83 1"/>
              <a:gd name="f357" fmla="*/ f284 f84 1"/>
              <a:gd name="f358" fmla="*/ f285 f83 1"/>
              <a:gd name="f359" fmla="*/ f286 f84 1"/>
              <a:gd name="f360" fmla="*/ f287 f83 1"/>
              <a:gd name="f361" fmla="*/ f288 f84 1"/>
              <a:gd name="f362" fmla="*/ f289 f83 1"/>
              <a:gd name="f363" fmla="*/ f290 f84 1"/>
              <a:gd name="f364" fmla="*/ f291 f83 1"/>
              <a:gd name="f365" fmla="*/ f292 f84 1"/>
              <a:gd name="f366" fmla="*/ f293 f83 1"/>
              <a:gd name="f367" fmla="*/ f294 f84 1"/>
              <a:gd name="f368" fmla="*/ f295 f83 1"/>
              <a:gd name="f369" fmla="*/ f296 f84 1"/>
              <a:gd name="f370" fmla="*/ f297 f83 1"/>
              <a:gd name="f371" fmla="*/ f298 f84 1"/>
              <a:gd name="f372" fmla="*/ f299 f83 1"/>
              <a:gd name="f373" fmla="*/ f300 f84 1"/>
              <a:gd name="f374" fmla="*/ f301 f83 1"/>
              <a:gd name="f375" fmla="*/ f302 f84 1"/>
            </a:gdLst>
            <a:ahLst/>
            <a:cxnLst>
              <a:cxn ang="3cd4">
                <a:pos x="hc" y="t"/>
              </a:cxn>
              <a:cxn ang="0">
                <a:pos x="r" y="vc"/>
              </a:cxn>
              <a:cxn ang="cd4">
                <a:pos x="hc" y="b"/>
              </a:cxn>
              <a:cxn ang="cd2">
                <a:pos x="l" y="vc"/>
              </a:cxn>
              <a:cxn ang="f233">
                <a:pos x="f307" y="f308"/>
              </a:cxn>
              <a:cxn ang="f233">
                <a:pos x="f309" y="f308"/>
              </a:cxn>
              <a:cxn ang="f233">
                <a:pos x="f310" y="f311"/>
              </a:cxn>
              <a:cxn ang="f233">
                <a:pos x="f312" y="f313"/>
              </a:cxn>
              <a:cxn ang="f233">
                <a:pos x="f314" y="f315"/>
              </a:cxn>
              <a:cxn ang="f233">
                <a:pos x="f316" y="f317"/>
              </a:cxn>
              <a:cxn ang="f233">
                <a:pos x="f318" y="f319"/>
              </a:cxn>
              <a:cxn ang="f233">
                <a:pos x="f320" y="f321"/>
              </a:cxn>
              <a:cxn ang="f233">
                <a:pos x="f322" y="f323"/>
              </a:cxn>
              <a:cxn ang="f233">
                <a:pos x="f324" y="f325"/>
              </a:cxn>
              <a:cxn ang="f233">
                <a:pos x="f326" y="f327"/>
              </a:cxn>
              <a:cxn ang="f233">
                <a:pos x="f328" y="f329"/>
              </a:cxn>
              <a:cxn ang="f233">
                <a:pos x="f330" y="f331"/>
              </a:cxn>
              <a:cxn ang="f233">
                <a:pos x="f332" y="f333"/>
              </a:cxn>
              <a:cxn ang="f233">
                <a:pos x="f334" y="f335"/>
              </a:cxn>
              <a:cxn ang="f233">
                <a:pos x="f336" y="f337"/>
              </a:cxn>
              <a:cxn ang="f233">
                <a:pos x="f338" y="f339"/>
              </a:cxn>
              <a:cxn ang="f233">
                <a:pos x="f340" y="f341"/>
              </a:cxn>
              <a:cxn ang="f233">
                <a:pos x="f342" y="f343"/>
              </a:cxn>
              <a:cxn ang="f233">
                <a:pos x="f344" y="f345"/>
              </a:cxn>
              <a:cxn ang="f233">
                <a:pos x="f346" y="f347"/>
              </a:cxn>
              <a:cxn ang="f233">
                <a:pos x="f348" y="f349"/>
              </a:cxn>
              <a:cxn ang="f233">
                <a:pos x="f350" y="f351"/>
              </a:cxn>
              <a:cxn ang="f233">
                <a:pos x="f352" y="f353"/>
              </a:cxn>
              <a:cxn ang="f233">
                <a:pos x="f354" y="f355"/>
              </a:cxn>
              <a:cxn ang="f233">
                <a:pos x="f356" y="f357"/>
              </a:cxn>
              <a:cxn ang="f233">
                <a:pos x="f358" y="f359"/>
              </a:cxn>
              <a:cxn ang="f233">
                <a:pos x="f360" y="f361"/>
              </a:cxn>
              <a:cxn ang="f233">
                <a:pos x="f362" y="f363"/>
              </a:cxn>
              <a:cxn ang="f233">
                <a:pos x="f364" y="f365"/>
              </a:cxn>
              <a:cxn ang="f233">
                <a:pos x="f366" y="f367"/>
              </a:cxn>
              <a:cxn ang="f233">
                <a:pos x="f368" y="f369"/>
              </a:cxn>
              <a:cxn ang="f233">
                <a:pos x="f370" y="f371"/>
              </a:cxn>
              <a:cxn ang="f233">
                <a:pos x="f372" y="f373"/>
              </a:cxn>
              <a:cxn ang="f233">
                <a:pos x="f374" y="f375"/>
              </a:cxn>
              <a:cxn ang="f233">
                <a:pos x="f307" y="f308"/>
              </a:cxn>
            </a:cxnLst>
            <a:rect l="f303" t="f306" r="f304" b="f305"/>
            <a:pathLst>
              <a:path w="559472" h="3709642">
                <a:moveTo>
                  <a:pt x="f5" y="f5"/>
                </a:moveTo>
                <a:lnTo>
                  <a:pt x="f8" y="f5"/>
                </a:lnTo>
                <a:lnTo>
                  <a:pt x="f9" y="f10"/>
                </a:lnTo>
                <a:cubicBezTo>
                  <a:pt x="f11" y="f12"/>
                  <a:pt x="f13" y="f14"/>
                  <a:pt x="f15" y="f16"/>
                </a:cubicBezTo>
                <a:cubicBezTo>
                  <a:pt x="f17" y="f18"/>
                  <a:pt x="f19" y="f20"/>
                  <a:pt x="f21" y="f7"/>
                </a:cubicBezTo>
                <a:lnTo>
                  <a:pt x="f22" y="f23"/>
                </a:lnTo>
                <a:lnTo>
                  <a:pt x="f24" y="f25"/>
                </a:lnTo>
                <a:lnTo>
                  <a:pt x="f26" y="f27"/>
                </a:lnTo>
                <a:lnTo>
                  <a:pt x="f28" y="f29"/>
                </a:lnTo>
                <a:lnTo>
                  <a:pt x="f30" y="f31"/>
                </a:lnTo>
                <a:lnTo>
                  <a:pt x="f32" y="f33"/>
                </a:lnTo>
                <a:lnTo>
                  <a:pt x="f34" y="f35"/>
                </a:lnTo>
                <a:lnTo>
                  <a:pt x="f36" y="f37"/>
                </a:lnTo>
                <a:lnTo>
                  <a:pt x="f38" y="f39"/>
                </a:lnTo>
                <a:lnTo>
                  <a:pt x="f40" y="f41"/>
                </a:lnTo>
                <a:lnTo>
                  <a:pt x="f42" y="f43"/>
                </a:lnTo>
                <a:lnTo>
                  <a:pt x="f44" y="f45"/>
                </a:lnTo>
                <a:lnTo>
                  <a:pt x="f46" y="f47"/>
                </a:lnTo>
                <a:lnTo>
                  <a:pt x="f48" y="f49"/>
                </a:lnTo>
                <a:lnTo>
                  <a:pt x="f50" y="f51"/>
                </a:lnTo>
                <a:lnTo>
                  <a:pt x="f52" y="f53"/>
                </a:lnTo>
                <a:lnTo>
                  <a:pt x="f54" y="f55"/>
                </a:lnTo>
                <a:lnTo>
                  <a:pt x="f56" y="f57"/>
                </a:lnTo>
                <a:lnTo>
                  <a:pt x="f58" y="f59"/>
                </a:lnTo>
                <a:lnTo>
                  <a:pt x="f60" y="f61"/>
                </a:lnTo>
                <a:lnTo>
                  <a:pt x="f62" y="f63"/>
                </a:lnTo>
                <a:lnTo>
                  <a:pt x="f64" y="f65"/>
                </a:lnTo>
                <a:lnTo>
                  <a:pt x="f66" y="f67"/>
                </a:lnTo>
                <a:lnTo>
                  <a:pt x="f68" y="f69"/>
                </a:lnTo>
                <a:lnTo>
                  <a:pt x="f70" y="f71"/>
                </a:lnTo>
                <a:lnTo>
                  <a:pt x="f72" y="f73"/>
                </a:lnTo>
                <a:lnTo>
                  <a:pt x="f74" y="f75"/>
                </a:lnTo>
                <a:lnTo>
                  <a:pt x="f76" y="f77"/>
                </a:lnTo>
                <a:lnTo>
                  <a:pt x="f78" y="f79"/>
                </a:lnTo>
                <a:lnTo>
                  <a:pt x="f80" y="f81"/>
                </a:lnTo>
                <a:lnTo>
                  <a:pt x="f5" y="f5"/>
                </a:lnTo>
                <a:close/>
              </a:path>
            </a:pathLst>
          </a:custGeom>
          <a:solidFill>
            <a:srgbClr val="FFFFFF">
              <a:alpha val="20000"/>
            </a:srgbClr>
          </a:solidFill>
          <a:ln>
            <a:noFill/>
            <a:prstDash val="solid"/>
          </a:ln>
        </p:spPr>
        <p:txBody>
          <a:bodyPr vert="horz" wrap="square" lIns="91440" tIns="45720" rIns="91440" bIns="45720" anchor="ctr" anchorCtr="1" compatLnSpc="1"/>
          <a:lstStyle/>
          <a:p>
            <a:pPr marL="0" marR="0" lvl="0" indent="0" algn="ctr"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entury Gothic"/>
            </a:endParaRPr>
          </a:p>
        </p:txBody>
      </p:sp>
      <p:pic>
        <p:nvPicPr>
          <p:cNvPr id="6" name="Picture 2" descr="13 extensiones indispensables en proyectos Django | OpenWebinars"/>
          <p:cNvPicPr>
            <a:picLocks noChangeAspect="1"/>
          </p:cNvPicPr>
          <p:nvPr/>
        </p:nvPicPr>
        <p:blipFill>
          <a:blip r:embed="rId3" cstate="print"/>
          <a:stretch>
            <a:fillRect/>
          </a:stretch>
        </p:blipFill>
        <p:spPr>
          <a:xfrm>
            <a:off x="982330" y="599480"/>
            <a:ext cx="5845292" cy="2658663"/>
          </a:xfrm>
          <a:prstGeom prst="rect">
            <a:avLst/>
          </a:prstGeom>
          <a:noFill/>
          <a:ln>
            <a:noFill/>
          </a:ln>
        </p:spPr>
      </p:pic>
      <p:sp>
        <p:nvSpPr>
          <p:cNvPr id="7" name="Subtitle 6"/>
          <p:cNvSpPr>
            <a:spLocks noGrp="1"/>
          </p:cNvSpPr>
          <p:nvPr>
            <p:ph type="subTitle" idx="1"/>
          </p:nvPr>
        </p:nvSpPr>
        <p:spPr/>
        <p:txBody>
          <a:bodyPr/>
          <a:lstStyle/>
          <a:p>
            <a:endParaRPr lang="en-GB"/>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a:xfrm>
            <a:off x="836141" y="395416"/>
            <a:ext cx="9144000" cy="1263649"/>
          </a:xfrm>
        </p:spPr>
        <p:txBody>
          <a:bodyPr/>
          <a:lstStyle/>
          <a:p>
            <a:pPr lvl="0"/>
            <a:r>
              <a:rPr lang="es-ES" dirty="0"/>
              <a:t>Comparación lenguajes</a:t>
            </a:r>
          </a:p>
        </p:txBody>
      </p:sp>
      <p:pic>
        <p:nvPicPr>
          <p:cNvPr id="3" name="Tabla 6"/>
          <p:cNvPicPr>
            <a:picLocks noChangeAspect="1"/>
          </p:cNvPicPr>
          <p:nvPr/>
        </p:nvPicPr>
        <p:blipFill>
          <a:blip r:embed="rId2" cstate="print"/>
          <a:stretch>
            <a:fillRect/>
          </a:stretch>
        </p:blipFill>
        <p:spPr>
          <a:xfrm>
            <a:off x="1240109" y="1733062"/>
            <a:ext cx="9996248" cy="4401738"/>
          </a:xfrm>
          <a:prstGeom prst="rect">
            <a:avLst/>
          </a:prstGeom>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p:txBody>
          <a:bodyPr/>
          <a:lstStyle/>
          <a:p>
            <a:pPr lvl="0"/>
            <a:r>
              <a:rPr lang="es-ES"/>
              <a:t>Comparación lenguajes</a:t>
            </a:r>
          </a:p>
        </p:txBody>
      </p:sp>
      <p:sp>
        <p:nvSpPr>
          <p:cNvPr id="3" name="CuadroTexto 2"/>
          <p:cNvSpPr txBox="1"/>
          <p:nvPr/>
        </p:nvSpPr>
        <p:spPr>
          <a:xfrm>
            <a:off x="1402076" y="2180807"/>
            <a:ext cx="9404722" cy="3139318"/>
          </a:xfrm>
          <a:prstGeom prst="rect">
            <a:avLst/>
          </a:prstGeom>
          <a:noFill/>
          <a:ln>
            <a:noFill/>
          </a:ln>
        </p:spPr>
        <p:txBody>
          <a:bodyPr vert="horz" wrap="square" lIns="91440" tIns="45720" rIns="91440" bIns="45720" anchor="t" anchorCtr="0" compatLnSpc="1">
            <a:spAutoFit/>
          </a:bodyPr>
          <a:lstStyle/>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es-ES" sz="1800" b="0" i="0" u="none" strike="noStrike" kern="1200" cap="none" spc="0" baseline="0">
                <a:solidFill>
                  <a:srgbClr val="FFFFFF"/>
                </a:solidFill>
                <a:uFillTx/>
                <a:latin typeface="Century Gothic"/>
              </a:rPr>
              <a:t>Ambos servicios son gratuitos.</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es-ES" sz="1800" b="0" i="0" u="none" strike="noStrike" kern="1200" cap="none" spc="0" baseline="0">
                <a:solidFill>
                  <a:srgbClr val="FFFFFF"/>
                </a:solidFill>
                <a:uFillTx/>
                <a:latin typeface="Century Gothic"/>
              </a:rPr>
              <a:t>Python permite la integración con código de programación Java, C y C ++.</a:t>
            </a:r>
          </a:p>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es-ES" sz="1800" b="0" i="0" u="none" strike="noStrike" kern="1200" cap="none" spc="0" baseline="0">
                <a:solidFill>
                  <a:srgbClr val="FFFFFF"/>
                </a:solidFill>
                <a:uFillTx/>
                <a:latin typeface="Century Gothic"/>
              </a:rPr>
              <a:t>Para gente con poca experiencia, lo mas adecuado es empezar a programar con Python</a:t>
            </a: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r>
              <a:rPr lang="es-ES" sz="1800" b="0" i="0" u="none" strike="noStrike" kern="1200" cap="none" spc="0" baseline="0">
                <a:solidFill>
                  <a:srgbClr val="FFFFFF"/>
                </a:solidFill>
                <a:uFillTx/>
                <a:latin typeface="Century Gothic"/>
              </a:rPr>
              <a:t>Si sabes PHP hazlo con PHP ya que es mucho más rápido y eficaz</a:t>
            </a:r>
          </a:p>
          <a:p>
            <a:pPr marL="285750" marR="0" lvl="0" indent="-285750" algn="l" defTabSz="457200" rtl="0" fontAlgn="auto" hangingPunct="1">
              <a:lnSpc>
                <a:spcPct val="100000"/>
              </a:lnSpc>
              <a:spcBef>
                <a:spcPts val="0"/>
              </a:spcBef>
              <a:spcAft>
                <a:spcPts val="0"/>
              </a:spcAft>
              <a:buSzPct val="100000"/>
              <a:buChar char="-"/>
              <a:tabLst/>
              <a:defRPr sz="1800" b="0" i="0" u="none" strike="noStrike" kern="0" cap="none" spc="0" baseline="0">
                <a:solidFill>
                  <a:srgbClr val="000000"/>
                </a:solidFill>
                <a:uFillTx/>
              </a:defRPr>
            </a:pPr>
            <a:endParaRPr lang="es-ES" sz="1800" b="0" i="0" u="none" strike="noStrike" kern="1200" cap="none" spc="0" baseline="0">
              <a:solidFill>
                <a:srgbClr val="FFFFFF"/>
              </a:solidFill>
              <a:uFillTx/>
              <a:latin typeface="Century Gothic"/>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p:txBody>
          <a:bodyPr/>
          <a:lstStyle/>
          <a:p>
            <a:pPr lvl="0"/>
            <a:r>
              <a:rPr lang="es-ES"/>
              <a:t>Servidor</a:t>
            </a:r>
          </a:p>
        </p:txBody>
      </p:sp>
      <p:sp>
        <p:nvSpPr>
          <p:cNvPr id="3" name="Marcador de contenido 2"/>
          <p:cNvSpPr txBox="1">
            <a:spLocks noGrp="1"/>
          </p:cNvSpPr>
          <p:nvPr>
            <p:ph idx="1"/>
          </p:nvPr>
        </p:nvSpPr>
        <p:spPr/>
        <p:txBody>
          <a:bodyPr>
            <a:normAutofit lnSpcReduction="10000"/>
          </a:bodyPr>
          <a:lstStyle/>
          <a:p>
            <a:pPr lvl="0"/>
            <a:r>
              <a:rPr lang="es-ES"/>
              <a:t>Django: No hace falta que se conecte a un servidor externo ya que posee un propio.</a:t>
            </a:r>
          </a:p>
          <a:p>
            <a:pPr marL="0" lvl="0" indent="0">
              <a:buNone/>
            </a:pPr>
            <a:endParaRPr lang="es-ES"/>
          </a:p>
          <a:p>
            <a:pPr marL="0" lvl="0" indent="0">
              <a:buNone/>
            </a:pPr>
            <a:endParaRPr lang="es-ES"/>
          </a:p>
          <a:p>
            <a:pPr marL="0" lvl="0" indent="0">
              <a:buNone/>
            </a:pPr>
            <a:endParaRPr lang="es-ES"/>
          </a:p>
          <a:p>
            <a:pPr lvl="0"/>
            <a:r>
              <a:rPr lang="es-ES"/>
              <a:t>CodeIgniter: XAMPP es una distribución de Apache completamente gratuita.</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a:xfrm>
            <a:off x="762000" y="1235670"/>
            <a:ext cx="9144000" cy="1263649"/>
          </a:xfrm>
        </p:spPr>
        <p:txBody>
          <a:bodyPr/>
          <a:lstStyle/>
          <a:p>
            <a:pPr lvl="0"/>
            <a:r>
              <a:rPr lang="es-ES" dirty="0"/>
              <a:t>Paradigma de comunicación</a:t>
            </a:r>
          </a:p>
        </p:txBody>
      </p:sp>
      <p:sp>
        <p:nvSpPr>
          <p:cNvPr id="3" name="Marcador de contenido 2"/>
          <p:cNvSpPr txBox="1">
            <a:spLocks noGrp="1"/>
          </p:cNvSpPr>
          <p:nvPr>
            <p:ph idx="1"/>
          </p:nvPr>
        </p:nvSpPr>
        <p:spPr>
          <a:xfrm>
            <a:off x="762000" y="2759669"/>
            <a:ext cx="10668000" cy="3048001"/>
          </a:xfrm>
        </p:spPr>
        <p:txBody>
          <a:bodyPr>
            <a:normAutofit fontScale="92500" lnSpcReduction="20000"/>
          </a:bodyPr>
          <a:lstStyle/>
          <a:p>
            <a:pPr lvl="0"/>
            <a:r>
              <a:rPr lang="es-ES"/>
              <a:t>Django: WSGI (Web Server Gateway Interface) ejecuta el intérprete en el inicio del servidor web, como parte del proceso del servidor web (modo integrado). Cada solicitud da como resultado una función específica en el script que se llama, y el entorno de solicitud se pasa como argumentos a la función.</a:t>
            </a:r>
          </a:p>
          <a:p>
            <a:pPr marL="0" lvl="0" indent="0">
              <a:buNone/>
            </a:pPr>
            <a:endParaRPr lang="es-ES"/>
          </a:p>
          <a:p>
            <a:pPr lvl="0"/>
            <a:r>
              <a:rPr lang="es-ES"/>
              <a:t>CodeIgniter: CGI (Common Gateway Interface) ejecuta el script como un proceso separado para cada solicitud y usa variables de entorno, stdin y stdout para "comunicarse" con él.</a:t>
            </a:r>
          </a:p>
          <a:p>
            <a:pPr marL="0" lvl="0" indent="0">
              <a:buNone/>
            </a:pPr>
            <a:endParaRPr lang="es-ES"/>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a:xfrm>
            <a:off x="885568" y="420130"/>
            <a:ext cx="9144000" cy="1263649"/>
          </a:xfrm>
        </p:spPr>
        <p:txBody>
          <a:bodyPr>
            <a:normAutofit fontScale="90000"/>
          </a:bodyPr>
          <a:lstStyle/>
          <a:p>
            <a:pPr lvl="0"/>
            <a:r>
              <a:rPr lang="es-ES" dirty="0"/>
              <a:t>Estructura de la aplicación y modelo-vista-controlador </a:t>
            </a:r>
          </a:p>
        </p:txBody>
      </p:sp>
      <p:sp>
        <p:nvSpPr>
          <p:cNvPr id="3" name="Marcador de contenido 2"/>
          <p:cNvSpPr txBox="1">
            <a:spLocks noGrp="1"/>
          </p:cNvSpPr>
          <p:nvPr>
            <p:ph idx="1"/>
          </p:nvPr>
        </p:nvSpPr>
        <p:spPr>
          <a:xfrm>
            <a:off x="1128028" y="1698408"/>
            <a:ext cx="8947147" cy="680734"/>
          </a:xfrm>
        </p:spPr>
        <p:txBody>
          <a:bodyPr>
            <a:normAutofit fontScale="70000" lnSpcReduction="20000"/>
          </a:bodyPr>
          <a:lstStyle/>
          <a:p>
            <a:pPr lvl="0"/>
            <a:r>
              <a:rPr lang="es-ES" dirty="0"/>
              <a:t>Django: MVT</a:t>
            </a:r>
          </a:p>
          <a:p>
            <a:pPr lvl="0"/>
            <a:r>
              <a:rPr lang="es-ES" dirty="0" err="1"/>
              <a:t>CodeIgniter</a:t>
            </a:r>
            <a:r>
              <a:rPr lang="es-ES" dirty="0"/>
              <a:t>: MVC</a:t>
            </a:r>
          </a:p>
        </p:txBody>
      </p:sp>
      <p:pic>
        <p:nvPicPr>
          <p:cNvPr id="4" name="Imagen 7"/>
          <p:cNvPicPr>
            <a:picLocks noChangeAspect="1"/>
          </p:cNvPicPr>
          <p:nvPr/>
        </p:nvPicPr>
        <p:blipFill>
          <a:blip r:embed="rId3" cstate="print"/>
          <a:stretch>
            <a:fillRect/>
          </a:stretch>
        </p:blipFill>
        <p:spPr>
          <a:xfrm>
            <a:off x="6920362" y="2577263"/>
            <a:ext cx="1279364" cy="4280736"/>
          </a:xfrm>
          <a:prstGeom prst="rect">
            <a:avLst/>
          </a:prstGeom>
          <a:noFill/>
          <a:ln>
            <a:noFill/>
          </a:ln>
        </p:spPr>
      </p:pic>
      <p:pic>
        <p:nvPicPr>
          <p:cNvPr id="5" name="Imagen 9"/>
          <p:cNvPicPr>
            <a:picLocks noChangeAspect="1"/>
          </p:cNvPicPr>
          <p:nvPr/>
        </p:nvPicPr>
        <p:blipFill>
          <a:blip r:embed="rId4" cstate="print"/>
          <a:stretch>
            <a:fillRect/>
          </a:stretch>
        </p:blipFill>
        <p:spPr>
          <a:xfrm>
            <a:off x="1474835" y="2577263"/>
            <a:ext cx="2219449" cy="4092342"/>
          </a:xfrm>
          <a:prstGeom prst="rect">
            <a:avLst/>
          </a:prstGeom>
          <a:noFill/>
          <a:ln>
            <a:noFill/>
          </a:ln>
        </p:spPr>
      </p:pic>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noGrp="1"/>
          </p:cNvSpPr>
          <p:nvPr>
            <p:ph type="title"/>
          </p:nvPr>
        </p:nvSpPr>
        <p:spPr/>
        <p:txBody>
          <a:bodyPr/>
          <a:lstStyle/>
          <a:p>
            <a:pPr lvl="0"/>
            <a:r>
              <a:rPr lang="es-ES"/>
              <a:t>Instalación</a:t>
            </a:r>
          </a:p>
        </p:txBody>
      </p:sp>
      <p:sp>
        <p:nvSpPr>
          <p:cNvPr id="3" name="Marcador de contenido 2"/>
          <p:cNvSpPr txBox="1">
            <a:spLocks noGrp="1"/>
          </p:cNvSpPr>
          <p:nvPr>
            <p:ph idx="1"/>
          </p:nvPr>
        </p:nvSpPr>
        <p:spPr/>
        <p:txBody>
          <a:bodyPr>
            <a:normAutofit fontScale="92500" lnSpcReduction="20000"/>
          </a:bodyPr>
          <a:lstStyle/>
          <a:p>
            <a:pPr lvl="0"/>
            <a:r>
              <a:rPr lang="es-ES"/>
              <a:t>Django: Basta con tener Python.</a:t>
            </a:r>
            <a:br>
              <a:rPr lang="es-ES"/>
            </a:br>
            <a:r>
              <a:rPr lang="es-ES"/>
              <a:t>			Para crear el proyecto </a:t>
            </a:r>
            <a:r>
              <a:rPr lang="es-ES">
                <a:latin typeface="Wingdings" pitchFamily="2"/>
              </a:rPr>
              <a:t></a:t>
            </a:r>
            <a:r>
              <a:rPr lang="es-ES"/>
              <a:t>  django-admin startproject 								&lt;NombreProyecto&gt;</a:t>
            </a:r>
          </a:p>
          <a:p>
            <a:pPr marL="0" lvl="0" indent="0">
              <a:buNone/>
            </a:pPr>
            <a:r>
              <a:rPr lang="es-ES"/>
              <a:t>			Para crear la app </a:t>
            </a:r>
            <a:r>
              <a:rPr lang="es-ES">
                <a:latin typeface="Wingdings" pitchFamily="2"/>
              </a:rPr>
              <a:t></a:t>
            </a:r>
            <a:r>
              <a:rPr lang="es-ES"/>
              <a:t> Python manage.py startapp</a:t>
            </a:r>
            <a:br>
              <a:rPr lang="es-ES"/>
            </a:br>
            <a:r>
              <a:rPr lang="es-ES"/>
              <a:t>						&lt;Nom</a:t>
            </a:r>
          </a:p>
          <a:p>
            <a:pPr marL="0" lvl="0" indent="0">
              <a:buNone/>
            </a:pPr>
            <a:endParaRPr lang="es-ES"/>
          </a:p>
          <a:p>
            <a:pPr lvl="0"/>
            <a:r>
              <a:rPr lang="es-ES"/>
              <a:t>CodeIgniter: Bajarse una carpeta que contiene toda la configuración del framework en la página oficial de Codelgniter.</a:t>
            </a:r>
            <a:br>
              <a:rPr lang="es-ES"/>
            </a:br>
            <a:r>
              <a:rPr lang="es-ES">
                <a:hlinkClick r:id="rId2"/>
              </a:rPr>
              <a:t>https://www.codeigniter.com/</a:t>
            </a:r>
            <a:r>
              <a:rPr lang="es-ES"/>
              <a:t> </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7F4A1-509A-4D0B-BC9A-31A02541D653}"/>
              </a:ext>
            </a:extLst>
          </p:cNvPr>
          <p:cNvSpPr>
            <a:spLocks noGrp="1"/>
          </p:cNvSpPr>
          <p:nvPr>
            <p:ph type="ctrTitle"/>
          </p:nvPr>
        </p:nvSpPr>
        <p:spPr>
          <a:xfrm>
            <a:off x="1177715" y="264298"/>
            <a:ext cx="9825989" cy="2394497"/>
          </a:xfrm>
        </p:spPr>
        <p:txBody>
          <a:bodyPr/>
          <a:lstStyle/>
          <a:p>
            <a:r>
              <a:rPr lang="es-ES" b="1" dirty="0"/>
              <a:t>COMPARACIÓN FRAMEWORKS</a:t>
            </a:r>
          </a:p>
        </p:txBody>
      </p:sp>
      <p:sp>
        <p:nvSpPr>
          <p:cNvPr id="3" name="Subtítulo 2">
            <a:extLst>
              <a:ext uri="{FF2B5EF4-FFF2-40B4-BE49-F238E27FC236}">
                <a16:creationId xmlns:a16="http://schemas.microsoft.com/office/drawing/2014/main" id="{736FA4B3-F0A8-484A-B562-5178115D21E1}"/>
              </a:ext>
            </a:extLst>
          </p:cNvPr>
          <p:cNvSpPr>
            <a:spLocks noGrp="1"/>
          </p:cNvSpPr>
          <p:nvPr>
            <p:ph type="subTitle" idx="1"/>
          </p:nvPr>
        </p:nvSpPr>
        <p:spPr>
          <a:xfrm>
            <a:off x="1370693" y="3007496"/>
            <a:ext cx="9440034" cy="1049867"/>
          </a:xfrm>
        </p:spPr>
        <p:txBody>
          <a:bodyPr>
            <a:normAutofit/>
          </a:bodyPr>
          <a:lstStyle/>
          <a:p>
            <a:r>
              <a:rPr lang="es-ES" sz="3200" b="1" dirty="0"/>
              <a:t>EXPRESS - CODEIGNITER</a:t>
            </a:r>
          </a:p>
        </p:txBody>
      </p:sp>
      <p:sp>
        <p:nvSpPr>
          <p:cNvPr id="4" name="Subtítulo 2">
            <a:extLst>
              <a:ext uri="{FF2B5EF4-FFF2-40B4-BE49-F238E27FC236}">
                <a16:creationId xmlns:a16="http://schemas.microsoft.com/office/drawing/2014/main" id="{8CF79FF1-5365-40A2-8029-2300B332CF0D}"/>
              </a:ext>
            </a:extLst>
          </p:cNvPr>
          <p:cNvSpPr txBox="1">
            <a:spLocks/>
          </p:cNvSpPr>
          <p:nvPr/>
        </p:nvSpPr>
        <p:spPr>
          <a:xfrm>
            <a:off x="1381273" y="4057363"/>
            <a:ext cx="9440034" cy="104986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r>
              <a:rPr lang="es-ES" sz="2400" dirty="0"/>
              <a:t>David Domínguez Fernández</a:t>
            </a:r>
          </a:p>
        </p:txBody>
      </p:sp>
    </p:spTree>
    <p:extLst>
      <p:ext uri="{BB962C8B-B14F-4D97-AF65-F5344CB8AC3E}">
        <p14:creationId xmlns:p14="http://schemas.microsoft.com/office/powerpoint/2010/main" val="152430561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E3F45C-42E9-4901-8226-B8A249C00305}"/>
              </a:ext>
            </a:extLst>
          </p:cNvPr>
          <p:cNvSpPr>
            <a:spLocks noGrp="1"/>
          </p:cNvSpPr>
          <p:nvPr>
            <p:ph type="title"/>
          </p:nvPr>
        </p:nvSpPr>
        <p:spPr/>
        <p:txBody>
          <a:bodyPr/>
          <a:lstStyle/>
          <a:p>
            <a:r>
              <a:rPr lang="es-ES" dirty="0"/>
              <a:t>EXPRESS</a:t>
            </a:r>
          </a:p>
        </p:txBody>
      </p:sp>
      <p:sp>
        <p:nvSpPr>
          <p:cNvPr id="3" name="Marcador de contenido 2">
            <a:extLst>
              <a:ext uri="{FF2B5EF4-FFF2-40B4-BE49-F238E27FC236}">
                <a16:creationId xmlns:a16="http://schemas.microsoft.com/office/drawing/2014/main" id="{4CB050C6-B00D-4A36-8F3F-DA4F52A160EC}"/>
              </a:ext>
            </a:extLst>
          </p:cNvPr>
          <p:cNvSpPr>
            <a:spLocks noGrp="1"/>
          </p:cNvSpPr>
          <p:nvPr>
            <p:ph idx="1"/>
          </p:nvPr>
        </p:nvSpPr>
        <p:spPr>
          <a:xfrm>
            <a:off x="1138878" y="2189649"/>
            <a:ext cx="10353762" cy="4058751"/>
          </a:xfrm>
        </p:spPr>
        <p:txBody>
          <a:bodyPr/>
          <a:lstStyle/>
          <a:p>
            <a:r>
              <a:rPr lang="es-ES" dirty="0">
                <a:effectLst/>
              </a:rPr>
              <a:t>Express.js es un </a:t>
            </a:r>
            <a:r>
              <a:rPr lang="es-ES" dirty="0" err="1">
                <a:effectLst/>
              </a:rPr>
              <a:t>framework</a:t>
            </a:r>
            <a:r>
              <a:rPr lang="es-ES" dirty="0">
                <a:effectLst/>
              </a:rPr>
              <a:t> de aplicación web gratuito y de código abierto para Node.js. Se utiliza para diseñar y crear aplicaciones web de forma rápida y sencilla ya que Express solo requiere </a:t>
            </a:r>
            <a:r>
              <a:rPr lang="es-ES" dirty="0" err="1">
                <a:effectLst/>
              </a:rPr>
              <a:t>javascript</a:t>
            </a:r>
            <a:r>
              <a:rPr lang="es-ES" dirty="0">
                <a:effectLst/>
              </a:rPr>
              <a:t>.</a:t>
            </a:r>
          </a:p>
          <a:p>
            <a:r>
              <a:rPr lang="es-ES" dirty="0">
                <a:effectLst/>
              </a:rPr>
              <a:t>Es importante aprender </a:t>
            </a:r>
            <a:r>
              <a:rPr lang="es-ES" dirty="0" err="1">
                <a:effectLst/>
              </a:rPr>
              <a:t>javascript</a:t>
            </a:r>
            <a:r>
              <a:rPr lang="es-ES" dirty="0">
                <a:effectLst/>
              </a:rPr>
              <a:t> y HTML para poder utilizar Express. Express facilita la administración de aplicaciones web. </a:t>
            </a:r>
            <a:r>
              <a:rPr lang="es-ES" dirty="0" err="1">
                <a:effectLst/>
              </a:rPr>
              <a:t>ExpressJS</a:t>
            </a:r>
            <a:r>
              <a:rPr lang="es-ES" dirty="0">
                <a:effectLst/>
              </a:rPr>
              <a:t>, </a:t>
            </a:r>
            <a:r>
              <a:rPr lang="es-ES" dirty="0" err="1">
                <a:effectLst/>
              </a:rPr>
              <a:t>AngularJS</a:t>
            </a:r>
            <a:r>
              <a:rPr lang="es-ES" dirty="0">
                <a:effectLst/>
              </a:rPr>
              <a:t> y Node.js. También administra el enrutamiento, las sesiones, las solicitudes HTTP, el manejo de errores, etc.</a:t>
            </a:r>
          </a:p>
        </p:txBody>
      </p:sp>
    </p:spTree>
    <p:extLst>
      <p:ext uri="{BB962C8B-B14F-4D97-AF65-F5344CB8AC3E}">
        <p14:creationId xmlns:p14="http://schemas.microsoft.com/office/powerpoint/2010/main" val="251430791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0DDE6B-2146-4EF8-A499-AC4D788FCB11}"/>
              </a:ext>
            </a:extLst>
          </p:cNvPr>
          <p:cNvSpPr>
            <a:spLocks noGrp="1"/>
          </p:cNvSpPr>
          <p:nvPr>
            <p:ph type="title"/>
          </p:nvPr>
        </p:nvSpPr>
        <p:spPr/>
        <p:txBody>
          <a:bodyPr/>
          <a:lstStyle/>
          <a:p>
            <a:r>
              <a:rPr lang="es-ES" dirty="0"/>
              <a:t>CODEIGNITER</a:t>
            </a:r>
          </a:p>
        </p:txBody>
      </p:sp>
      <p:sp>
        <p:nvSpPr>
          <p:cNvPr id="3" name="Marcador de contenido 2">
            <a:extLst>
              <a:ext uri="{FF2B5EF4-FFF2-40B4-BE49-F238E27FC236}">
                <a16:creationId xmlns:a16="http://schemas.microsoft.com/office/drawing/2014/main" id="{1958A87D-3723-48F8-97B4-5AAED98A449F}"/>
              </a:ext>
            </a:extLst>
          </p:cNvPr>
          <p:cNvSpPr>
            <a:spLocks noGrp="1"/>
          </p:cNvSpPr>
          <p:nvPr>
            <p:ph idx="1"/>
          </p:nvPr>
        </p:nvSpPr>
        <p:spPr>
          <a:xfrm>
            <a:off x="913795" y="2189649"/>
            <a:ext cx="10353762" cy="4058751"/>
          </a:xfrm>
        </p:spPr>
        <p:txBody>
          <a:bodyPr>
            <a:normAutofit fontScale="92500" lnSpcReduction="10000"/>
          </a:bodyPr>
          <a:lstStyle/>
          <a:p>
            <a:r>
              <a:rPr lang="es-ES" b="0" i="0" dirty="0">
                <a:solidFill>
                  <a:schemeClr val="tx1"/>
                </a:solidFill>
                <a:effectLst/>
              </a:rPr>
              <a:t>Es un </a:t>
            </a:r>
            <a:r>
              <a:rPr lang="es-ES" b="0" i="0" dirty="0" err="1">
                <a:solidFill>
                  <a:schemeClr val="tx1"/>
                </a:solidFill>
                <a:effectLst/>
              </a:rPr>
              <a:t>framework</a:t>
            </a:r>
            <a:r>
              <a:rPr lang="es-ES" b="0" i="0" dirty="0">
                <a:solidFill>
                  <a:schemeClr val="tx1"/>
                </a:solidFill>
                <a:effectLst/>
              </a:rPr>
              <a:t> gratuito y de código abierto de </a:t>
            </a:r>
            <a:r>
              <a:rPr lang="es-ES" b="0" i="0" dirty="0" err="1">
                <a:solidFill>
                  <a:schemeClr val="tx1"/>
                </a:solidFill>
                <a:effectLst/>
              </a:rPr>
              <a:t>php</a:t>
            </a:r>
            <a:r>
              <a:rPr lang="es-ES" b="0" i="0" dirty="0">
                <a:solidFill>
                  <a:schemeClr val="tx1"/>
                </a:solidFill>
                <a:effectLst/>
              </a:rPr>
              <a:t>.</a:t>
            </a:r>
          </a:p>
          <a:p>
            <a:r>
              <a:rPr lang="es-ES" b="0" i="0" dirty="0">
                <a:solidFill>
                  <a:schemeClr val="tx1"/>
                </a:solidFill>
                <a:effectLst/>
              </a:rPr>
              <a:t>Como cualquier otro </a:t>
            </a:r>
            <a:r>
              <a:rPr lang="es-ES" b="0" i="0" dirty="0" err="1">
                <a:solidFill>
                  <a:schemeClr val="tx1"/>
                </a:solidFill>
                <a:effectLst/>
              </a:rPr>
              <a:t>framework</a:t>
            </a:r>
            <a:r>
              <a:rPr lang="es-ES" b="0" i="0" dirty="0">
                <a:solidFill>
                  <a:schemeClr val="tx1"/>
                </a:solidFill>
                <a:effectLst/>
              </a:rPr>
              <a:t>, </a:t>
            </a:r>
            <a:r>
              <a:rPr lang="es-ES" b="0" i="0" dirty="0" err="1">
                <a:solidFill>
                  <a:schemeClr val="tx1"/>
                </a:solidFill>
                <a:effectLst/>
              </a:rPr>
              <a:t>Codeigniter</a:t>
            </a:r>
            <a:r>
              <a:rPr lang="es-ES" b="0" i="0" dirty="0">
                <a:solidFill>
                  <a:schemeClr val="tx1"/>
                </a:solidFill>
                <a:effectLst/>
              </a:rPr>
              <a:t> contiene una serie de librerías que sirven para el desarrollo de aplicaciones web y marca una manera específica de programar que sirve para que el código esté organizado y sea más fácil de crear y mantener.</a:t>
            </a:r>
          </a:p>
          <a:p>
            <a:r>
              <a:rPr lang="es-ES" b="0" i="0" dirty="0">
                <a:solidFill>
                  <a:schemeClr val="tx1"/>
                </a:solidFill>
                <a:effectLst/>
              </a:rPr>
              <a:t> </a:t>
            </a:r>
            <a:r>
              <a:rPr lang="es-ES" b="0" i="0" dirty="0" err="1">
                <a:solidFill>
                  <a:schemeClr val="tx1"/>
                </a:solidFill>
                <a:effectLst/>
                <a:latin typeface="Calisto MT" panose="02040603050505030304" pitchFamily="18" charset="0"/>
              </a:rPr>
              <a:t>CodeIgniter</a:t>
            </a:r>
            <a:r>
              <a:rPr lang="es-ES" b="0" i="0" dirty="0">
                <a:solidFill>
                  <a:schemeClr val="tx1"/>
                </a:solidFill>
                <a:effectLst/>
                <a:latin typeface="Calisto MT" panose="02040603050505030304" pitchFamily="18" charset="0"/>
              </a:rPr>
              <a:t> contiene muchas ayudas para la creación de aplicaciones PHP avanzadas, que hacen que el proceso de desarrollo más rápido. A la vez, define una arquitectura de desarrollo que hará que programemos de una manera más ordenada y contiene diversas herramientas que ayudan a hacer aplicaciones más versátiles y seguras.</a:t>
            </a:r>
            <a:endParaRPr lang="es-ES"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09745674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3CA16-640B-4217-8CEE-7F6988E56DF6}"/>
              </a:ext>
            </a:extLst>
          </p:cNvPr>
          <p:cNvSpPr>
            <a:spLocks noGrp="1"/>
          </p:cNvSpPr>
          <p:nvPr>
            <p:ph type="ctrTitle"/>
          </p:nvPr>
        </p:nvSpPr>
        <p:spPr/>
        <p:txBody>
          <a:bodyPr/>
          <a:lstStyle/>
          <a:p>
            <a:r>
              <a:rPr lang="es-ES" dirty="0" err="1">
                <a:latin typeface="Merriweather" panose="00000500000000000000" pitchFamily="2" charset="0"/>
              </a:rPr>
              <a:t>CodeIgniter</a:t>
            </a:r>
            <a:r>
              <a:rPr lang="es-ES" dirty="0">
                <a:latin typeface="Merriweather" panose="00000500000000000000" pitchFamily="2" charset="0"/>
              </a:rPr>
              <a:t> y </a:t>
            </a:r>
            <a:r>
              <a:rPr lang="es-ES" dirty="0" err="1">
                <a:latin typeface="Merriweather" panose="00000500000000000000" pitchFamily="2" charset="0"/>
              </a:rPr>
              <a:t>sinatra</a:t>
            </a:r>
            <a:endParaRPr lang="es-ES" dirty="0">
              <a:latin typeface="Merriweather" panose="00000500000000000000" pitchFamily="2" charset="0"/>
            </a:endParaRPr>
          </a:p>
        </p:txBody>
      </p:sp>
      <p:sp>
        <p:nvSpPr>
          <p:cNvPr id="4" name="Subtitle 3"/>
          <p:cNvSpPr>
            <a:spLocks noGrp="1"/>
          </p:cNvSpPr>
          <p:nvPr>
            <p:ph type="subTitle" idx="1"/>
          </p:nvPr>
        </p:nvSpPr>
        <p:spPr/>
        <p:txBody>
          <a:bodyPr/>
          <a:lstStyle/>
          <a:p>
            <a:endParaRPr lang="en-GB"/>
          </a:p>
        </p:txBody>
      </p:sp>
    </p:spTree>
    <p:extLst>
      <p:ext uri="{BB962C8B-B14F-4D97-AF65-F5344CB8AC3E}">
        <p14:creationId xmlns:p14="http://schemas.microsoft.com/office/powerpoint/2010/main" val="154718348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3C36F7-084C-44F6-B979-207425137656}"/>
              </a:ext>
            </a:extLst>
          </p:cNvPr>
          <p:cNvSpPr>
            <a:spLocks noGrp="1"/>
          </p:cNvSpPr>
          <p:nvPr>
            <p:ph type="title"/>
          </p:nvPr>
        </p:nvSpPr>
        <p:spPr>
          <a:xfrm>
            <a:off x="1141412" y="618518"/>
            <a:ext cx="5894387" cy="1478570"/>
          </a:xfrm>
        </p:spPr>
        <p:txBody>
          <a:bodyPr anchor="b">
            <a:normAutofit/>
          </a:bodyPr>
          <a:lstStyle/>
          <a:p>
            <a:r>
              <a:rPr lang="es-ES">
                <a:latin typeface="Merriweather" panose="00000500000000000000" pitchFamily="2" charset="0"/>
              </a:rPr>
              <a:t>codeigniter</a:t>
            </a:r>
            <a:endParaRPr lang="es-ES" dirty="0">
              <a:latin typeface="Merriweather" panose="00000500000000000000" pitchFamily="2" charset="0"/>
            </a:endParaRPr>
          </a:p>
        </p:txBody>
      </p:sp>
      <p:sp>
        <p:nvSpPr>
          <p:cNvPr id="3" name="Marcador de contenido 2">
            <a:extLst>
              <a:ext uri="{FF2B5EF4-FFF2-40B4-BE49-F238E27FC236}">
                <a16:creationId xmlns:a16="http://schemas.microsoft.com/office/drawing/2014/main" id="{E4336164-09FF-45C5-9280-4ED40E770B8A}"/>
              </a:ext>
            </a:extLst>
          </p:cNvPr>
          <p:cNvSpPr>
            <a:spLocks noGrp="1"/>
          </p:cNvSpPr>
          <p:nvPr>
            <p:ph idx="1"/>
          </p:nvPr>
        </p:nvSpPr>
        <p:spPr>
          <a:xfrm>
            <a:off x="1141412" y="2249487"/>
            <a:ext cx="5894388" cy="3541714"/>
          </a:xfrm>
        </p:spPr>
        <p:txBody>
          <a:bodyPr>
            <a:normAutofit/>
          </a:bodyPr>
          <a:lstStyle/>
          <a:p>
            <a:r>
              <a:rPr lang="es-ES" sz="1800" dirty="0">
                <a:latin typeface="Montserrat" panose="00000500000000000000" pitchFamily="2" charset="0"/>
              </a:rPr>
              <a:t>Es un </a:t>
            </a:r>
            <a:r>
              <a:rPr lang="es-ES" sz="1800" dirty="0" err="1">
                <a:latin typeface="Montserrat" panose="00000500000000000000" pitchFamily="2" charset="0"/>
              </a:rPr>
              <a:t>framework</a:t>
            </a:r>
            <a:r>
              <a:rPr lang="es-ES" sz="1800" dirty="0">
                <a:latin typeface="Montserrat" panose="00000500000000000000" pitchFamily="2" charset="0"/>
              </a:rPr>
              <a:t> de PHP.</a:t>
            </a:r>
          </a:p>
          <a:p>
            <a:r>
              <a:rPr lang="es-ES" sz="1800" dirty="0">
                <a:latin typeface="Montserrat" panose="00000500000000000000" pitchFamily="2" charset="0"/>
              </a:rPr>
              <a:t>Usa el MVC para mejorar la forma de trabajo.</a:t>
            </a:r>
          </a:p>
          <a:p>
            <a:r>
              <a:rPr lang="es-ES" sz="1800" dirty="0">
                <a:latin typeface="Montserrat" panose="00000500000000000000" pitchFamily="2" charset="0"/>
              </a:rPr>
              <a:t>Tiene un procesamiento rápido.</a:t>
            </a:r>
          </a:p>
          <a:p>
            <a:r>
              <a:rPr lang="es-ES" sz="1800" dirty="0">
                <a:latin typeface="Montserrat" panose="00000500000000000000" pitchFamily="2" charset="0"/>
              </a:rPr>
              <a:t>Contiene muchas librerías.</a:t>
            </a:r>
          </a:p>
          <a:p>
            <a:r>
              <a:rPr lang="es-ES" sz="1800" dirty="0">
                <a:latin typeface="Montserrat" panose="00000500000000000000" pitchFamily="2" charset="0"/>
              </a:rPr>
              <a:t>Ofrece un gran rendimiento.</a:t>
            </a:r>
          </a:p>
          <a:p>
            <a:r>
              <a:rPr lang="es-ES" sz="1800" dirty="0">
                <a:latin typeface="Montserrat" panose="00000500000000000000" pitchFamily="2" charset="0"/>
              </a:rPr>
              <a:t>Sin normas de coordinación</a:t>
            </a:r>
          </a:p>
          <a:p>
            <a:r>
              <a:rPr lang="es-ES" sz="1800" dirty="0">
                <a:latin typeface="Montserrat" panose="00000500000000000000" pitchFamily="2" charset="0"/>
              </a:rPr>
              <a:t>Provee de un filtro para evitar ataques XSS</a:t>
            </a:r>
          </a:p>
        </p:txBody>
      </p:sp>
      <p:pic>
        <p:nvPicPr>
          <p:cNvPr id="5" name="Imagen 4" descr="Logotipo, Icono&#10;&#10;Descripción generada automáticamente">
            <a:extLst>
              <a:ext uri="{FF2B5EF4-FFF2-40B4-BE49-F238E27FC236}">
                <a16:creationId xmlns:a16="http://schemas.microsoft.com/office/drawing/2014/main" id="{8ACD5451-2720-47FD-98CF-1DADBBC279BF}"/>
              </a:ext>
            </a:extLst>
          </p:cNvPr>
          <p:cNvPicPr>
            <a:picLocks noChangeAspect="1"/>
          </p:cNvPicPr>
          <p:nvPr/>
        </p:nvPicPr>
        <p:blipFill rotWithShape="1">
          <a:blip r:embed="rId2" cstate="print">
            <a:extLst>
              <a:ext uri="{837473B0-CC2E-450A-ABE3-18F120FF3D39}">
                <a1611:picAttrSrcUrl xmlns:a1611="http://schemas.microsoft.com/office/drawing/2016/11/main" r:id="rId3"/>
              </a:ext>
            </a:extLst>
          </a:blip>
          <a:srcRect l="1331" r="1045" b="-1"/>
          <a:stretch/>
        </p:blipFill>
        <p:spPr>
          <a:xfrm>
            <a:off x="7619998" y="780235"/>
            <a:ext cx="3425199" cy="484033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8259918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061039-E9D0-45DB-8BC8-04DF8FCF8512}"/>
              </a:ext>
            </a:extLst>
          </p:cNvPr>
          <p:cNvSpPr>
            <a:spLocks noGrp="1"/>
          </p:cNvSpPr>
          <p:nvPr>
            <p:ph type="title"/>
          </p:nvPr>
        </p:nvSpPr>
        <p:spPr>
          <a:xfrm>
            <a:off x="1141412" y="618518"/>
            <a:ext cx="5894387" cy="1478570"/>
          </a:xfrm>
        </p:spPr>
        <p:txBody>
          <a:bodyPr anchor="b">
            <a:normAutofit/>
          </a:bodyPr>
          <a:lstStyle/>
          <a:p>
            <a:r>
              <a:rPr lang="es-ES">
                <a:latin typeface="Merriweather" panose="00000500000000000000" pitchFamily="2" charset="0"/>
              </a:rPr>
              <a:t>Sinatra</a:t>
            </a:r>
          </a:p>
        </p:txBody>
      </p:sp>
      <p:sp>
        <p:nvSpPr>
          <p:cNvPr id="3" name="Marcador de contenido 2">
            <a:extLst>
              <a:ext uri="{FF2B5EF4-FFF2-40B4-BE49-F238E27FC236}">
                <a16:creationId xmlns:a16="http://schemas.microsoft.com/office/drawing/2014/main" id="{BAEABACB-83E8-48E3-A9C2-16B10B0899B3}"/>
              </a:ext>
            </a:extLst>
          </p:cNvPr>
          <p:cNvSpPr>
            <a:spLocks noGrp="1"/>
          </p:cNvSpPr>
          <p:nvPr>
            <p:ph idx="1"/>
          </p:nvPr>
        </p:nvSpPr>
        <p:spPr>
          <a:xfrm>
            <a:off x="1141412" y="2249487"/>
            <a:ext cx="5894388" cy="3541714"/>
          </a:xfrm>
        </p:spPr>
        <p:txBody>
          <a:bodyPr>
            <a:normAutofit lnSpcReduction="10000"/>
          </a:bodyPr>
          <a:lstStyle/>
          <a:p>
            <a:r>
              <a:rPr lang="es-ES"/>
              <a:t>Funciona como </a:t>
            </a:r>
            <a:r>
              <a:rPr lang="es-ES" err="1"/>
              <a:t>framework</a:t>
            </a:r>
            <a:r>
              <a:rPr lang="es-ES"/>
              <a:t> alternativo a </a:t>
            </a:r>
            <a:r>
              <a:rPr lang="es-ES" err="1"/>
              <a:t>rails</a:t>
            </a:r>
            <a:r>
              <a:rPr lang="es-ES"/>
              <a:t>, </a:t>
            </a:r>
            <a:r>
              <a:rPr lang="es-ES" err="1"/>
              <a:t>merb</a:t>
            </a:r>
            <a:r>
              <a:rPr lang="es-ES"/>
              <a:t> o rango.</a:t>
            </a:r>
          </a:p>
          <a:p>
            <a:r>
              <a:rPr lang="es-ES"/>
              <a:t>No sigue el </a:t>
            </a:r>
            <a:r>
              <a:rPr lang="es-ES" err="1"/>
              <a:t>patron</a:t>
            </a:r>
            <a:r>
              <a:rPr lang="es-ES"/>
              <a:t> MVC.</a:t>
            </a:r>
          </a:p>
          <a:p>
            <a:r>
              <a:rPr lang="es-ES"/>
              <a:t>Rapidez a la hora de crear aplicaciones.</a:t>
            </a:r>
          </a:p>
          <a:p>
            <a:r>
              <a:rPr lang="es-ES"/>
              <a:t>Fácil instalación</a:t>
            </a:r>
          </a:p>
          <a:p>
            <a:r>
              <a:rPr lang="es-ES"/>
              <a:t>Permite varios motores de visualización</a:t>
            </a:r>
          </a:p>
          <a:p>
            <a:endParaRPr lang="es-ES"/>
          </a:p>
        </p:txBody>
      </p:sp>
      <p:pic>
        <p:nvPicPr>
          <p:cNvPr id="40" name="Imagen 39" descr="Imagen que contiene Icono&#10;&#10;Descripción generada automáticamente">
            <a:extLst>
              <a:ext uri="{FF2B5EF4-FFF2-40B4-BE49-F238E27FC236}">
                <a16:creationId xmlns:a16="http://schemas.microsoft.com/office/drawing/2014/main" id="{826237C3-3587-496D-9EE7-F54541E053A5}"/>
              </a:ext>
            </a:extLst>
          </p:cNvPr>
          <p:cNvPicPr>
            <a:picLocks noChangeAspect="1"/>
          </p:cNvPicPr>
          <p:nvPr/>
        </p:nvPicPr>
        <p:blipFill rotWithShape="1">
          <a:blip r:embed="rId2" cstate="print">
            <a:extLst>
              <a:ext uri="{837473B0-CC2E-450A-ABE3-18F120FF3D39}">
                <a1611:picAttrSrcUrl xmlns:a1611="http://schemas.microsoft.com/office/drawing/2016/11/main" r:id="rId3"/>
              </a:ext>
            </a:extLst>
          </a:blip>
          <a:srcRect l="1197" r="28040" b="1"/>
          <a:stretch/>
        </p:blipFill>
        <p:spPr>
          <a:xfrm>
            <a:off x="7619998" y="780235"/>
            <a:ext cx="3425199" cy="4840332"/>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52748857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0B352FA-B1B6-40AB-B6C8-7B436EA7F295}"/>
              </a:ext>
            </a:extLst>
          </p:cNvPr>
          <p:cNvSpPr>
            <a:spLocks noGrp="1"/>
          </p:cNvSpPr>
          <p:nvPr>
            <p:ph type="title"/>
          </p:nvPr>
        </p:nvSpPr>
        <p:spPr/>
        <p:txBody>
          <a:bodyPr/>
          <a:lstStyle/>
          <a:p>
            <a:r>
              <a:rPr lang="es-ES" dirty="0">
                <a:latin typeface="Merriweather" panose="00000500000000000000" pitchFamily="2" charset="0"/>
              </a:rPr>
              <a:t>Servidores</a:t>
            </a:r>
          </a:p>
        </p:txBody>
      </p:sp>
      <p:sp>
        <p:nvSpPr>
          <p:cNvPr id="5" name="Marcador de texto 4">
            <a:extLst>
              <a:ext uri="{FF2B5EF4-FFF2-40B4-BE49-F238E27FC236}">
                <a16:creationId xmlns:a16="http://schemas.microsoft.com/office/drawing/2014/main" id="{1A7BFCA1-24AE-41F8-89F3-7593F95BD4B8}"/>
              </a:ext>
            </a:extLst>
          </p:cNvPr>
          <p:cNvSpPr>
            <a:spLocks noGrp="1"/>
          </p:cNvSpPr>
          <p:nvPr>
            <p:ph type="body" idx="1"/>
          </p:nvPr>
        </p:nvSpPr>
        <p:spPr/>
        <p:txBody>
          <a:bodyPr/>
          <a:lstStyle/>
          <a:p>
            <a:r>
              <a:rPr lang="es-ES" dirty="0">
                <a:latin typeface="Merriweather" panose="00000500000000000000" pitchFamily="2" charset="0"/>
              </a:rPr>
              <a:t>CODEIGNITER</a:t>
            </a:r>
          </a:p>
        </p:txBody>
      </p:sp>
      <p:sp>
        <p:nvSpPr>
          <p:cNvPr id="6" name="Marcador de contenido 5">
            <a:extLst>
              <a:ext uri="{FF2B5EF4-FFF2-40B4-BE49-F238E27FC236}">
                <a16:creationId xmlns:a16="http://schemas.microsoft.com/office/drawing/2014/main" id="{8199C85A-8F2F-44E3-B27E-26F41F54B611}"/>
              </a:ext>
            </a:extLst>
          </p:cNvPr>
          <p:cNvSpPr>
            <a:spLocks noGrp="1"/>
          </p:cNvSpPr>
          <p:nvPr>
            <p:ph sz="half" idx="2"/>
          </p:nvPr>
        </p:nvSpPr>
        <p:spPr/>
        <p:txBody>
          <a:bodyPr>
            <a:normAutofit/>
          </a:bodyPr>
          <a:lstStyle/>
          <a:p>
            <a:r>
              <a:rPr lang="es-ES" dirty="0">
                <a:latin typeface="Montserrat" panose="00000500000000000000" pitchFamily="2" charset="0"/>
              </a:rPr>
              <a:t>Server de PHP 4 o 5</a:t>
            </a:r>
          </a:p>
          <a:p>
            <a:r>
              <a:rPr lang="es-ES" dirty="0">
                <a:latin typeface="Montserrat" panose="00000500000000000000" pitchFamily="2" charset="0"/>
              </a:rPr>
              <a:t>Con su versión 2 PHP 5.1.6 up</a:t>
            </a:r>
          </a:p>
          <a:p>
            <a:r>
              <a:rPr lang="es-ES" dirty="0">
                <a:latin typeface="Montserrat" panose="00000500000000000000" pitchFamily="2" charset="0"/>
              </a:rPr>
              <a:t>Multiplataforma</a:t>
            </a:r>
          </a:p>
          <a:p>
            <a:r>
              <a:rPr lang="es-ES" dirty="0">
                <a:latin typeface="Montserrat" panose="00000500000000000000" pitchFamily="2" charset="0"/>
              </a:rPr>
              <a:t>Servidor Apache</a:t>
            </a:r>
          </a:p>
        </p:txBody>
      </p:sp>
      <p:sp>
        <p:nvSpPr>
          <p:cNvPr id="7" name="Marcador de texto 6">
            <a:extLst>
              <a:ext uri="{FF2B5EF4-FFF2-40B4-BE49-F238E27FC236}">
                <a16:creationId xmlns:a16="http://schemas.microsoft.com/office/drawing/2014/main" id="{F6A5D33F-E349-453F-A517-667C9E7CF0E4}"/>
              </a:ext>
            </a:extLst>
          </p:cNvPr>
          <p:cNvSpPr>
            <a:spLocks noGrp="1"/>
          </p:cNvSpPr>
          <p:nvPr>
            <p:ph type="body" sz="quarter" idx="3"/>
          </p:nvPr>
        </p:nvSpPr>
        <p:spPr/>
        <p:txBody>
          <a:bodyPr/>
          <a:lstStyle/>
          <a:p>
            <a:r>
              <a:rPr lang="es-ES" dirty="0">
                <a:latin typeface="Merriweather" panose="00000500000000000000" pitchFamily="2" charset="0"/>
              </a:rPr>
              <a:t>SINATRA</a:t>
            </a:r>
          </a:p>
        </p:txBody>
      </p:sp>
      <p:sp>
        <p:nvSpPr>
          <p:cNvPr id="8" name="Marcador de contenido 7">
            <a:extLst>
              <a:ext uri="{FF2B5EF4-FFF2-40B4-BE49-F238E27FC236}">
                <a16:creationId xmlns:a16="http://schemas.microsoft.com/office/drawing/2014/main" id="{5AAB1A75-3090-42CE-ADD2-3F84383358A1}"/>
              </a:ext>
            </a:extLst>
          </p:cNvPr>
          <p:cNvSpPr>
            <a:spLocks noGrp="1"/>
          </p:cNvSpPr>
          <p:nvPr>
            <p:ph sz="quarter" idx="4"/>
          </p:nvPr>
        </p:nvSpPr>
        <p:spPr/>
        <p:txBody>
          <a:bodyPr>
            <a:normAutofit/>
          </a:bodyPr>
          <a:lstStyle/>
          <a:p>
            <a:r>
              <a:rPr lang="es-ES" dirty="0">
                <a:latin typeface="Montserrat" panose="00000500000000000000" pitchFamily="2" charset="0"/>
              </a:rPr>
              <a:t>Ruby </a:t>
            </a:r>
          </a:p>
          <a:p>
            <a:r>
              <a:rPr lang="es-ES" dirty="0">
                <a:latin typeface="Montserrat" panose="00000500000000000000" pitchFamily="2" charset="0"/>
              </a:rPr>
              <a:t>Server puma, </a:t>
            </a:r>
            <a:r>
              <a:rPr lang="es-ES" dirty="0" err="1">
                <a:latin typeface="Montserrat" panose="00000500000000000000" pitchFamily="2" charset="0"/>
              </a:rPr>
              <a:t>rainbows</a:t>
            </a:r>
            <a:r>
              <a:rPr lang="es-ES" dirty="0">
                <a:latin typeface="Montserrat" panose="00000500000000000000" pitchFamily="2" charset="0"/>
              </a:rPr>
              <a:t>, </a:t>
            </a:r>
            <a:r>
              <a:rPr lang="es-ES" dirty="0" err="1">
                <a:latin typeface="Montserrat" panose="00000500000000000000" pitchFamily="2" charset="0"/>
              </a:rPr>
              <a:t>WEBrick</a:t>
            </a:r>
            <a:r>
              <a:rPr lang="es-ES" dirty="0">
                <a:latin typeface="Montserrat" panose="00000500000000000000" pitchFamily="2" charset="0"/>
              </a:rPr>
              <a:t> </a:t>
            </a:r>
          </a:p>
          <a:p>
            <a:r>
              <a:rPr lang="es-ES" dirty="0">
                <a:latin typeface="Montserrat" panose="00000500000000000000" pitchFamily="2" charset="0"/>
              </a:rPr>
              <a:t>Permite el uso de </a:t>
            </a:r>
            <a:r>
              <a:rPr lang="es-ES" dirty="0" err="1">
                <a:latin typeface="Montserrat" panose="00000500000000000000" pitchFamily="2" charset="0"/>
              </a:rPr>
              <a:t>multithreating</a:t>
            </a:r>
            <a:endParaRPr lang="es-ES" dirty="0">
              <a:latin typeface="Montserrat" panose="00000500000000000000" pitchFamily="2" charset="0"/>
            </a:endParaRPr>
          </a:p>
          <a:p>
            <a:r>
              <a:rPr lang="es-ES" dirty="0">
                <a:latin typeface="Montserrat" panose="00000500000000000000" pitchFamily="2" charset="0"/>
              </a:rPr>
              <a:t>Multiplataforma</a:t>
            </a:r>
          </a:p>
        </p:txBody>
      </p:sp>
    </p:spTree>
    <p:extLst>
      <p:ext uri="{BB962C8B-B14F-4D97-AF65-F5344CB8AC3E}">
        <p14:creationId xmlns:p14="http://schemas.microsoft.com/office/powerpoint/2010/main" val="424788769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E98A82-DE95-4685-AE85-8938036BD22B}"/>
              </a:ext>
            </a:extLst>
          </p:cNvPr>
          <p:cNvSpPr>
            <a:spLocks noGrp="1"/>
          </p:cNvSpPr>
          <p:nvPr>
            <p:ph type="title"/>
          </p:nvPr>
        </p:nvSpPr>
        <p:spPr/>
        <p:txBody>
          <a:bodyPr/>
          <a:lstStyle/>
          <a:p>
            <a:r>
              <a:rPr lang="es-ES" dirty="0">
                <a:latin typeface="Merriweather" panose="00000500000000000000" pitchFamily="2" charset="0"/>
              </a:rPr>
              <a:t>Paradigmas</a:t>
            </a:r>
          </a:p>
        </p:txBody>
      </p:sp>
      <p:sp>
        <p:nvSpPr>
          <p:cNvPr id="3" name="Marcador de texto 2">
            <a:extLst>
              <a:ext uri="{FF2B5EF4-FFF2-40B4-BE49-F238E27FC236}">
                <a16:creationId xmlns:a16="http://schemas.microsoft.com/office/drawing/2014/main" id="{F29AA4B5-789E-448F-A5F5-1B0D81C49F28}"/>
              </a:ext>
            </a:extLst>
          </p:cNvPr>
          <p:cNvSpPr>
            <a:spLocks noGrp="1"/>
          </p:cNvSpPr>
          <p:nvPr>
            <p:ph type="body" idx="1"/>
          </p:nvPr>
        </p:nvSpPr>
        <p:spPr/>
        <p:txBody>
          <a:bodyPr/>
          <a:lstStyle/>
          <a:p>
            <a:r>
              <a:rPr lang="es-ES" dirty="0" err="1">
                <a:latin typeface="Merriweather" panose="00000500000000000000" pitchFamily="2" charset="0"/>
              </a:rPr>
              <a:t>Codeigniter</a:t>
            </a:r>
            <a:endParaRPr lang="es-ES" dirty="0">
              <a:latin typeface="Merriweather" panose="00000500000000000000" pitchFamily="2" charset="0"/>
            </a:endParaRPr>
          </a:p>
        </p:txBody>
      </p:sp>
      <p:sp>
        <p:nvSpPr>
          <p:cNvPr id="4" name="Marcador de contenido 3">
            <a:extLst>
              <a:ext uri="{FF2B5EF4-FFF2-40B4-BE49-F238E27FC236}">
                <a16:creationId xmlns:a16="http://schemas.microsoft.com/office/drawing/2014/main" id="{CD4E6C58-6632-4787-8B8D-F1ECD3D74100}"/>
              </a:ext>
            </a:extLst>
          </p:cNvPr>
          <p:cNvSpPr>
            <a:spLocks noGrp="1"/>
          </p:cNvSpPr>
          <p:nvPr>
            <p:ph sz="half" idx="2"/>
          </p:nvPr>
        </p:nvSpPr>
        <p:spPr/>
        <p:txBody>
          <a:bodyPr/>
          <a:lstStyle/>
          <a:p>
            <a:r>
              <a:rPr lang="es-ES" dirty="0">
                <a:latin typeface="Montserrat" panose="00000500000000000000" pitchFamily="2" charset="0"/>
              </a:rPr>
              <a:t>MVC</a:t>
            </a:r>
          </a:p>
          <a:p>
            <a:r>
              <a:rPr lang="es-ES" dirty="0">
                <a:latin typeface="Montserrat" panose="00000500000000000000" pitchFamily="2" charset="0"/>
              </a:rPr>
              <a:t>Permite el uso de CGI pero desde el propio PHP</a:t>
            </a:r>
          </a:p>
          <a:p>
            <a:endParaRPr lang="es-ES" dirty="0">
              <a:latin typeface="Montserrat" panose="00000500000000000000" pitchFamily="2" charset="0"/>
            </a:endParaRPr>
          </a:p>
        </p:txBody>
      </p:sp>
      <p:sp>
        <p:nvSpPr>
          <p:cNvPr id="5" name="Marcador de texto 4">
            <a:extLst>
              <a:ext uri="{FF2B5EF4-FFF2-40B4-BE49-F238E27FC236}">
                <a16:creationId xmlns:a16="http://schemas.microsoft.com/office/drawing/2014/main" id="{F87603C3-0E04-4285-BF10-36C0B31E3195}"/>
              </a:ext>
            </a:extLst>
          </p:cNvPr>
          <p:cNvSpPr>
            <a:spLocks noGrp="1"/>
          </p:cNvSpPr>
          <p:nvPr>
            <p:ph type="body" sz="quarter" idx="3"/>
          </p:nvPr>
        </p:nvSpPr>
        <p:spPr/>
        <p:txBody>
          <a:bodyPr/>
          <a:lstStyle/>
          <a:p>
            <a:r>
              <a:rPr lang="es-ES" dirty="0">
                <a:latin typeface="Merriweather" panose="00000500000000000000" pitchFamily="2" charset="0"/>
              </a:rPr>
              <a:t>Sinatra</a:t>
            </a:r>
          </a:p>
        </p:txBody>
      </p:sp>
      <p:sp>
        <p:nvSpPr>
          <p:cNvPr id="6" name="Marcador de contenido 5">
            <a:extLst>
              <a:ext uri="{FF2B5EF4-FFF2-40B4-BE49-F238E27FC236}">
                <a16:creationId xmlns:a16="http://schemas.microsoft.com/office/drawing/2014/main" id="{F8AAF244-50B2-4C26-B174-B3FCD1BE1021}"/>
              </a:ext>
            </a:extLst>
          </p:cNvPr>
          <p:cNvSpPr>
            <a:spLocks noGrp="1"/>
          </p:cNvSpPr>
          <p:nvPr>
            <p:ph sz="quarter" idx="4"/>
          </p:nvPr>
        </p:nvSpPr>
        <p:spPr/>
        <p:txBody>
          <a:bodyPr/>
          <a:lstStyle/>
          <a:p>
            <a:r>
              <a:rPr lang="es-ES" dirty="0">
                <a:latin typeface="Montserrat" panose="00000500000000000000" pitchFamily="2" charset="0"/>
              </a:rPr>
              <a:t>Lo más común son </a:t>
            </a:r>
            <a:r>
              <a:rPr lang="es-ES" dirty="0" err="1">
                <a:latin typeface="Montserrat" panose="00000500000000000000" pitchFamily="2" charset="0"/>
              </a:rPr>
              <a:t>APPs</a:t>
            </a:r>
            <a:r>
              <a:rPr lang="es-ES" dirty="0">
                <a:latin typeface="Montserrat" panose="00000500000000000000" pitchFamily="2" charset="0"/>
              </a:rPr>
              <a:t> WSGI</a:t>
            </a:r>
          </a:p>
          <a:p>
            <a:r>
              <a:rPr lang="es-ES" dirty="0">
                <a:latin typeface="Montserrat" panose="00000500000000000000" pitchFamily="2" charset="0"/>
              </a:rPr>
              <a:t>Usa Mapeo Relacional de Objetos(ORM)</a:t>
            </a:r>
          </a:p>
          <a:p>
            <a:r>
              <a:rPr lang="es-ES" dirty="0">
                <a:latin typeface="Montserrat" panose="00000500000000000000" pitchFamily="2" charset="0"/>
              </a:rPr>
              <a:t>En versiones antiguas CGI</a:t>
            </a:r>
          </a:p>
          <a:p>
            <a:endParaRPr lang="es-ES" dirty="0">
              <a:latin typeface="Montserrat" panose="00000500000000000000" pitchFamily="2" charset="0"/>
            </a:endParaRPr>
          </a:p>
        </p:txBody>
      </p:sp>
    </p:spTree>
    <p:extLst>
      <p:ext uri="{BB962C8B-B14F-4D97-AF65-F5344CB8AC3E}">
        <p14:creationId xmlns:p14="http://schemas.microsoft.com/office/powerpoint/2010/main" val="25080060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E98A82-DE95-4685-AE85-8938036BD22B}"/>
              </a:ext>
            </a:extLst>
          </p:cNvPr>
          <p:cNvSpPr>
            <a:spLocks noGrp="1"/>
          </p:cNvSpPr>
          <p:nvPr>
            <p:ph type="title"/>
          </p:nvPr>
        </p:nvSpPr>
        <p:spPr>
          <a:xfrm>
            <a:off x="893805" y="744454"/>
            <a:ext cx="10668000" cy="758952"/>
          </a:xfrm>
        </p:spPr>
        <p:txBody>
          <a:bodyPr/>
          <a:lstStyle/>
          <a:p>
            <a:r>
              <a:rPr lang="es-ES" dirty="0">
                <a:latin typeface="Merriweather" panose="00000500000000000000" pitchFamily="2" charset="0"/>
              </a:rPr>
              <a:t>Estructura</a:t>
            </a:r>
          </a:p>
        </p:txBody>
      </p:sp>
      <p:sp>
        <p:nvSpPr>
          <p:cNvPr id="3" name="Marcador de texto 2">
            <a:extLst>
              <a:ext uri="{FF2B5EF4-FFF2-40B4-BE49-F238E27FC236}">
                <a16:creationId xmlns:a16="http://schemas.microsoft.com/office/drawing/2014/main" id="{F29AA4B5-789E-448F-A5F5-1B0D81C49F28}"/>
              </a:ext>
            </a:extLst>
          </p:cNvPr>
          <p:cNvSpPr>
            <a:spLocks noGrp="1"/>
          </p:cNvSpPr>
          <p:nvPr>
            <p:ph type="body" idx="1"/>
          </p:nvPr>
        </p:nvSpPr>
        <p:spPr>
          <a:xfrm>
            <a:off x="1282711" y="1614452"/>
            <a:ext cx="4649783" cy="823912"/>
          </a:xfrm>
        </p:spPr>
        <p:txBody>
          <a:bodyPr/>
          <a:lstStyle/>
          <a:p>
            <a:r>
              <a:rPr lang="es-ES" dirty="0" err="1">
                <a:latin typeface="Merriweather" panose="00000500000000000000" pitchFamily="2" charset="0"/>
              </a:rPr>
              <a:t>Codeigniter</a:t>
            </a:r>
            <a:endParaRPr lang="es-ES" dirty="0">
              <a:latin typeface="Merriweather" panose="00000500000000000000" pitchFamily="2" charset="0"/>
            </a:endParaRPr>
          </a:p>
        </p:txBody>
      </p:sp>
      <p:sp>
        <p:nvSpPr>
          <p:cNvPr id="4" name="Marcador de contenido 3">
            <a:extLst>
              <a:ext uri="{FF2B5EF4-FFF2-40B4-BE49-F238E27FC236}">
                <a16:creationId xmlns:a16="http://schemas.microsoft.com/office/drawing/2014/main" id="{CD4E6C58-6632-4787-8B8D-F1ECD3D74100}"/>
              </a:ext>
            </a:extLst>
          </p:cNvPr>
          <p:cNvSpPr>
            <a:spLocks noGrp="1"/>
          </p:cNvSpPr>
          <p:nvPr>
            <p:ph sz="half" idx="2"/>
          </p:nvPr>
        </p:nvSpPr>
        <p:spPr>
          <a:xfrm>
            <a:off x="1141411" y="2438364"/>
            <a:ext cx="4878391" cy="2717801"/>
          </a:xfrm>
        </p:spPr>
        <p:txBody>
          <a:bodyPr>
            <a:normAutofit fontScale="92500" lnSpcReduction="10000"/>
          </a:bodyPr>
          <a:lstStyle/>
          <a:p>
            <a:r>
              <a:rPr lang="es-ES" dirty="0">
                <a:latin typeface="Montserrat" panose="00000500000000000000" pitchFamily="2" charset="0"/>
              </a:rPr>
              <a:t>Fichero del controlador </a:t>
            </a:r>
            <a:r>
              <a:rPr lang="es-ES" dirty="0" err="1">
                <a:latin typeface="Montserrat" panose="00000500000000000000" pitchFamily="2" charset="0"/>
              </a:rPr>
              <a:t>routes.php</a:t>
            </a:r>
            <a:endParaRPr lang="es-ES" dirty="0">
              <a:latin typeface="Montserrat" panose="00000500000000000000" pitchFamily="2" charset="0"/>
            </a:endParaRPr>
          </a:p>
          <a:p>
            <a:r>
              <a:rPr lang="es-ES" dirty="0">
                <a:latin typeface="Montserrat" panose="00000500000000000000" pitchFamily="2" charset="0"/>
              </a:rPr>
              <a:t>Fichero de configuración donde se modifica la URL base</a:t>
            </a:r>
          </a:p>
          <a:p>
            <a:r>
              <a:rPr lang="es-ES" dirty="0">
                <a:latin typeface="Montserrat" panose="00000500000000000000" pitchFamily="2" charset="0"/>
              </a:rPr>
              <a:t>Fichero </a:t>
            </a:r>
            <a:r>
              <a:rPr lang="es-ES" dirty="0" err="1">
                <a:latin typeface="Montserrat" panose="00000500000000000000" pitchFamily="2" charset="0"/>
              </a:rPr>
              <a:t>autoload</a:t>
            </a:r>
            <a:r>
              <a:rPr lang="es-ES" dirty="0">
                <a:latin typeface="Montserrat" panose="00000500000000000000" pitchFamily="2" charset="0"/>
              </a:rPr>
              <a:t> evita realizar </a:t>
            </a:r>
            <a:r>
              <a:rPr lang="es-ES" dirty="0" err="1">
                <a:latin typeface="Montserrat" panose="00000500000000000000" pitchFamily="2" charset="0"/>
              </a:rPr>
              <a:t>includes</a:t>
            </a:r>
            <a:r>
              <a:rPr lang="es-ES" dirty="0">
                <a:latin typeface="Montserrat" panose="00000500000000000000" pitchFamily="2" charset="0"/>
              </a:rPr>
              <a:t> del fichero PHP de la web</a:t>
            </a:r>
          </a:p>
          <a:p>
            <a:endParaRPr lang="es-ES" dirty="0">
              <a:latin typeface="Montserrat" panose="00000500000000000000" pitchFamily="2" charset="0"/>
            </a:endParaRPr>
          </a:p>
          <a:p>
            <a:endParaRPr lang="es-ES" dirty="0">
              <a:latin typeface="Montserrat" panose="00000500000000000000" pitchFamily="2" charset="0"/>
            </a:endParaRPr>
          </a:p>
        </p:txBody>
      </p:sp>
      <p:sp>
        <p:nvSpPr>
          <p:cNvPr id="5" name="Marcador de texto 4">
            <a:extLst>
              <a:ext uri="{FF2B5EF4-FFF2-40B4-BE49-F238E27FC236}">
                <a16:creationId xmlns:a16="http://schemas.microsoft.com/office/drawing/2014/main" id="{F87603C3-0E04-4285-BF10-36C0B31E3195}"/>
              </a:ext>
            </a:extLst>
          </p:cNvPr>
          <p:cNvSpPr>
            <a:spLocks noGrp="1"/>
          </p:cNvSpPr>
          <p:nvPr>
            <p:ph type="body" sz="quarter" idx="3"/>
          </p:nvPr>
        </p:nvSpPr>
        <p:spPr>
          <a:xfrm>
            <a:off x="6400808" y="1614452"/>
            <a:ext cx="4646602" cy="823912"/>
          </a:xfrm>
        </p:spPr>
        <p:txBody>
          <a:bodyPr/>
          <a:lstStyle/>
          <a:p>
            <a:r>
              <a:rPr lang="es-ES" dirty="0">
                <a:latin typeface="Merriweather" panose="00000500000000000000" pitchFamily="2" charset="0"/>
              </a:rPr>
              <a:t>Sinatra</a:t>
            </a:r>
          </a:p>
        </p:txBody>
      </p:sp>
      <p:sp>
        <p:nvSpPr>
          <p:cNvPr id="6" name="Marcador de contenido 5">
            <a:extLst>
              <a:ext uri="{FF2B5EF4-FFF2-40B4-BE49-F238E27FC236}">
                <a16:creationId xmlns:a16="http://schemas.microsoft.com/office/drawing/2014/main" id="{F8AAF244-50B2-4C26-B174-B3FCD1BE1021}"/>
              </a:ext>
            </a:extLst>
          </p:cNvPr>
          <p:cNvSpPr>
            <a:spLocks noGrp="1"/>
          </p:cNvSpPr>
          <p:nvPr>
            <p:ph sz="quarter" idx="4"/>
          </p:nvPr>
        </p:nvSpPr>
        <p:spPr>
          <a:xfrm>
            <a:off x="6094411" y="2429170"/>
            <a:ext cx="4875210" cy="2717801"/>
          </a:xfrm>
        </p:spPr>
        <p:txBody>
          <a:bodyPr>
            <a:normAutofit fontScale="85000" lnSpcReduction="20000"/>
          </a:bodyPr>
          <a:lstStyle/>
          <a:p>
            <a:r>
              <a:rPr lang="es-ES" dirty="0">
                <a:latin typeface="Montserrat" panose="00000500000000000000" pitchFamily="2" charset="0"/>
              </a:rPr>
              <a:t>Ficheros .</a:t>
            </a:r>
            <a:r>
              <a:rPr lang="es-ES" dirty="0" err="1">
                <a:latin typeface="Montserrat" panose="00000500000000000000" pitchFamily="2" charset="0"/>
              </a:rPr>
              <a:t>rb</a:t>
            </a:r>
            <a:endParaRPr lang="es-ES" dirty="0">
              <a:latin typeface="Montserrat" panose="00000500000000000000" pitchFamily="2" charset="0"/>
            </a:endParaRPr>
          </a:p>
          <a:p>
            <a:r>
              <a:rPr lang="es-ES" dirty="0">
                <a:latin typeface="Montserrat" panose="00000500000000000000" pitchFamily="2" charset="0"/>
              </a:rPr>
              <a:t>Al principio contienen la lógica de la web</a:t>
            </a:r>
          </a:p>
          <a:p>
            <a:r>
              <a:rPr lang="es-ES" dirty="0">
                <a:latin typeface="Montserrat" panose="00000500000000000000" pitchFamily="2" charset="0"/>
              </a:rPr>
              <a:t>A partir de __END__ se marca el @@layout HTML</a:t>
            </a:r>
          </a:p>
          <a:p>
            <a:r>
              <a:rPr lang="es-ES" dirty="0">
                <a:latin typeface="Montserrat" panose="00000500000000000000" pitchFamily="2" charset="0"/>
              </a:rPr>
              <a:t>Si se quieren añadir otras páginas se marcan con @@nombre</a:t>
            </a:r>
          </a:p>
        </p:txBody>
      </p:sp>
      <p:pic>
        <p:nvPicPr>
          <p:cNvPr id="8" name="Imagen 7">
            <a:extLst>
              <a:ext uri="{FF2B5EF4-FFF2-40B4-BE49-F238E27FC236}">
                <a16:creationId xmlns:a16="http://schemas.microsoft.com/office/drawing/2014/main" id="{11BF93CE-2F91-42E9-8D68-B1B5474DD458}"/>
              </a:ext>
            </a:extLst>
          </p:cNvPr>
          <p:cNvPicPr>
            <a:picLocks noChangeAspect="1"/>
          </p:cNvPicPr>
          <p:nvPr/>
        </p:nvPicPr>
        <p:blipFill>
          <a:blip r:embed="rId3" cstate="print"/>
          <a:stretch>
            <a:fillRect/>
          </a:stretch>
        </p:blipFill>
        <p:spPr>
          <a:xfrm>
            <a:off x="6857198" y="5243548"/>
            <a:ext cx="2210108" cy="1400370"/>
          </a:xfrm>
          <a:prstGeom prst="rect">
            <a:avLst/>
          </a:prstGeom>
        </p:spPr>
      </p:pic>
      <p:pic>
        <p:nvPicPr>
          <p:cNvPr id="9" name="Imagen 8">
            <a:extLst>
              <a:ext uri="{FF2B5EF4-FFF2-40B4-BE49-F238E27FC236}">
                <a16:creationId xmlns:a16="http://schemas.microsoft.com/office/drawing/2014/main" id="{C6C82F96-8CB5-4E74-99BC-55B8FD2FB1FC}"/>
              </a:ext>
            </a:extLst>
          </p:cNvPr>
          <p:cNvPicPr>
            <a:picLocks noChangeAspect="1"/>
          </p:cNvPicPr>
          <p:nvPr/>
        </p:nvPicPr>
        <p:blipFill>
          <a:blip r:embed="rId4" cstate="print"/>
          <a:stretch>
            <a:fillRect/>
          </a:stretch>
        </p:blipFill>
        <p:spPr>
          <a:xfrm>
            <a:off x="2852291" y="4728518"/>
            <a:ext cx="1900941" cy="1970976"/>
          </a:xfrm>
          <a:prstGeom prst="rect">
            <a:avLst/>
          </a:prstGeom>
        </p:spPr>
      </p:pic>
    </p:spTree>
    <p:extLst>
      <p:ext uri="{BB962C8B-B14F-4D97-AF65-F5344CB8AC3E}">
        <p14:creationId xmlns:p14="http://schemas.microsoft.com/office/powerpoint/2010/main" val="30440550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E1814E7D-F3D9-4F50-8734-404024D003A8}"/>
              </a:ext>
            </a:extLst>
          </p:cNvPr>
          <p:cNvSpPr>
            <a:spLocks noGrp="1"/>
          </p:cNvSpPr>
          <p:nvPr>
            <p:ph type="title"/>
          </p:nvPr>
        </p:nvSpPr>
        <p:spPr/>
        <p:txBody>
          <a:bodyPr/>
          <a:lstStyle/>
          <a:p>
            <a:r>
              <a:rPr lang="es-ES" dirty="0">
                <a:latin typeface="Merriweather" panose="00000500000000000000" pitchFamily="2" charset="0"/>
              </a:rPr>
              <a:t>MVC</a:t>
            </a:r>
          </a:p>
        </p:txBody>
      </p:sp>
      <p:sp>
        <p:nvSpPr>
          <p:cNvPr id="10" name="Marcador de contenido 9">
            <a:extLst>
              <a:ext uri="{FF2B5EF4-FFF2-40B4-BE49-F238E27FC236}">
                <a16:creationId xmlns:a16="http://schemas.microsoft.com/office/drawing/2014/main" id="{02A44966-8137-4A73-879D-091F6259E99E}"/>
              </a:ext>
            </a:extLst>
          </p:cNvPr>
          <p:cNvSpPr>
            <a:spLocks noGrp="1"/>
          </p:cNvSpPr>
          <p:nvPr>
            <p:ph idx="1"/>
          </p:nvPr>
        </p:nvSpPr>
        <p:spPr/>
        <p:txBody>
          <a:bodyPr/>
          <a:lstStyle/>
          <a:p>
            <a:r>
              <a:rPr lang="es-ES" dirty="0">
                <a:latin typeface="Montserrat" panose="00000500000000000000" pitchFamily="2" charset="0"/>
              </a:rPr>
              <a:t>El modelo vista controlador del </a:t>
            </a:r>
            <a:r>
              <a:rPr lang="es-ES" dirty="0" err="1">
                <a:latin typeface="Montserrat" panose="00000500000000000000" pitchFamily="2" charset="0"/>
              </a:rPr>
              <a:t>codeignter</a:t>
            </a:r>
            <a:r>
              <a:rPr lang="es-ES" dirty="0">
                <a:latin typeface="Montserrat" panose="00000500000000000000" pitchFamily="2" charset="0"/>
              </a:rPr>
              <a:t> se </a:t>
            </a:r>
            <a:r>
              <a:rPr lang="es-ES" dirty="0" err="1">
                <a:latin typeface="Montserrat" panose="00000500000000000000" pitchFamily="2" charset="0"/>
              </a:rPr>
              <a:t>definer</a:t>
            </a:r>
            <a:r>
              <a:rPr lang="es-ES" dirty="0">
                <a:latin typeface="Montserrat" panose="00000500000000000000" pitchFamily="2" charset="0"/>
              </a:rPr>
              <a:t> por:</a:t>
            </a:r>
          </a:p>
          <a:p>
            <a:pPr lvl="1"/>
            <a:r>
              <a:rPr lang="es-ES" dirty="0">
                <a:latin typeface="Montserrat" panose="00000500000000000000" pitchFamily="2" charset="0"/>
              </a:rPr>
              <a:t>Usa modelos que son bases de datos, funciones </a:t>
            </a:r>
            <a:r>
              <a:rPr lang="es-ES" dirty="0" err="1">
                <a:latin typeface="Montserrat" panose="00000500000000000000" pitchFamily="2" charset="0"/>
              </a:rPr>
              <a:t>etc</a:t>
            </a:r>
            <a:r>
              <a:rPr lang="es-ES" dirty="0">
                <a:latin typeface="Montserrat" panose="00000500000000000000" pitchFamily="2" charset="0"/>
              </a:rPr>
              <a:t> programas ajenos a la APP</a:t>
            </a:r>
          </a:p>
          <a:p>
            <a:pPr lvl="1"/>
            <a:r>
              <a:rPr lang="es-ES" dirty="0">
                <a:latin typeface="Montserrat" panose="00000500000000000000" pitchFamily="2" charset="0"/>
              </a:rPr>
              <a:t>Hace uso de las vistas en este caso son las webs que tenemos disponibles y que funcionarían como “UI”</a:t>
            </a:r>
          </a:p>
          <a:p>
            <a:pPr lvl="1"/>
            <a:r>
              <a:rPr lang="es-ES" dirty="0">
                <a:latin typeface="Montserrat" panose="00000500000000000000" pitchFamily="2" charset="0"/>
              </a:rPr>
              <a:t>Y un controlador que en este caso es el encargado de que la vista conecte y se realice la petición que el usuario ha pedido.</a:t>
            </a:r>
          </a:p>
        </p:txBody>
      </p:sp>
      <p:pic>
        <p:nvPicPr>
          <p:cNvPr id="11" name="Imagen 10">
            <a:extLst>
              <a:ext uri="{FF2B5EF4-FFF2-40B4-BE49-F238E27FC236}">
                <a16:creationId xmlns:a16="http://schemas.microsoft.com/office/drawing/2014/main" id="{152DADDD-AF5A-4DD3-B49E-885B5F23240F}"/>
              </a:ext>
            </a:extLst>
          </p:cNvPr>
          <p:cNvPicPr>
            <a:picLocks noChangeAspect="1"/>
          </p:cNvPicPr>
          <p:nvPr/>
        </p:nvPicPr>
        <p:blipFill>
          <a:blip r:embed="rId2" cstate="print"/>
          <a:stretch>
            <a:fillRect/>
          </a:stretch>
        </p:blipFill>
        <p:spPr>
          <a:xfrm>
            <a:off x="4536537" y="1357803"/>
            <a:ext cx="4744112" cy="628738"/>
          </a:xfrm>
          <a:prstGeom prst="rect">
            <a:avLst/>
          </a:prstGeom>
        </p:spPr>
      </p:pic>
    </p:spTree>
    <p:extLst>
      <p:ext uri="{BB962C8B-B14F-4D97-AF65-F5344CB8AC3E}">
        <p14:creationId xmlns:p14="http://schemas.microsoft.com/office/powerpoint/2010/main" val="273034056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37F4A1-509A-4D0B-BC9A-31A02541D653}"/>
              </a:ext>
            </a:extLst>
          </p:cNvPr>
          <p:cNvSpPr>
            <a:spLocks noGrp="1"/>
          </p:cNvSpPr>
          <p:nvPr>
            <p:ph type="ctrTitle"/>
          </p:nvPr>
        </p:nvSpPr>
        <p:spPr>
          <a:xfrm>
            <a:off x="1177715" y="264298"/>
            <a:ext cx="9825989" cy="2394497"/>
          </a:xfrm>
        </p:spPr>
        <p:txBody>
          <a:bodyPr/>
          <a:lstStyle/>
          <a:p>
            <a:r>
              <a:rPr lang="es-ES" b="1" dirty="0"/>
              <a:t>SERVIDORES</a:t>
            </a:r>
          </a:p>
        </p:txBody>
      </p:sp>
    </p:spTree>
    <p:extLst>
      <p:ext uri="{BB962C8B-B14F-4D97-AF65-F5344CB8AC3E}">
        <p14:creationId xmlns:p14="http://schemas.microsoft.com/office/powerpoint/2010/main" val="15243056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3613" y="589279"/>
            <a:ext cx="1782233" cy="513080"/>
          </a:xfrm>
          <a:prstGeom prst="rect">
            <a:avLst/>
          </a:prstGeom>
        </p:spPr>
        <p:txBody>
          <a:bodyPr vert="horz" wrap="square" lIns="0" tIns="12700" rIns="0" bIns="0" rtlCol="0">
            <a:spAutoFit/>
          </a:bodyPr>
          <a:lstStyle/>
          <a:p>
            <a:pPr marL="12700">
              <a:lnSpc>
                <a:spcPct val="100000"/>
              </a:lnSpc>
              <a:spcBef>
                <a:spcPts val="100"/>
              </a:spcBef>
            </a:pPr>
            <a:r>
              <a:rPr sz="3200" spc="-5" dirty="0"/>
              <a:t>Topics</a:t>
            </a:r>
            <a:endParaRPr sz="3200"/>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dirty="0">
              <a:latin typeface="Arial"/>
              <a:cs typeface="Arial"/>
            </a:endParaRPr>
          </a:p>
        </p:txBody>
      </p:sp>
      <p:sp>
        <p:nvSpPr>
          <p:cNvPr id="5" name="object 5"/>
          <p:cNvSpPr txBox="1"/>
          <p:nvPr/>
        </p:nvSpPr>
        <p:spPr>
          <a:xfrm>
            <a:off x="814493" y="1177290"/>
            <a:ext cx="7463367" cy="4884420"/>
          </a:xfrm>
          <a:prstGeom prst="rect">
            <a:avLst/>
          </a:prstGeom>
        </p:spPr>
        <p:txBody>
          <a:bodyPr vert="horz" wrap="square" lIns="0" tIns="88900" rIns="0" bIns="0" rtlCol="0">
            <a:spAutoFit/>
          </a:bodyPr>
          <a:lstStyle/>
          <a:p>
            <a:pPr marL="350520" indent="-337820">
              <a:lnSpc>
                <a:spcPct val="100000"/>
              </a:lnSpc>
              <a:spcBef>
                <a:spcPts val="700"/>
              </a:spcBef>
              <a:buFont typeface="Wingdings"/>
              <a:buChar char=""/>
              <a:tabLst>
                <a:tab pos="349885" algn="l"/>
                <a:tab pos="350520" algn="l"/>
              </a:tabLst>
            </a:pPr>
            <a:r>
              <a:rPr sz="2400" spc="-5" dirty="0">
                <a:latin typeface="Arial"/>
                <a:cs typeface="Arial"/>
              </a:rPr>
              <a:t>Web</a:t>
            </a:r>
            <a:r>
              <a:rPr sz="2400" spc="-20" dirty="0">
                <a:latin typeface="Arial"/>
                <a:cs typeface="Arial"/>
              </a:rPr>
              <a:t> </a:t>
            </a:r>
            <a:r>
              <a:rPr sz="2400" spc="-5" dirty="0">
                <a:latin typeface="Arial"/>
                <a:cs typeface="Arial"/>
              </a:rPr>
              <a:t>Server</a:t>
            </a:r>
            <a:r>
              <a:rPr sz="2400" spc="-20" dirty="0">
                <a:latin typeface="Arial"/>
                <a:cs typeface="Arial"/>
              </a:rPr>
              <a:t> </a:t>
            </a:r>
            <a:r>
              <a:rPr sz="2400" spc="-5" dirty="0">
                <a:latin typeface="Arial"/>
                <a:cs typeface="Arial"/>
              </a:rPr>
              <a:t>Definition</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Web Site</a:t>
            </a:r>
            <a:r>
              <a:rPr sz="2400" spc="-15" dirty="0">
                <a:latin typeface="Arial"/>
                <a:cs typeface="Arial"/>
              </a:rPr>
              <a:t> </a:t>
            </a:r>
            <a:r>
              <a:rPr sz="2400" spc="-5" dirty="0">
                <a:latin typeface="Arial"/>
                <a:cs typeface="Arial"/>
              </a:rPr>
              <a:t>versus</a:t>
            </a:r>
            <a:r>
              <a:rPr sz="2400" spc="5" dirty="0">
                <a:latin typeface="Arial"/>
                <a:cs typeface="Arial"/>
              </a:rPr>
              <a:t> </a:t>
            </a:r>
            <a:r>
              <a:rPr sz="2400" spc="-5" dirty="0">
                <a:latin typeface="Arial"/>
                <a:cs typeface="Arial"/>
              </a:rPr>
              <a:t>Web</a:t>
            </a:r>
            <a:r>
              <a:rPr sz="2400" spc="-15" dirty="0">
                <a:latin typeface="Arial"/>
                <a:cs typeface="Arial"/>
              </a:rPr>
              <a:t> </a:t>
            </a:r>
            <a:r>
              <a:rPr sz="2400" spc="-5" dirty="0">
                <a:latin typeface="Arial"/>
                <a:cs typeface="Arial"/>
              </a:rPr>
              <a:t>Server</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Steps in</a:t>
            </a:r>
            <a:r>
              <a:rPr sz="2400" dirty="0">
                <a:latin typeface="Arial"/>
                <a:cs typeface="Arial"/>
              </a:rPr>
              <a:t> </a:t>
            </a:r>
            <a:r>
              <a:rPr sz="2400" spc="-10" dirty="0">
                <a:latin typeface="Arial"/>
                <a:cs typeface="Arial"/>
              </a:rPr>
              <a:t>Handling</a:t>
            </a:r>
            <a:r>
              <a:rPr sz="2400" spc="-5" dirty="0">
                <a:latin typeface="Arial"/>
                <a:cs typeface="Arial"/>
              </a:rPr>
              <a:t> </a:t>
            </a:r>
            <a:r>
              <a:rPr sz="2400" dirty="0">
                <a:latin typeface="Arial"/>
                <a:cs typeface="Arial"/>
              </a:rPr>
              <a:t>a </a:t>
            </a:r>
            <a:r>
              <a:rPr sz="2400" spc="-10" dirty="0">
                <a:latin typeface="Arial"/>
                <a:cs typeface="Arial"/>
              </a:rPr>
              <a:t>Client</a:t>
            </a:r>
            <a:r>
              <a:rPr sz="2400" spc="10" dirty="0">
                <a:latin typeface="Arial"/>
                <a:cs typeface="Arial"/>
              </a:rPr>
              <a:t> </a:t>
            </a:r>
            <a:r>
              <a:rPr sz="2400" spc="-10" dirty="0">
                <a:latin typeface="Arial"/>
                <a:cs typeface="Arial"/>
              </a:rPr>
              <a:t>Request</a:t>
            </a:r>
            <a:endParaRPr sz="2400" dirty="0">
              <a:latin typeface="Arial"/>
              <a:cs typeface="Arial"/>
            </a:endParaRPr>
          </a:p>
          <a:p>
            <a:pPr marL="350520" indent="-337820">
              <a:lnSpc>
                <a:spcPct val="100000"/>
              </a:lnSpc>
              <a:spcBef>
                <a:spcPts val="590"/>
              </a:spcBef>
              <a:buFont typeface="Wingdings"/>
              <a:buChar char=""/>
              <a:tabLst>
                <a:tab pos="349885" algn="l"/>
                <a:tab pos="350520" algn="l"/>
              </a:tabLst>
            </a:pPr>
            <a:r>
              <a:rPr sz="2400" spc="-5" dirty="0">
                <a:latin typeface="Arial"/>
                <a:cs typeface="Arial"/>
              </a:rPr>
              <a:t>Access</a:t>
            </a:r>
            <a:r>
              <a:rPr sz="2400" spc="-30" dirty="0">
                <a:latin typeface="Arial"/>
                <a:cs typeface="Arial"/>
              </a:rPr>
              <a:t> </a:t>
            </a:r>
            <a:r>
              <a:rPr sz="2400" spc="-5" dirty="0">
                <a:latin typeface="Arial"/>
                <a:cs typeface="Arial"/>
              </a:rPr>
              <a:t>Control</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Dynamically</a:t>
            </a:r>
            <a:r>
              <a:rPr sz="2400" spc="-25" dirty="0">
                <a:latin typeface="Arial"/>
                <a:cs typeface="Arial"/>
              </a:rPr>
              <a:t> </a:t>
            </a:r>
            <a:r>
              <a:rPr sz="2400" spc="-5" dirty="0">
                <a:latin typeface="Arial"/>
                <a:cs typeface="Arial"/>
              </a:rPr>
              <a:t>Generated</a:t>
            </a:r>
            <a:r>
              <a:rPr sz="2400" spc="-20" dirty="0">
                <a:latin typeface="Arial"/>
                <a:cs typeface="Arial"/>
              </a:rPr>
              <a:t> </a:t>
            </a:r>
            <a:r>
              <a:rPr sz="2400" spc="-5" dirty="0">
                <a:latin typeface="Arial"/>
                <a:cs typeface="Arial"/>
              </a:rPr>
              <a:t>Responses</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Passing</a:t>
            </a:r>
            <a:r>
              <a:rPr sz="2400" spc="-15" dirty="0">
                <a:latin typeface="Arial"/>
                <a:cs typeface="Arial"/>
              </a:rPr>
              <a:t> </a:t>
            </a:r>
            <a:r>
              <a:rPr sz="2400" spc="-5" dirty="0">
                <a:latin typeface="Arial"/>
                <a:cs typeface="Arial"/>
              </a:rPr>
              <a:t>Data</a:t>
            </a:r>
            <a:r>
              <a:rPr sz="2400" dirty="0">
                <a:latin typeface="Arial"/>
                <a:cs typeface="Arial"/>
              </a:rPr>
              <a:t> </a:t>
            </a:r>
            <a:r>
              <a:rPr sz="2400" spc="-5" dirty="0">
                <a:latin typeface="Arial"/>
                <a:cs typeface="Arial"/>
              </a:rPr>
              <a:t>to/from</a:t>
            </a:r>
            <a:r>
              <a:rPr sz="2400"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Script</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Creating</a:t>
            </a:r>
            <a:r>
              <a:rPr sz="2400" spc="-25" dirty="0">
                <a:latin typeface="Arial"/>
                <a:cs typeface="Arial"/>
              </a:rPr>
              <a:t> </a:t>
            </a:r>
            <a:r>
              <a:rPr sz="2400" spc="-5" dirty="0">
                <a:latin typeface="Arial"/>
                <a:cs typeface="Arial"/>
              </a:rPr>
              <a:t>and</a:t>
            </a:r>
            <a:r>
              <a:rPr sz="2400" spc="-25" dirty="0">
                <a:latin typeface="Arial"/>
                <a:cs typeface="Arial"/>
              </a:rPr>
              <a:t> </a:t>
            </a:r>
            <a:r>
              <a:rPr sz="2400" spc="-5" dirty="0">
                <a:latin typeface="Arial"/>
                <a:cs typeface="Arial"/>
              </a:rPr>
              <a:t>Using</a:t>
            </a:r>
            <a:r>
              <a:rPr sz="2400" spc="-20" dirty="0">
                <a:latin typeface="Arial"/>
                <a:cs typeface="Arial"/>
              </a:rPr>
              <a:t> </a:t>
            </a:r>
            <a:r>
              <a:rPr sz="2400" spc="-5" dirty="0">
                <a:latin typeface="Arial"/>
                <a:cs typeface="Arial"/>
              </a:rPr>
              <a:t>Cookies</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Sharing Information Across</a:t>
            </a:r>
            <a:r>
              <a:rPr sz="2400" spc="10" dirty="0">
                <a:latin typeface="Arial"/>
                <a:cs typeface="Arial"/>
              </a:rPr>
              <a:t> </a:t>
            </a:r>
            <a:r>
              <a:rPr sz="2400" spc="-10" dirty="0">
                <a:latin typeface="Arial"/>
                <a:cs typeface="Arial"/>
              </a:rPr>
              <a:t>Requests</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Server</a:t>
            </a:r>
            <a:r>
              <a:rPr sz="2400" spc="-20" dirty="0">
                <a:latin typeface="Arial"/>
                <a:cs typeface="Arial"/>
              </a:rPr>
              <a:t> </a:t>
            </a:r>
            <a:r>
              <a:rPr sz="2400" spc="-5" dirty="0">
                <a:latin typeface="Arial"/>
                <a:cs typeface="Arial"/>
              </a:rPr>
              <a:t>Architecture</a:t>
            </a:r>
            <a:endParaRPr sz="2400" dirty="0">
              <a:latin typeface="Arial"/>
              <a:cs typeface="Arial"/>
            </a:endParaRPr>
          </a:p>
          <a:p>
            <a:pPr marL="350520" indent="-337820">
              <a:lnSpc>
                <a:spcPct val="100000"/>
              </a:lnSpc>
              <a:spcBef>
                <a:spcPts val="590"/>
              </a:spcBef>
              <a:buFont typeface="Wingdings"/>
              <a:buChar char=""/>
              <a:tabLst>
                <a:tab pos="349885" algn="l"/>
                <a:tab pos="350520" algn="l"/>
              </a:tabLst>
            </a:pPr>
            <a:r>
              <a:rPr sz="2400" spc="-5" dirty="0">
                <a:latin typeface="Arial"/>
                <a:cs typeface="Arial"/>
              </a:rPr>
              <a:t>Server</a:t>
            </a:r>
            <a:r>
              <a:rPr sz="2400" spc="-35" dirty="0">
                <a:latin typeface="Arial"/>
                <a:cs typeface="Arial"/>
              </a:rPr>
              <a:t> </a:t>
            </a:r>
            <a:r>
              <a:rPr sz="2400" spc="-5" dirty="0">
                <a:latin typeface="Arial"/>
                <a:cs typeface="Arial"/>
              </a:rPr>
              <a:t>Hosting</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a:latin typeface="Arial"/>
                <a:cs typeface="Arial"/>
              </a:rPr>
              <a:t>Case Study</a:t>
            </a:r>
            <a:endParaRPr sz="2400" dirty="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122</a:t>
            </a:fld>
            <a:endParaRPr sz="1400">
              <a:latin typeface="Arial"/>
              <a:cs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6961" y="619759"/>
            <a:ext cx="6499104" cy="689932"/>
          </a:xfrm>
          <a:prstGeom prst="rect">
            <a:avLst/>
          </a:prstGeom>
        </p:spPr>
        <p:txBody>
          <a:bodyPr vert="horz" wrap="square" lIns="0" tIns="12700" rIns="0" bIns="0" rtlCol="0">
            <a:spAutoFit/>
          </a:bodyPr>
          <a:lstStyle/>
          <a:p>
            <a:pPr marL="12700">
              <a:lnSpc>
                <a:spcPct val="100000"/>
              </a:lnSpc>
              <a:spcBef>
                <a:spcPts val="100"/>
              </a:spcBef>
            </a:pPr>
            <a:r>
              <a:rPr spc="-5" dirty="0"/>
              <a:t>Web</a:t>
            </a:r>
            <a:r>
              <a:rPr spc="-25" dirty="0"/>
              <a:t> </a:t>
            </a:r>
            <a:r>
              <a:rPr spc="-5" dirty="0"/>
              <a:t>Server</a:t>
            </a:r>
            <a:r>
              <a:rPr spc="-25" dirty="0"/>
              <a:t> </a:t>
            </a:r>
            <a:r>
              <a:rPr spc="-5" dirty="0"/>
              <a:t>Definition</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814492" y="1665390"/>
            <a:ext cx="10331027" cy="1369606"/>
          </a:xfrm>
          <a:prstGeom prst="rect">
            <a:avLst/>
          </a:prstGeom>
        </p:spPr>
        <p:txBody>
          <a:bodyPr vert="horz" wrap="square" lIns="0" tIns="12700" rIns="0" bIns="0" rtlCol="0">
            <a:spAutoFit/>
          </a:bodyPr>
          <a:lstStyle/>
          <a:p>
            <a:pPr marL="405765" marR="5080" indent="-393700" algn="just">
              <a:lnSpc>
                <a:spcPct val="100000"/>
              </a:lnSpc>
              <a:spcBef>
                <a:spcPts val="100"/>
              </a:spcBef>
              <a:buFont typeface="Wingdings"/>
              <a:buChar char=""/>
              <a:tabLst>
                <a:tab pos="406400" algn="l"/>
              </a:tabLst>
            </a:pPr>
            <a:r>
              <a:rPr sz="2800" dirty="0">
                <a:latin typeface="Arial"/>
                <a:cs typeface="Arial"/>
              </a:rPr>
              <a:t>A </a:t>
            </a:r>
            <a:r>
              <a:rPr sz="2800" spc="-5" dirty="0">
                <a:latin typeface="Arial"/>
                <a:cs typeface="Arial"/>
              </a:rPr>
              <a:t>Web </a:t>
            </a:r>
            <a:r>
              <a:rPr sz="2800" dirty="0">
                <a:latin typeface="Arial"/>
                <a:cs typeface="Arial"/>
              </a:rPr>
              <a:t>server </a:t>
            </a:r>
            <a:r>
              <a:rPr sz="2800" spc="-5" dirty="0">
                <a:latin typeface="Arial"/>
                <a:cs typeface="Arial"/>
              </a:rPr>
              <a:t>is </a:t>
            </a:r>
            <a:r>
              <a:rPr sz="2800" dirty="0">
                <a:latin typeface="Arial"/>
                <a:cs typeface="Arial"/>
              </a:rPr>
              <a:t>a program </a:t>
            </a:r>
            <a:r>
              <a:rPr sz="2800" spc="-5" dirty="0">
                <a:latin typeface="Arial"/>
                <a:cs typeface="Arial"/>
              </a:rPr>
              <a:t>that generates </a:t>
            </a:r>
            <a:r>
              <a:rPr sz="2800" dirty="0">
                <a:latin typeface="Arial"/>
                <a:cs typeface="Arial"/>
              </a:rPr>
              <a:t>and </a:t>
            </a:r>
            <a:r>
              <a:rPr sz="2800" spc="-765" dirty="0">
                <a:latin typeface="Arial"/>
                <a:cs typeface="Arial"/>
              </a:rPr>
              <a:t> </a:t>
            </a:r>
            <a:r>
              <a:rPr sz="2800" spc="-5" dirty="0">
                <a:latin typeface="Arial"/>
                <a:cs typeface="Arial"/>
              </a:rPr>
              <a:t>transmits </a:t>
            </a:r>
            <a:r>
              <a:rPr sz="2800" dirty="0">
                <a:latin typeface="Arial"/>
                <a:cs typeface="Arial"/>
              </a:rPr>
              <a:t>responses to client requests for Web </a:t>
            </a:r>
            <a:r>
              <a:rPr sz="2800" spc="-765" dirty="0">
                <a:latin typeface="Arial"/>
                <a:cs typeface="Arial"/>
              </a:rPr>
              <a:t> </a:t>
            </a:r>
            <a:r>
              <a:rPr sz="2800" dirty="0">
                <a:latin typeface="Arial"/>
                <a:cs typeface="Arial"/>
              </a:rPr>
              <a:t>resources.</a:t>
            </a:r>
          </a:p>
          <a:p>
            <a:pPr marL="405765" marR="280670" indent="-393700" algn="just">
              <a:lnSpc>
                <a:spcPct val="100000"/>
              </a:lnSpc>
              <a:spcBef>
                <a:spcPts val="500"/>
              </a:spcBef>
              <a:buFont typeface="Wingdings"/>
              <a:buChar char=""/>
              <a:tabLst>
                <a:tab pos="505459" algn="l"/>
              </a:tabLst>
            </a:pPr>
            <a:r>
              <a:rPr dirty="0"/>
              <a:t>	</a:t>
            </a:r>
            <a:r>
              <a:rPr sz="2800" spc="-5" dirty="0">
                <a:latin typeface="Arial"/>
                <a:cs typeface="Arial"/>
              </a:rPr>
              <a:t>Handling </a:t>
            </a:r>
            <a:r>
              <a:rPr sz="2800" dirty="0">
                <a:latin typeface="Arial"/>
                <a:cs typeface="Arial"/>
              </a:rPr>
              <a:t>a client request consists of several </a:t>
            </a:r>
            <a:r>
              <a:rPr sz="2800" spc="-765" dirty="0">
                <a:latin typeface="Arial"/>
                <a:cs typeface="Arial"/>
              </a:rPr>
              <a:t> </a:t>
            </a:r>
            <a:r>
              <a:rPr sz="2800" dirty="0">
                <a:latin typeface="Arial"/>
                <a:cs typeface="Arial"/>
              </a:rPr>
              <a:t>key</a:t>
            </a:r>
            <a:r>
              <a:rPr sz="2800" spc="5" dirty="0">
                <a:latin typeface="Arial"/>
                <a:cs typeface="Arial"/>
              </a:rPr>
              <a:t> </a:t>
            </a:r>
            <a:r>
              <a:rPr sz="2800" dirty="0">
                <a:latin typeface="Arial"/>
                <a:cs typeface="Arial"/>
              </a:rPr>
              <a:t>steps:</a:t>
            </a:r>
          </a:p>
        </p:txBody>
      </p:sp>
      <p:sp>
        <p:nvSpPr>
          <p:cNvPr id="6" name="object 6"/>
          <p:cNvSpPr txBox="1"/>
          <p:nvPr/>
        </p:nvSpPr>
        <p:spPr>
          <a:xfrm>
            <a:off x="1952414" y="3847250"/>
            <a:ext cx="303105" cy="1866900"/>
          </a:xfrm>
          <a:prstGeom prst="rect">
            <a:avLst/>
          </a:prstGeom>
        </p:spPr>
        <p:txBody>
          <a:bodyPr vert="horz" wrap="square" lIns="0" tIns="76200" rIns="0" bIns="0" rtlCol="0">
            <a:spAutoFit/>
          </a:bodyPr>
          <a:lstStyle/>
          <a:p>
            <a:pPr marL="12700">
              <a:lnSpc>
                <a:spcPct val="100000"/>
              </a:lnSpc>
              <a:spcBef>
                <a:spcPts val="600"/>
              </a:spcBef>
            </a:pPr>
            <a:r>
              <a:rPr sz="2000" dirty="0">
                <a:latin typeface="Wingdings"/>
                <a:cs typeface="Wingdings"/>
              </a:rPr>
              <a:t></a:t>
            </a:r>
            <a:endParaRPr sz="2000">
              <a:latin typeface="Wingdings"/>
              <a:cs typeface="Wingdings"/>
            </a:endParaRPr>
          </a:p>
          <a:p>
            <a:pPr marL="12700">
              <a:lnSpc>
                <a:spcPct val="100000"/>
              </a:lnSpc>
              <a:spcBef>
                <a:spcPts val="500"/>
              </a:spcBef>
            </a:pPr>
            <a:r>
              <a:rPr sz="2000" dirty="0">
                <a:latin typeface="Wingdings"/>
                <a:cs typeface="Wingdings"/>
              </a:rPr>
              <a:t></a:t>
            </a:r>
            <a:endParaRPr sz="2000">
              <a:latin typeface="Wingdings"/>
              <a:cs typeface="Wingdings"/>
            </a:endParaRPr>
          </a:p>
          <a:p>
            <a:pPr marL="12700">
              <a:lnSpc>
                <a:spcPct val="100000"/>
              </a:lnSpc>
              <a:spcBef>
                <a:spcPts val="500"/>
              </a:spcBef>
            </a:pPr>
            <a:r>
              <a:rPr sz="2000" dirty="0">
                <a:latin typeface="Wingdings"/>
                <a:cs typeface="Wingdings"/>
              </a:rPr>
              <a:t></a:t>
            </a:r>
            <a:endParaRPr sz="2000">
              <a:latin typeface="Wingdings"/>
              <a:cs typeface="Wingdings"/>
            </a:endParaRPr>
          </a:p>
          <a:p>
            <a:pPr marL="12700">
              <a:lnSpc>
                <a:spcPct val="100000"/>
              </a:lnSpc>
              <a:spcBef>
                <a:spcPts val="500"/>
              </a:spcBef>
            </a:pPr>
            <a:r>
              <a:rPr sz="2000" dirty="0">
                <a:latin typeface="Wingdings"/>
                <a:cs typeface="Wingdings"/>
              </a:rPr>
              <a:t></a:t>
            </a:r>
            <a:endParaRPr sz="2000">
              <a:latin typeface="Wingdings"/>
              <a:cs typeface="Wingdings"/>
            </a:endParaRPr>
          </a:p>
          <a:p>
            <a:pPr marL="12700">
              <a:lnSpc>
                <a:spcPct val="100000"/>
              </a:lnSpc>
              <a:spcBef>
                <a:spcPts val="500"/>
              </a:spcBef>
            </a:pPr>
            <a:r>
              <a:rPr sz="2000" dirty="0">
                <a:latin typeface="Wingdings"/>
                <a:cs typeface="Wingdings"/>
              </a:rPr>
              <a:t></a:t>
            </a:r>
            <a:endParaRPr sz="2000">
              <a:latin typeface="Wingdings"/>
              <a:cs typeface="Wingdings"/>
            </a:endParaRPr>
          </a:p>
        </p:txBody>
      </p:sp>
      <p:sp>
        <p:nvSpPr>
          <p:cNvPr id="7" name="object 7"/>
          <p:cNvSpPr txBox="1"/>
          <p:nvPr/>
        </p:nvSpPr>
        <p:spPr>
          <a:xfrm>
            <a:off x="2501052" y="3861220"/>
            <a:ext cx="8940800" cy="1866900"/>
          </a:xfrm>
          <a:prstGeom prst="rect">
            <a:avLst/>
          </a:prstGeom>
        </p:spPr>
        <p:txBody>
          <a:bodyPr vert="horz" wrap="square" lIns="0" tIns="12700" rIns="0" bIns="0" rtlCol="0">
            <a:spAutoFit/>
          </a:bodyPr>
          <a:lstStyle/>
          <a:p>
            <a:pPr marL="12700" marR="2268220">
              <a:lnSpc>
                <a:spcPct val="120800"/>
              </a:lnSpc>
              <a:spcBef>
                <a:spcPts val="100"/>
              </a:spcBef>
            </a:pPr>
            <a:r>
              <a:rPr sz="2000" dirty="0">
                <a:latin typeface="Arial"/>
                <a:cs typeface="Arial"/>
              </a:rPr>
              <a:t>Parsing</a:t>
            </a:r>
            <a:r>
              <a:rPr sz="2000" spc="155" dirty="0">
                <a:latin typeface="Arial"/>
                <a:cs typeface="Arial"/>
              </a:rPr>
              <a:t> </a:t>
            </a:r>
            <a:r>
              <a:rPr sz="2000" spc="-5" dirty="0">
                <a:latin typeface="Arial"/>
                <a:cs typeface="Arial"/>
              </a:rPr>
              <a:t>the</a:t>
            </a:r>
            <a:r>
              <a:rPr sz="2000" spc="155" dirty="0">
                <a:latin typeface="Arial"/>
                <a:cs typeface="Arial"/>
              </a:rPr>
              <a:t> </a:t>
            </a:r>
            <a:r>
              <a:rPr sz="2000" dirty="0">
                <a:latin typeface="Arial"/>
                <a:cs typeface="Arial"/>
              </a:rPr>
              <a:t>request</a:t>
            </a:r>
            <a:r>
              <a:rPr sz="2000" spc="140" dirty="0">
                <a:latin typeface="Arial"/>
                <a:cs typeface="Arial"/>
              </a:rPr>
              <a:t> </a:t>
            </a:r>
            <a:r>
              <a:rPr sz="2000" dirty="0">
                <a:latin typeface="Arial"/>
                <a:cs typeface="Arial"/>
              </a:rPr>
              <a:t>message </a:t>
            </a:r>
            <a:r>
              <a:rPr sz="2000" spc="5" dirty="0">
                <a:latin typeface="Arial"/>
                <a:cs typeface="Arial"/>
              </a:rPr>
              <a:t> </a:t>
            </a:r>
            <a:r>
              <a:rPr sz="2000" dirty="0">
                <a:latin typeface="Arial"/>
                <a:cs typeface="Arial"/>
              </a:rPr>
              <a:t>Checking</a:t>
            </a:r>
            <a:r>
              <a:rPr sz="2000" spc="-5" dirty="0">
                <a:latin typeface="Arial"/>
                <a:cs typeface="Arial"/>
              </a:rPr>
              <a:t> that</a:t>
            </a:r>
            <a:r>
              <a:rPr sz="2000" spc="-10" dirty="0">
                <a:latin typeface="Arial"/>
                <a:cs typeface="Arial"/>
              </a:rPr>
              <a:t> </a:t>
            </a:r>
            <a:r>
              <a:rPr sz="2000" spc="-5" dirty="0">
                <a:latin typeface="Arial"/>
                <a:cs typeface="Arial"/>
              </a:rPr>
              <a:t>the</a:t>
            </a:r>
            <a:r>
              <a:rPr sz="2000" spc="-15" dirty="0">
                <a:latin typeface="Arial"/>
                <a:cs typeface="Arial"/>
              </a:rPr>
              <a:t> </a:t>
            </a:r>
            <a:r>
              <a:rPr sz="2000" dirty="0">
                <a:latin typeface="Arial"/>
                <a:cs typeface="Arial"/>
              </a:rPr>
              <a:t>request</a:t>
            </a:r>
            <a:r>
              <a:rPr sz="2000" spc="-20" dirty="0">
                <a:latin typeface="Arial"/>
                <a:cs typeface="Arial"/>
              </a:rPr>
              <a:t> </a:t>
            </a:r>
            <a:r>
              <a:rPr sz="2000" dirty="0">
                <a:latin typeface="Arial"/>
                <a:cs typeface="Arial"/>
              </a:rPr>
              <a:t>is</a:t>
            </a:r>
            <a:r>
              <a:rPr sz="2000" spc="-10" dirty="0">
                <a:latin typeface="Arial"/>
                <a:cs typeface="Arial"/>
              </a:rPr>
              <a:t> </a:t>
            </a:r>
            <a:r>
              <a:rPr sz="2000" dirty="0">
                <a:latin typeface="Arial"/>
                <a:cs typeface="Arial"/>
              </a:rPr>
              <a:t>authorized</a:t>
            </a:r>
            <a:endParaRPr sz="2000">
              <a:latin typeface="Arial"/>
              <a:cs typeface="Arial"/>
            </a:endParaRPr>
          </a:p>
          <a:p>
            <a:pPr marL="12700" marR="928369">
              <a:lnSpc>
                <a:spcPct val="120800"/>
              </a:lnSpc>
            </a:pPr>
            <a:r>
              <a:rPr sz="2000" dirty="0">
                <a:latin typeface="Arial"/>
                <a:cs typeface="Arial"/>
              </a:rPr>
              <a:t>Associating </a:t>
            </a:r>
            <a:r>
              <a:rPr sz="2000" spc="-5" dirty="0">
                <a:latin typeface="Arial"/>
                <a:cs typeface="Arial"/>
              </a:rPr>
              <a:t>the </a:t>
            </a:r>
            <a:r>
              <a:rPr sz="2000" dirty="0">
                <a:latin typeface="Arial"/>
                <a:cs typeface="Arial"/>
              </a:rPr>
              <a:t>URL in </a:t>
            </a:r>
            <a:r>
              <a:rPr sz="2000" spc="-5" dirty="0">
                <a:latin typeface="Arial"/>
                <a:cs typeface="Arial"/>
              </a:rPr>
              <a:t>the </a:t>
            </a:r>
            <a:r>
              <a:rPr sz="2000" dirty="0">
                <a:latin typeface="Arial"/>
                <a:cs typeface="Arial"/>
              </a:rPr>
              <a:t>request </a:t>
            </a:r>
            <a:r>
              <a:rPr sz="2000" spc="-5" dirty="0">
                <a:latin typeface="Arial"/>
                <a:cs typeface="Arial"/>
              </a:rPr>
              <a:t>with </a:t>
            </a:r>
            <a:r>
              <a:rPr sz="2000" dirty="0">
                <a:latin typeface="Arial"/>
                <a:cs typeface="Arial"/>
              </a:rPr>
              <a:t>a </a:t>
            </a:r>
            <a:r>
              <a:rPr sz="2000" spc="-5" dirty="0">
                <a:latin typeface="Arial"/>
                <a:cs typeface="Arial"/>
              </a:rPr>
              <a:t>file </a:t>
            </a:r>
            <a:r>
              <a:rPr sz="2000" dirty="0">
                <a:latin typeface="Arial"/>
                <a:cs typeface="Arial"/>
              </a:rPr>
              <a:t>name </a:t>
            </a:r>
            <a:r>
              <a:rPr sz="2000" spc="-545" dirty="0">
                <a:latin typeface="Arial"/>
                <a:cs typeface="Arial"/>
              </a:rPr>
              <a:t> </a:t>
            </a:r>
            <a:r>
              <a:rPr sz="2000" dirty="0">
                <a:latin typeface="Arial"/>
                <a:cs typeface="Arial"/>
              </a:rPr>
              <a:t>Constructing</a:t>
            </a:r>
            <a:r>
              <a:rPr sz="2000" spc="-5" dirty="0">
                <a:latin typeface="Arial"/>
                <a:cs typeface="Arial"/>
              </a:rPr>
              <a:t> the</a:t>
            </a:r>
            <a:r>
              <a:rPr sz="2000" dirty="0">
                <a:latin typeface="Arial"/>
                <a:cs typeface="Arial"/>
              </a:rPr>
              <a:t> response message</a:t>
            </a:r>
            <a:endParaRPr sz="2000">
              <a:latin typeface="Arial"/>
              <a:cs typeface="Arial"/>
            </a:endParaRPr>
          </a:p>
          <a:p>
            <a:pPr marL="12700">
              <a:lnSpc>
                <a:spcPct val="100000"/>
              </a:lnSpc>
              <a:spcBef>
                <a:spcPts val="500"/>
              </a:spcBef>
            </a:pPr>
            <a:r>
              <a:rPr sz="2000" spc="-5" dirty="0">
                <a:latin typeface="Arial"/>
                <a:cs typeface="Arial"/>
              </a:rPr>
              <a:t>Transmitting</a:t>
            </a:r>
            <a:r>
              <a:rPr sz="2000" dirty="0">
                <a:latin typeface="Arial"/>
                <a:cs typeface="Arial"/>
              </a:rPr>
              <a:t> </a:t>
            </a:r>
            <a:r>
              <a:rPr sz="2000" spc="-5" dirty="0">
                <a:latin typeface="Arial"/>
                <a:cs typeface="Arial"/>
              </a:rPr>
              <a:t>the</a:t>
            </a:r>
            <a:r>
              <a:rPr sz="2000" dirty="0">
                <a:latin typeface="Arial"/>
                <a:cs typeface="Arial"/>
              </a:rPr>
              <a:t> response message </a:t>
            </a:r>
            <a:r>
              <a:rPr sz="2000" spc="-5" dirty="0">
                <a:latin typeface="Arial"/>
                <a:cs typeface="Arial"/>
              </a:rPr>
              <a:t>to</a:t>
            </a:r>
            <a:r>
              <a:rPr sz="2000" dirty="0">
                <a:latin typeface="Arial"/>
                <a:cs typeface="Arial"/>
              </a:rPr>
              <a:t> </a:t>
            </a:r>
            <a:r>
              <a:rPr sz="2000" spc="-5" dirty="0">
                <a:latin typeface="Arial"/>
                <a:cs typeface="Arial"/>
              </a:rPr>
              <a:t>the</a:t>
            </a:r>
            <a:r>
              <a:rPr sz="2000" dirty="0">
                <a:latin typeface="Arial"/>
                <a:cs typeface="Arial"/>
              </a:rPr>
              <a:t> requesting client</a:t>
            </a:r>
            <a:endParaRPr sz="2000">
              <a:latin typeface="Arial"/>
              <a:cs typeface="Arial"/>
            </a:endParaRPr>
          </a:p>
        </p:txBody>
      </p:sp>
      <p:sp>
        <p:nvSpPr>
          <p:cNvPr id="8" name="object 8"/>
          <p:cNvSpPr/>
          <p:nvPr/>
        </p:nvSpPr>
        <p:spPr>
          <a:xfrm>
            <a:off x="711200" y="16311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10" name="object 10"/>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123</a:t>
            </a:fld>
            <a:endParaRPr sz="1400">
              <a:latin typeface="Arial"/>
              <a:cs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16961" y="619759"/>
            <a:ext cx="6268444" cy="689932"/>
          </a:xfrm>
          <a:prstGeom prst="rect">
            <a:avLst/>
          </a:prstGeom>
        </p:spPr>
        <p:txBody>
          <a:bodyPr vert="horz" wrap="square" lIns="0" tIns="12700" rIns="0" bIns="0" rtlCol="0">
            <a:spAutoFit/>
          </a:bodyPr>
          <a:lstStyle/>
          <a:p>
            <a:pPr marL="12700">
              <a:lnSpc>
                <a:spcPct val="100000"/>
              </a:lnSpc>
              <a:spcBef>
                <a:spcPts val="100"/>
              </a:spcBef>
            </a:pPr>
            <a:r>
              <a:rPr spc="-5" dirty="0"/>
              <a:t>Web</a:t>
            </a:r>
            <a:r>
              <a:rPr spc="-25" dirty="0"/>
              <a:t> </a:t>
            </a:r>
            <a:r>
              <a:rPr spc="-5" dirty="0"/>
              <a:t>Server</a:t>
            </a:r>
            <a:r>
              <a:rPr spc="-25" dirty="0"/>
              <a:t> </a:t>
            </a:r>
            <a:r>
              <a:rPr spc="-5" dirty="0"/>
              <a:t>Definition</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814492" y="1253490"/>
            <a:ext cx="10601112" cy="2875146"/>
          </a:xfrm>
          <a:prstGeom prst="rect">
            <a:avLst/>
          </a:prstGeom>
        </p:spPr>
        <p:txBody>
          <a:bodyPr vert="horz" wrap="square" lIns="0" tIns="12700" rIns="0" bIns="0" rtlCol="0">
            <a:spAutoFit/>
          </a:bodyPr>
          <a:lstStyle/>
          <a:p>
            <a:pPr marL="350520" marR="5080" indent="-337820">
              <a:lnSpc>
                <a:spcPct val="100000"/>
              </a:lnSpc>
              <a:spcBef>
                <a:spcPts val="100"/>
              </a:spcBef>
              <a:buFont typeface="Wingdings"/>
              <a:buChar char=""/>
              <a:tabLst>
                <a:tab pos="349885" algn="l"/>
                <a:tab pos="350520" algn="l"/>
              </a:tabLst>
            </a:pPr>
            <a:r>
              <a:rPr sz="2800" spc="-5" dirty="0">
                <a:latin typeface="Arial"/>
                <a:cs typeface="Arial"/>
              </a:rPr>
              <a:t>The </a:t>
            </a:r>
            <a:r>
              <a:rPr sz="2800" dirty="0">
                <a:latin typeface="Arial"/>
                <a:cs typeface="Arial"/>
              </a:rPr>
              <a:t>server can generate the response message </a:t>
            </a:r>
            <a:r>
              <a:rPr sz="2800" spc="-765" dirty="0">
                <a:latin typeface="Arial"/>
                <a:cs typeface="Arial"/>
              </a:rPr>
              <a:t> </a:t>
            </a:r>
            <a:r>
              <a:rPr sz="2800" spc="-5" dirty="0">
                <a:latin typeface="Arial"/>
                <a:cs typeface="Arial"/>
              </a:rPr>
              <a:t>in</a:t>
            </a:r>
            <a:r>
              <a:rPr sz="2800" spc="5" dirty="0">
                <a:latin typeface="Arial"/>
                <a:cs typeface="Arial"/>
              </a:rPr>
              <a:t> </a:t>
            </a:r>
            <a:r>
              <a:rPr sz="2800" dirty="0">
                <a:latin typeface="Arial"/>
                <a:cs typeface="Arial"/>
              </a:rPr>
              <a:t>a</a:t>
            </a:r>
            <a:r>
              <a:rPr sz="2800" spc="-10" dirty="0">
                <a:latin typeface="Arial"/>
                <a:cs typeface="Arial"/>
              </a:rPr>
              <a:t> </a:t>
            </a:r>
            <a:r>
              <a:rPr sz="2800" dirty="0">
                <a:latin typeface="Arial"/>
                <a:cs typeface="Arial"/>
              </a:rPr>
              <a:t>variety of ways:</a:t>
            </a:r>
            <a:endParaRPr sz="2800">
              <a:latin typeface="Arial"/>
              <a:cs typeface="Arial"/>
            </a:endParaRPr>
          </a:p>
          <a:p>
            <a:pPr marL="1277620" marR="482600" lvl="1" indent="-350520">
              <a:lnSpc>
                <a:spcPct val="100000"/>
              </a:lnSpc>
              <a:spcBef>
                <a:spcPts val="600"/>
              </a:spcBef>
              <a:buFont typeface="Wingdings"/>
              <a:buChar char=""/>
              <a:tabLst>
                <a:tab pos="1277620" algn="l"/>
              </a:tabLst>
            </a:pPr>
            <a:r>
              <a:rPr sz="2400" spc="-5" dirty="0">
                <a:latin typeface="Arial"/>
                <a:cs typeface="Arial"/>
              </a:rPr>
              <a:t>The </a:t>
            </a:r>
            <a:r>
              <a:rPr sz="2400" dirty="0">
                <a:latin typeface="Arial"/>
                <a:cs typeface="Arial"/>
              </a:rPr>
              <a:t>server </a:t>
            </a:r>
            <a:r>
              <a:rPr sz="2400" spc="-5" dirty="0">
                <a:latin typeface="Arial"/>
                <a:cs typeface="Arial"/>
              </a:rPr>
              <a:t>simply retrieves </a:t>
            </a:r>
            <a:r>
              <a:rPr sz="2400" dirty="0">
                <a:latin typeface="Arial"/>
                <a:cs typeface="Arial"/>
              </a:rPr>
              <a:t>the </a:t>
            </a:r>
            <a:r>
              <a:rPr sz="2400" spc="-5" dirty="0">
                <a:latin typeface="Arial"/>
                <a:cs typeface="Arial"/>
              </a:rPr>
              <a:t>file associated </a:t>
            </a:r>
            <a:r>
              <a:rPr sz="2400" spc="-655" dirty="0">
                <a:latin typeface="Arial"/>
                <a:cs typeface="Arial"/>
              </a:rPr>
              <a:t> </a:t>
            </a:r>
            <a:r>
              <a:rPr sz="2400" spc="-5" dirty="0">
                <a:latin typeface="Arial"/>
                <a:cs typeface="Arial"/>
              </a:rPr>
              <a:t>with </a:t>
            </a:r>
            <a:r>
              <a:rPr sz="2400" dirty="0">
                <a:latin typeface="Arial"/>
                <a:cs typeface="Arial"/>
              </a:rPr>
              <a:t>the </a:t>
            </a:r>
            <a:r>
              <a:rPr sz="2400" spc="-5" dirty="0">
                <a:latin typeface="Arial"/>
                <a:cs typeface="Arial"/>
              </a:rPr>
              <a:t>URL and returns the contents </a:t>
            </a:r>
            <a:r>
              <a:rPr sz="2400" dirty="0">
                <a:latin typeface="Arial"/>
                <a:cs typeface="Arial"/>
              </a:rPr>
              <a:t>to </a:t>
            </a:r>
            <a:r>
              <a:rPr sz="2400" spc="-5" dirty="0">
                <a:latin typeface="Arial"/>
                <a:cs typeface="Arial"/>
              </a:rPr>
              <a:t>the </a:t>
            </a:r>
            <a:r>
              <a:rPr sz="2400" dirty="0">
                <a:latin typeface="Arial"/>
                <a:cs typeface="Arial"/>
              </a:rPr>
              <a:t> </a:t>
            </a:r>
            <a:r>
              <a:rPr sz="2400" spc="-5" dirty="0">
                <a:latin typeface="Arial"/>
                <a:cs typeface="Arial"/>
              </a:rPr>
              <a:t>client.</a:t>
            </a:r>
            <a:endParaRPr sz="2400">
              <a:latin typeface="Arial"/>
              <a:cs typeface="Arial"/>
            </a:endParaRPr>
          </a:p>
          <a:p>
            <a:pPr marL="1277620" marR="259079" lvl="1" indent="-350520">
              <a:lnSpc>
                <a:spcPct val="100000"/>
              </a:lnSpc>
              <a:spcBef>
                <a:spcPts val="590"/>
              </a:spcBef>
              <a:buFont typeface="Wingdings"/>
              <a:buChar char=""/>
              <a:tabLst>
                <a:tab pos="1277620" algn="l"/>
              </a:tabLst>
            </a:pPr>
            <a:r>
              <a:rPr sz="2400" spc="-5" dirty="0">
                <a:latin typeface="Arial"/>
                <a:cs typeface="Arial"/>
              </a:rPr>
              <a:t>The</a:t>
            </a:r>
            <a:r>
              <a:rPr sz="2400" spc="-10" dirty="0">
                <a:latin typeface="Arial"/>
                <a:cs typeface="Arial"/>
              </a:rPr>
              <a:t> </a:t>
            </a:r>
            <a:r>
              <a:rPr sz="2400" dirty="0">
                <a:latin typeface="Arial"/>
                <a:cs typeface="Arial"/>
              </a:rPr>
              <a:t>server may</a:t>
            </a:r>
            <a:r>
              <a:rPr sz="2400" spc="-5" dirty="0">
                <a:latin typeface="Arial"/>
                <a:cs typeface="Arial"/>
              </a:rPr>
              <a:t> invoke</a:t>
            </a:r>
            <a:r>
              <a:rPr sz="2400" spc="5" dirty="0">
                <a:latin typeface="Arial"/>
                <a:cs typeface="Arial"/>
              </a:rPr>
              <a:t> </a:t>
            </a:r>
            <a:r>
              <a:rPr sz="2400" dirty="0">
                <a:latin typeface="Arial"/>
                <a:cs typeface="Arial"/>
              </a:rPr>
              <a:t>a</a:t>
            </a:r>
            <a:r>
              <a:rPr sz="2400" spc="-10" dirty="0">
                <a:latin typeface="Arial"/>
                <a:cs typeface="Arial"/>
              </a:rPr>
              <a:t> </a:t>
            </a:r>
            <a:r>
              <a:rPr sz="2400" spc="-5" dirty="0">
                <a:latin typeface="Arial"/>
                <a:cs typeface="Arial"/>
              </a:rPr>
              <a:t>script</a:t>
            </a:r>
            <a:r>
              <a:rPr sz="2400" spc="5" dirty="0">
                <a:latin typeface="Arial"/>
                <a:cs typeface="Arial"/>
              </a:rPr>
              <a:t> </a:t>
            </a:r>
            <a:r>
              <a:rPr sz="2400" spc="-5" dirty="0">
                <a:latin typeface="Arial"/>
                <a:cs typeface="Arial"/>
              </a:rPr>
              <a:t>that </a:t>
            </a:r>
            <a:r>
              <a:rPr sz="2400" dirty="0">
                <a:latin typeface="Arial"/>
                <a:cs typeface="Arial"/>
              </a:rPr>
              <a:t> </a:t>
            </a:r>
            <a:r>
              <a:rPr sz="2400" spc="-5" dirty="0">
                <a:latin typeface="Arial"/>
                <a:cs typeface="Arial"/>
              </a:rPr>
              <a:t>communicates with</a:t>
            </a:r>
            <a:r>
              <a:rPr sz="2400" spc="-10" dirty="0">
                <a:latin typeface="Arial"/>
                <a:cs typeface="Arial"/>
              </a:rPr>
              <a:t> </a:t>
            </a:r>
            <a:r>
              <a:rPr sz="2400" spc="-5" dirty="0">
                <a:latin typeface="Arial"/>
                <a:cs typeface="Arial"/>
              </a:rPr>
              <a:t>other</a:t>
            </a:r>
            <a:r>
              <a:rPr sz="2400" spc="10" dirty="0">
                <a:latin typeface="Arial"/>
                <a:cs typeface="Arial"/>
              </a:rPr>
              <a:t> </a:t>
            </a:r>
            <a:r>
              <a:rPr sz="2400" dirty="0">
                <a:latin typeface="Arial"/>
                <a:cs typeface="Arial"/>
              </a:rPr>
              <a:t>servers</a:t>
            </a:r>
            <a:r>
              <a:rPr sz="2400" spc="-5" dirty="0">
                <a:latin typeface="Arial"/>
                <a:cs typeface="Arial"/>
              </a:rPr>
              <a:t> or</a:t>
            </a:r>
            <a:r>
              <a:rPr sz="2400" spc="5" dirty="0">
                <a:latin typeface="Arial"/>
                <a:cs typeface="Arial"/>
              </a:rPr>
              <a:t> </a:t>
            </a:r>
            <a:r>
              <a:rPr sz="2400" dirty="0">
                <a:latin typeface="Arial"/>
                <a:cs typeface="Arial"/>
              </a:rPr>
              <a:t>a</a:t>
            </a:r>
            <a:r>
              <a:rPr sz="2400" spc="-5" dirty="0">
                <a:latin typeface="Arial"/>
                <a:cs typeface="Arial"/>
              </a:rPr>
              <a:t> back-end </a:t>
            </a:r>
            <a:r>
              <a:rPr sz="2400" spc="-655" dirty="0">
                <a:latin typeface="Arial"/>
                <a:cs typeface="Arial"/>
              </a:rPr>
              <a:t> </a:t>
            </a:r>
            <a:r>
              <a:rPr sz="2400" spc="-5" dirty="0">
                <a:latin typeface="Arial"/>
                <a:cs typeface="Arial"/>
              </a:rPr>
              <a:t>database</a:t>
            </a:r>
            <a:r>
              <a:rPr sz="2400" dirty="0">
                <a:latin typeface="Arial"/>
                <a:cs typeface="Arial"/>
              </a:rPr>
              <a:t> to</a:t>
            </a:r>
            <a:r>
              <a:rPr sz="2400" spc="-10" dirty="0">
                <a:latin typeface="Arial"/>
                <a:cs typeface="Arial"/>
              </a:rPr>
              <a:t> </a:t>
            </a:r>
            <a:r>
              <a:rPr sz="2400" spc="-5" dirty="0">
                <a:latin typeface="Arial"/>
                <a:cs typeface="Arial"/>
              </a:rPr>
              <a:t>construct</a:t>
            </a:r>
            <a:r>
              <a:rPr sz="2400" spc="15"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response</a:t>
            </a:r>
            <a:r>
              <a:rPr sz="2400" spc="-10" dirty="0">
                <a:latin typeface="Arial"/>
                <a:cs typeface="Arial"/>
              </a:rPr>
              <a:t> </a:t>
            </a:r>
            <a:r>
              <a:rPr sz="2400" spc="-5" dirty="0">
                <a:latin typeface="Arial"/>
                <a:cs typeface="Arial"/>
              </a:rPr>
              <a:t>message.</a:t>
            </a:r>
            <a:endParaRPr sz="240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124</a:t>
            </a:fld>
            <a:endParaRPr sz="1400">
              <a:latin typeface="Arial"/>
              <a:cs typeface="Aria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9286" y="619759"/>
            <a:ext cx="8328455" cy="689932"/>
          </a:xfrm>
          <a:prstGeom prst="rect">
            <a:avLst/>
          </a:prstGeom>
        </p:spPr>
        <p:txBody>
          <a:bodyPr vert="horz" wrap="square" lIns="0" tIns="12700" rIns="0" bIns="0" rtlCol="0">
            <a:spAutoFit/>
          </a:bodyPr>
          <a:lstStyle/>
          <a:p>
            <a:pPr marL="12700">
              <a:lnSpc>
                <a:spcPct val="100000"/>
              </a:lnSpc>
              <a:spcBef>
                <a:spcPts val="100"/>
              </a:spcBef>
            </a:pPr>
            <a:r>
              <a:rPr spc="-5" dirty="0"/>
              <a:t>Web</a:t>
            </a:r>
            <a:r>
              <a:rPr spc="-20" dirty="0"/>
              <a:t> </a:t>
            </a:r>
            <a:r>
              <a:rPr spc="-5" dirty="0"/>
              <a:t>Site</a:t>
            </a:r>
            <a:r>
              <a:rPr dirty="0"/>
              <a:t> </a:t>
            </a:r>
            <a:r>
              <a:rPr spc="-5" dirty="0"/>
              <a:t>versus</a:t>
            </a:r>
            <a:r>
              <a:rPr dirty="0"/>
              <a:t> </a:t>
            </a:r>
            <a:r>
              <a:rPr spc="-5" dirty="0"/>
              <a:t>Web</a:t>
            </a:r>
            <a:r>
              <a:rPr spc="-15" dirty="0"/>
              <a:t> </a:t>
            </a:r>
            <a:r>
              <a:rPr spc="-5" dirty="0"/>
              <a:t>Server</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965201" y="1419968"/>
            <a:ext cx="10425007" cy="2156460"/>
          </a:xfrm>
          <a:prstGeom prst="rect">
            <a:avLst/>
          </a:prstGeom>
        </p:spPr>
        <p:txBody>
          <a:bodyPr vert="horz" wrap="square" lIns="0" tIns="101600" rIns="0" bIns="0" rtlCol="0">
            <a:spAutoFit/>
          </a:bodyPr>
          <a:lstStyle/>
          <a:p>
            <a:pPr marL="307340" indent="-294640">
              <a:lnSpc>
                <a:spcPct val="100000"/>
              </a:lnSpc>
              <a:spcBef>
                <a:spcPts val="800"/>
              </a:spcBef>
              <a:buFont typeface="Wingdings"/>
              <a:buChar char=""/>
              <a:tabLst>
                <a:tab pos="307340" algn="l"/>
              </a:tabLst>
            </a:pPr>
            <a:r>
              <a:rPr sz="2800" b="1" i="1" spc="-5" dirty="0">
                <a:latin typeface="Arial"/>
                <a:cs typeface="Arial"/>
              </a:rPr>
              <a:t>Web</a:t>
            </a:r>
            <a:r>
              <a:rPr sz="2800" b="1" i="1" spc="-10" dirty="0">
                <a:latin typeface="Arial"/>
                <a:cs typeface="Arial"/>
              </a:rPr>
              <a:t> </a:t>
            </a:r>
            <a:r>
              <a:rPr sz="2800" b="1" i="1" spc="-5" dirty="0">
                <a:latin typeface="Arial"/>
                <a:cs typeface="Arial"/>
              </a:rPr>
              <a:t>site</a:t>
            </a:r>
            <a:r>
              <a:rPr sz="2800" b="1" i="1" spc="-10" dirty="0">
                <a:latin typeface="Arial"/>
                <a:cs typeface="Arial"/>
              </a:rPr>
              <a:t> </a:t>
            </a:r>
            <a:r>
              <a:rPr sz="2800" dirty="0">
                <a:latin typeface="Arial"/>
                <a:cs typeface="Arial"/>
              </a:rPr>
              <a:t>and</a:t>
            </a:r>
            <a:r>
              <a:rPr sz="2800" spc="-5" dirty="0">
                <a:latin typeface="Arial"/>
                <a:cs typeface="Arial"/>
              </a:rPr>
              <a:t> </a:t>
            </a:r>
            <a:r>
              <a:rPr sz="2800" b="1" i="1" spc="-5" dirty="0">
                <a:latin typeface="Arial"/>
                <a:cs typeface="Arial"/>
              </a:rPr>
              <a:t>Web</a:t>
            </a:r>
            <a:r>
              <a:rPr sz="2800" b="1" i="1" spc="-20" dirty="0">
                <a:latin typeface="Arial"/>
                <a:cs typeface="Arial"/>
              </a:rPr>
              <a:t> </a:t>
            </a:r>
            <a:r>
              <a:rPr sz="2800" b="1" i="1" dirty="0">
                <a:latin typeface="Arial"/>
                <a:cs typeface="Arial"/>
              </a:rPr>
              <a:t>server </a:t>
            </a:r>
            <a:r>
              <a:rPr sz="2800" dirty="0">
                <a:latin typeface="Arial"/>
                <a:cs typeface="Arial"/>
              </a:rPr>
              <a:t>are</a:t>
            </a:r>
            <a:r>
              <a:rPr sz="2800" spc="-15" dirty="0">
                <a:latin typeface="Arial"/>
                <a:cs typeface="Arial"/>
              </a:rPr>
              <a:t> </a:t>
            </a:r>
            <a:r>
              <a:rPr sz="2800" dirty="0">
                <a:latin typeface="Arial"/>
                <a:cs typeface="Arial"/>
              </a:rPr>
              <a:t>different:</a:t>
            </a:r>
          </a:p>
          <a:p>
            <a:pPr marL="1163955" marR="5080" lvl="1" indent="-411480">
              <a:lnSpc>
                <a:spcPct val="100000"/>
              </a:lnSpc>
              <a:spcBef>
                <a:spcPts val="600"/>
              </a:spcBef>
              <a:buFont typeface="Wingdings"/>
              <a:buChar char=""/>
              <a:tabLst>
                <a:tab pos="1163955" algn="l"/>
                <a:tab pos="1164590" algn="l"/>
              </a:tabLst>
            </a:pPr>
            <a:r>
              <a:rPr sz="2400" dirty="0">
                <a:latin typeface="Arial"/>
                <a:cs typeface="Arial"/>
              </a:rPr>
              <a:t>A</a:t>
            </a:r>
            <a:r>
              <a:rPr sz="2400" spc="-5" dirty="0">
                <a:latin typeface="Arial"/>
                <a:cs typeface="Arial"/>
              </a:rPr>
              <a:t> </a:t>
            </a:r>
            <a:r>
              <a:rPr sz="2400" b="1" i="1" spc="-5" dirty="0">
                <a:latin typeface="Arial"/>
                <a:cs typeface="Arial"/>
              </a:rPr>
              <a:t>Web</a:t>
            </a:r>
            <a:r>
              <a:rPr sz="2400" b="1" i="1" spc="5" dirty="0">
                <a:latin typeface="Arial"/>
                <a:cs typeface="Arial"/>
              </a:rPr>
              <a:t> </a:t>
            </a:r>
            <a:r>
              <a:rPr sz="2400" b="1" i="1" spc="-5" dirty="0">
                <a:latin typeface="Arial"/>
                <a:cs typeface="Arial"/>
              </a:rPr>
              <a:t>site</a:t>
            </a:r>
            <a:r>
              <a:rPr sz="2400" b="1" i="1" spc="5" dirty="0">
                <a:latin typeface="Arial"/>
                <a:cs typeface="Arial"/>
              </a:rPr>
              <a:t> </a:t>
            </a:r>
            <a:r>
              <a:rPr sz="2400" spc="-5" dirty="0">
                <a:latin typeface="Arial"/>
                <a:cs typeface="Arial"/>
              </a:rPr>
              <a:t>consists</a:t>
            </a:r>
            <a:r>
              <a:rPr sz="2400" dirty="0">
                <a:latin typeface="Arial"/>
                <a:cs typeface="Arial"/>
              </a:rPr>
              <a:t> of a</a:t>
            </a:r>
            <a:r>
              <a:rPr sz="2400" spc="-5" dirty="0">
                <a:latin typeface="Arial"/>
                <a:cs typeface="Arial"/>
              </a:rPr>
              <a:t> collection</a:t>
            </a:r>
            <a:r>
              <a:rPr sz="2400" dirty="0">
                <a:latin typeface="Arial"/>
                <a:cs typeface="Arial"/>
              </a:rPr>
              <a:t> </a:t>
            </a:r>
            <a:r>
              <a:rPr sz="2400" spc="-5" dirty="0">
                <a:latin typeface="Arial"/>
                <a:cs typeface="Arial"/>
              </a:rPr>
              <a:t>of</a:t>
            </a:r>
            <a:r>
              <a:rPr sz="2400" spc="5" dirty="0">
                <a:latin typeface="Arial"/>
                <a:cs typeface="Arial"/>
              </a:rPr>
              <a:t> </a:t>
            </a:r>
            <a:r>
              <a:rPr sz="2400" spc="-5" dirty="0">
                <a:latin typeface="Arial"/>
                <a:cs typeface="Arial"/>
              </a:rPr>
              <a:t>Web</a:t>
            </a:r>
            <a:r>
              <a:rPr sz="2400" spc="5" dirty="0">
                <a:latin typeface="Arial"/>
                <a:cs typeface="Arial"/>
              </a:rPr>
              <a:t> </a:t>
            </a:r>
            <a:r>
              <a:rPr sz="2400" spc="-10" dirty="0">
                <a:latin typeface="Arial"/>
                <a:cs typeface="Arial"/>
              </a:rPr>
              <a:t>pages </a:t>
            </a:r>
            <a:r>
              <a:rPr sz="2400" spc="-655" dirty="0">
                <a:latin typeface="Arial"/>
                <a:cs typeface="Arial"/>
              </a:rPr>
              <a:t> </a:t>
            </a:r>
            <a:r>
              <a:rPr sz="2400" spc="-5" dirty="0">
                <a:latin typeface="Arial"/>
                <a:cs typeface="Arial"/>
              </a:rPr>
              <a:t>associated</a:t>
            </a:r>
            <a:r>
              <a:rPr sz="2400" spc="-10" dirty="0">
                <a:latin typeface="Arial"/>
                <a:cs typeface="Arial"/>
              </a:rPr>
              <a:t> </a:t>
            </a:r>
            <a:r>
              <a:rPr sz="2400" spc="-5" dirty="0">
                <a:latin typeface="Arial"/>
                <a:cs typeface="Arial"/>
              </a:rPr>
              <a:t>with</a:t>
            </a:r>
            <a:r>
              <a:rPr sz="2400" spc="5" dirty="0">
                <a:latin typeface="Arial"/>
                <a:cs typeface="Arial"/>
              </a:rPr>
              <a:t> </a:t>
            </a:r>
            <a:r>
              <a:rPr sz="2400" dirty="0">
                <a:latin typeface="Arial"/>
                <a:cs typeface="Arial"/>
              </a:rPr>
              <a:t>a</a:t>
            </a:r>
            <a:r>
              <a:rPr sz="2400" spc="-10" dirty="0">
                <a:latin typeface="Arial"/>
                <a:cs typeface="Arial"/>
              </a:rPr>
              <a:t> </a:t>
            </a:r>
            <a:r>
              <a:rPr sz="2400" spc="-5" dirty="0">
                <a:latin typeface="Arial"/>
                <a:cs typeface="Arial"/>
              </a:rPr>
              <a:t>particular</a:t>
            </a:r>
            <a:r>
              <a:rPr sz="2400" spc="10" dirty="0">
                <a:latin typeface="Arial"/>
                <a:cs typeface="Arial"/>
              </a:rPr>
              <a:t> </a:t>
            </a:r>
            <a:r>
              <a:rPr sz="2400" spc="-5" dirty="0">
                <a:latin typeface="Arial"/>
                <a:cs typeface="Arial"/>
              </a:rPr>
              <a:t>hostname.</a:t>
            </a:r>
            <a:endParaRPr sz="2400" dirty="0">
              <a:latin typeface="Arial"/>
              <a:cs typeface="Arial"/>
            </a:endParaRPr>
          </a:p>
          <a:p>
            <a:pPr marL="1163955" marR="850900" lvl="1" indent="-411480">
              <a:lnSpc>
                <a:spcPct val="100000"/>
              </a:lnSpc>
              <a:spcBef>
                <a:spcPts val="600"/>
              </a:spcBef>
              <a:buFont typeface="Wingdings"/>
              <a:buChar char=""/>
              <a:tabLst>
                <a:tab pos="1163955" algn="l"/>
                <a:tab pos="1164590" algn="l"/>
              </a:tabLst>
            </a:pPr>
            <a:r>
              <a:rPr sz="2400" dirty="0">
                <a:latin typeface="Arial"/>
                <a:cs typeface="Arial"/>
              </a:rPr>
              <a:t>A</a:t>
            </a:r>
            <a:r>
              <a:rPr sz="2400" spc="-5" dirty="0">
                <a:latin typeface="Arial"/>
                <a:cs typeface="Arial"/>
              </a:rPr>
              <a:t> </a:t>
            </a:r>
            <a:r>
              <a:rPr sz="2400" b="1" i="1" spc="-5" dirty="0">
                <a:latin typeface="Arial"/>
                <a:cs typeface="Arial"/>
              </a:rPr>
              <a:t>Web</a:t>
            </a:r>
            <a:r>
              <a:rPr sz="2400" b="1" i="1" spc="5" dirty="0">
                <a:latin typeface="Arial"/>
                <a:cs typeface="Arial"/>
              </a:rPr>
              <a:t> </a:t>
            </a:r>
            <a:r>
              <a:rPr sz="2400" b="1" i="1" spc="-10" dirty="0">
                <a:latin typeface="Arial"/>
                <a:cs typeface="Arial"/>
              </a:rPr>
              <a:t>server</a:t>
            </a:r>
            <a:r>
              <a:rPr sz="2400" b="1" i="1" spc="5" dirty="0">
                <a:latin typeface="Arial"/>
                <a:cs typeface="Arial"/>
              </a:rPr>
              <a:t> </a:t>
            </a:r>
            <a:r>
              <a:rPr sz="2400" spc="-10" dirty="0">
                <a:latin typeface="Arial"/>
                <a:cs typeface="Arial"/>
              </a:rPr>
              <a:t>is</a:t>
            </a:r>
            <a:r>
              <a:rPr sz="2400" spc="10" dirty="0">
                <a:latin typeface="Arial"/>
                <a:cs typeface="Arial"/>
              </a:rPr>
              <a:t> </a:t>
            </a:r>
            <a:r>
              <a:rPr sz="2400" dirty="0">
                <a:latin typeface="Arial"/>
                <a:cs typeface="Arial"/>
              </a:rPr>
              <a:t>a</a:t>
            </a:r>
            <a:r>
              <a:rPr sz="2400" spc="-10" dirty="0">
                <a:latin typeface="Arial"/>
                <a:cs typeface="Arial"/>
              </a:rPr>
              <a:t> </a:t>
            </a:r>
            <a:r>
              <a:rPr sz="2400" spc="-5" dirty="0">
                <a:latin typeface="Arial"/>
                <a:cs typeface="Arial"/>
              </a:rPr>
              <a:t>program</a:t>
            </a:r>
            <a:r>
              <a:rPr sz="2400" dirty="0">
                <a:latin typeface="Arial"/>
                <a:cs typeface="Arial"/>
              </a:rPr>
              <a:t> </a:t>
            </a:r>
            <a:r>
              <a:rPr sz="2400" spc="5" dirty="0">
                <a:latin typeface="Arial"/>
                <a:cs typeface="Arial"/>
              </a:rPr>
              <a:t>to</a:t>
            </a:r>
            <a:r>
              <a:rPr sz="2400" spc="-10" dirty="0">
                <a:latin typeface="Arial"/>
                <a:cs typeface="Arial"/>
              </a:rPr>
              <a:t> </a:t>
            </a:r>
            <a:r>
              <a:rPr sz="2400" spc="-5" dirty="0">
                <a:latin typeface="Arial"/>
                <a:cs typeface="Arial"/>
              </a:rPr>
              <a:t>satisfy</a:t>
            </a:r>
            <a:r>
              <a:rPr sz="2400" spc="10" dirty="0">
                <a:latin typeface="Arial"/>
                <a:cs typeface="Arial"/>
              </a:rPr>
              <a:t> </a:t>
            </a:r>
            <a:r>
              <a:rPr sz="2400" spc="-5" dirty="0">
                <a:latin typeface="Arial"/>
                <a:cs typeface="Arial"/>
              </a:rPr>
              <a:t>client </a:t>
            </a:r>
            <a:r>
              <a:rPr sz="2400" spc="-655" dirty="0">
                <a:latin typeface="Arial"/>
                <a:cs typeface="Arial"/>
              </a:rPr>
              <a:t> </a:t>
            </a:r>
            <a:r>
              <a:rPr sz="2400" spc="-5" dirty="0">
                <a:latin typeface="Arial"/>
                <a:cs typeface="Arial"/>
              </a:rPr>
              <a:t>requests for</a:t>
            </a:r>
            <a:r>
              <a:rPr sz="2400" spc="10" dirty="0">
                <a:latin typeface="Arial"/>
                <a:cs typeface="Arial"/>
              </a:rPr>
              <a:t> </a:t>
            </a:r>
            <a:r>
              <a:rPr sz="2400" spc="-5" dirty="0">
                <a:latin typeface="Arial"/>
                <a:cs typeface="Arial"/>
              </a:rPr>
              <a:t>Web resources.</a:t>
            </a:r>
            <a:endParaRPr sz="2400" dirty="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125</a:t>
            </a:fld>
            <a:endParaRPr sz="1400">
              <a:latin typeface="Arial"/>
              <a:cs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99292" y="520903"/>
            <a:ext cx="9312304" cy="689932"/>
          </a:xfrm>
          <a:prstGeom prst="rect">
            <a:avLst/>
          </a:prstGeom>
        </p:spPr>
        <p:txBody>
          <a:bodyPr vert="horz" wrap="square" lIns="0" tIns="12700" rIns="0" bIns="0" rtlCol="0">
            <a:spAutoFit/>
          </a:bodyPr>
          <a:lstStyle/>
          <a:p>
            <a:pPr marL="12700">
              <a:lnSpc>
                <a:spcPct val="100000"/>
              </a:lnSpc>
              <a:spcBef>
                <a:spcPts val="100"/>
              </a:spcBef>
            </a:pPr>
            <a:r>
              <a:rPr spc="-5" dirty="0"/>
              <a:t>Steps</a:t>
            </a:r>
            <a:r>
              <a:rPr spc="-10" dirty="0"/>
              <a:t> </a:t>
            </a:r>
            <a:r>
              <a:rPr dirty="0"/>
              <a:t>in</a:t>
            </a:r>
            <a:r>
              <a:rPr spc="-20" dirty="0"/>
              <a:t> </a:t>
            </a:r>
            <a:r>
              <a:rPr spc="-5" dirty="0"/>
              <a:t>Handling</a:t>
            </a:r>
            <a:r>
              <a:rPr spc="-25" dirty="0"/>
              <a:t> </a:t>
            </a:r>
            <a:r>
              <a:rPr dirty="0"/>
              <a:t>a</a:t>
            </a:r>
            <a:r>
              <a:rPr spc="5" dirty="0"/>
              <a:t> </a:t>
            </a:r>
            <a:r>
              <a:rPr spc="-5" dirty="0"/>
              <a:t>Client</a:t>
            </a:r>
            <a:r>
              <a:rPr spc="-10" dirty="0"/>
              <a:t> </a:t>
            </a:r>
            <a:r>
              <a:rPr spc="-5" dirty="0"/>
              <a:t>Request</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965201" y="1231900"/>
            <a:ext cx="25146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Wingdings"/>
                <a:cs typeface="Wingdings"/>
              </a:rPr>
              <a:t></a:t>
            </a:r>
            <a:endParaRPr sz="2800">
              <a:latin typeface="Wingdings"/>
              <a:cs typeface="Wingdings"/>
            </a:endParaRPr>
          </a:p>
        </p:txBody>
      </p:sp>
      <p:sp>
        <p:nvSpPr>
          <p:cNvPr id="6" name="object 6"/>
          <p:cNvSpPr txBox="1"/>
          <p:nvPr/>
        </p:nvSpPr>
        <p:spPr>
          <a:xfrm>
            <a:off x="1508759" y="1253490"/>
            <a:ext cx="9926320" cy="4603311"/>
          </a:xfrm>
          <a:prstGeom prst="rect">
            <a:avLst/>
          </a:prstGeom>
        </p:spPr>
        <p:txBody>
          <a:bodyPr vert="horz" wrap="square" lIns="0" tIns="12700" rIns="0" bIns="0" rtlCol="0">
            <a:spAutoFit/>
          </a:bodyPr>
          <a:lstStyle/>
          <a:p>
            <a:pPr marL="12700" marR="314960">
              <a:lnSpc>
                <a:spcPct val="100000"/>
              </a:lnSpc>
              <a:spcBef>
                <a:spcPts val="100"/>
              </a:spcBef>
            </a:pPr>
            <a:r>
              <a:rPr sz="2800" dirty="0">
                <a:latin typeface="Arial"/>
                <a:cs typeface="Arial"/>
              </a:rPr>
              <a:t>A </a:t>
            </a:r>
            <a:r>
              <a:rPr sz="2800" spc="-5" dirty="0">
                <a:latin typeface="Arial"/>
                <a:cs typeface="Arial"/>
              </a:rPr>
              <a:t>Web </a:t>
            </a:r>
            <a:r>
              <a:rPr sz="2800" dirty="0">
                <a:latin typeface="Arial"/>
                <a:cs typeface="Arial"/>
              </a:rPr>
              <a:t>server proceeds through the </a:t>
            </a:r>
            <a:r>
              <a:rPr sz="2800" spc="-5" dirty="0">
                <a:latin typeface="Arial"/>
                <a:cs typeface="Arial"/>
              </a:rPr>
              <a:t>following </a:t>
            </a:r>
            <a:r>
              <a:rPr sz="2800" spc="-765" dirty="0">
                <a:latin typeface="Arial"/>
                <a:cs typeface="Arial"/>
              </a:rPr>
              <a:t> </a:t>
            </a:r>
            <a:r>
              <a:rPr sz="2800" dirty="0">
                <a:latin typeface="Arial"/>
                <a:cs typeface="Arial"/>
              </a:rPr>
              <a:t>steps</a:t>
            </a:r>
            <a:r>
              <a:rPr sz="2800" spc="5" dirty="0">
                <a:latin typeface="Arial"/>
                <a:cs typeface="Arial"/>
              </a:rPr>
              <a:t> </a:t>
            </a:r>
            <a:r>
              <a:rPr sz="2800" spc="-5" dirty="0">
                <a:latin typeface="Arial"/>
                <a:cs typeface="Arial"/>
              </a:rPr>
              <a:t>in</a:t>
            </a:r>
            <a:r>
              <a:rPr sz="2800" dirty="0">
                <a:latin typeface="Arial"/>
                <a:cs typeface="Arial"/>
              </a:rPr>
              <a:t> handling an</a:t>
            </a:r>
            <a:r>
              <a:rPr sz="2800" spc="5" dirty="0">
                <a:latin typeface="Arial"/>
                <a:cs typeface="Arial"/>
              </a:rPr>
              <a:t> </a:t>
            </a:r>
            <a:r>
              <a:rPr sz="2800" spc="-10" dirty="0">
                <a:latin typeface="Arial"/>
                <a:cs typeface="Arial"/>
              </a:rPr>
              <a:t>HTTP</a:t>
            </a:r>
            <a:r>
              <a:rPr sz="2800" spc="-15" dirty="0">
                <a:latin typeface="Arial"/>
                <a:cs typeface="Arial"/>
              </a:rPr>
              <a:t> </a:t>
            </a:r>
            <a:r>
              <a:rPr sz="2800" dirty="0">
                <a:latin typeface="Arial"/>
                <a:cs typeface="Arial"/>
              </a:rPr>
              <a:t>request:</a:t>
            </a:r>
          </a:p>
          <a:p>
            <a:pPr marL="756920" indent="-350520">
              <a:lnSpc>
                <a:spcPct val="100000"/>
              </a:lnSpc>
              <a:spcBef>
                <a:spcPts val="600"/>
              </a:spcBef>
              <a:buFont typeface="Wingdings"/>
              <a:buChar char=""/>
              <a:tabLst>
                <a:tab pos="756920" algn="l"/>
              </a:tabLst>
            </a:pPr>
            <a:r>
              <a:rPr sz="2400" spc="-10" dirty="0">
                <a:latin typeface="Arial"/>
                <a:cs typeface="Arial"/>
              </a:rPr>
              <a:t>Read</a:t>
            </a:r>
            <a:r>
              <a:rPr sz="2400" dirty="0">
                <a:latin typeface="Arial"/>
                <a:cs typeface="Arial"/>
              </a:rPr>
              <a:t> </a:t>
            </a:r>
            <a:r>
              <a:rPr sz="2400" spc="-10" dirty="0">
                <a:latin typeface="Arial"/>
                <a:cs typeface="Arial"/>
              </a:rPr>
              <a:t>and </a:t>
            </a:r>
            <a:r>
              <a:rPr sz="2400" spc="-5" dirty="0">
                <a:latin typeface="Arial"/>
                <a:cs typeface="Arial"/>
              </a:rPr>
              <a:t>parse</a:t>
            </a:r>
            <a:r>
              <a:rPr sz="2400" dirty="0">
                <a:latin typeface="Arial"/>
                <a:cs typeface="Arial"/>
              </a:rPr>
              <a:t> </a:t>
            </a:r>
            <a:r>
              <a:rPr sz="2400" spc="-5" dirty="0">
                <a:latin typeface="Arial"/>
                <a:cs typeface="Arial"/>
              </a:rPr>
              <a:t>the</a:t>
            </a:r>
            <a:r>
              <a:rPr sz="2400" spc="5" dirty="0">
                <a:latin typeface="Arial"/>
                <a:cs typeface="Arial"/>
              </a:rPr>
              <a:t> </a:t>
            </a:r>
            <a:r>
              <a:rPr sz="2400" spc="-5" dirty="0">
                <a:latin typeface="Arial"/>
                <a:cs typeface="Arial"/>
              </a:rPr>
              <a:t>HTTP request</a:t>
            </a:r>
            <a:r>
              <a:rPr sz="2400" dirty="0">
                <a:latin typeface="Arial"/>
                <a:cs typeface="Arial"/>
              </a:rPr>
              <a:t> </a:t>
            </a:r>
            <a:r>
              <a:rPr sz="2400" spc="-5" dirty="0">
                <a:latin typeface="Arial"/>
                <a:cs typeface="Arial"/>
              </a:rPr>
              <a:t>message</a:t>
            </a:r>
            <a:endParaRPr sz="2400" dirty="0">
              <a:latin typeface="Arial"/>
              <a:cs typeface="Arial"/>
            </a:endParaRPr>
          </a:p>
          <a:p>
            <a:pPr marL="748030">
              <a:lnSpc>
                <a:spcPct val="100000"/>
              </a:lnSpc>
              <a:spcBef>
                <a:spcPts val="900"/>
              </a:spcBef>
            </a:pPr>
            <a:r>
              <a:rPr sz="2000" spc="-5" dirty="0">
                <a:latin typeface="Arial"/>
                <a:cs typeface="Arial"/>
              </a:rPr>
              <a:t>for </a:t>
            </a:r>
            <a:r>
              <a:rPr sz="2000" dirty="0">
                <a:latin typeface="Arial"/>
                <a:cs typeface="Arial"/>
              </a:rPr>
              <a:t>example</a:t>
            </a:r>
            <a:r>
              <a:rPr sz="2000" spc="-15" dirty="0">
                <a:latin typeface="Arial"/>
                <a:cs typeface="Arial"/>
              </a:rPr>
              <a:t> </a:t>
            </a:r>
            <a:r>
              <a:rPr sz="2000" dirty="0">
                <a:latin typeface="Arial"/>
                <a:cs typeface="Arial"/>
              </a:rPr>
              <a:t>GET</a:t>
            </a:r>
            <a:r>
              <a:rPr sz="2000" spc="-20" dirty="0">
                <a:latin typeface="Arial"/>
                <a:cs typeface="Arial"/>
              </a:rPr>
              <a:t> </a:t>
            </a:r>
            <a:r>
              <a:rPr sz="2000" spc="-5" dirty="0">
                <a:latin typeface="Arial"/>
                <a:cs typeface="Arial"/>
              </a:rPr>
              <a:t>the </a:t>
            </a:r>
            <a:r>
              <a:rPr sz="2000" dirty="0">
                <a:latin typeface="Arial"/>
                <a:cs typeface="Arial"/>
              </a:rPr>
              <a:t>resource</a:t>
            </a:r>
            <a:r>
              <a:rPr sz="2000" spc="-10" dirty="0">
                <a:latin typeface="Arial"/>
                <a:cs typeface="Arial"/>
              </a:rPr>
              <a:t> </a:t>
            </a:r>
            <a:r>
              <a:rPr sz="2000" spc="-5" dirty="0">
                <a:latin typeface="Arial"/>
                <a:cs typeface="Arial"/>
              </a:rPr>
              <a:t>/foo.htm</a:t>
            </a:r>
            <a:endParaRPr sz="2000" dirty="0">
              <a:latin typeface="Arial"/>
              <a:cs typeface="Arial"/>
            </a:endParaRPr>
          </a:p>
          <a:p>
            <a:pPr marL="756920" indent="-350520">
              <a:lnSpc>
                <a:spcPct val="100000"/>
              </a:lnSpc>
              <a:spcBef>
                <a:spcPts val="670"/>
              </a:spcBef>
              <a:buFont typeface="Wingdings"/>
              <a:buChar char=""/>
              <a:tabLst>
                <a:tab pos="756920" algn="l"/>
              </a:tabLst>
            </a:pPr>
            <a:r>
              <a:rPr sz="2400" spc="-5" dirty="0">
                <a:latin typeface="Arial"/>
                <a:cs typeface="Arial"/>
              </a:rPr>
              <a:t>Translate the </a:t>
            </a:r>
            <a:r>
              <a:rPr sz="2400" spc="-10" dirty="0">
                <a:latin typeface="Arial"/>
                <a:cs typeface="Arial"/>
              </a:rPr>
              <a:t>URL</a:t>
            </a:r>
            <a:r>
              <a:rPr sz="2400" spc="-5" dirty="0">
                <a:latin typeface="Arial"/>
                <a:cs typeface="Arial"/>
              </a:rPr>
              <a:t> </a:t>
            </a:r>
            <a:r>
              <a:rPr sz="2400" dirty="0">
                <a:latin typeface="Arial"/>
                <a:cs typeface="Arial"/>
              </a:rPr>
              <a:t>to</a:t>
            </a:r>
            <a:r>
              <a:rPr sz="2400" spc="-15" dirty="0">
                <a:latin typeface="Arial"/>
                <a:cs typeface="Arial"/>
              </a:rPr>
              <a:t> </a:t>
            </a:r>
            <a:r>
              <a:rPr sz="2400" dirty="0">
                <a:latin typeface="Arial"/>
                <a:cs typeface="Arial"/>
              </a:rPr>
              <a:t>a</a:t>
            </a:r>
            <a:r>
              <a:rPr sz="2400" spc="-5" dirty="0">
                <a:latin typeface="Arial"/>
                <a:cs typeface="Arial"/>
              </a:rPr>
              <a:t> file</a:t>
            </a:r>
            <a:r>
              <a:rPr sz="2400" dirty="0">
                <a:latin typeface="Arial"/>
                <a:cs typeface="Arial"/>
              </a:rPr>
              <a:t> </a:t>
            </a:r>
            <a:r>
              <a:rPr sz="2400" spc="-5" dirty="0">
                <a:latin typeface="Arial"/>
                <a:cs typeface="Arial"/>
              </a:rPr>
              <a:t>name</a:t>
            </a:r>
            <a:endParaRPr sz="2400" dirty="0">
              <a:latin typeface="Arial"/>
              <a:cs typeface="Arial"/>
            </a:endParaRPr>
          </a:p>
          <a:p>
            <a:pPr marL="756285" marR="262890" indent="-8890">
              <a:lnSpc>
                <a:spcPct val="112100"/>
              </a:lnSpc>
              <a:spcBef>
                <a:spcPts val="610"/>
              </a:spcBef>
            </a:pPr>
            <a:r>
              <a:rPr sz="2000" spc="-5" dirty="0">
                <a:latin typeface="Arial"/>
                <a:cs typeface="Arial"/>
              </a:rPr>
              <a:t>for </a:t>
            </a:r>
            <a:r>
              <a:rPr sz="2000" dirty="0">
                <a:latin typeface="Arial"/>
                <a:cs typeface="Arial"/>
              </a:rPr>
              <a:t>example </a:t>
            </a:r>
            <a:r>
              <a:rPr sz="2000" spc="-5" dirty="0">
                <a:latin typeface="Arial"/>
                <a:cs typeface="Arial"/>
              </a:rPr>
              <a:t>the </a:t>
            </a:r>
            <a:r>
              <a:rPr sz="2000" dirty="0">
                <a:latin typeface="Arial"/>
                <a:cs typeface="Arial"/>
              </a:rPr>
              <a:t>resource </a:t>
            </a:r>
            <a:r>
              <a:rPr sz="2000" spc="-5" dirty="0">
                <a:latin typeface="Arial"/>
                <a:cs typeface="Arial"/>
              </a:rPr>
              <a:t>be </a:t>
            </a:r>
            <a:r>
              <a:rPr sz="2000" dirty="0">
                <a:latin typeface="Arial"/>
                <a:cs typeface="Arial"/>
              </a:rPr>
              <a:t>located </a:t>
            </a:r>
            <a:r>
              <a:rPr sz="2000" spc="-5" dirty="0">
                <a:latin typeface="Arial"/>
                <a:cs typeface="Arial"/>
              </a:rPr>
              <a:t>in the </a:t>
            </a:r>
            <a:r>
              <a:rPr sz="2000" dirty="0">
                <a:latin typeface="Arial"/>
                <a:cs typeface="Arial"/>
              </a:rPr>
              <a:t>base directory </a:t>
            </a:r>
            <a:r>
              <a:rPr sz="2000" spc="-545" dirty="0">
                <a:latin typeface="Arial"/>
                <a:cs typeface="Arial"/>
              </a:rPr>
              <a:t> </a:t>
            </a:r>
            <a:r>
              <a:rPr sz="2000" dirty="0">
                <a:latin typeface="Arial"/>
                <a:cs typeface="Arial"/>
              </a:rPr>
              <a:t>such as /www, where </a:t>
            </a:r>
            <a:r>
              <a:rPr sz="2000" spc="-5" dirty="0">
                <a:latin typeface="Arial"/>
                <a:cs typeface="Arial"/>
              </a:rPr>
              <a:t>the </a:t>
            </a:r>
            <a:r>
              <a:rPr sz="2000" dirty="0">
                <a:latin typeface="Arial"/>
                <a:cs typeface="Arial"/>
              </a:rPr>
              <a:t>URL </a:t>
            </a:r>
            <a:r>
              <a:rPr sz="2000" spc="5" dirty="0">
                <a:latin typeface="Arial"/>
                <a:cs typeface="Arial"/>
              </a:rPr>
              <a:t> </a:t>
            </a:r>
            <a:r>
              <a:rPr sz="2000" spc="-5" dirty="0">
                <a:latin typeface="Arial"/>
                <a:cs typeface="Arial"/>
                <a:hlinkClick r:id="rId2"/>
              </a:rPr>
              <a:t>http://www.bar.com/foo/index.html</a:t>
            </a:r>
            <a:r>
              <a:rPr sz="2000" dirty="0">
                <a:latin typeface="Arial"/>
                <a:cs typeface="Arial"/>
              </a:rPr>
              <a:t> corresponds</a:t>
            </a:r>
            <a:r>
              <a:rPr sz="2000" spc="5" dirty="0">
                <a:latin typeface="Arial"/>
                <a:cs typeface="Arial"/>
              </a:rPr>
              <a:t> </a:t>
            </a:r>
            <a:r>
              <a:rPr sz="2000" spc="-5" dirty="0">
                <a:latin typeface="Arial"/>
                <a:cs typeface="Arial"/>
              </a:rPr>
              <a:t>to</a:t>
            </a:r>
            <a:endParaRPr sz="2000" dirty="0">
              <a:latin typeface="Arial"/>
              <a:cs typeface="Arial"/>
            </a:endParaRPr>
          </a:p>
          <a:p>
            <a:pPr marL="756285">
              <a:lnSpc>
                <a:spcPct val="100000"/>
              </a:lnSpc>
              <a:spcBef>
                <a:spcPts val="500"/>
              </a:spcBef>
            </a:pPr>
            <a:r>
              <a:rPr sz="2000" spc="-5" dirty="0">
                <a:latin typeface="Arial"/>
                <a:cs typeface="Arial"/>
              </a:rPr>
              <a:t>the</a:t>
            </a:r>
            <a:r>
              <a:rPr sz="2000" spc="-20" dirty="0">
                <a:latin typeface="Arial"/>
                <a:cs typeface="Arial"/>
              </a:rPr>
              <a:t> </a:t>
            </a:r>
            <a:r>
              <a:rPr sz="2000" spc="-5" dirty="0">
                <a:latin typeface="Arial"/>
                <a:cs typeface="Arial"/>
              </a:rPr>
              <a:t>file</a:t>
            </a:r>
            <a:r>
              <a:rPr sz="2000" spc="-30" dirty="0">
                <a:latin typeface="Arial"/>
                <a:cs typeface="Arial"/>
              </a:rPr>
              <a:t> </a:t>
            </a:r>
            <a:r>
              <a:rPr sz="2000" dirty="0">
                <a:latin typeface="Arial"/>
                <a:cs typeface="Arial"/>
              </a:rPr>
              <a:t>of</a:t>
            </a:r>
            <a:r>
              <a:rPr sz="2000" spc="-30" dirty="0">
                <a:latin typeface="Arial"/>
                <a:cs typeface="Arial"/>
              </a:rPr>
              <a:t> </a:t>
            </a:r>
            <a:r>
              <a:rPr sz="2000" dirty="0">
                <a:latin typeface="Arial"/>
                <a:cs typeface="Arial"/>
              </a:rPr>
              <a:t>www/foo/index.html</a:t>
            </a:r>
          </a:p>
          <a:p>
            <a:pPr marL="756920" indent="-350520">
              <a:lnSpc>
                <a:spcPct val="100000"/>
              </a:lnSpc>
              <a:spcBef>
                <a:spcPts val="600"/>
              </a:spcBef>
              <a:buFont typeface="Wingdings"/>
              <a:buChar char=""/>
              <a:tabLst>
                <a:tab pos="756920" algn="l"/>
              </a:tabLst>
            </a:pPr>
            <a:r>
              <a:rPr sz="2400" spc="-5" dirty="0">
                <a:latin typeface="Arial"/>
                <a:cs typeface="Arial"/>
              </a:rPr>
              <a:t>Determine</a:t>
            </a:r>
            <a:r>
              <a:rPr sz="2400" dirty="0">
                <a:latin typeface="Arial"/>
                <a:cs typeface="Arial"/>
              </a:rPr>
              <a:t> </a:t>
            </a:r>
            <a:r>
              <a:rPr sz="2400" spc="-10" dirty="0">
                <a:latin typeface="Arial"/>
                <a:cs typeface="Arial"/>
              </a:rPr>
              <a:t>whether</a:t>
            </a:r>
            <a:r>
              <a:rPr sz="2400" spc="5"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request</a:t>
            </a:r>
            <a:r>
              <a:rPr sz="2400" spc="10" dirty="0">
                <a:latin typeface="Arial"/>
                <a:cs typeface="Arial"/>
              </a:rPr>
              <a:t> </a:t>
            </a:r>
            <a:r>
              <a:rPr sz="2400" spc="-10" dirty="0">
                <a:latin typeface="Arial"/>
                <a:cs typeface="Arial"/>
              </a:rPr>
              <a:t>is</a:t>
            </a:r>
            <a:r>
              <a:rPr sz="2400" spc="-5" dirty="0">
                <a:latin typeface="Arial"/>
                <a:cs typeface="Arial"/>
              </a:rPr>
              <a:t> authorized</a:t>
            </a:r>
            <a:endParaRPr sz="2400" dirty="0">
              <a:latin typeface="Arial"/>
              <a:cs typeface="Arial"/>
            </a:endParaRPr>
          </a:p>
          <a:p>
            <a:pPr marL="756285" marR="5080" indent="-350520">
              <a:lnSpc>
                <a:spcPct val="100000"/>
              </a:lnSpc>
              <a:spcBef>
                <a:spcPts val="600"/>
              </a:spcBef>
              <a:buFont typeface="Wingdings"/>
              <a:buChar char=""/>
              <a:tabLst>
                <a:tab pos="756920" algn="l"/>
              </a:tabLst>
            </a:pPr>
            <a:r>
              <a:rPr sz="2400" spc="-5" dirty="0">
                <a:latin typeface="Arial"/>
                <a:cs typeface="Arial"/>
              </a:rPr>
              <a:t>Generate </a:t>
            </a:r>
            <a:r>
              <a:rPr sz="2400" spc="-10" dirty="0">
                <a:latin typeface="Arial"/>
                <a:cs typeface="Arial"/>
              </a:rPr>
              <a:t>and</a:t>
            </a:r>
            <a:r>
              <a:rPr sz="2400" spc="5" dirty="0">
                <a:latin typeface="Arial"/>
                <a:cs typeface="Arial"/>
              </a:rPr>
              <a:t> </a:t>
            </a:r>
            <a:r>
              <a:rPr sz="2400" spc="-5" dirty="0">
                <a:latin typeface="Arial"/>
                <a:cs typeface="Arial"/>
              </a:rPr>
              <a:t>transmit</a:t>
            </a:r>
            <a:r>
              <a:rPr sz="2400" spc="15" dirty="0">
                <a:latin typeface="Arial"/>
                <a:cs typeface="Arial"/>
              </a:rPr>
              <a:t> </a:t>
            </a:r>
            <a:r>
              <a:rPr sz="2400" spc="-5" dirty="0">
                <a:latin typeface="Arial"/>
                <a:cs typeface="Arial"/>
              </a:rPr>
              <a:t>the response</a:t>
            </a:r>
            <a:r>
              <a:rPr sz="2400" spc="5" dirty="0">
                <a:latin typeface="Arial"/>
                <a:cs typeface="Arial"/>
              </a:rPr>
              <a:t> </a:t>
            </a:r>
            <a:r>
              <a:rPr sz="2400" spc="-5" dirty="0">
                <a:latin typeface="Arial"/>
                <a:cs typeface="Arial"/>
              </a:rPr>
              <a:t>that</a:t>
            </a:r>
            <a:r>
              <a:rPr sz="2400" spc="15" dirty="0">
                <a:latin typeface="Arial"/>
                <a:cs typeface="Arial"/>
              </a:rPr>
              <a:t> </a:t>
            </a:r>
            <a:r>
              <a:rPr sz="2400" spc="-10" dirty="0">
                <a:latin typeface="Arial"/>
                <a:cs typeface="Arial"/>
              </a:rPr>
              <a:t>includes </a:t>
            </a:r>
            <a:r>
              <a:rPr sz="2400" spc="-650" dirty="0">
                <a:latin typeface="Arial"/>
                <a:cs typeface="Arial"/>
              </a:rPr>
              <a:t> </a:t>
            </a:r>
            <a:r>
              <a:rPr sz="2400" spc="-10" dirty="0">
                <a:latin typeface="Arial"/>
                <a:cs typeface="Arial"/>
              </a:rPr>
              <a:t>header</a:t>
            </a:r>
            <a:r>
              <a:rPr sz="2400" spc="5" dirty="0">
                <a:latin typeface="Arial"/>
                <a:cs typeface="Arial"/>
              </a:rPr>
              <a:t> </a:t>
            </a:r>
            <a:r>
              <a:rPr sz="2400" dirty="0">
                <a:latin typeface="Arial"/>
                <a:cs typeface="Arial"/>
              </a:rPr>
              <a:t>to</a:t>
            </a:r>
            <a:r>
              <a:rPr sz="2400" spc="-5" dirty="0">
                <a:latin typeface="Arial"/>
                <a:cs typeface="Arial"/>
              </a:rPr>
              <a:t> show</a:t>
            </a:r>
            <a:r>
              <a:rPr sz="2400" dirty="0">
                <a:latin typeface="Arial"/>
                <a:cs typeface="Arial"/>
              </a:rPr>
              <a:t> </a:t>
            </a:r>
            <a:r>
              <a:rPr sz="2400" spc="-5" dirty="0">
                <a:latin typeface="Arial"/>
                <a:cs typeface="Arial"/>
              </a:rPr>
              <a:t>the status</a:t>
            </a:r>
            <a:r>
              <a:rPr sz="2400" spc="5" dirty="0">
                <a:latin typeface="Arial"/>
                <a:cs typeface="Arial"/>
              </a:rPr>
              <a:t> </a:t>
            </a:r>
            <a:r>
              <a:rPr sz="2400" spc="-5" dirty="0">
                <a:latin typeface="Arial"/>
                <a:cs typeface="Arial"/>
              </a:rPr>
              <a:t>information</a:t>
            </a:r>
            <a:endParaRPr sz="2400" dirty="0">
              <a:latin typeface="Arial"/>
              <a:cs typeface="Arial"/>
            </a:endParaRPr>
          </a:p>
        </p:txBody>
      </p:sp>
      <p:sp>
        <p:nvSpPr>
          <p:cNvPr id="7" name="object 7"/>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9" name="object 9"/>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126</a:t>
            </a:fld>
            <a:endParaRPr sz="1400">
              <a:latin typeface="Arial"/>
              <a:cs typeface="Aria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0012" y="619759"/>
            <a:ext cx="3510280" cy="1367041"/>
          </a:xfrm>
          <a:prstGeom prst="rect">
            <a:avLst/>
          </a:prstGeom>
        </p:spPr>
        <p:txBody>
          <a:bodyPr vert="horz" wrap="square" lIns="0" tIns="12700" rIns="0" bIns="0" rtlCol="0">
            <a:spAutoFit/>
          </a:bodyPr>
          <a:lstStyle/>
          <a:p>
            <a:pPr marL="12700">
              <a:lnSpc>
                <a:spcPct val="100000"/>
              </a:lnSpc>
              <a:spcBef>
                <a:spcPts val="100"/>
              </a:spcBef>
            </a:pPr>
            <a:r>
              <a:rPr spc="-5" dirty="0"/>
              <a:t>Access</a:t>
            </a:r>
            <a:r>
              <a:rPr spc="-40" dirty="0"/>
              <a:t> </a:t>
            </a:r>
            <a:r>
              <a:rPr spc="-10" dirty="0"/>
              <a:t>Control</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828040" y="1253490"/>
            <a:ext cx="10513907" cy="2567369"/>
          </a:xfrm>
          <a:prstGeom prst="rect">
            <a:avLst/>
          </a:prstGeom>
        </p:spPr>
        <p:txBody>
          <a:bodyPr vert="horz" wrap="square" lIns="0" tIns="12700" rIns="0" bIns="0" rtlCol="0">
            <a:spAutoFit/>
          </a:bodyPr>
          <a:lstStyle/>
          <a:p>
            <a:pPr marL="351155" marR="5080" indent="-339090">
              <a:lnSpc>
                <a:spcPct val="100000"/>
              </a:lnSpc>
              <a:spcBef>
                <a:spcPts val="100"/>
              </a:spcBef>
              <a:buFont typeface="Wingdings"/>
              <a:buChar char=""/>
              <a:tabLst>
                <a:tab pos="351155" algn="l"/>
                <a:tab pos="351790" algn="l"/>
              </a:tabLst>
            </a:pPr>
            <a:r>
              <a:rPr sz="2800" dirty="0">
                <a:latin typeface="Arial"/>
                <a:cs typeface="Arial"/>
              </a:rPr>
              <a:t>A</a:t>
            </a:r>
            <a:r>
              <a:rPr sz="2800" spc="-15" dirty="0">
                <a:latin typeface="Arial"/>
                <a:cs typeface="Arial"/>
              </a:rPr>
              <a:t> </a:t>
            </a:r>
            <a:r>
              <a:rPr sz="2800" spc="-5" dirty="0">
                <a:latin typeface="Arial"/>
                <a:cs typeface="Arial"/>
              </a:rPr>
              <a:t>Web</a:t>
            </a:r>
            <a:r>
              <a:rPr sz="2800" dirty="0">
                <a:latin typeface="Arial"/>
                <a:cs typeface="Arial"/>
              </a:rPr>
              <a:t> server</a:t>
            </a:r>
            <a:r>
              <a:rPr sz="2800" spc="5" dirty="0">
                <a:latin typeface="Arial"/>
                <a:cs typeface="Arial"/>
              </a:rPr>
              <a:t> </a:t>
            </a:r>
            <a:r>
              <a:rPr sz="2800" spc="-5" dirty="0">
                <a:latin typeface="Arial"/>
                <a:cs typeface="Arial"/>
              </a:rPr>
              <a:t>may</a:t>
            </a:r>
            <a:r>
              <a:rPr sz="2800" dirty="0">
                <a:latin typeface="Arial"/>
                <a:cs typeface="Arial"/>
              </a:rPr>
              <a:t> </a:t>
            </a:r>
            <a:r>
              <a:rPr sz="2800" spc="-5" dirty="0">
                <a:latin typeface="Arial"/>
                <a:cs typeface="Arial"/>
              </a:rPr>
              <a:t>limit</a:t>
            </a:r>
            <a:r>
              <a:rPr sz="2800" dirty="0">
                <a:latin typeface="Arial"/>
                <a:cs typeface="Arial"/>
              </a:rPr>
              <a:t> </a:t>
            </a:r>
            <a:r>
              <a:rPr sz="2800" spc="-5" dirty="0">
                <a:latin typeface="Arial"/>
                <a:cs typeface="Arial"/>
              </a:rPr>
              <a:t>which</a:t>
            </a:r>
            <a:r>
              <a:rPr sz="2800" spc="10" dirty="0">
                <a:latin typeface="Arial"/>
                <a:cs typeface="Arial"/>
              </a:rPr>
              <a:t> </a:t>
            </a:r>
            <a:r>
              <a:rPr sz="2800" dirty="0">
                <a:latin typeface="Arial"/>
                <a:cs typeface="Arial"/>
              </a:rPr>
              <a:t>users</a:t>
            </a:r>
            <a:r>
              <a:rPr sz="2800" spc="-5" dirty="0">
                <a:latin typeface="Arial"/>
                <a:cs typeface="Arial"/>
              </a:rPr>
              <a:t> </a:t>
            </a:r>
            <a:r>
              <a:rPr sz="2800" dirty="0">
                <a:latin typeface="Arial"/>
                <a:cs typeface="Arial"/>
              </a:rPr>
              <a:t>can</a:t>
            </a:r>
            <a:r>
              <a:rPr sz="2800" spc="5" dirty="0">
                <a:latin typeface="Arial"/>
                <a:cs typeface="Arial"/>
              </a:rPr>
              <a:t> </a:t>
            </a:r>
            <a:r>
              <a:rPr sz="2800" dirty="0">
                <a:latin typeface="Arial"/>
                <a:cs typeface="Arial"/>
              </a:rPr>
              <a:t>access </a:t>
            </a:r>
            <a:r>
              <a:rPr sz="2800" spc="-765" dirty="0">
                <a:latin typeface="Arial"/>
                <a:cs typeface="Arial"/>
              </a:rPr>
              <a:t> </a:t>
            </a:r>
            <a:r>
              <a:rPr sz="2800" dirty="0">
                <a:latin typeface="Arial"/>
                <a:cs typeface="Arial"/>
              </a:rPr>
              <a:t>certain resources. Access</a:t>
            </a:r>
            <a:r>
              <a:rPr sz="2800" spc="-5" dirty="0">
                <a:latin typeface="Arial"/>
                <a:cs typeface="Arial"/>
              </a:rPr>
              <a:t> </a:t>
            </a:r>
            <a:r>
              <a:rPr sz="2800" dirty="0">
                <a:latin typeface="Arial"/>
                <a:cs typeface="Arial"/>
              </a:rPr>
              <a:t>control</a:t>
            </a:r>
            <a:r>
              <a:rPr sz="2800" spc="10" dirty="0">
                <a:latin typeface="Arial"/>
                <a:cs typeface="Arial"/>
              </a:rPr>
              <a:t> </a:t>
            </a:r>
            <a:r>
              <a:rPr sz="2800" spc="-5" dirty="0">
                <a:latin typeface="Arial"/>
                <a:cs typeface="Arial"/>
              </a:rPr>
              <a:t>requires</a:t>
            </a:r>
            <a:r>
              <a:rPr sz="2800" spc="5" dirty="0">
                <a:latin typeface="Arial"/>
                <a:cs typeface="Arial"/>
              </a:rPr>
              <a:t> </a:t>
            </a:r>
            <a:r>
              <a:rPr sz="2800" dirty="0">
                <a:latin typeface="Arial"/>
                <a:cs typeface="Arial"/>
              </a:rPr>
              <a:t>a </a:t>
            </a:r>
            <a:r>
              <a:rPr sz="2800" spc="5" dirty="0">
                <a:latin typeface="Arial"/>
                <a:cs typeface="Arial"/>
              </a:rPr>
              <a:t> </a:t>
            </a:r>
            <a:r>
              <a:rPr sz="2800" spc="-5" dirty="0">
                <a:latin typeface="Arial"/>
                <a:cs typeface="Arial"/>
              </a:rPr>
              <a:t>combination</a:t>
            </a:r>
            <a:r>
              <a:rPr sz="2800" dirty="0">
                <a:latin typeface="Arial"/>
                <a:cs typeface="Arial"/>
              </a:rPr>
              <a:t> of</a:t>
            </a:r>
            <a:r>
              <a:rPr sz="2800" spc="5" dirty="0">
                <a:latin typeface="Arial"/>
                <a:cs typeface="Arial"/>
              </a:rPr>
              <a:t> </a:t>
            </a:r>
            <a:r>
              <a:rPr sz="2800" b="1" i="1" spc="-5" dirty="0">
                <a:latin typeface="Arial"/>
                <a:cs typeface="Arial"/>
              </a:rPr>
              <a:t>authentication</a:t>
            </a:r>
            <a:r>
              <a:rPr sz="2800" b="1" i="1" dirty="0">
                <a:latin typeface="Arial"/>
                <a:cs typeface="Arial"/>
              </a:rPr>
              <a:t> </a:t>
            </a:r>
            <a:r>
              <a:rPr sz="2800" dirty="0">
                <a:latin typeface="Arial"/>
                <a:cs typeface="Arial"/>
              </a:rPr>
              <a:t>and </a:t>
            </a:r>
            <a:r>
              <a:rPr sz="2800" spc="5" dirty="0">
                <a:latin typeface="Arial"/>
                <a:cs typeface="Arial"/>
              </a:rPr>
              <a:t> </a:t>
            </a:r>
            <a:r>
              <a:rPr sz="2800" b="1" i="1" spc="-5" dirty="0">
                <a:latin typeface="Arial"/>
                <a:cs typeface="Arial"/>
              </a:rPr>
              <a:t>authorization</a:t>
            </a:r>
            <a:r>
              <a:rPr sz="2800" spc="-5" dirty="0">
                <a:latin typeface="Arial"/>
                <a:cs typeface="Arial"/>
              </a:rPr>
              <a:t>.</a:t>
            </a:r>
            <a:endParaRPr sz="2800">
              <a:latin typeface="Arial"/>
              <a:cs typeface="Arial"/>
            </a:endParaRPr>
          </a:p>
          <a:p>
            <a:pPr marL="1266825" marR="142240" lvl="1" indent="-350520">
              <a:lnSpc>
                <a:spcPct val="100000"/>
              </a:lnSpc>
              <a:spcBef>
                <a:spcPts val="590"/>
              </a:spcBef>
              <a:buFont typeface="Wingdings"/>
              <a:buChar char=""/>
              <a:tabLst>
                <a:tab pos="1267460" algn="l"/>
              </a:tabLst>
            </a:pPr>
            <a:r>
              <a:rPr sz="2400" spc="-5" dirty="0">
                <a:solidFill>
                  <a:srgbClr val="009898"/>
                </a:solidFill>
                <a:latin typeface="Arial"/>
                <a:cs typeface="Arial"/>
                <a:hlinkClick r:id="rId2" action="ppaction://hlinksldjump"/>
              </a:rPr>
              <a:t>Authentication </a:t>
            </a:r>
            <a:r>
              <a:rPr sz="2400" spc="-5" dirty="0">
                <a:latin typeface="Arial"/>
                <a:cs typeface="Arial"/>
              </a:rPr>
              <a:t>identifies </a:t>
            </a:r>
            <a:r>
              <a:rPr sz="2400" dirty="0">
                <a:latin typeface="Arial"/>
                <a:cs typeface="Arial"/>
              </a:rPr>
              <a:t>the </a:t>
            </a:r>
            <a:r>
              <a:rPr sz="2400" spc="-5" dirty="0">
                <a:latin typeface="Arial"/>
                <a:cs typeface="Arial"/>
              </a:rPr>
              <a:t>user who originated </a:t>
            </a:r>
            <a:r>
              <a:rPr sz="2400" spc="-655"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request.</a:t>
            </a:r>
            <a:endParaRPr sz="2400">
              <a:latin typeface="Arial"/>
              <a:cs typeface="Arial"/>
            </a:endParaRPr>
          </a:p>
          <a:p>
            <a:pPr marL="1266825" marR="802005" lvl="1" indent="-350520">
              <a:lnSpc>
                <a:spcPct val="100000"/>
              </a:lnSpc>
              <a:spcBef>
                <a:spcPts val="600"/>
              </a:spcBef>
              <a:buFont typeface="Wingdings"/>
              <a:buChar char=""/>
              <a:tabLst>
                <a:tab pos="1267460" algn="l"/>
              </a:tabLst>
            </a:pPr>
            <a:r>
              <a:rPr sz="2400" spc="-5" dirty="0">
                <a:solidFill>
                  <a:srgbClr val="009898"/>
                </a:solidFill>
                <a:latin typeface="Arial"/>
                <a:cs typeface="Arial"/>
                <a:hlinkClick r:id="rId3" action="ppaction://hlinksldjump"/>
              </a:rPr>
              <a:t>Authorization </a:t>
            </a:r>
            <a:r>
              <a:rPr sz="2400" spc="-5" dirty="0">
                <a:latin typeface="Arial"/>
                <a:cs typeface="Arial"/>
              </a:rPr>
              <a:t>determines which users have </a:t>
            </a:r>
            <a:r>
              <a:rPr sz="2400" spc="-655" dirty="0">
                <a:latin typeface="Arial"/>
                <a:cs typeface="Arial"/>
              </a:rPr>
              <a:t> </a:t>
            </a:r>
            <a:r>
              <a:rPr sz="2400" spc="-5" dirty="0">
                <a:latin typeface="Arial"/>
                <a:cs typeface="Arial"/>
              </a:rPr>
              <a:t>access </a:t>
            </a:r>
            <a:r>
              <a:rPr sz="2400" dirty="0">
                <a:latin typeface="Arial"/>
                <a:cs typeface="Arial"/>
              </a:rPr>
              <a:t>to</a:t>
            </a:r>
            <a:r>
              <a:rPr sz="2400" spc="-5" dirty="0">
                <a:latin typeface="Arial"/>
                <a:cs typeface="Arial"/>
              </a:rPr>
              <a:t> </a:t>
            </a:r>
            <a:r>
              <a:rPr sz="2400" dirty="0">
                <a:latin typeface="Arial"/>
                <a:cs typeface="Arial"/>
              </a:rPr>
              <a:t>a</a:t>
            </a:r>
            <a:r>
              <a:rPr sz="2400" spc="5" dirty="0">
                <a:latin typeface="Arial"/>
                <a:cs typeface="Arial"/>
              </a:rPr>
              <a:t> </a:t>
            </a:r>
            <a:r>
              <a:rPr sz="2400" spc="-5" dirty="0">
                <a:latin typeface="Arial"/>
                <a:cs typeface="Arial"/>
              </a:rPr>
              <a:t>particular resource.</a:t>
            </a:r>
            <a:endParaRPr sz="240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127</a:t>
            </a:fld>
            <a:endParaRPr sz="1400">
              <a:latin typeface="Arial"/>
              <a:cs typeface="Arial"/>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77639" y="619759"/>
            <a:ext cx="5322880" cy="689932"/>
          </a:xfrm>
          <a:prstGeom prst="rect">
            <a:avLst/>
          </a:prstGeom>
        </p:spPr>
        <p:txBody>
          <a:bodyPr vert="horz" wrap="square" lIns="0" tIns="12700" rIns="0" bIns="0" rtlCol="0">
            <a:spAutoFit/>
          </a:bodyPr>
          <a:lstStyle/>
          <a:p>
            <a:pPr marL="12700">
              <a:lnSpc>
                <a:spcPct val="100000"/>
              </a:lnSpc>
              <a:spcBef>
                <a:spcPts val="100"/>
              </a:spcBef>
            </a:pPr>
            <a:r>
              <a:rPr spc="-10" dirty="0"/>
              <a:t>AUTHENTICATION</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408094" y="1574772"/>
            <a:ext cx="11304693" cy="3721532"/>
          </a:xfrm>
          <a:prstGeom prst="rect">
            <a:avLst/>
          </a:prstGeom>
        </p:spPr>
        <p:txBody>
          <a:bodyPr vert="horz" wrap="square" lIns="0" tIns="12700" rIns="0" bIns="0" rtlCol="0">
            <a:spAutoFit/>
          </a:bodyPr>
          <a:lstStyle/>
          <a:p>
            <a:pPr marL="350520" marR="19685" indent="-337820">
              <a:lnSpc>
                <a:spcPct val="100000"/>
              </a:lnSpc>
              <a:spcBef>
                <a:spcPts val="100"/>
              </a:spcBef>
              <a:buFont typeface="Wingdings"/>
              <a:buChar char=""/>
              <a:tabLst>
                <a:tab pos="349885" algn="l"/>
                <a:tab pos="350520" algn="l"/>
              </a:tabLst>
            </a:pPr>
            <a:r>
              <a:rPr sz="2400" dirty="0">
                <a:latin typeface="Arial"/>
                <a:cs typeface="Arial"/>
              </a:rPr>
              <a:t>Most </a:t>
            </a:r>
            <a:r>
              <a:rPr sz="2400" spc="-5" dirty="0">
                <a:latin typeface="Arial"/>
                <a:cs typeface="Arial"/>
              </a:rPr>
              <a:t>client-server </a:t>
            </a:r>
            <a:r>
              <a:rPr sz="2400" dirty="0">
                <a:latin typeface="Arial"/>
                <a:cs typeface="Arial"/>
              </a:rPr>
              <a:t>systems </a:t>
            </a:r>
            <a:r>
              <a:rPr sz="2400" spc="-5" dirty="0">
                <a:latin typeface="Arial"/>
                <a:cs typeface="Arial"/>
              </a:rPr>
              <a:t>authenticate </a:t>
            </a:r>
            <a:r>
              <a:rPr sz="2400" dirty="0">
                <a:latin typeface="Arial"/>
                <a:cs typeface="Arial"/>
              </a:rPr>
              <a:t>a </a:t>
            </a:r>
            <a:r>
              <a:rPr sz="2400" spc="-5" dirty="0">
                <a:latin typeface="Arial"/>
                <a:cs typeface="Arial"/>
              </a:rPr>
              <a:t>user </a:t>
            </a:r>
            <a:r>
              <a:rPr sz="2400" dirty="0">
                <a:latin typeface="Arial"/>
                <a:cs typeface="Arial"/>
              </a:rPr>
              <a:t>by </a:t>
            </a:r>
            <a:r>
              <a:rPr sz="2400" spc="-5" dirty="0">
                <a:latin typeface="Arial"/>
                <a:cs typeface="Arial"/>
              </a:rPr>
              <a:t>asking </a:t>
            </a:r>
            <a:r>
              <a:rPr sz="2400" dirty="0">
                <a:latin typeface="Arial"/>
                <a:cs typeface="Arial"/>
              </a:rPr>
              <a:t>for </a:t>
            </a:r>
            <a:r>
              <a:rPr sz="2400" spc="-655" dirty="0">
                <a:latin typeface="Arial"/>
                <a:cs typeface="Arial"/>
              </a:rPr>
              <a:t> </a:t>
            </a:r>
            <a:r>
              <a:rPr sz="2400" dirty="0">
                <a:latin typeface="Arial"/>
                <a:cs typeface="Arial"/>
              </a:rPr>
              <a:t>a</a:t>
            </a:r>
            <a:r>
              <a:rPr sz="2400" spc="-10" dirty="0">
                <a:latin typeface="Arial"/>
                <a:cs typeface="Arial"/>
              </a:rPr>
              <a:t> </a:t>
            </a:r>
            <a:r>
              <a:rPr sz="2400" spc="-5" dirty="0">
                <a:latin typeface="Arial"/>
                <a:cs typeface="Arial"/>
              </a:rPr>
              <a:t>name</a:t>
            </a:r>
            <a:r>
              <a:rPr sz="2400" spc="5" dirty="0">
                <a:latin typeface="Arial"/>
                <a:cs typeface="Arial"/>
              </a:rPr>
              <a:t> </a:t>
            </a:r>
            <a:r>
              <a:rPr sz="2400" spc="-10" dirty="0">
                <a:latin typeface="Arial"/>
                <a:cs typeface="Arial"/>
              </a:rPr>
              <a:t>and</a:t>
            </a:r>
            <a:r>
              <a:rPr sz="2400" spc="-5" dirty="0">
                <a:latin typeface="Arial"/>
                <a:cs typeface="Arial"/>
              </a:rPr>
              <a:t> password.</a:t>
            </a:r>
            <a:endParaRPr sz="2400" dirty="0">
              <a:latin typeface="Arial"/>
              <a:cs typeface="Arial"/>
            </a:endParaRPr>
          </a:p>
          <a:p>
            <a:pPr marL="350520" marR="272415" indent="-337820">
              <a:lnSpc>
                <a:spcPct val="100000"/>
              </a:lnSpc>
              <a:spcBef>
                <a:spcPts val="600"/>
              </a:spcBef>
              <a:buFont typeface="Wingdings"/>
              <a:buChar char=""/>
              <a:tabLst>
                <a:tab pos="349885" algn="l"/>
                <a:tab pos="350520" algn="l"/>
              </a:tabLst>
            </a:pPr>
            <a:r>
              <a:rPr sz="2400" spc="-5" dirty="0">
                <a:latin typeface="Arial"/>
                <a:cs typeface="Arial"/>
              </a:rPr>
              <a:t>Web</a:t>
            </a:r>
            <a:r>
              <a:rPr sz="2400" spc="-10" dirty="0">
                <a:latin typeface="Arial"/>
                <a:cs typeface="Arial"/>
              </a:rPr>
              <a:t> </a:t>
            </a:r>
            <a:r>
              <a:rPr sz="2400" spc="-5" dirty="0">
                <a:latin typeface="Arial"/>
                <a:cs typeface="Arial"/>
              </a:rPr>
              <a:t>server</a:t>
            </a:r>
            <a:r>
              <a:rPr sz="2400" spc="10" dirty="0">
                <a:latin typeface="Arial"/>
                <a:cs typeface="Arial"/>
              </a:rPr>
              <a:t> </a:t>
            </a:r>
            <a:r>
              <a:rPr sz="2400" spc="-5" dirty="0">
                <a:latin typeface="Arial"/>
                <a:cs typeface="Arial"/>
              </a:rPr>
              <a:t>must</a:t>
            </a:r>
            <a:r>
              <a:rPr sz="2400" spc="15" dirty="0">
                <a:latin typeface="Arial"/>
                <a:cs typeface="Arial"/>
              </a:rPr>
              <a:t> </a:t>
            </a:r>
            <a:r>
              <a:rPr sz="2400" spc="-5" dirty="0">
                <a:latin typeface="Arial"/>
                <a:cs typeface="Arial"/>
              </a:rPr>
              <a:t>perform</a:t>
            </a:r>
            <a:r>
              <a:rPr sz="2400" spc="5" dirty="0">
                <a:latin typeface="Arial"/>
                <a:cs typeface="Arial"/>
              </a:rPr>
              <a:t> </a:t>
            </a:r>
            <a:r>
              <a:rPr sz="2400" spc="-5" dirty="0">
                <a:latin typeface="Arial"/>
                <a:cs typeface="Arial"/>
              </a:rPr>
              <a:t>authentication for</a:t>
            </a:r>
            <a:r>
              <a:rPr sz="2400" spc="20" dirty="0">
                <a:latin typeface="Arial"/>
                <a:cs typeface="Arial"/>
              </a:rPr>
              <a:t> </a:t>
            </a:r>
            <a:r>
              <a:rPr sz="2400" b="1" i="1" spc="-5" dirty="0">
                <a:latin typeface="Arial"/>
                <a:cs typeface="Arial"/>
              </a:rPr>
              <a:t>every</a:t>
            </a:r>
            <a:r>
              <a:rPr sz="2400" b="1" i="1" spc="5" dirty="0">
                <a:latin typeface="Arial"/>
                <a:cs typeface="Arial"/>
              </a:rPr>
              <a:t> </a:t>
            </a:r>
            <a:r>
              <a:rPr sz="2400" spc="-5" dirty="0">
                <a:latin typeface="Arial"/>
                <a:cs typeface="Arial"/>
              </a:rPr>
              <a:t>request </a:t>
            </a:r>
            <a:r>
              <a:rPr sz="2400" spc="-655" dirty="0">
                <a:latin typeface="Arial"/>
                <a:cs typeface="Arial"/>
              </a:rPr>
              <a:t> </a:t>
            </a:r>
            <a:r>
              <a:rPr sz="2400" spc="-5" dirty="0">
                <a:latin typeface="Arial"/>
                <a:cs typeface="Arial"/>
              </a:rPr>
              <a:t>for</a:t>
            </a:r>
            <a:r>
              <a:rPr sz="2400" spc="10" dirty="0">
                <a:latin typeface="Arial"/>
                <a:cs typeface="Arial"/>
              </a:rPr>
              <a:t> </a:t>
            </a:r>
            <a:r>
              <a:rPr sz="2400" dirty="0">
                <a:latin typeface="Arial"/>
                <a:cs typeface="Arial"/>
              </a:rPr>
              <a:t>a</a:t>
            </a:r>
            <a:r>
              <a:rPr sz="2400" spc="5" dirty="0">
                <a:latin typeface="Arial"/>
                <a:cs typeface="Arial"/>
              </a:rPr>
              <a:t> </a:t>
            </a:r>
            <a:r>
              <a:rPr sz="2400" spc="-5" dirty="0">
                <a:latin typeface="Arial"/>
                <a:cs typeface="Arial"/>
              </a:rPr>
              <a:t>resource that</a:t>
            </a:r>
            <a:r>
              <a:rPr sz="2400" spc="5" dirty="0">
                <a:latin typeface="Arial"/>
                <a:cs typeface="Arial"/>
              </a:rPr>
              <a:t> </a:t>
            </a:r>
            <a:r>
              <a:rPr sz="2400" spc="-5" dirty="0">
                <a:latin typeface="Arial"/>
                <a:cs typeface="Arial"/>
              </a:rPr>
              <a:t>has</a:t>
            </a:r>
            <a:r>
              <a:rPr sz="2400" dirty="0">
                <a:latin typeface="Arial"/>
                <a:cs typeface="Arial"/>
              </a:rPr>
              <a:t> </a:t>
            </a:r>
            <a:r>
              <a:rPr sz="2400" spc="-5" dirty="0">
                <a:latin typeface="Arial"/>
                <a:cs typeface="Arial"/>
              </a:rPr>
              <a:t>access</a:t>
            </a:r>
            <a:r>
              <a:rPr sz="2400" spc="10" dirty="0">
                <a:latin typeface="Arial"/>
                <a:cs typeface="Arial"/>
              </a:rPr>
              <a:t> </a:t>
            </a:r>
            <a:r>
              <a:rPr sz="2400" spc="-5" dirty="0">
                <a:latin typeface="Arial"/>
                <a:cs typeface="Arial"/>
              </a:rPr>
              <a:t>restrictions.</a:t>
            </a:r>
            <a:endParaRPr sz="2400" dirty="0">
              <a:latin typeface="Arial"/>
              <a:cs typeface="Arial"/>
            </a:endParaRPr>
          </a:p>
          <a:p>
            <a:pPr marL="350520" marR="5080" indent="-337820">
              <a:lnSpc>
                <a:spcPct val="100000"/>
              </a:lnSpc>
              <a:spcBef>
                <a:spcPts val="600"/>
              </a:spcBef>
              <a:buFont typeface="Wingdings"/>
              <a:buChar char=""/>
              <a:tabLst>
                <a:tab pos="349885" algn="l"/>
                <a:tab pos="350520" algn="l"/>
              </a:tabLst>
            </a:pPr>
            <a:r>
              <a:rPr sz="2400" spc="-5" dirty="0">
                <a:latin typeface="Arial"/>
                <a:cs typeface="Arial"/>
              </a:rPr>
              <a:t>The</a:t>
            </a:r>
            <a:r>
              <a:rPr sz="2400" spc="-10" dirty="0">
                <a:latin typeface="Arial"/>
                <a:cs typeface="Arial"/>
              </a:rPr>
              <a:t> </a:t>
            </a:r>
            <a:r>
              <a:rPr sz="2400" dirty="0">
                <a:latin typeface="Arial"/>
                <a:cs typeface="Arial"/>
              </a:rPr>
              <a:t>server</a:t>
            </a:r>
            <a:r>
              <a:rPr sz="2400" spc="-5" dirty="0">
                <a:latin typeface="Arial"/>
                <a:cs typeface="Arial"/>
              </a:rPr>
              <a:t> returns</a:t>
            </a:r>
            <a:r>
              <a:rPr sz="2400" dirty="0">
                <a:latin typeface="Arial"/>
                <a:cs typeface="Arial"/>
              </a:rPr>
              <a:t> </a:t>
            </a:r>
            <a:r>
              <a:rPr sz="2400" spc="-5" dirty="0">
                <a:latin typeface="Arial"/>
                <a:cs typeface="Arial"/>
              </a:rPr>
              <a:t>an</a:t>
            </a:r>
            <a:r>
              <a:rPr sz="2400" dirty="0">
                <a:latin typeface="Arial"/>
                <a:cs typeface="Arial"/>
              </a:rPr>
              <a:t> </a:t>
            </a:r>
            <a:r>
              <a:rPr sz="2400" spc="-10" dirty="0">
                <a:latin typeface="Arial"/>
                <a:cs typeface="Arial"/>
              </a:rPr>
              <a:t>HTTP</a:t>
            </a:r>
            <a:r>
              <a:rPr sz="2400" spc="-5" dirty="0">
                <a:latin typeface="Arial"/>
                <a:cs typeface="Arial"/>
              </a:rPr>
              <a:t> response</a:t>
            </a:r>
            <a:r>
              <a:rPr sz="2400" spc="5" dirty="0">
                <a:latin typeface="Arial"/>
                <a:cs typeface="Arial"/>
              </a:rPr>
              <a:t> </a:t>
            </a:r>
            <a:r>
              <a:rPr sz="2400" spc="-5" dirty="0">
                <a:latin typeface="Arial"/>
                <a:cs typeface="Arial"/>
              </a:rPr>
              <a:t>that</a:t>
            </a:r>
            <a:r>
              <a:rPr sz="2400" spc="10" dirty="0">
                <a:latin typeface="Arial"/>
                <a:cs typeface="Arial"/>
              </a:rPr>
              <a:t> </a:t>
            </a:r>
            <a:r>
              <a:rPr sz="2400" spc="-5" dirty="0">
                <a:latin typeface="Arial"/>
                <a:cs typeface="Arial"/>
              </a:rPr>
              <a:t>indicates</a:t>
            </a:r>
            <a:r>
              <a:rPr sz="2400" spc="5" dirty="0">
                <a:latin typeface="Arial"/>
                <a:cs typeface="Arial"/>
              </a:rPr>
              <a:t> </a:t>
            </a:r>
            <a:r>
              <a:rPr sz="2400" spc="-5" dirty="0">
                <a:latin typeface="Arial"/>
                <a:cs typeface="Arial"/>
              </a:rPr>
              <a:t>that</a:t>
            </a:r>
            <a:r>
              <a:rPr sz="2400" spc="15" dirty="0">
                <a:latin typeface="Arial"/>
                <a:cs typeface="Arial"/>
              </a:rPr>
              <a:t> </a:t>
            </a:r>
            <a:r>
              <a:rPr sz="2400" spc="-5" dirty="0">
                <a:latin typeface="Arial"/>
                <a:cs typeface="Arial"/>
              </a:rPr>
              <a:t>the </a:t>
            </a:r>
            <a:r>
              <a:rPr sz="2400" spc="-655" dirty="0">
                <a:latin typeface="Arial"/>
                <a:cs typeface="Arial"/>
              </a:rPr>
              <a:t> </a:t>
            </a:r>
            <a:r>
              <a:rPr sz="2400" spc="-5" dirty="0">
                <a:latin typeface="Arial"/>
                <a:cs typeface="Arial"/>
              </a:rPr>
              <a:t>request</a:t>
            </a:r>
            <a:r>
              <a:rPr sz="2400" spc="10" dirty="0">
                <a:latin typeface="Arial"/>
                <a:cs typeface="Arial"/>
              </a:rPr>
              <a:t> </a:t>
            </a:r>
            <a:r>
              <a:rPr sz="2400" spc="-5" dirty="0">
                <a:latin typeface="Arial"/>
                <a:cs typeface="Arial"/>
              </a:rPr>
              <a:t>requires</a:t>
            </a:r>
            <a:r>
              <a:rPr sz="2400" dirty="0">
                <a:latin typeface="Arial"/>
                <a:cs typeface="Arial"/>
              </a:rPr>
              <a:t> </a:t>
            </a:r>
            <a:r>
              <a:rPr sz="2400" spc="-5" dirty="0">
                <a:latin typeface="Arial"/>
                <a:cs typeface="Arial"/>
              </a:rPr>
              <a:t>authorization.</a:t>
            </a:r>
            <a:endParaRPr sz="2400" dirty="0">
              <a:latin typeface="Arial"/>
              <a:cs typeface="Arial"/>
            </a:endParaRPr>
          </a:p>
          <a:p>
            <a:pPr marL="350520" marR="332740" indent="-337820">
              <a:lnSpc>
                <a:spcPct val="100000"/>
              </a:lnSpc>
              <a:spcBef>
                <a:spcPts val="590"/>
              </a:spcBef>
              <a:buFont typeface="Wingdings"/>
              <a:buChar char=""/>
              <a:tabLst>
                <a:tab pos="349885" algn="l"/>
                <a:tab pos="350520" algn="l"/>
              </a:tabLst>
            </a:pPr>
            <a:r>
              <a:rPr sz="2400" spc="-5" dirty="0">
                <a:latin typeface="Arial"/>
                <a:cs typeface="Arial"/>
              </a:rPr>
              <a:t>The</a:t>
            </a:r>
            <a:r>
              <a:rPr sz="2400" spc="-10" dirty="0">
                <a:latin typeface="Arial"/>
                <a:cs typeface="Arial"/>
              </a:rPr>
              <a:t> </a:t>
            </a:r>
            <a:r>
              <a:rPr sz="2400" spc="-5" dirty="0">
                <a:latin typeface="Arial"/>
                <a:cs typeface="Arial"/>
              </a:rPr>
              <a:t>response</a:t>
            </a:r>
            <a:r>
              <a:rPr sz="2400" dirty="0">
                <a:latin typeface="Arial"/>
                <a:cs typeface="Arial"/>
              </a:rPr>
              <a:t> </a:t>
            </a:r>
            <a:r>
              <a:rPr sz="2400" spc="-5" dirty="0">
                <a:latin typeface="Arial"/>
                <a:cs typeface="Arial"/>
              </a:rPr>
              <a:t>also</a:t>
            </a:r>
            <a:r>
              <a:rPr sz="2400" spc="-10" dirty="0">
                <a:latin typeface="Arial"/>
                <a:cs typeface="Arial"/>
              </a:rPr>
              <a:t> </a:t>
            </a:r>
            <a:r>
              <a:rPr sz="2400" spc="-5" dirty="0">
                <a:latin typeface="Arial"/>
                <a:cs typeface="Arial"/>
              </a:rPr>
              <a:t>identifies</a:t>
            </a:r>
            <a:r>
              <a:rPr sz="2400" dirty="0">
                <a:latin typeface="Arial"/>
                <a:cs typeface="Arial"/>
              </a:rPr>
              <a:t> </a:t>
            </a:r>
            <a:r>
              <a:rPr sz="2400" spc="-10" dirty="0">
                <a:latin typeface="Arial"/>
                <a:cs typeface="Arial"/>
              </a:rPr>
              <a:t>what</a:t>
            </a:r>
            <a:r>
              <a:rPr sz="2400" dirty="0">
                <a:latin typeface="Arial"/>
                <a:cs typeface="Arial"/>
              </a:rPr>
              <a:t> </a:t>
            </a:r>
            <a:r>
              <a:rPr sz="2400" spc="-5" dirty="0">
                <a:latin typeface="Arial"/>
                <a:cs typeface="Arial"/>
              </a:rPr>
              <a:t>kind</a:t>
            </a:r>
            <a:r>
              <a:rPr sz="2400" spc="-10" dirty="0">
                <a:latin typeface="Arial"/>
                <a:cs typeface="Arial"/>
              </a:rPr>
              <a:t> </a:t>
            </a:r>
            <a:r>
              <a:rPr sz="2400" spc="-5" dirty="0">
                <a:latin typeface="Arial"/>
                <a:cs typeface="Arial"/>
              </a:rPr>
              <a:t>of</a:t>
            </a:r>
            <a:r>
              <a:rPr sz="2400" spc="10" dirty="0">
                <a:latin typeface="Arial"/>
                <a:cs typeface="Arial"/>
              </a:rPr>
              <a:t> </a:t>
            </a:r>
            <a:r>
              <a:rPr sz="2400" spc="-5" dirty="0">
                <a:latin typeface="Arial"/>
                <a:cs typeface="Arial"/>
              </a:rPr>
              <a:t>authentication is </a:t>
            </a:r>
            <a:r>
              <a:rPr sz="2400" spc="-655" dirty="0">
                <a:latin typeface="Arial"/>
                <a:cs typeface="Arial"/>
              </a:rPr>
              <a:t> </a:t>
            </a:r>
            <a:r>
              <a:rPr sz="2400" spc="-5" dirty="0">
                <a:latin typeface="Arial"/>
                <a:cs typeface="Arial"/>
              </a:rPr>
              <a:t>required.</a:t>
            </a:r>
            <a:endParaRPr sz="2400" dirty="0">
              <a:latin typeface="Arial"/>
              <a:cs typeface="Arial"/>
            </a:endParaRPr>
          </a:p>
          <a:p>
            <a:pPr marL="350520" indent="-337820">
              <a:lnSpc>
                <a:spcPct val="100000"/>
              </a:lnSpc>
              <a:spcBef>
                <a:spcPts val="600"/>
              </a:spcBef>
              <a:buFont typeface="Wingdings"/>
              <a:buChar char=""/>
              <a:tabLst>
                <a:tab pos="349885" algn="l"/>
                <a:tab pos="350520" algn="l"/>
              </a:tabLst>
            </a:pPr>
            <a:r>
              <a:rPr sz="2400" spc="-5" dirty="0">
                <a:latin typeface="Arial"/>
                <a:cs typeface="Arial"/>
              </a:rPr>
              <a:t>The</a:t>
            </a:r>
            <a:r>
              <a:rPr sz="2400" spc="-15" dirty="0">
                <a:latin typeface="Arial"/>
                <a:cs typeface="Arial"/>
              </a:rPr>
              <a:t> </a:t>
            </a:r>
            <a:r>
              <a:rPr sz="2400" spc="-5" dirty="0">
                <a:latin typeface="Arial"/>
                <a:cs typeface="Arial"/>
              </a:rPr>
              <a:t>response also</a:t>
            </a:r>
            <a:r>
              <a:rPr sz="2400" spc="-15" dirty="0">
                <a:latin typeface="Arial"/>
                <a:cs typeface="Arial"/>
              </a:rPr>
              <a:t> </a:t>
            </a:r>
            <a:r>
              <a:rPr sz="2400" spc="-5" dirty="0">
                <a:latin typeface="Arial"/>
                <a:cs typeface="Arial"/>
              </a:rPr>
              <a:t>identifies</a:t>
            </a:r>
            <a:r>
              <a:rPr sz="2400" spc="-10" dirty="0">
                <a:latin typeface="Arial"/>
                <a:cs typeface="Arial"/>
              </a:rPr>
              <a:t> </a:t>
            </a:r>
            <a:r>
              <a:rPr sz="2400" spc="-5" dirty="0">
                <a:latin typeface="Arial"/>
                <a:cs typeface="Arial"/>
              </a:rPr>
              <a:t>the</a:t>
            </a:r>
            <a:r>
              <a:rPr sz="2400" spc="10" dirty="0">
                <a:latin typeface="Arial"/>
                <a:cs typeface="Arial"/>
              </a:rPr>
              <a:t> </a:t>
            </a:r>
            <a:r>
              <a:rPr sz="2400" b="1" i="1" spc="-5" dirty="0">
                <a:latin typeface="Arial"/>
                <a:cs typeface="Arial"/>
              </a:rPr>
              <a:t>realm</a:t>
            </a:r>
            <a:endParaRPr sz="2400" dirty="0">
              <a:latin typeface="Arial"/>
              <a:cs typeface="Arial"/>
            </a:endParaRPr>
          </a:p>
          <a:p>
            <a:pPr marL="1277620" marR="365760" lvl="1" indent="-411480">
              <a:lnSpc>
                <a:spcPct val="100000"/>
              </a:lnSpc>
              <a:spcBef>
                <a:spcPts val="600"/>
              </a:spcBef>
              <a:buFont typeface="Wingdings"/>
              <a:buChar char=""/>
              <a:tabLst>
                <a:tab pos="1276985" algn="l"/>
                <a:tab pos="1277620" algn="l"/>
              </a:tabLst>
            </a:pPr>
            <a:r>
              <a:rPr sz="2400" dirty="0">
                <a:latin typeface="Arial"/>
                <a:cs typeface="Arial"/>
              </a:rPr>
              <a:t>a</a:t>
            </a:r>
            <a:r>
              <a:rPr sz="2400" spc="-10" dirty="0">
                <a:latin typeface="Arial"/>
                <a:cs typeface="Arial"/>
              </a:rPr>
              <a:t> </a:t>
            </a:r>
            <a:r>
              <a:rPr sz="2400" spc="-5" dirty="0">
                <a:latin typeface="Arial"/>
                <a:cs typeface="Arial"/>
              </a:rPr>
              <a:t>string that</a:t>
            </a:r>
            <a:r>
              <a:rPr sz="2400" dirty="0">
                <a:latin typeface="Arial"/>
                <a:cs typeface="Arial"/>
              </a:rPr>
              <a:t> </a:t>
            </a:r>
            <a:r>
              <a:rPr sz="2400" spc="-5" dirty="0">
                <a:latin typeface="Arial"/>
                <a:cs typeface="Arial"/>
              </a:rPr>
              <a:t>associates</a:t>
            </a:r>
            <a:r>
              <a:rPr sz="2400" dirty="0">
                <a:latin typeface="Arial"/>
                <a:cs typeface="Arial"/>
              </a:rPr>
              <a:t> a</a:t>
            </a:r>
            <a:r>
              <a:rPr sz="2400" spc="5" dirty="0">
                <a:latin typeface="Arial"/>
                <a:cs typeface="Arial"/>
              </a:rPr>
              <a:t> </a:t>
            </a:r>
            <a:r>
              <a:rPr sz="2400" spc="-5" dirty="0">
                <a:latin typeface="Arial"/>
                <a:cs typeface="Arial"/>
              </a:rPr>
              <a:t>collection</a:t>
            </a:r>
            <a:r>
              <a:rPr sz="2400" spc="-10" dirty="0">
                <a:latin typeface="Arial"/>
                <a:cs typeface="Arial"/>
              </a:rPr>
              <a:t> </a:t>
            </a:r>
            <a:r>
              <a:rPr sz="2400" dirty="0">
                <a:latin typeface="Arial"/>
                <a:cs typeface="Arial"/>
              </a:rPr>
              <a:t>of</a:t>
            </a:r>
            <a:r>
              <a:rPr sz="2400" spc="5" dirty="0">
                <a:latin typeface="Arial"/>
                <a:cs typeface="Arial"/>
              </a:rPr>
              <a:t> </a:t>
            </a:r>
            <a:r>
              <a:rPr sz="2400" spc="-5" dirty="0">
                <a:latin typeface="Arial"/>
                <a:cs typeface="Arial"/>
              </a:rPr>
              <a:t>resources</a:t>
            </a:r>
            <a:r>
              <a:rPr sz="2400" dirty="0">
                <a:latin typeface="Arial"/>
                <a:cs typeface="Arial"/>
              </a:rPr>
              <a:t> </a:t>
            </a:r>
            <a:r>
              <a:rPr sz="2400" spc="-5" dirty="0">
                <a:latin typeface="Arial"/>
                <a:cs typeface="Arial"/>
              </a:rPr>
              <a:t>at </a:t>
            </a:r>
            <a:r>
              <a:rPr sz="2400" spc="-655"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server</a:t>
            </a:r>
            <a:endParaRPr sz="2400" dirty="0">
              <a:latin typeface="Arial"/>
              <a:cs typeface="Arial"/>
            </a:endParaRPr>
          </a:p>
        </p:txBody>
      </p:sp>
      <p:sp>
        <p:nvSpPr>
          <p:cNvPr id="6" name="object 6"/>
          <p:cNvSpPr/>
          <p:nvPr/>
        </p:nvSpPr>
        <p:spPr>
          <a:xfrm>
            <a:off x="304800" y="1219200"/>
            <a:ext cx="11582400" cy="0"/>
          </a:xfrm>
          <a:custGeom>
            <a:avLst/>
            <a:gdLst/>
            <a:ahLst/>
            <a:cxnLst/>
            <a:rect l="l" t="t" r="r" b="b"/>
            <a:pathLst>
              <a:path w="8686800">
                <a:moveTo>
                  <a:pt x="0" y="0"/>
                </a:moveTo>
                <a:lnTo>
                  <a:pt x="86868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128</a:t>
            </a:fld>
            <a:endParaRPr sz="1400">
              <a:latin typeface="Arial"/>
              <a:cs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21572" y="619759"/>
            <a:ext cx="4915335" cy="689932"/>
          </a:xfrm>
          <a:prstGeom prst="rect">
            <a:avLst/>
          </a:prstGeom>
        </p:spPr>
        <p:txBody>
          <a:bodyPr vert="horz" wrap="square" lIns="0" tIns="12700" rIns="0" bIns="0" rtlCol="0">
            <a:spAutoFit/>
          </a:bodyPr>
          <a:lstStyle/>
          <a:p>
            <a:pPr marL="12700">
              <a:lnSpc>
                <a:spcPct val="100000"/>
              </a:lnSpc>
              <a:spcBef>
                <a:spcPts val="100"/>
              </a:spcBef>
            </a:pPr>
            <a:r>
              <a:rPr spc="-10" dirty="0"/>
              <a:t>AUTHORIZATION</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872157" y="1780711"/>
            <a:ext cx="10736579" cy="3567643"/>
          </a:xfrm>
          <a:prstGeom prst="rect">
            <a:avLst/>
          </a:prstGeom>
        </p:spPr>
        <p:txBody>
          <a:bodyPr vert="horz" wrap="square" lIns="0" tIns="12700" rIns="0" bIns="0" rtlCol="0">
            <a:spAutoFit/>
          </a:bodyPr>
          <a:lstStyle/>
          <a:p>
            <a:pPr marL="350520" marR="558165" indent="-337820" algn="just">
              <a:lnSpc>
                <a:spcPct val="100000"/>
              </a:lnSpc>
              <a:spcBef>
                <a:spcPts val="100"/>
              </a:spcBef>
              <a:buFont typeface="Wingdings"/>
              <a:buChar char=""/>
              <a:tabLst>
                <a:tab pos="350520" algn="l"/>
              </a:tabLst>
            </a:pPr>
            <a:r>
              <a:rPr sz="2400" spc="-5" dirty="0">
                <a:latin typeface="Arial"/>
                <a:cs typeface="Arial"/>
              </a:rPr>
              <a:t>To control access </a:t>
            </a:r>
            <a:r>
              <a:rPr sz="2400" dirty="0">
                <a:latin typeface="Arial"/>
                <a:cs typeface="Arial"/>
              </a:rPr>
              <a:t>to </a:t>
            </a:r>
            <a:r>
              <a:rPr sz="2400" spc="-5" dirty="0">
                <a:latin typeface="Arial"/>
                <a:cs typeface="Arial"/>
              </a:rPr>
              <a:t>Web resources, the server </a:t>
            </a:r>
            <a:r>
              <a:rPr sz="2400" dirty="0">
                <a:latin typeface="Arial"/>
                <a:cs typeface="Arial"/>
              </a:rPr>
              <a:t>must </a:t>
            </a:r>
            <a:r>
              <a:rPr sz="2400" spc="-655" dirty="0">
                <a:latin typeface="Arial"/>
                <a:cs typeface="Arial"/>
              </a:rPr>
              <a:t> </a:t>
            </a:r>
            <a:r>
              <a:rPr sz="2400" spc="-5" dirty="0">
                <a:latin typeface="Arial"/>
                <a:cs typeface="Arial"/>
              </a:rPr>
              <a:t>employ an</a:t>
            </a:r>
            <a:r>
              <a:rPr sz="2400" spc="5" dirty="0">
                <a:latin typeface="Arial"/>
                <a:cs typeface="Arial"/>
              </a:rPr>
              <a:t> </a:t>
            </a:r>
            <a:r>
              <a:rPr sz="2400" spc="-5" dirty="0">
                <a:latin typeface="Arial"/>
                <a:cs typeface="Arial"/>
              </a:rPr>
              <a:t>authorization</a:t>
            </a:r>
            <a:r>
              <a:rPr sz="2400" dirty="0">
                <a:latin typeface="Arial"/>
                <a:cs typeface="Arial"/>
              </a:rPr>
              <a:t> </a:t>
            </a:r>
            <a:r>
              <a:rPr sz="2400" spc="-5" dirty="0">
                <a:latin typeface="Arial"/>
                <a:cs typeface="Arial"/>
              </a:rPr>
              <a:t>policy.</a:t>
            </a:r>
            <a:endParaRPr sz="2400" dirty="0">
              <a:latin typeface="Arial"/>
              <a:cs typeface="Arial"/>
            </a:endParaRPr>
          </a:p>
          <a:p>
            <a:pPr marL="350520" marR="5080" indent="-337820" algn="just">
              <a:lnSpc>
                <a:spcPct val="100000"/>
              </a:lnSpc>
              <a:spcBef>
                <a:spcPts val="600"/>
              </a:spcBef>
              <a:buFont typeface="Wingdings"/>
              <a:buChar char=""/>
              <a:tabLst>
                <a:tab pos="350520" algn="l"/>
              </a:tabLst>
            </a:pPr>
            <a:r>
              <a:rPr sz="2400" dirty="0">
                <a:latin typeface="Arial"/>
                <a:cs typeface="Arial"/>
              </a:rPr>
              <a:t>A </a:t>
            </a:r>
            <a:r>
              <a:rPr sz="2400" spc="-5" dirty="0">
                <a:latin typeface="Arial"/>
                <a:cs typeface="Arial"/>
              </a:rPr>
              <a:t>policy typically expressed in </a:t>
            </a:r>
            <a:r>
              <a:rPr sz="2400" dirty="0">
                <a:latin typeface="Arial"/>
                <a:cs typeface="Arial"/>
              </a:rPr>
              <a:t>terms of </a:t>
            </a:r>
            <a:r>
              <a:rPr sz="2400" spc="-5" dirty="0">
                <a:latin typeface="Arial"/>
                <a:cs typeface="Arial"/>
              </a:rPr>
              <a:t>an access control </a:t>
            </a:r>
            <a:r>
              <a:rPr sz="2400" spc="-655" dirty="0">
                <a:latin typeface="Arial"/>
                <a:cs typeface="Arial"/>
              </a:rPr>
              <a:t> </a:t>
            </a:r>
            <a:r>
              <a:rPr sz="2400" spc="-5" dirty="0">
                <a:latin typeface="Arial"/>
                <a:cs typeface="Arial"/>
              </a:rPr>
              <a:t>list that enumerates </a:t>
            </a:r>
            <a:r>
              <a:rPr sz="2400" dirty="0">
                <a:latin typeface="Arial"/>
                <a:cs typeface="Arial"/>
              </a:rPr>
              <a:t>the </a:t>
            </a:r>
            <a:r>
              <a:rPr sz="2400" spc="-5" dirty="0">
                <a:latin typeface="Arial"/>
                <a:cs typeface="Arial"/>
              </a:rPr>
              <a:t>users who are granted or </a:t>
            </a:r>
            <a:r>
              <a:rPr sz="2400" spc="-10" dirty="0">
                <a:latin typeface="Arial"/>
                <a:cs typeface="Arial"/>
              </a:rPr>
              <a:t>denied </a:t>
            </a:r>
            <a:r>
              <a:rPr sz="2400" spc="-655" dirty="0">
                <a:latin typeface="Arial"/>
                <a:cs typeface="Arial"/>
              </a:rPr>
              <a:t> </a:t>
            </a:r>
            <a:r>
              <a:rPr sz="2400" spc="-5" dirty="0">
                <a:latin typeface="Arial"/>
                <a:cs typeface="Arial"/>
              </a:rPr>
              <a:t>access </a:t>
            </a:r>
            <a:r>
              <a:rPr sz="2400" dirty="0">
                <a:latin typeface="Arial"/>
                <a:cs typeface="Arial"/>
              </a:rPr>
              <a:t>to</a:t>
            </a:r>
            <a:r>
              <a:rPr sz="2400" spc="-5" dirty="0">
                <a:latin typeface="Arial"/>
                <a:cs typeface="Arial"/>
              </a:rPr>
              <a:t> </a:t>
            </a:r>
            <a:r>
              <a:rPr sz="2400" dirty="0">
                <a:latin typeface="Arial"/>
                <a:cs typeface="Arial"/>
              </a:rPr>
              <a:t>the</a:t>
            </a:r>
            <a:r>
              <a:rPr sz="2400" spc="-5" dirty="0">
                <a:latin typeface="Arial"/>
                <a:cs typeface="Arial"/>
              </a:rPr>
              <a:t> resources.</a:t>
            </a:r>
            <a:endParaRPr sz="2400" dirty="0">
              <a:latin typeface="Arial"/>
              <a:cs typeface="Arial"/>
            </a:endParaRPr>
          </a:p>
          <a:p>
            <a:pPr marL="350520" marR="309880" indent="-337820">
              <a:lnSpc>
                <a:spcPct val="100000"/>
              </a:lnSpc>
              <a:spcBef>
                <a:spcPts val="600"/>
              </a:spcBef>
              <a:buFont typeface="Wingdings"/>
              <a:buChar char=""/>
              <a:tabLst>
                <a:tab pos="349885" algn="l"/>
                <a:tab pos="350520" algn="l"/>
              </a:tabLst>
            </a:pPr>
            <a:r>
              <a:rPr sz="2400" dirty="0">
                <a:latin typeface="Arial"/>
                <a:cs typeface="Arial"/>
              </a:rPr>
              <a:t>In </a:t>
            </a:r>
            <a:r>
              <a:rPr sz="2400" spc="-10" dirty="0">
                <a:latin typeface="Arial"/>
                <a:cs typeface="Arial"/>
              </a:rPr>
              <a:t>addition</a:t>
            </a:r>
            <a:r>
              <a:rPr sz="2400" dirty="0">
                <a:latin typeface="Arial"/>
                <a:cs typeface="Arial"/>
              </a:rPr>
              <a:t> to</a:t>
            </a:r>
            <a:r>
              <a:rPr sz="2400" spc="-5" dirty="0">
                <a:latin typeface="Arial"/>
                <a:cs typeface="Arial"/>
              </a:rPr>
              <a:t> checking</a:t>
            </a:r>
            <a:r>
              <a:rPr sz="2400" spc="-10"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user</a:t>
            </a:r>
            <a:r>
              <a:rPr sz="2400" spc="10" dirty="0">
                <a:latin typeface="Arial"/>
                <a:cs typeface="Arial"/>
              </a:rPr>
              <a:t> </a:t>
            </a:r>
            <a:r>
              <a:rPr sz="2400" spc="-5" dirty="0">
                <a:latin typeface="Arial"/>
                <a:cs typeface="Arial"/>
              </a:rPr>
              <a:t>name,</a:t>
            </a:r>
            <a:r>
              <a:rPr sz="2400" dirty="0">
                <a:latin typeface="Arial"/>
                <a:cs typeface="Arial"/>
              </a:rPr>
              <a:t> the</a:t>
            </a:r>
            <a:r>
              <a:rPr sz="2400" spc="-10" dirty="0">
                <a:latin typeface="Arial"/>
                <a:cs typeface="Arial"/>
              </a:rPr>
              <a:t> </a:t>
            </a:r>
            <a:r>
              <a:rPr sz="2400" dirty="0">
                <a:latin typeface="Arial"/>
                <a:cs typeface="Arial"/>
              </a:rPr>
              <a:t>server may </a:t>
            </a:r>
            <a:r>
              <a:rPr sz="2400" spc="5" dirty="0">
                <a:latin typeface="Arial"/>
                <a:cs typeface="Arial"/>
              </a:rPr>
              <a:t> </a:t>
            </a:r>
            <a:r>
              <a:rPr sz="2400" spc="-10" dirty="0">
                <a:latin typeface="Arial"/>
                <a:cs typeface="Arial"/>
              </a:rPr>
              <a:t>allow</a:t>
            </a:r>
            <a:r>
              <a:rPr sz="2400" spc="-5" dirty="0">
                <a:latin typeface="Arial"/>
                <a:cs typeface="Arial"/>
              </a:rPr>
              <a:t> or</a:t>
            </a:r>
            <a:r>
              <a:rPr sz="2400" spc="10" dirty="0">
                <a:latin typeface="Arial"/>
                <a:cs typeface="Arial"/>
              </a:rPr>
              <a:t> </a:t>
            </a:r>
            <a:r>
              <a:rPr sz="2400" spc="-10" dirty="0">
                <a:latin typeface="Arial"/>
                <a:cs typeface="Arial"/>
              </a:rPr>
              <a:t>deny</a:t>
            </a:r>
            <a:r>
              <a:rPr sz="2400" spc="10" dirty="0">
                <a:latin typeface="Arial"/>
                <a:cs typeface="Arial"/>
              </a:rPr>
              <a:t> </a:t>
            </a:r>
            <a:r>
              <a:rPr sz="2400" spc="-5" dirty="0">
                <a:latin typeface="Arial"/>
                <a:cs typeface="Arial"/>
              </a:rPr>
              <a:t>access</a:t>
            </a:r>
            <a:r>
              <a:rPr sz="2400" dirty="0">
                <a:latin typeface="Arial"/>
                <a:cs typeface="Arial"/>
              </a:rPr>
              <a:t> </a:t>
            </a:r>
            <a:r>
              <a:rPr sz="2400" spc="5" dirty="0">
                <a:latin typeface="Arial"/>
                <a:cs typeface="Arial"/>
              </a:rPr>
              <a:t>to</a:t>
            </a:r>
            <a:r>
              <a:rPr sz="2400" spc="-5" dirty="0">
                <a:latin typeface="Arial"/>
                <a:cs typeface="Arial"/>
              </a:rPr>
              <a:t> the</a:t>
            </a:r>
            <a:r>
              <a:rPr sz="2400" spc="5" dirty="0">
                <a:latin typeface="Arial"/>
                <a:cs typeface="Arial"/>
              </a:rPr>
              <a:t> </a:t>
            </a:r>
            <a:r>
              <a:rPr sz="2400" spc="-5" dirty="0">
                <a:latin typeface="Arial"/>
                <a:cs typeface="Arial"/>
              </a:rPr>
              <a:t>resource</a:t>
            </a:r>
            <a:r>
              <a:rPr sz="2400" spc="-10" dirty="0">
                <a:latin typeface="Arial"/>
                <a:cs typeface="Arial"/>
              </a:rPr>
              <a:t> </a:t>
            </a:r>
            <a:r>
              <a:rPr sz="2400" spc="-5" dirty="0">
                <a:latin typeface="Arial"/>
                <a:cs typeface="Arial"/>
              </a:rPr>
              <a:t>based </a:t>
            </a:r>
            <a:r>
              <a:rPr sz="2400" dirty="0">
                <a:latin typeface="Arial"/>
                <a:cs typeface="Arial"/>
              </a:rPr>
              <a:t>on</a:t>
            </a:r>
            <a:r>
              <a:rPr sz="2400" spc="-5" dirty="0">
                <a:latin typeface="Arial"/>
                <a:cs typeface="Arial"/>
              </a:rPr>
              <a:t> other </a:t>
            </a:r>
            <a:r>
              <a:rPr sz="2400" dirty="0">
                <a:latin typeface="Arial"/>
                <a:cs typeface="Arial"/>
              </a:rPr>
              <a:t> </a:t>
            </a:r>
            <a:r>
              <a:rPr sz="2400" spc="-5" dirty="0">
                <a:latin typeface="Arial"/>
                <a:cs typeface="Arial"/>
              </a:rPr>
              <a:t>information</a:t>
            </a:r>
            <a:r>
              <a:rPr sz="2400" spc="-10" dirty="0">
                <a:latin typeface="Arial"/>
                <a:cs typeface="Arial"/>
              </a:rPr>
              <a:t> </a:t>
            </a:r>
            <a:r>
              <a:rPr sz="2400" spc="-5" dirty="0">
                <a:latin typeface="Arial"/>
                <a:cs typeface="Arial"/>
              </a:rPr>
              <a:t>associated with</a:t>
            </a:r>
            <a:r>
              <a:rPr sz="2400" spc="5" dirty="0">
                <a:latin typeface="Arial"/>
                <a:cs typeface="Arial"/>
              </a:rPr>
              <a:t> </a:t>
            </a:r>
            <a:r>
              <a:rPr sz="2400" spc="-5" dirty="0">
                <a:latin typeface="Arial"/>
                <a:cs typeface="Arial"/>
              </a:rPr>
              <a:t>the</a:t>
            </a:r>
            <a:r>
              <a:rPr sz="2400" spc="-10" dirty="0">
                <a:latin typeface="Arial"/>
                <a:cs typeface="Arial"/>
              </a:rPr>
              <a:t> </a:t>
            </a:r>
            <a:r>
              <a:rPr sz="2400" spc="-5" dirty="0">
                <a:latin typeface="Arial"/>
                <a:cs typeface="Arial"/>
              </a:rPr>
              <a:t>HTTP</a:t>
            </a:r>
            <a:r>
              <a:rPr sz="2400" dirty="0">
                <a:latin typeface="Arial"/>
                <a:cs typeface="Arial"/>
              </a:rPr>
              <a:t> </a:t>
            </a:r>
            <a:r>
              <a:rPr sz="2400" spc="-5" dirty="0">
                <a:latin typeface="Arial"/>
                <a:cs typeface="Arial"/>
              </a:rPr>
              <a:t>request,</a:t>
            </a:r>
            <a:r>
              <a:rPr sz="2400" spc="15" dirty="0">
                <a:latin typeface="Arial"/>
                <a:cs typeface="Arial"/>
              </a:rPr>
              <a:t> </a:t>
            </a:r>
            <a:r>
              <a:rPr sz="2400" spc="-5" dirty="0">
                <a:latin typeface="Arial"/>
                <a:cs typeface="Arial"/>
              </a:rPr>
              <a:t>such as </a:t>
            </a:r>
            <a:r>
              <a:rPr sz="2400" spc="-655" dirty="0">
                <a:latin typeface="Arial"/>
                <a:cs typeface="Arial"/>
              </a:rPr>
              <a:t> </a:t>
            </a:r>
            <a:r>
              <a:rPr sz="2400" dirty="0">
                <a:latin typeface="Arial"/>
                <a:cs typeface="Arial"/>
              </a:rPr>
              <a:t>the</a:t>
            </a:r>
            <a:r>
              <a:rPr sz="2400" spc="-10" dirty="0">
                <a:latin typeface="Arial"/>
                <a:cs typeface="Arial"/>
              </a:rPr>
              <a:t> </a:t>
            </a:r>
            <a:r>
              <a:rPr sz="2400" spc="-5" dirty="0">
                <a:latin typeface="Arial"/>
                <a:cs typeface="Arial"/>
              </a:rPr>
              <a:t>host</a:t>
            </a:r>
            <a:r>
              <a:rPr sz="2400" spc="5" dirty="0">
                <a:latin typeface="Arial"/>
                <a:cs typeface="Arial"/>
              </a:rPr>
              <a:t> </a:t>
            </a:r>
            <a:r>
              <a:rPr sz="2400" spc="-5" dirty="0">
                <a:latin typeface="Arial"/>
                <a:cs typeface="Arial"/>
              </a:rPr>
              <a:t>name or</a:t>
            </a:r>
            <a:r>
              <a:rPr sz="2400" dirty="0">
                <a:latin typeface="Arial"/>
                <a:cs typeface="Arial"/>
              </a:rPr>
              <a:t> IP</a:t>
            </a:r>
            <a:r>
              <a:rPr sz="2400" spc="-5" dirty="0">
                <a:latin typeface="Arial"/>
                <a:cs typeface="Arial"/>
              </a:rPr>
              <a:t> address of</a:t>
            </a:r>
            <a:r>
              <a:rPr sz="2400" spc="10" dirty="0">
                <a:latin typeface="Arial"/>
                <a:cs typeface="Arial"/>
              </a:rPr>
              <a:t> </a:t>
            </a:r>
            <a:r>
              <a:rPr sz="2400" spc="-5" dirty="0">
                <a:latin typeface="Arial"/>
                <a:cs typeface="Arial"/>
              </a:rPr>
              <a:t>the</a:t>
            </a:r>
            <a:r>
              <a:rPr sz="2400" dirty="0">
                <a:latin typeface="Arial"/>
                <a:cs typeface="Arial"/>
              </a:rPr>
              <a:t> </a:t>
            </a:r>
            <a:r>
              <a:rPr sz="2400" spc="-5" dirty="0">
                <a:latin typeface="Arial"/>
                <a:cs typeface="Arial"/>
              </a:rPr>
              <a:t>requesting</a:t>
            </a:r>
            <a:r>
              <a:rPr sz="2400" spc="-10" dirty="0">
                <a:latin typeface="Arial"/>
                <a:cs typeface="Arial"/>
              </a:rPr>
              <a:t> </a:t>
            </a:r>
            <a:r>
              <a:rPr sz="2400" spc="-5" dirty="0">
                <a:latin typeface="Arial"/>
                <a:cs typeface="Arial"/>
              </a:rPr>
              <a:t>client.</a:t>
            </a:r>
            <a:endParaRPr sz="2400" dirty="0">
              <a:latin typeface="Arial"/>
              <a:cs typeface="Arial"/>
            </a:endParaRPr>
          </a:p>
          <a:p>
            <a:pPr marL="350520" marR="177165" indent="-337820">
              <a:lnSpc>
                <a:spcPct val="100000"/>
              </a:lnSpc>
              <a:spcBef>
                <a:spcPts val="590"/>
              </a:spcBef>
              <a:buFont typeface="Wingdings"/>
              <a:buChar char=""/>
              <a:tabLst>
                <a:tab pos="349885" algn="l"/>
                <a:tab pos="350520" algn="l"/>
              </a:tabLst>
            </a:pPr>
            <a:r>
              <a:rPr sz="2400" spc="-5" dirty="0">
                <a:latin typeface="Arial"/>
                <a:cs typeface="Arial"/>
              </a:rPr>
              <a:t>Authenticating</a:t>
            </a:r>
            <a:r>
              <a:rPr sz="2400" spc="-10" dirty="0">
                <a:latin typeface="Arial"/>
                <a:cs typeface="Arial"/>
              </a:rPr>
              <a:t> </a:t>
            </a:r>
            <a:r>
              <a:rPr sz="2400" spc="-5" dirty="0">
                <a:latin typeface="Arial"/>
                <a:cs typeface="Arial"/>
              </a:rPr>
              <a:t>HTTP</a:t>
            </a:r>
            <a:r>
              <a:rPr sz="2400" dirty="0">
                <a:latin typeface="Arial"/>
                <a:cs typeface="Arial"/>
              </a:rPr>
              <a:t> </a:t>
            </a:r>
            <a:r>
              <a:rPr sz="2400" spc="-5" dirty="0">
                <a:latin typeface="Arial"/>
                <a:cs typeface="Arial"/>
              </a:rPr>
              <a:t>requests</a:t>
            </a:r>
            <a:r>
              <a:rPr sz="2400" dirty="0">
                <a:latin typeface="Arial"/>
                <a:cs typeface="Arial"/>
              </a:rPr>
              <a:t> can</a:t>
            </a:r>
            <a:r>
              <a:rPr sz="2400" spc="-10" dirty="0">
                <a:latin typeface="Arial"/>
                <a:cs typeface="Arial"/>
              </a:rPr>
              <a:t> </a:t>
            </a:r>
            <a:r>
              <a:rPr sz="2400" spc="-5" dirty="0">
                <a:latin typeface="Arial"/>
                <a:cs typeface="Arial"/>
              </a:rPr>
              <a:t>impose </a:t>
            </a:r>
            <a:r>
              <a:rPr sz="2400" dirty="0">
                <a:latin typeface="Arial"/>
                <a:cs typeface="Arial"/>
              </a:rPr>
              <a:t>a</a:t>
            </a:r>
            <a:r>
              <a:rPr sz="2400" spc="5" dirty="0">
                <a:latin typeface="Arial"/>
                <a:cs typeface="Arial"/>
              </a:rPr>
              <a:t> </a:t>
            </a:r>
            <a:r>
              <a:rPr sz="2400" spc="-10" dirty="0">
                <a:latin typeface="Arial"/>
                <a:cs typeface="Arial"/>
              </a:rPr>
              <a:t>heavy</a:t>
            </a:r>
            <a:r>
              <a:rPr sz="2400" dirty="0">
                <a:latin typeface="Arial"/>
                <a:cs typeface="Arial"/>
              </a:rPr>
              <a:t> </a:t>
            </a:r>
            <a:r>
              <a:rPr sz="2400" spc="-10" dirty="0">
                <a:latin typeface="Arial"/>
                <a:cs typeface="Arial"/>
              </a:rPr>
              <a:t>load </a:t>
            </a:r>
            <a:r>
              <a:rPr sz="2400" spc="-655" dirty="0">
                <a:latin typeface="Arial"/>
                <a:cs typeface="Arial"/>
              </a:rPr>
              <a:t> </a:t>
            </a:r>
            <a:r>
              <a:rPr sz="2400" spc="-5" dirty="0">
                <a:latin typeface="Arial"/>
                <a:cs typeface="Arial"/>
              </a:rPr>
              <a:t>on</a:t>
            </a:r>
            <a:r>
              <a:rPr sz="2400" dirty="0">
                <a:latin typeface="Arial"/>
                <a:cs typeface="Arial"/>
              </a:rPr>
              <a:t> </a:t>
            </a:r>
            <a:r>
              <a:rPr sz="2400" spc="-5" dirty="0">
                <a:latin typeface="Arial"/>
                <a:cs typeface="Arial"/>
              </a:rPr>
              <a:t>the</a:t>
            </a:r>
            <a:r>
              <a:rPr sz="2400" spc="5" dirty="0">
                <a:latin typeface="Arial"/>
                <a:cs typeface="Arial"/>
              </a:rPr>
              <a:t> </a:t>
            </a:r>
            <a:r>
              <a:rPr sz="2400" spc="-5" dirty="0">
                <a:latin typeface="Arial"/>
                <a:cs typeface="Arial"/>
              </a:rPr>
              <a:t>Web </a:t>
            </a:r>
            <a:r>
              <a:rPr sz="2400" dirty="0">
                <a:latin typeface="Arial"/>
                <a:cs typeface="Arial"/>
              </a:rPr>
              <a:t>server.</a:t>
            </a: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p:nvPr/>
        </p:nvSpPr>
        <p:spPr>
          <a:xfrm>
            <a:off x="679025" y="6295722"/>
            <a:ext cx="233680" cy="205184"/>
          </a:xfrm>
          <a:prstGeom prst="rect">
            <a:avLst/>
          </a:prstGeom>
        </p:spPr>
        <p:txBody>
          <a:bodyPr vert="horz" wrap="square" lIns="0" tIns="0" rIns="0" bIns="0" rtlCol="0">
            <a:spAutoFit/>
          </a:bodyPr>
          <a:lstStyle/>
          <a:p>
            <a:pPr marL="38100">
              <a:lnSpc>
                <a:spcPts val="1645"/>
              </a:lnSpc>
            </a:pPr>
            <a:fld id="{81D60167-4931-47E6-BA6A-407CBD079E47}" type="slidenum">
              <a:rPr sz="1400" dirty="0">
                <a:latin typeface="Arial"/>
                <a:cs typeface="Arial"/>
              </a:rPr>
              <a:pPr marL="38100">
                <a:lnSpc>
                  <a:spcPts val="1645"/>
                </a:lnSpc>
              </a:pPr>
              <a:t>129</a:t>
            </a:fld>
            <a:endParaRPr sz="1400">
              <a:latin typeface="Arial"/>
              <a:cs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3533" y="702309"/>
            <a:ext cx="8776272" cy="689932"/>
          </a:xfrm>
          <a:prstGeom prst="rect">
            <a:avLst/>
          </a:prstGeom>
        </p:spPr>
        <p:txBody>
          <a:bodyPr vert="horz" wrap="square" lIns="0" tIns="12700" rIns="0" bIns="0" rtlCol="0">
            <a:spAutoFit/>
          </a:bodyPr>
          <a:lstStyle/>
          <a:p>
            <a:pPr marL="12700">
              <a:lnSpc>
                <a:spcPct val="100000"/>
              </a:lnSpc>
              <a:spcBef>
                <a:spcPts val="100"/>
              </a:spcBef>
            </a:pPr>
            <a:r>
              <a:rPr spc="-5" dirty="0"/>
              <a:t>Dynamically</a:t>
            </a:r>
            <a:r>
              <a:rPr spc="-15" dirty="0"/>
              <a:t> </a:t>
            </a:r>
            <a:r>
              <a:rPr spc="-5" dirty="0"/>
              <a:t>Generated</a:t>
            </a:r>
            <a:r>
              <a:rPr spc="-25" dirty="0"/>
              <a:t> </a:t>
            </a:r>
            <a:r>
              <a:rPr spc="-5" dirty="0"/>
              <a:t>Responses</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756828" y="1846616"/>
            <a:ext cx="10308167" cy="2703830"/>
          </a:xfrm>
          <a:prstGeom prst="rect">
            <a:avLst/>
          </a:prstGeom>
        </p:spPr>
        <p:txBody>
          <a:bodyPr vert="horz" wrap="square" lIns="0" tIns="12700" rIns="0" bIns="0" rtlCol="0">
            <a:spAutoFit/>
          </a:bodyPr>
          <a:lstStyle/>
          <a:p>
            <a:pPr marL="350520" marR="26670" indent="-337820">
              <a:lnSpc>
                <a:spcPct val="100000"/>
              </a:lnSpc>
              <a:spcBef>
                <a:spcPts val="100"/>
              </a:spcBef>
              <a:buFont typeface="Wingdings"/>
              <a:buChar char=""/>
              <a:tabLst>
                <a:tab pos="349885" algn="l"/>
                <a:tab pos="350520" algn="l"/>
              </a:tabLst>
            </a:pPr>
            <a:r>
              <a:rPr sz="2800" spc="-5" dirty="0">
                <a:latin typeface="Arial"/>
                <a:cs typeface="Arial"/>
              </a:rPr>
              <a:t>This</a:t>
            </a:r>
            <a:r>
              <a:rPr sz="2800" spc="5" dirty="0">
                <a:latin typeface="Arial"/>
                <a:cs typeface="Arial"/>
              </a:rPr>
              <a:t> </a:t>
            </a:r>
            <a:r>
              <a:rPr sz="2800" dirty="0">
                <a:latin typeface="Arial"/>
                <a:cs typeface="Arial"/>
              </a:rPr>
              <a:t>feature</a:t>
            </a:r>
            <a:r>
              <a:rPr sz="2800" spc="10" dirty="0">
                <a:latin typeface="Arial"/>
                <a:cs typeface="Arial"/>
              </a:rPr>
              <a:t> </a:t>
            </a:r>
            <a:r>
              <a:rPr sz="2800" spc="-5" dirty="0">
                <a:latin typeface="Arial"/>
                <a:cs typeface="Arial"/>
              </a:rPr>
              <a:t>differentiates</a:t>
            </a:r>
            <a:r>
              <a:rPr sz="2800" spc="15" dirty="0">
                <a:latin typeface="Arial"/>
                <a:cs typeface="Arial"/>
              </a:rPr>
              <a:t> </a:t>
            </a:r>
            <a:r>
              <a:rPr sz="2800" dirty="0">
                <a:latin typeface="Arial"/>
                <a:cs typeface="Arial"/>
              </a:rPr>
              <a:t>the</a:t>
            </a:r>
            <a:r>
              <a:rPr sz="2800" spc="10" dirty="0">
                <a:latin typeface="Arial"/>
                <a:cs typeface="Arial"/>
              </a:rPr>
              <a:t> </a:t>
            </a:r>
            <a:r>
              <a:rPr sz="2800" spc="-5" dirty="0">
                <a:latin typeface="Arial"/>
                <a:cs typeface="Arial"/>
              </a:rPr>
              <a:t>Web</a:t>
            </a:r>
            <a:r>
              <a:rPr sz="2800" spc="10" dirty="0">
                <a:latin typeface="Arial"/>
                <a:cs typeface="Arial"/>
              </a:rPr>
              <a:t> </a:t>
            </a:r>
            <a:r>
              <a:rPr sz="2800" spc="-5" dirty="0">
                <a:latin typeface="Arial"/>
                <a:cs typeface="Arial"/>
              </a:rPr>
              <a:t>from</a:t>
            </a:r>
            <a:r>
              <a:rPr sz="2800" spc="5" dirty="0">
                <a:latin typeface="Arial"/>
                <a:cs typeface="Arial"/>
              </a:rPr>
              <a:t> </a:t>
            </a:r>
            <a:r>
              <a:rPr sz="2800" spc="-5" dirty="0">
                <a:latin typeface="Arial"/>
                <a:cs typeface="Arial"/>
              </a:rPr>
              <a:t>earlier </a:t>
            </a:r>
            <a:r>
              <a:rPr sz="2800" spc="-760" dirty="0">
                <a:latin typeface="Arial"/>
                <a:cs typeface="Arial"/>
              </a:rPr>
              <a:t> </a:t>
            </a:r>
            <a:r>
              <a:rPr sz="2800" dirty="0">
                <a:latin typeface="Arial"/>
                <a:cs typeface="Arial"/>
              </a:rPr>
              <a:t>file transfer</a:t>
            </a:r>
            <a:r>
              <a:rPr sz="2800" spc="-5" dirty="0">
                <a:latin typeface="Arial"/>
                <a:cs typeface="Arial"/>
              </a:rPr>
              <a:t> </a:t>
            </a:r>
            <a:r>
              <a:rPr sz="2800" dirty="0">
                <a:latin typeface="Arial"/>
                <a:cs typeface="Arial"/>
              </a:rPr>
              <a:t>services on the</a:t>
            </a:r>
            <a:r>
              <a:rPr sz="2800" spc="5" dirty="0">
                <a:latin typeface="Arial"/>
                <a:cs typeface="Arial"/>
              </a:rPr>
              <a:t> </a:t>
            </a:r>
            <a:r>
              <a:rPr sz="2800" dirty="0">
                <a:latin typeface="Arial"/>
                <a:cs typeface="Arial"/>
              </a:rPr>
              <a:t>Internet.</a:t>
            </a:r>
          </a:p>
          <a:p>
            <a:pPr marL="350520" marR="5080" indent="-337820">
              <a:lnSpc>
                <a:spcPts val="3350"/>
              </a:lnSpc>
              <a:spcBef>
                <a:spcPts val="820"/>
              </a:spcBef>
              <a:buFont typeface="Wingdings"/>
              <a:buChar char=""/>
              <a:tabLst>
                <a:tab pos="448945" algn="l"/>
                <a:tab pos="449580" algn="l"/>
              </a:tabLst>
            </a:pPr>
            <a:r>
              <a:rPr dirty="0"/>
              <a:t>	</a:t>
            </a:r>
            <a:r>
              <a:rPr sz="2800" spc="-5" dirty="0">
                <a:latin typeface="Arial"/>
                <a:cs typeface="Arial"/>
              </a:rPr>
              <a:t>Dynamically</a:t>
            </a:r>
            <a:r>
              <a:rPr sz="2800" spc="5" dirty="0">
                <a:latin typeface="Arial"/>
                <a:cs typeface="Arial"/>
              </a:rPr>
              <a:t> </a:t>
            </a:r>
            <a:r>
              <a:rPr sz="2800" spc="-5" dirty="0">
                <a:latin typeface="Arial"/>
                <a:cs typeface="Arial"/>
              </a:rPr>
              <a:t>generated</a:t>
            </a:r>
            <a:r>
              <a:rPr sz="2800" spc="15" dirty="0">
                <a:latin typeface="Arial"/>
                <a:cs typeface="Arial"/>
              </a:rPr>
              <a:t> </a:t>
            </a:r>
            <a:r>
              <a:rPr sz="2800" dirty="0">
                <a:latin typeface="Arial"/>
                <a:cs typeface="Arial"/>
              </a:rPr>
              <a:t>responses are</a:t>
            </a:r>
            <a:r>
              <a:rPr sz="2800" spc="5" dirty="0">
                <a:latin typeface="Arial"/>
                <a:cs typeface="Arial"/>
              </a:rPr>
              <a:t> </a:t>
            </a:r>
            <a:r>
              <a:rPr sz="2800" dirty="0">
                <a:latin typeface="Arial"/>
                <a:cs typeface="Arial"/>
              </a:rPr>
              <a:t>created </a:t>
            </a:r>
            <a:r>
              <a:rPr sz="2800" spc="-765" dirty="0">
                <a:latin typeface="Arial"/>
                <a:cs typeface="Arial"/>
              </a:rPr>
              <a:t> </a:t>
            </a:r>
            <a:r>
              <a:rPr sz="2800" spc="-5" dirty="0">
                <a:latin typeface="Arial"/>
                <a:cs typeface="Arial"/>
              </a:rPr>
              <a:t>in</a:t>
            </a:r>
            <a:r>
              <a:rPr sz="2800" spc="5" dirty="0">
                <a:latin typeface="Arial"/>
                <a:cs typeface="Arial"/>
              </a:rPr>
              <a:t> </a:t>
            </a:r>
            <a:r>
              <a:rPr sz="2800" dirty="0">
                <a:latin typeface="Arial"/>
                <a:cs typeface="Arial"/>
              </a:rPr>
              <a:t>a</a:t>
            </a:r>
            <a:r>
              <a:rPr sz="2800" spc="-10" dirty="0">
                <a:latin typeface="Arial"/>
                <a:cs typeface="Arial"/>
              </a:rPr>
              <a:t> </a:t>
            </a:r>
            <a:r>
              <a:rPr sz="2800" dirty="0">
                <a:latin typeface="Arial"/>
                <a:cs typeface="Arial"/>
              </a:rPr>
              <a:t>variety</a:t>
            </a:r>
            <a:r>
              <a:rPr sz="2800" spc="-5" dirty="0">
                <a:latin typeface="Arial"/>
                <a:cs typeface="Arial"/>
              </a:rPr>
              <a:t> </a:t>
            </a:r>
            <a:r>
              <a:rPr sz="2800" dirty="0">
                <a:latin typeface="Arial"/>
                <a:cs typeface="Arial"/>
              </a:rPr>
              <a:t>of</a:t>
            </a:r>
            <a:r>
              <a:rPr sz="2800" spc="5" dirty="0">
                <a:latin typeface="Arial"/>
                <a:cs typeface="Arial"/>
              </a:rPr>
              <a:t> </a:t>
            </a:r>
            <a:r>
              <a:rPr sz="2800" dirty="0">
                <a:latin typeface="Arial"/>
                <a:cs typeface="Arial"/>
              </a:rPr>
              <a:t>ways:</a:t>
            </a:r>
          </a:p>
          <a:p>
            <a:pPr marL="1094740" lvl="1" indent="-394335">
              <a:lnSpc>
                <a:spcPct val="100000"/>
              </a:lnSpc>
              <a:spcBef>
                <a:spcPts val="489"/>
              </a:spcBef>
              <a:buFont typeface="Wingdings"/>
              <a:buChar char=""/>
              <a:tabLst>
                <a:tab pos="1094105" algn="l"/>
                <a:tab pos="1094740" algn="l"/>
              </a:tabLst>
            </a:pPr>
            <a:r>
              <a:rPr sz="2400" spc="-5" dirty="0">
                <a:solidFill>
                  <a:srgbClr val="009898"/>
                </a:solidFill>
                <a:latin typeface="Arial"/>
                <a:cs typeface="Arial"/>
                <a:hlinkClick r:id="rId2" action="ppaction://hlinksldjump"/>
              </a:rPr>
              <a:t>Server-side</a:t>
            </a:r>
            <a:r>
              <a:rPr sz="2400" spc="-20" dirty="0">
                <a:solidFill>
                  <a:srgbClr val="009898"/>
                </a:solidFill>
                <a:latin typeface="Arial"/>
                <a:cs typeface="Arial"/>
                <a:hlinkClick r:id="rId2" action="ppaction://hlinksldjump"/>
              </a:rPr>
              <a:t> </a:t>
            </a:r>
            <a:r>
              <a:rPr sz="2400" spc="-10" dirty="0">
                <a:solidFill>
                  <a:srgbClr val="009898"/>
                </a:solidFill>
                <a:latin typeface="Arial"/>
                <a:cs typeface="Arial"/>
                <a:hlinkClick r:id="rId2" action="ppaction://hlinksldjump"/>
              </a:rPr>
              <a:t>include</a:t>
            </a:r>
            <a:endParaRPr sz="2400" dirty="0">
              <a:latin typeface="Arial"/>
              <a:cs typeface="Arial"/>
            </a:endParaRPr>
          </a:p>
          <a:p>
            <a:pPr marL="1094740" lvl="1" indent="-394335">
              <a:lnSpc>
                <a:spcPct val="100000"/>
              </a:lnSpc>
              <a:spcBef>
                <a:spcPts val="600"/>
              </a:spcBef>
              <a:buFont typeface="Wingdings"/>
              <a:buChar char=""/>
              <a:tabLst>
                <a:tab pos="1094105" algn="l"/>
                <a:tab pos="1094740" algn="l"/>
              </a:tabLst>
            </a:pPr>
            <a:r>
              <a:rPr sz="2400" spc="-5" dirty="0">
                <a:solidFill>
                  <a:srgbClr val="009898"/>
                </a:solidFill>
                <a:latin typeface="Arial"/>
                <a:cs typeface="Arial"/>
                <a:hlinkClick r:id="rId3" action="ppaction://hlinksldjump"/>
              </a:rPr>
              <a:t>Server</a:t>
            </a:r>
            <a:r>
              <a:rPr sz="2400" spc="-25" dirty="0">
                <a:solidFill>
                  <a:srgbClr val="009898"/>
                </a:solidFill>
                <a:latin typeface="Arial"/>
                <a:cs typeface="Arial"/>
                <a:hlinkClick r:id="rId3" action="ppaction://hlinksldjump"/>
              </a:rPr>
              <a:t> </a:t>
            </a:r>
            <a:r>
              <a:rPr sz="2400" spc="-5" dirty="0">
                <a:solidFill>
                  <a:srgbClr val="009898"/>
                </a:solidFill>
                <a:latin typeface="Arial"/>
                <a:cs typeface="Arial"/>
                <a:hlinkClick r:id="rId3" action="ppaction://hlinksldjump"/>
              </a:rPr>
              <a:t>script</a:t>
            </a:r>
            <a:endParaRPr sz="2400" dirty="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130</a:t>
            </a:fld>
            <a:endParaRPr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5881" y="619759"/>
            <a:ext cx="5591157" cy="689932"/>
          </a:xfrm>
          <a:prstGeom prst="rect">
            <a:avLst/>
          </a:prstGeom>
        </p:spPr>
        <p:txBody>
          <a:bodyPr vert="horz" wrap="square" lIns="0" tIns="12700" rIns="0" bIns="0" rtlCol="0">
            <a:spAutoFit/>
          </a:bodyPr>
          <a:lstStyle/>
          <a:p>
            <a:pPr marL="12700">
              <a:lnSpc>
                <a:spcPct val="100000"/>
              </a:lnSpc>
              <a:spcBef>
                <a:spcPts val="100"/>
              </a:spcBef>
            </a:pPr>
            <a:r>
              <a:rPr spc="-5" dirty="0"/>
              <a:t>Server-Side</a:t>
            </a:r>
            <a:r>
              <a:rPr spc="-60" dirty="0"/>
              <a:t> </a:t>
            </a:r>
            <a:r>
              <a:rPr spc="-5" dirty="0"/>
              <a:t>Include</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966893" y="1231900"/>
            <a:ext cx="25146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Wingdings"/>
                <a:cs typeface="Wingdings"/>
              </a:rPr>
              <a:t></a:t>
            </a:r>
            <a:endParaRPr sz="2800">
              <a:latin typeface="Wingdings"/>
              <a:cs typeface="Wingdings"/>
            </a:endParaRPr>
          </a:p>
        </p:txBody>
      </p:sp>
      <p:sp>
        <p:nvSpPr>
          <p:cNvPr id="6" name="object 6"/>
          <p:cNvSpPr txBox="1"/>
          <p:nvPr/>
        </p:nvSpPr>
        <p:spPr>
          <a:xfrm>
            <a:off x="1501986" y="1747761"/>
            <a:ext cx="10060093" cy="874598"/>
          </a:xfrm>
          <a:prstGeom prst="rect">
            <a:avLst/>
          </a:prstGeom>
        </p:spPr>
        <p:txBody>
          <a:bodyPr vert="horz" wrap="square" lIns="0" tIns="12700" rIns="0" bIns="0" rtlCol="0">
            <a:spAutoFit/>
          </a:bodyPr>
          <a:lstStyle/>
          <a:p>
            <a:pPr marL="12700" marR="5080">
              <a:lnSpc>
                <a:spcPct val="100000"/>
              </a:lnSpc>
              <a:spcBef>
                <a:spcPts val="100"/>
              </a:spcBef>
            </a:pPr>
            <a:r>
              <a:rPr sz="2800" dirty="0">
                <a:latin typeface="Arial"/>
                <a:cs typeface="Arial"/>
              </a:rPr>
              <a:t>A </a:t>
            </a:r>
            <a:r>
              <a:rPr sz="2800" b="1" i="1" dirty="0">
                <a:latin typeface="Arial"/>
                <a:cs typeface="Arial"/>
              </a:rPr>
              <a:t>server-side </a:t>
            </a:r>
            <a:r>
              <a:rPr sz="2800" b="1" i="1" spc="-5" dirty="0">
                <a:latin typeface="Arial"/>
                <a:cs typeface="Arial"/>
              </a:rPr>
              <a:t>include </a:t>
            </a:r>
            <a:r>
              <a:rPr sz="2800" dirty="0">
                <a:latin typeface="Arial"/>
                <a:cs typeface="Arial"/>
              </a:rPr>
              <a:t>instructs the </a:t>
            </a:r>
            <a:r>
              <a:rPr sz="2800" spc="-5" dirty="0">
                <a:latin typeface="Arial"/>
                <a:cs typeface="Arial"/>
              </a:rPr>
              <a:t>Web </a:t>
            </a:r>
            <a:r>
              <a:rPr sz="2800" dirty="0">
                <a:latin typeface="Arial"/>
                <a:cs typeface="Arial"/>
              </a:rPr>
              <a:t>server </a:t>
            </a:r>
            <a:r>
              <a:rPr sz="2800" spc="-765" dirty="0">
                <a:latin typeface="Arial"/>
                <a:cs typeface="Arial"/>
              </a:rPr>
              <a:t> </a:t>
            </a:r>
            <a:r>
              <a:rPr sz="2800" dirty="0">
                <a:latin typeface="Arial"/>
                <a:cs typeface="Arial"/>
              </a:rPr>
              <a:t>to customize</a:t>
            </a:r>
            <a:r>
              <a:rPr sz="2800" spc="-15" dirty="0">
                <a:latin typeface="Arial"/>
                <a:cs typeface="Arial"/>
              </a:rPr>
              <a:t> </a:t>
            </a:r>
            <a:r>
              <a:rPr sz="2800" dirty="0">
                <a:latin typeface="Arial"/>
                <a:cs typeface="Arial"/>
              </a:rPr>
              <a:t>a</a:t>
            </a:r>
            <a:r>
              <a:rPr sz="2800" spc="10" dirty="0">
                <a:latin typeface="Arial"/>
                <a:cs typeface="Arial"/>
              </a:rPr>
              <a:t> </a:t>
            </a:r>
            <a:r>
              <a:rPr sz="2800" dirty="0">
                <a:latin typeface="Arial"/>
                <a:cs typeface="Arial"/>
              </a:rPr>
              <a:t>static</a:t>
            </a:r>
            <a:r>
              <a:rPr sz="2800" spc="5" dirty="0">
                <a:latin typeface="Arial"/>
                <a:cs typeface="Arial"/>
              </a:rPr>
              <a:t> </a:t>
            </a:r>
            <a:r>
              <a:rPr sz="2800" dirty="0">
                <a:latin typeface="Arial"/>
                <a:cs typeface="Arial"/>
              </a:rPr>
              <a:t>resource based on </a:t>
            </a:r>
            <a:r>
              <a:rPr sz="2800" spc="5" dirty="0">
                <a:latin typeface="Arial"/>
                <a:cs typeface="Arial"/>
              </a:rPr>
              <a:t> </a:t>
            </a:r>
            <a:r>
              <a:rPr sz="2800" dirty="0">
                <a:latin typeface="Arial"/>
                <a:cs typeface="Arial"/>
              </a:rPr>
              <a:t>directives</a:t>
            </a:r>
            <a:r>
              <a:rPr sz="2800" spc="5" dirty="0">
                <a:latin typeface="Arial"/>
                <a:cs typeface="Arial"/>
              </a:rPr>
              <a:t> </a:t>
            </a:r>
            <a:r>
              <a:rPr sz="2800" spc="-5" dirty="0">
                <a:latin typeface="Arial"/>
                <a:cs typeface="Arial"/>
              </a:rPr>
              <a:t>in</a:t>
            </a:r>
            <a:r>
              <a:rPr sz="2800" spc="5" dirty="0">
                <a:latin typeface="Arial"/>
                <a:cs typeface="Arial"/>
              </a:rPr>
              <a:t> </a:t>
            </a:r>
            <a:r>
              <a:rPr sz="2800" dirty="0">
                <a:latin typeface="Arial"/>
                <a:cs typeface="Arial"/>
              </a:rPr>
              <a:t>an </a:t>
            </a:r>
            <a:r>
              <a:rPr sz="2800" spc="-5" dirty="0">
                <a:latin typeface="Arial"/>
                <a:cs typeface="Arial"/>
              </a:rPr>
              <a:t>HTML-like</a:t>
            </a:r>
            <a:r>
              <a:rPr sz="2800" spc="5" dirty="0">
                <a:latin typeface="Arial"/>
                <a:cs typeface="Arial"/>
              </a:rPr>
              <a:t> </a:t>
            </a:r>
            <a:r>
              <a:rPr sz="2800" dirty="0">
                <a:latin typeface="Arial"/>
                <a:cs typeface="Arial"/>
              </a:rPr>
              <a:t>file.</a:t>
            </a:r>
          </a:p>
        </p:txBody>
      </p:sp>
      <p:sp>
        <p:nvSpPr>
          <p:cNvPr id="7" name="object 7"/>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9" name="object 9"/>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131</a:t>
            </a:fld>
            <a:endParaRPr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2480" y="619759"/>
            <a:ext cx="4294385" cy="689932"/>
          </a:xfrm>
          <a:prstGeom prst="rect">
            <a:avLst/>
          </a:prstGeom>
        </p:spPr>
        <p:txBody>
          <a:bodyPr vert="horz" wrap="square" lIns="0" tIns="12700" rIns="0" bIns="0" rtlCol="0">
            <a:spAutoFit/>
          </a:bodyPr>
          <a:lstStyle/>
          <a:p>
            <a:pPr marL="12700">
              <a:lnSpc>
                <a:spcPct val="100000"/>
              </a:lnSpc>
              <a:spcBef>
                <a:spcPts val="100"/>
              </a:spcBef>
            </a:pPr>
            <a:r>
              <a:rPr spc="-5" dirty="0"/>
              <a:t>Server</a:t>
            </a:r>
            <a:r>
              <a:rPr spc="-70" dirty="0"/>
              <a:t> </a:t>
            </a:r>
            <a:r>
              <a:rPr spc="-5" dirty="0"/>
              <a:t>Script</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1038012" y="1235709"/>
            <a:ext cx="220133"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Wingdings"/>
                <a:cs typeface="Wingdings"/>
              </a:rPr>
              <a:t></a:t>
            </a:r>
            <a:endParaRPr sz="2400">
              <a:latin typeface="Wingdings"/>
              <a:cs typeface="Wingdings"/>
            </a:endParaRPr>
          </a:p>
        </p:txBody>
      </p:sp>
      <p:sp>
        <p:nvSpPr>
          <p:cNvPr id="6" name="object 6"/>
          <p:cNvSpPr txBox="1"/>
          <p:nvPr/>
        </p:nvSpPr>
        <p:spPr>
          <a:xfrm>
            <a:off x="1505373" y="1253490"/>
            <a:ext cx="9883987" cy="4291330"/>
          </a:xfrm>
          <a:prstGeom prst="rect">
            <a:avLst/>
          </a:prstGeom>
        </p:spPr>
        <p:txBody>
          <a:bodyPr vert="horz" wrap="square" lIns="0" tIns="12700" rIns="0" bIns="0" rtlCol="0">
            <a:spAutoFit/>
          </a:bodyPr>
          <a:lstStyle/>
          <a:p>
            <a:pPr marL="12700" marR="188595">
              <a:lnSpc>
                <a:spcPct val="100000"/>
              </a:lnSpc>
              <a:spcBef>
                <a:spcPts val="100"/>
              </a:spcBef>
            </a:pPr>
            <a:r>
              <a:rPr sz="2400" dirty="0">
                <a:latin typeface="Arial"/>
                <a:cs typeface="Arial"/>
              </a:rPr>
              <a:t>A</a:t>
            </a:r>
            <a:r>
              <a:rPr sz="2400" spc="-5" dirty="0">
                <a:latin typeface="Arial"/>
                <a:cs typeface="Arial"/>
              </a:rPr>
              <a:t> </a:t>
            </a:r>
            <a:r>
              <a:rPr sz="2400" b="1" i="1" spc="-5" dirty="0">
                <a:latin typeface="Arial"/>
                <a:cs typeface="Arial"/>
              </a:rPr>
              <a:t>server script</a:t>
            </a:r>
            <a:r>
              <a:rPr sz="2400" b="1" i="1" spc="15" dirty="0">
                <a:latin typeface="Arial"/>
                <a:cs typeface="Arial"/>
              </a:rPr>
              <a:t> </a:t>
            </a:r>
            <a:r>
              <a:rPr sz="2400" spc="-10" dirty="0">
                <a:latin typeface="Arial"/>
                <a:cs typeface="Arial"/>
              </a:rPr>
              <a:t>is</a:t>
            </a:r>
            <a:r>
              <a:rPr sz="2400" spc="5" dirty="0">
                <a:latin typeface="Arial"/>
                <a:cs typeface="Arial"/>
              </a:rPr>
              <a:t> </a:t>
            </a:r>
            <a:r>
              <a:rPr sz="2400" dirty="0">
                <a:latin typeface="Arial"/>
                <a:cs typeface="Arial"/>
              </a:rPr>
              <a:t>a</a:t>
            </a:r>
            <a:r>
              <a:rPr sz="2400" spc="-10" dirty="0">
                <a:latin typeface="Arial"/>
                <a:cs typeface="Arial"/>
              </a:rPr>
              <a:t> </a:t>
            </a:r>
            <a:r>
              <a:rPr sz="2400" spc="-5" dirty="0">
                <a:latin typeface="Arial"/>
                <a:cs typeface="Arial"/>
              </a:rPr>
              <a:t>separate</a:t>
            </a:r>
            <a:r>
              <a:rPr sz="2400" spc="5" dirty="0">
                <a:latin typeface="Arial"/>
                <a:cs typeface="Arial"/>
              </a:rPr>
              <a:t> </a:t>
            </a:r>
            <a:r>
              <a:rPr sz="2400" spc="-5" dirty="0">
                <a:latin typeface="Arial"/>
                <a:cs typeface="Arial"/>
              </a:rPr>
              <a:t>program</a:t>
            </a:r>
            <a:r>
              <a:rPr sz="2400" spc="5" dirty="0">
                <a:latin typeface="Arial"/>
                <a:cs typeface="Arial"/>
              </a:rPr>
              <a:t> </a:t>
            </a:r>
            <a:r>
              <a:rPr sz="2400" spc="-5" dirty="0">
                <a:latin typeface="Arial"/>
                <a:cs typeface="Arial"/>
              </a:rPr>
              <a:t>that</a:t>
            </a:r>
            <a:r>
              <a:rPr sz="2400" spc="5" dirty="0">
                <a:latin typeface="Arial"/>
                <a:cs typeface="Arial"/>
              </a:rPr>
              <a:t> </a:t>
            </a:r>
            <a:r>
              <a:rPr sz="2400" spc="-5" dirty="0">
                <a:latin typeface="Arial"/>
                <a:cs typeface="Arial"/>
              </a:rPr>
              <a:t>generates </a:t>
            </a:r>
            <a:r>
              <a:rPr sz="2400" spc="-655" dirty="0">
                <a:latin typeface="Arial"/>
                <a:cs typeface="Arial"/>
              </a:rPr>
              <a:t> </a:t>
            </a:r>
            <a:r>
              <a:rPr sz="2400" dirty="0">
                <a:latin typeface="Arial"/>
                <a:cs typeface="Arial"/>
              </a:rPr>
              <a:t>the</a:t>
            </a:r>
            <a:r>
              <a:rPr sz="2400" spc="-10" dirty="0">
                <a:latin typeface="Arial"/>
                <a:cs typeface="Arial"/>
              </a:rPr>
              <a:t> </a:t>
            </a:r>
            <a:r>
              <a:rPr sz="2400" spc="-5" dirty="0">
                <a:latin typeface="Arial"/>
                <a:cs typeface="Arial"/>
              </a:rPr>
              <a:t>request</a:t>
            </a:r>
            <a:r>
              <a:rPr sz="2400" spc="5" dirty="0">
                <a:latin typeface="Arial"/>
                <a:cs typeface="Arial"/>
              </a:rPr>
              <a:t> </a:t>
            </a:r>
            <a:r>
              <a:rPr sz="2400" spc="-5" dirty="0">
                <a:latin typeface="Arial"/>
                <a:cs typeface="Arial"/>
              </a:rPr>
              <a:t>resource.</a:t>
            </a:r>
            <a:endParaRPr sz="2400">
              <a:latin typeface="Arial"/>
              <a:cs typeface="Arial"/>
            </a:endParaRPr>
          </a:p>
          <a:p>
            <a:pPr marL="12700">
              <a:lnSpc>
                <a:spcPct val="100000"/>
              </a:lnSpc>
              <a:spcBef>
                <a:spcPts val="600"/>
              </a:spcBef>
            </a:pPr>
            <a:r>
              <a:rPr sz="2400" spc="-5" dirty="0">
                <a:latin typeface="Arial"/>
                <a:cs typeface="Arial"/>
              </a:rPr>
              <a:t>The</a:t>
            </a:r>
            <a:r>
              <a:rPr sz="2400" spc="-15" dirty="0">
                <a:latin typeface="Arial"/>
                <a:cs typeface="Arial"/>
              </a:rPr>
              <a:t> </a:t>
            </a:r>
            <a:r>
              <a:rPr sz="2400" spc="-5" dirty="0">
                <a:latin typeface="Arial"/>
                <a:cs typeface="Arial"/>
              </a:rPr>
              <a:t>program</a:t>
            </a:r>
            <a:r>
              <a:rPr sz="2400" dirty="0">
                <a:latin typeface="Arial"/>
                <a:cs typeface="Arial"/>
              </a:rPr>
              <a:t> </a:t>
            </a:r>
            <a:r>
              <a:rPr sz="2400" spc="-5" dirty="0">
                <a:latin typeface="Arial"/>
                <a:cs typeface="Arial"/>
              </a:rPr>
              <a:t>may</a:t>
            </a:r>
            <a:r>
              <a:rPr sz="2400" dirty="0">
                <a:latin typeface="Arial"/>
                <a:cs typeface="Arial"/>
              </a:rPr>
              <a:t> </a:t>
            </a:r>
            <a:r>
              <a:rPr sz="2400" spc="-5" dirty="0">
                <a:latin typeface="Arial"/>
                <a:cs typeface="Arial"/>
              </a:rPr>
              <a:t>run</a:t>
            </a:r>
            <a:r>
              <a:rPr sz="2400" spc="-10" dirty="0">
                <a:latin typeface="Arial"/>
                <a:cs typeface="Arial"/>
              </a:rPr>
              <a:t> </a:t>
            </a:r>
            <a:r>
              <a:rPr sz="2400" dirty="0">
                <a:latin typeface="Arial"/>
                <a:cs typeface="Arial"/>
              </a:rPr>
              <a:t>as</a:t>
            </a:r>
            <a:endParaRPr sz="24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Part</a:t>
            </a:r>
            <a:r>
              <a:rPr sz="2000" spc="-25" dirty="0">
                <a:latin typeface="Arial"/>
                <a:cs typeface="Arial"/>
              </a:rPr>
              <a:t> </a:t>
            </a:r>
            <a:r>
              <a:rPr sz="2000" spc="-5" dirty="0">
                <a:latin typeface="Arial"/>
                <a:cs typeface="Arial"/>
              </a:rPr>
              <a:t>of</a:t>
            </a:r>
            <a:r>
              <a:rPr sz="2000" spc="-25" dirty="0">
                <a:latin typeface="Arial"/>
                <a:cs typeface="Arial"/>
              </a:rPr>
              <a:t> </a:t>
            </a:r>
            <a:r>
              <a:rPr sz="2000" spc="-5" dirty="0">
                <a:latin typeface="Arial"/>
                <a:cs typeface="Arial"/>
              </a:rPr>
              <a:t>the</a:t>
            </a:r>
            <a:r>
              <a:rPr sz="2000" spc="-15" dirty="0">
                <a:latin typeface="Arial"/>
                <a:cs typeface="Arial"/>
              </a:rPr>
              <a:t> </a:t>
            </a:r>
            <a:r>
              <a:rPr sz="2000" dirty="0">
                <a:latin typeface="Arial"/>
                <a:cs typeface="Arial"/>
              </a:rPr>
              <a:t>server</a:t>
            </a:r>
            <a:endParaRPr sz="20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A</a:t>
            </a:r>
            <a:r>
              <a:rPr sz="2000" spc="-25" dirty="0">
                <a:latin typeface="Arial"/>
                <a:cs typeface="Arial"/>
              </a:rPr>
              <a:t> </a:t>
            </a:r>
            <a:r>
              <a:rPr sz="2000" dirty="0">
                <a:latin typeface="Arial"/>
                <a:cs typeface="Arial"/>
              </a:rPr>
              <a:t>separate</a:t>
            </a:r>
            <a:r>
              <a:rPr sz="2000" spc="-25" dirty="0">
                <a:latin typeface="Arial"/>
                <a:cs typeface="Arial"/>
              </a:rPr>
              <a:t> </a:t>
            </a:r>
            <a:r>
              <a:rPr sz="2000" dirty="0">
                <a:latin typeface="Arial"/>
                <a:cs typeface="Arial"/>
              </a:rPr>
              <a:t>process</a:t>
            </a:r>
            <a:endParaRPr sz="2000">
              <a:latin typeface="Arial"/>
              <a:cs typeface="Arial"/>
            </a:endParaRPr>
          </a:p>
          <a:p>
            <a:pPr marL="12700">
              <a:lnSpc>
                <a:spcPct val="100000"/>
              </a:lnSpc>
              <a:spcBef>
                <a:spcPts val="600"/>
              </a:spcBef>
            </a:pPr>
            <a:r>
              <a:rPr sz="2400" spc="-5" dirty="0">
                <a:latin typeface="Arial"/>
                <a:cs typeface="Arial"/>
              </a:rPr>
              <a:t>The</a:t>
            </a:r>
            <a:r>
              <a:rPr sz="2400" spc="-10" dirty="0">
                <a:latin typeface="Arial"/>
                <a:cs typeface="Arial"/>
              </a:rPr>
              <a:t> </a:t>
            </a:r>
            <a:r>
              <a:rPr sz="2400" spc="-5" dirty="0">
                <a:latin typeface="Arial"/>
                <a:cs typeface="Arial"/>
              </a:rPr>
              <a:t>main role</a:t>
            </a:r>
            <a:r>
              <a:rPr sz="2400" spc="-10" dirty="0">
                <a:latin typeface="Arial"/>
                <a:cs typeface="Arial"/>
              </a:rPr>
              <a:t> </a:t>
            </a:r>
            <a:r>
              <a:rPr sz="2400" spc="-5" dirty="0">
                <a:latin typeface="Arial"/>
                <a:cs typeface="Arial"/>
              </a:rPr>
              <a:t>of</a:t>
            </a:r>
            <a:r>
              <a:rPr sz="2400" spc="15" dirty="0">
                <a:latin typeface="Arial"/>
                <a:cs typeface="Arial"/>
              </a:rPr>
              <a:t> </a:t>
            </a:r>
            <a:r>
              <a:rPr sz="2400" spc="-5" dirty="0">
                <a:latin typeface="Arial"/>
                <a:cs typeface="Arial"/>
              </a:rPr>
              <a:t>the Web</a:t>
            </a:r>
            <a:r>
              <a:rPr sz="2400" dirty="0">
                <a:latin typeface="Arial"/>
                <a:cs typeface="Arial"/>
              </a:rPr>
              <a:t> </a:t>
            </a:r>
            <a:r>
              <a:rPr sz="2400" spc="-5" dirty="0">
                <a:latin typeface="Arial"/>
                <a:cs typeface="Arial"/>
              </a:rPr>
              <a:t>server</a:t>
            </a:r>
            <a:r>
              <a:rPr sz="2400" dirty="0">
                <a:latin typeface="Arial"/>
                <a:cs typeface="Arial"/>
              </a:rPr>
              <a:t> </a:t>
            </a:r>
            <a:r>
              <a:rPr sz="2400" spc="-5" dirty="0">
                <a:latin typeface="Arial"/>
                <a:cs typeface="Arial"/>
              </a:rPr>
              <a:t>is</a:t>
            </a:r>
            <a:endParaRPr sz="24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To</a:t>
            </a:r>
            <a:r>
              <a:rPr sz="2000" spc="-15" dirty="0">
                <a:latin typeface="Arial"/>
                <a:cs typeface="Arial"/>
              </a:rPr>
              <a:t> </a:t>
            </a:r>
            <a:r>
              <a:rPr sz="2000" dirty="0">
                <a:latin typeface="Arial"/>
                <a:cs typeface="Arial"/>
              </a:rPr>
              <a:t>associate </a:t>
            </a:r>
            <a:r>
              <a:rPr sz="2000" spc="-5" dirty="0">
                <a:latin typeface="Arial"/>
                <a:cs typeface="Arial"/>
              </a:rPr>
              <a:t>the </a:t>
            </a:r>
            <a:r>
              <a:rPr sz="2000" dirty="0">
                <a:latin typeface="Arial"/>
                <a:cs typeface="Arial"/>
              </a:rPr>
              <a:t>requested URL with</a:t>
            </a:r>
            <a:r>
              <a:rPr sz="2000" spc="-15" dirty="0">
                <a:latin typeface="Arial"/>
                <a:cs typeface="Arial"/>
              </a:rPr>
              <a:t> </a:t>
            </a:r>
            <a:r>
              <a:rPr sz="2000" spc="-5" dirty="0">
                <a:latin typeface="Arial"/>
                <a:cs typeface="Arial"/>
              </a:rPr>
              <a:t>the</a:t>
            </a:r>
            <a:r>
              <a:rPr sz="2000" dirty="0">
                <a:latin typeface="Arial"/>
                <a:cs typeface="Arial"/>
              </a:rPr>
              <a:t> appropriate</a:t>
            </a:r>
            <a:r>
              <a:rPr sz="2000" spc="-10" dirty="0">
                <a:latin typeface="Arial"/>
                <a:cs typeface="Arial"/>
              </a:rPr>
              <a:t> </a:t>
            </a:r>
            <a:r>
              <a:rPr sz="2000" dirty="0">
                <a:latin typeface="Arial"/>
                <a:cs typeface="Arial"/>
              </a:rPr>
              <a:t>script</a:t>
            </a:r>
            <a:endParaRPr sz="20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To</a:t>
            </a:r>
            <a:r>
              <a:rPr sz="2000" spc="-20" dirty="0">
                <a:latin typeface="Arial"/>
                <a:cs typeface="Arial"/>
              </a:rPr>
              <a:t> </a:t>
            </a:r>
            <a:r>
              <a:rPr sz="2000" dirty="0">
                <a:latin typeface="Arial"/>
                <a:cs typeface="Arial"/>
              </a:rPr>
              <a:t>pass</a:t>
            </a:r>
            <a:r>
              <a:rPr sz="2000" spc="5" dirty="0">
                <a:latin typeface="Arial"/>
                <a:cs typeface="Arial"/>
              </a:rPr>
              <a:t> </a:t>
            </a:r>
            <a:r>
              <a:rPr sz="2000" spc="-5" dirty="0">
                <a:latin typeface="Arial"/>
                <a:cs typeface="Arial"/>
              </a:rPr>
              <a:t>data to/from</a:t>
            </a:r>
            <a:r>
              <a:rPr sz="2000" spc="-15" dirty="0">
                <a:latin typeface="Arial"/>
                <a:cs typeface="Arial"/>
              </a:rPr>
              <a:t> </a:t>
            </a:r>
            <a:r>
              <a:rPr sz="2000" spc="-5" dirty="0">
                <a:latin typeface="Arial"/>
                <a:cs typeface="Arial"/>
              </a:rPr>
              <a:t>the </a:t>
            </a:r>
            <a:r>
              <a:rPr sz="2000" dirty="0">
                <a:latin typeface="Arial"/>
                <a:cs typeface="Arial"/>
              </a:rPr>
              <a:t>script</a:t>
            </a:r>
            <a:endParaRPr sz="2000">
              <a:latin typeface="Arial"/>
              <a:cs typeface="Arial"/>
            </a:endParaRPr>
          </a:p>
          <a:p>
            <a:pPr marL="12700">
              <a:lnSpc>
                <a:spcPct val="100000"/>
              </a:lnSpc>
              <a:spcBef>
                <a:spcPts val="590"/>
              </a:spcBef>
            </a:pPr>
            <a:r>
              <a:rPr sz="2400" spc="-5" dirty="0">
                <a:latin typeface="Arial"/>
                <a:cs typeface="Arial"/>
              </a:rPr>
              <a:t>The</a:t>
            </a:r>
            <a:r>
              <a:rPr sz="2400" spc="-10" dirty="0">
                <a:latin typeface="Arial"/>
                <a:cs typeface="Arial"/>
              </a:rPr>
              <a:t> </a:t>
            </a:r>
            <a:r>
              <a:rPr sz="2400" spc="-5" dirty="0">
                <a:latin typeface="Arial"/>
                <a:cs typeface="Arial"/>
              </a:rPr>
              <a:t>main</a:t>
            </a:r>
            <a:r>
              <a:rPr sz="2400" spc="-10" dirty="0">
                <a:latin typeface="Arial"/>
                <a:cs typeface="Arial"/>
              </a:rPr>
              <a:t> </a:t>
            </a:r>
            <a:r>
              <a:rPr sz="2400" spc="-5" dirty="0">
                <a:latin typeface="Arial"/>
                <a:cs typeface="Arial"/>
              </a:rPr>
              <a:t>role</a:t>
            </a:r>
            <a:r>
              <a:rPr sz="2400" spc="-10" dirty="0">
                <a:latin typeface="Arial"/>
                <a:cs typeface="Arial"/>
              </a:rPr>
              <a:t> </a:t>
            </a:r>
            <a:r>
              <a:rPr sz="2400" spc="-5" dirty="0">
                <a:latin typeface="Arial"/>
                <a:cs typeface="Arial"/>
              </a:rPr>
              <a:t>of</a:t>
            </a:r>
            <a:r>
              <a:rPr sz="2400" spc="10" dirty="0">
                <a:latin typeface="Arial"/>
                <a:cs typeface="Arial"/>
              </a:rPr>
              <a:t> </a:t>
            </a:r>
            <a:r>
              <a:rPr sz="2400" spc="-5" dirty="0">
                <a:latin typeface="Arial"/>
                <a:cs typeface="Arial"/>
              </a:rPr>
              <a:t>the</a:t>
            </a:r>
            <a:r>
              <a:rPr sz="2400" spc="-10" dirty="0">
                <a:latin typeface="Arial"/>
                <a:cs typeface="Arial"/>
              </a:rPr>
              <a:t> </a:t>
            </a:r>
            <a:r>
              <a:rPr sz="2400" spc="-5" dirty="0">
                <a:latin typeface="Arial"/>
                <a:cs typeface="Arial"/>
              </a:rPr>
              <a:t>script</a:t>
            </a:r>
            <a:r>
              <a:rPr sz="2400" spc="5" dirty="0">
                <a:latin typeface="Arial"/>
                <a:cs typeface="Arial"/>
              </a:rPr>
              <a:t> </a:t>
            </a:r>
            <a:r>
              <a:rPr sz="2400" spc="-5" dirty="0">
                <a:latin typeface="Arial"/>
                <a:cs typeface="Arial"/>
              </a:rPr>
              <a:t>is</a:t>
            </a:r>
            <a:endParaRPr sz="24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To</a:t>
            </a:r>
            <a:r>
              <a:rPr sz="2000" spc="-15" dirty="0">
                <a:latin typeface="Arial"/>
                <a:cs typeface="Arial"/>
              </a:rPr>
              <a:t> </a:t>
            </a:r>
            <a:r>
              <a:rPr sz="2000" dirty="0">
                <a:latin typeface="Arial"/>
                <a:cs typeface="Arial"/>
              </a:rPr>
              <a:t>process </a:t>
            </a:r>
            <a:r>
              <a:rPr sz="2000" spc="-5" dirty="0">
                <a:latin typeface="Arial"/>
                <a:cs typeface="Arial"/>
              </a:rPr>
              <a:t>the </a:t>
            </a:r>
            <a:r>
              <a:rPr sz="2000" dirty="0">
                <a:latin typeface="Arial"/>
                <a:cs typeface="Arial"/>
              </a:rPr>
              <a:t>input</a:t>
            </a:r>
            <a:r>
              <a:rPr sz="2000" spc="-15" dirty="0">
                <a:latin typeface="Arial"/>
                <a:cs typeface="Arial"/>
              </a:rPr>
              <a:t> </a:t>
            </a:r>
            <a:r>
              <a:rPr sz="2000" spc="-5" dirty="0">
                <a:latin typeface="Arial"/>
                <a:cs typeface="Arial"/>
              </a:rPr>
              <a:t>from</a:t>
            </a:r>
            <a:r>
              <a:rPr sz="2000" spc="-10" dirty="0">
                <a:latin typeface="Arial"/>
                <a:cs typeface="Arial"/>
              </a:rPr>
              <a:t> </a:t>
            </a:r>
            <a:r>
              <a:rPr sz="2000" spc="-5" dirty="0">
                <a:latin typeface="Arial"/>
                <a:cs typeface="Arial"/>
              </a:rPr>
              <a:t>the</a:t>
            </a:r>
            <a:r>
              <a:rPr sz="2000" dirty="0">
                <a:latin typeface="Arial"/>
                <a:cs typeface="Arial"/>
              </a:rPr>
              <a:t> server</a:t>
            </a:r>
            <a:endParaRPr sz="2000">
              <a:latin typeface="Arial"/>
              <a:cs typeface="Arial"/>
            </a:endParaRPr>
          </a:p>
          <a:p>
            <a:pPr marL="760730" indent="-352425">
              <a:lnSpc>
                <a:spcPct val="100000"/>
              </a:lnSpc>
              <a:spcBef>
                <a:spcPts val="500"/>
              </a:spcBef>
              <a:buFont typeface="Wingdings"/>
              <a:buChar char=""/>
              <a:tabLst>
                <a:tab pos="760095" algn="l"/>
                <a:tab pos="760730" algn="l"/>
              </a:tabLst>
            </a:pPr>
            <a:r>
              <a:rPr sz="2000" dirty="0">
                <a:latin typeface="Arial"/>
                <a:cs typeface="Arial"/>
              </a:rPr>
              <a:t>To</a:t>
            </a:r>
            <a:r>
              <a:rPr sz="2000" spc="-20" dirty="0">
                <a:latin typeface="Arial"/>
                <a:cs typeface="Arial"/>
              </a:rPr>
              <a:t> </a:t>
            </a:r>
            <a:r>
              <a:rPr sz="2000" dirty="0">
                <a:latin typeface="Arial"/>
                <a:cs typeface="Arial"/>
              </a:rPr>
              <a:t>generate</a:t>
            </a:r>
            <a:r>
              <a:rPr sz="2000" spc="-10" dirty="0">
                <a:latin typeface="Arial"/>
                <a:cs typeface="Arial"/>
              </a:rPr>
              <a:t> </a:t>
            </a:r>
            <a:r>
              <a:rPr sz="2000" spc="-5" dirty="0">
                <a:latin typeface="Arial"/>
                <a:cs typeface="Arial"/>
              </a:rPr>
              <a:t>the</a:t>
            </a:r>
            <a:r>
              <a:rPr sz="2000" spc="-15" dirty="0">
                <a:latin typeface="Arial"/>
                <a:cs typeface="Arial"/>
              </a:rPr>
              <a:t> </a:t>
            </a:r>
            <a:r>
              <a:rPr sz="2000" dirty="0">
                <a:latin typeface="Arial"/>
                <a:cs typeface="Arial"/>
              </a:rPr>
              <a:t>content</a:t>
            </a:r>
            <a:r>
              <a:rPr sz="2000" spc="-20" dirty="0">
                <a:latin typeface="Arial"/>
                <a:cs typeface="Arial"/>
              </a:rPr>
              <a:t> </a:t>
            </a:r>
            <a:r>
              <a:rPr sz="2000" spc="-5" dirty="0">
                <a:latin typeface="Arial"/>
                <a:cs typeface="Arial"/>
              </a:rPr>
              <a:t>to</a:t>
            </a:r>
            <a:r>
              <a:rPr sz="2000" spc="-15" dirty="0">
                <a:latin typeface="Arial"/>
                <a:cs typeface="Arial"/>
              </a:rPr>
              <a:t> </a:t>
            </a:r>
            <a:r>
              <a:rPr sz="2000" spc="-5" dirty="0">
                <a:latin typeface="Arial"/>
                <a:cs typeface="Arial"/>
              </a:rPr>
              <a:t>the</a:t>
            </a:r>
            <a:r>
              <a:rPr sz="2000" spc="-15" dirty="0">
                <a:latin typeface="Arial"/>
                <a:cs typeface="Arial"/>
              </a:rPr>
              <a:t> </a:t>
            </a:r>
            <a:r>
              <a:rPr sz="2000" dirty="0">
                <a:latin typeface="Arial"/>
                <a:cs typeface="Arial"/>
              </a:rPr>
              <a:t>client</a:t>
            </a:r>
            <a:endParaRPr sz="2000">
              <a:latin typeface="Arial"/>
              <a:cs typeface="Arial"/>
            </a:endParaRPr>
          </a:p>
        </p:txBody>
      </p:sp>
      <p:sp>
        <p:nvSpPr>
          <p:cNvPr id="7" name="object 7"/>
          <p:cNvSpPr txBox="1"/>
          <p:nvPr/>
        </p:nvSpPr>
        <p:spPr>
          <a:xfrm>
            <a:off x="1038012" y="2043429"/>
            <a:ext cx="220133"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Wingdings"/>
                <a:cs typeface="Wingdings"/>
              </a:rPr>
              <a:t></a:t>
            </a:r>
            <a:endParaRPr sz="2400">
              <a:latin typeface="Wingdings"/>
              <a:cs typeface="Wingdings"/>
            </a:endParaRPr>
          </a:p>
        </p:txBody>
      </p:sp>
      <p:sp>
        <p:nvSpPr>
          <p:cNvPr id="8" name="object 8"/>
          <p:cNvSpPr txBox="1"/>
          <p:nvPr/>
        </p:nvSpPr>
        <p:spPr>
          <a:xfrm>
            <a:off x="1038012" y="3220720"/>
            <a:ext cx="220133"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Wingdings"/>
                <a:cs typeface="Wingdings"/>
              </a:rPr>
              <a:t></a:t>
            </a:r>
            <a:endParaRPr sz="2400">
              <a:latin typeface="Wingdings"/>
              <a:cs typeface="Wingdings"/>
            </a:endParaRPr>
          </a:p>
        </p:txBody>
      </p:sp>
      <p:sp>
        <p:nvSpPr>
          <p:cNvPr id="9" name="object 9"/>
          <p:cNvSpPr txBox="1"/>
          <p:nvPr/>
        </p:nvSpPr>
        <p:spPr>
          <a:xfrm>
            <a:off x="1038012" y="4399279"/>
            <a:ext cx="220133"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Wingdings"/>
                <a:cs typeface="Wingdings"/>
              </a:rPr>
              <a:t></a:t>
            </a:r>
            <a:endParaRPr sz="2400">
              <a:latin typeface="Wingdings"/>
              <a:cs typeface="Wingdings"/>
            </a:endParaRPr>
          </a:p>
        </p:txBody>
      </p:sp>
      <p:sp>
        <p:nvSpPr>
          <p:cNvPr id="10" name="object 10"/>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12" name="object 12"/>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132</a:t>
            </a:fld>
            <a:endParaRPr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02480" y="619759"/>
            <a:ext cx="4483855" cy="689932"/>
          </a:xfrm>
          <a:prstGeom prst="rect">
            <a:avLst/>
          </a:prstGeom>
        </p:spPr>
        <p:txBody>
          <a:bodyPr vert="horz" wrap="square" lIns="0" tIns="12700" rIns="0" bIns="0" rtlCol="0">
            <a:spAutoFit/>
          </a:bodyPr>
          <a:lstStyle/>
          <a:p>
            <a:pPr marL="12700">
              <a:lnSpc>
                <a:spcPct val="100000"/>
              </a:lnSpc>
              <a:spcBef>
                <a:spcPts val="100"/>
              </a:spcBef>
            </a:pPr>
            <a:r>
              <a:rPr spc="-5" dirty="0"/>
              <a:t>Server</a:t>
            </a:r>
            <a:r>
              <a:rPr spc="-70" dirty="0"/>
              <a:t> </a:t>
            </a:r>
            <a:r>
              <a:rPr spc="-5" dirty="0"/>
              <a:t>Script</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1070963" y="1780712"/>
            <a:ext cx="9181253" cy="2203450"/>
          </a:xfrm>
          <a:prstGeom prst="rect">
            <a:avLst/>
          </a:prstGeom>
        </p:spPr>
        <p:txBody>
          <a:bodyPr vert="horz" wrap="square" lIns="0" tIns="12700" rIns="0" bIns="0" rtlCol="0">
            <a:spAutoFit/>
          </a:bodyPr>
          <a:lstStyle/>
          <a:p>
            <a:pPr marL="363220" marR="215265" indent="-350520">
              <a:lnSpc>
                <a:spcPct val="100000"/>
              </a:lnSpc>
              <a:spcBef>
                <a:spcPts val="100"/>
              </a:spcBef>
              <a:buFont typeface="Wingdings"/>
              <a:buChar char=""/>
              <a:tabLst>
                <a:tab pos="362585" algn="l"/>
                <a:tab pos="363220" algn="l"/>
              </a:tabLst>
            </a:pPr>
            <a:r>
              <a:rPr sz="2800" dirty="0">
                <a:latin typeface="Arial"/>
                <a:cs typeface="Arial"/>
              </a:rPr>
              <a:t>The server can interact </a:t>
            </a:r>
            <a:r>
              <a:rPr sz="2800" spc="-5" dirty="0">
                <a:latin typeface="Arial"/>
                <a:cs typeface="Arial"/>
              </a:rPr>
              <a:t>with </a:t>
            </a:r>
            <a:r>
              <a:rPr sz="2800" dirty="0">
                <a:latin typeface="Arial"/>
                <a:cs typeface="Arial"/>
              </a:rPr>
              <a:t>the script </a:t>
            </a:r>
            <a:r>
              <a:rPr sz="2800" spc="-5" dirty="0">
                <a:latin typeface="Arial"/>
                <a:cs typeface="Arial"/>
              </a:rPr>
              <a:t>in </a:t>
            </a:r>
            <a:r>
              <a:rPr sz="2800" spc="-765" dirty="0">
                <a:latin typeface="Arial"/>
                <a:cs typeface="Arial"/>
              </a:rPr>
              <a:t> </a:t>
            </a:r>
            <a:r>
              <a:rPr sz="2800" dirty="0">
                <a:latin typeface="Arial"/>
                <a:cs typeface="Arial"/>
              </a:rPr>
              <a:t>several</a:t>
            </a:r>
            <a:r>
              <a:rPr sz="2800" spc="-5" dirty="0">
                <a:latin typeface="Arial"/>
                <a:cs typeface="Arial"/>
              </a:rPr>
              <a:t> </a:t>
            </a:r>
            <a:r>
              <a:rPr sz="2800" dirty="0">
                <a:latin typeface="Arial"/>
                <a:cs typeface="Arial"/>
              </a:rPr>
              <a:t>different ways:</a:t>
            </a:r>
          </a:p>
          <a:p>
            <a:pPr marL="1111250" lvl="1" indent="-351790">
              <a:lnSpc>
                <a:spcPct val="100000"/>
              </a:lnSpc>
              <a:spcBef>
                <a:spcPts val="600"/>
              </a:spcBef>
              <a:buFont typeface="Wingdings"/>
              <a:buChar char=""/>
              <a:tabLst>
                <a:tab pos="1111250" algn="l"/>
              </a:tabLst>
            </a:pPr>
            <a:r>
              <a:rPr sz="2400" spc="-5" dirty="0">
                <a:latin typeface="Arial"/>
                <a:cs typeface="Arial"/>
              </a:rPr>
              <a:t>Separate process invoked</a:t>
            </a:r>
            <a:r>
              <a:rPr sz="2400" dirty="0">
                <a:latin typeface="Arial"/>
                <a:cs typeface="Arial"/>
              </a:rPr>
              <a:t> </a:t>
            </a:r>
            <a:r>
              <a:rPr sz="2400" spc="-5" dirty="0">
                <a:latin typeface="Arial"/>
                <a:cs typeface="Arial"/>
              </a:rPr>
              <a:t>by </a:t>
            </a:r>
            <a:r>
              <a:rPr sz="2400" dirty="0">
                <a:latin typeface="Arial"/>
                <a:cs typeface="Arial"/>
              </a:rPr>
              <a:t>the</a:t>
            </a:r>
            <a:r>
              <a:rPr sz="2400" spc="-10" dirty="0">
                <a:latin typeface="Arial"/>
                <a:cs typeface="Arial"/>
              </a:rPr>
              <a:t> </a:t>
            </a:r>
            <a:r>
              <a:rPr sz="2400" spc="-5" dirty="0">
                <a:latin typeface="Arial"/>
                <a:cs typeface="Arial"/>
              </a:rPr>
              <a:t>server</a:t>
            </a:r>
            <a:endParaRPr sz="2400" dirty="0">
              <a:latin typeface="Arial"/>
              <a:cs typeface="Arial"/>
            </a:endParaRPr>
          </a:p>
          <a:p>
            <a:pPr marL="1111250" lvl="1" indent="-351790">
              <a:lnSpc>
                <a:spcPct val="100000"/>
              </a:lnSpc>
              <a:spcBef>
                <a:spcPts val="590"/>
              </a:spcBef>
              <a:buFont typeface="Wingdings"/>
              <a:buChar char=""/>
              <a:tabLst>
                <a:tab pos="1111250" algn="l"/>
              </a:tabLst>
            </a:pPr>
            <a:r>
              <a:rPr sz="2400" spc="-5" dirty="0">
                <a:latin typeface="Arial"/>
                <a:cs typeface="Arial"/>
              </a:rPr>
              <a:t>Software</a:t>
            </a:r>
            <a:r>
              <a:rPr sz="2400" spc="-15" dirty="0">
                <a:latin typeface="Arial"/>
                <a:cs typeface="Arial"/>
              </a:rPr>
              <a:t> </a:t>
            </a:r>
            <a:r>
              <a:rPr sz="2400" spc="-5" dirty="0">
                <a:latin typeface="Arial"/>
                <a:cs typeface="Arial"/>
              </a:rPr>
              <a:t>module</a:t>
            </a:r>
            <a:r>
              <a:rPr sz="2400" spc="-10" dirty="0">
                <a:latin typeface="Arial"/>
                <a:cs typeface="Arial"/>
              </a:rPr>
              <a:t> </a:t>
            </a:r>
            <a:r>
              <a:rPr sz="2400" spc="-5" dirty="0">
                <a:latin typeface="Arial"/>
                <a:cs typeface="Arial"/>
              </a:rPr>
              <a:t>in</a:t>
            </a:r>
            <a:r>
              <a:rPr sz="2400" dirty="0">
                <a:latin typeface="Arial"/>
                <a:cs typeface="Arial"/>
              </a:rPr>
              <a:t> </a:t>
            </a:r>
            <a:r>
              <a:rPr sz="2400" spc="-5" dirty="0">
                <a:latin typeface="Arial"/>
                <a:cs typeface="Arial"/>
              </a:rPr>
              <a:t>the</a:t>
            </a:r>
            <a:r>
              <a:rPr sz="2400" spc="-10" dirty="0">
                <a:latin typeface="Arial"/>
                <a:cs typeface="Arial"/>
              </a:rPr>
              <a:t> </a:t>
            </a:r>
            <a:r>
              <a:rPr sz="2400" dirty="0">
                <a:latin typeface="Arial"/>
                <a:cs typeface="Arial"/>
              </a:rPr>
              <a:t>same</a:t>
            </a:r>
            <a:r>
              <a:rPr sz="2400" spc="-10" dirty="0">
                <a:latin typeface="Arial"/>
                <a:cs typeface="Arial"/>
              </a:rPr>
              <a:t> </a:t>
            </a:r>
            <a:r>
              <a:rPr sz="2400" spc="-5" dirty="0">
                <a:latin typeface="Arial"/>
                <a:cs typeface="Arial"/>
              </a:rPr>
              <a:t>process</a:t>
            </a:r>
            <a:endParaRPr sz="2400" dirty="0">
              <a:latin typeface="Arial"/>
              <a:cs typeface="Arial"/>
            </a:endParaRPr>
          </a:p>
          <a:p>
            <a:pPr marL="1111250" lvl="1" indent="-351790">
              <a:lnSpc>
                <a:spcPct val="100000"/>
              </a:lnSpc>
              <a:spcBef>
                <a:spcPts val="600"/>
              </a:spcBef>
              <a:buFont typeface="Wingdings"/>
              <a:buChar char=""/>
              <a:tabLst>
                <a:tab pos="1111250" algn="l"/>
              </a:tabLst>
            </a:pPr>
            <a:r>
              <a:rPr sz="2400" spc="-5" dirty="0">
                <a:latin typeface="Arial"/>
                <a:cs typeface="Arial"/>
              </a:rPr>
              <a:t>Persistent</a:t>
            </a:r>
            <a:r>
              <a:rPr sz="2400" dirty="0">
                <a:latin typeface="Arial"/>
                <a:cs typeface="Arial"/>
              </a:rPr>
              <a:t> </a:t>
            </a:r>
            <a:r>
              <a:rPr sz="2400" spc="-5" dirty="0">
                <a:latin typeface="Arial"/>
                <a:cs typeface="Arial"/>
              </a:rPr>
              <a:t>process contacted</a:t>
            </a:r>
            <a:r>
              <a:rPr sz="2400" spc="-10" dirty="0">
                <a:latin typeface="Arial"/>
                <a:cs typeface="Arial"/>
              </a:rPr>
              <a:t> </a:t>
            </a:r>
            <a:r>
              <a:rPr sz="2400" spc="-5" dirty="0">
                <a:latin typeface="Arial"/>
                <a:cs typeface="Arial"/>
              </a:rPr>
              <a:t>by</a:t>
            </a:r>
            <a:r>
              <a:rPr sz="2400" spc="5" dirty="0">
                <a:latin typeface="Arial"/>
                <a:cs typeface="Arial"/>
              </a:rPr>
              <a:t> </a:t>
            </a:r>
            <a:r>
              <a:rPr sz="2400" spc="-5" dirty="0">
                <a:latin typeface="Arial"/>
                <a:cs typeface="Arial"/>
              </a:rPr>
              <a:t>the </a:t>
            </a:r>
            <a:r>
              <a:rPr sz="2400" dirty="0">
                <a:latin typeface="Arial"/>
                <a:cs typeface="Arial"/>
              </a:rPr>
              <a:t>server</a:t>
            </a: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133</a:t>
            </a:fld>
            <a:endParaRPr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8467" y="619759"/>
            <a:ext cx="7814733" cy="689932"/>
          </a:xfrm>
          <a:prstGeom prst="rect">
            <a:avLst/>
          </a:prstGeom>
        </p:spPr>
        <p:txBody>
          <a:bodyPr vert="horz" wrap="square" lIns="0" tIns="12700" rIns="0" bIns="0" rtlCol="0">
            <a:spAutoFit/>
          </a:bodyPr>
          <a:lstStyle/>
          <a:p>
            <a:pPr marL="12700">
              <a:lnSpc>
                <a:spcPct val="100000"/>
              </a:lnSpc>
              <a:spcBef>
                <a:spcPts val="100"/>
              </a:spcBef>
            </a:pPr>
            <a:r>
              <a:rPr spc="-5" dirty="0"/>
              <a:t>Passing</a:t>
            </a:r>
            <a:r>
              <a:rPr spc="-15" dirty="0"/>
              <a:t> </a:t>
            </a:r>
            <a:r>
              <a:rPr spc="-5" dirty="0"/>
              <a:t>Data to/from</a:t>
            </a:r>
            <a:r>
              <a:rPr spc="-15" dirty="0"/>
              <a:t> </a:t>
            </a:r>
            <a:r>
              <a:rPr spc="-5" dirty="0"/>
              <a:t>the Script</a:t>
            </a: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5" name="object 5"/>
          <p:cNvSpPr txBox="1"/>
          <p:nvPr/>
        </p:nvSpPr>
        <p:spPr>
          <a:xfrm>
            <a:off x="847443" y="1830139"/>
            <a:ext cx="10750973" cy="2703304"/>
          </a:xfrm>
          <a:prstGeom prst="rect">
            <a:avLst/>
          </a:prstGeom>
        </p:spPr>
        <p:txBody>
          <a:bodyPr vert="horz" wrap="square" lIns="0" tIns="12700" rIns="0" bIns="0" rtlCol="0">
            <a:spAutoFit/>
          </a:bodyPr>
          <a:lstStyle/>
          <a:p>
            <a:pPr marL="363220" marR="5080" indent="-350520">
              <a:lnSpc>
                <a:spcPct val="100000"/>
              </a:lnSpc>
              <a:spcBef>
                <a:spcPts val="100"/>
              </a:spcBef>
              <a:buFont typeface="Wingdings"/>
              <a:buChar char=""/>
              <a:tabLst>
                <a:tab pos="362585" algn="l"/>
                <a:tab pos="363220" algn="l"/>
              </a:tabLst>
            </a:pPr>
            <a:r>
              <a:rPr sz="2800" spc="-5" dirty="0">
                <a:latin typeface="Arial"/>
                <a:cs typeface="Arial"/>
              </a:rPr>
              <a:t>Decoupling </a:t>
            </a:r>
            <a:r>
              <a:rPr sz="2800" dirty="0">
                <a:latin typeface="Arial"/>
                <a:cs typeface="Arial"/>
              </a:rPr>
              <a:t>the scripts from the Web server </a:t>
            </a:r>
            <a:r>
              <a:rPr sz="2800" spc="5" dirty="0">
                <a:latin typeface="Arial"/>
                <a:cs typeface="Arial"/>
              </a:rPr>
              <a:t> </a:t>
            </a:r>
            <a:r>
              <a:rPr sz="2800" dirty="0">
                <a:latin typeface="Arial"/>
                <a:cs typeface="Arial"/>
              </a:rPr>
              <a:t>requires</a:t>
            </a:r>
            <a:r>
              <a:rPr sz="2800" spc="-5" dirty="0">
                <a:latin typeface="Arial"/>
                <a:cs typeface="Arial"/>
              </a:rPr>
              <a:t> </a:t>
            </a:r>
            <a:r>
              <a:rPr sz="2800" dirty="0">
                <a:latin typeface="Arial"/>
                <a:cs typeface="Arial"/>
              </a:rPr>
              <a:t>a </a:t>
            </a:r>
            <a:r>
              <a:rPr sz="2800" spc="-5" dirty="0">
                <a:latin typeface="Arial"/>
                <a:cs typeface="Arial"/>
              </a:rPr>
              <a:t>well-defined</a:t>
            </a:r>
            <a:r>
              <a:rPr sz="2800" dirty="0">
                <a:latin typeface="Arial"/>
                <a:cs typeface="Arial"/>
              </a:rPr>
              <a:t> interface for</a:t>
            </a:r>
            <a:r>
              <a:rPr sz="2800" spc="-5" dirty="0">
                <a:latin typeface="Arial"/>
                <a:cs typeface="Arial"/>
              </a:rPr>
              <a:t> </a:t>
            </a:r>
            <a:r>
              <a:rPr sz="2800" dirty="0">
                <a:latin typeface="Arial"/>
                <a:cs typeface="Arial"/>
              </a:rPr>
              <a:t>passing</a:t>
            </a:r>
            <a:r>
              <a:rPr sz="2800" spc="5" dirty="0">
                <a:latin typeface="Arial"/>
                <a:cs typeface="Arial"/>
              </a:rPr>
              <a:t> </a:t>
            </a:r>
            <a:r>
              <a:rPr sz="2800" dirty="0">
                <a:latin typeface="Arial"/>
                <a:cs typeface="Arial"/>
              </a:rPr>
              <a:t>data </a:t>
            </a:r>
            <a:r>
              <a:rPr sz="2800" spc="-765" dirty="0">
                <a:latin typeface="Arial"/>
                <a:cs typeface="Arial"/>
              </a:rPr>
              <a:t> </a:t>
            </a:r>
            <a:r>
              <a:rPr sz="2800" spc="-5" dirty="0">
                <a:latin typeface="Arial"/>
                <a:cs typeface="Arial"/>
              </a:rPr>
              <a:t>between</a:t>
            </a:r>
            <a:r>
              <a:rPr sz="2800" dirty="0">
                <a:latin typeface="Arial"/>
                <a:cs typeface="Arial"/>
              </a:rPr>
              <a:t> the</a:t>
            </a:r>
            <a:r>
              <a:rPr sz="2800" spc="5" dirty="0">
                <a:latin typeface="Arial"/>
                <a:cs typeface="Arial"/>
              </a:rPr>
              <a:t> </a:t>
            </a:r>
            <a:r>
              <a:rPr sz="2800" spc="-5" dirty="0">
                <a:latin typeface="Arial"/>
                <a:cs typeface="Arial"/>
              </a:rPr>
              <a:t>two</a:t>
            </a:r>
            <a:r>
              <a:rPr sz="2800" spc="5" dirty="0">
                <a:latin typeface="Arial"/>
                <a:cs typeface="Arial"/>
              </a:rPr>
              <a:t> </a:t>
            </a:r>
            <a:r>
              <a:rPr sz="2800" dirty="0">
                <a:latin typeface="Arial"/>
                <a:cs typeface="Arial"/>
              </a:rPr>
              <a:t>pieces of</a:t>
            </a:r>
            <a:r>
              <a:rPr sz="2800" spc="5" dirty="0">
                <a:latin typeface="Arial"/>
                <a:cs typeface="Arial"/>
              </a:rPr>
              <a:t> </a:t>
            </a:r>
            <a:r>
              <a:rPr sz="2800" spc="-5" dirty="0">
                <a:latin typeface="Arial"/>
                <a:cs typeface="Arial"/>
              </a:rPr>
              <a:t>software.</a:t>
            </a:r>
            <a:endParaRPr sz="2800" dirty="0">
              <a:latin typeface="Arial"/>
              <a:cs typeface="Arial"/>
            </a:endParaRPr>
          </a:p>
          <a:p>
            <a:pPr marL="363220" marR="973455" indent="-350520" algn="just">
              <a:lnSpc>
                <a:spcPct val="100000"/>
              </a:lnSpc>
              <a:spcBef>
                <a:spcPts val="690"/>
              </a:spcBef>
              <a:buFont typeface="Wingdings"/>
              <a:buChar char=""/>
              <a:tabLst>
                <a:tab pos="363220" algn="l"/>
              </a:tabLst>
            </a:pPr>
            <a:r>
              <a:rPr sz="2800" spc="-5" dirty="0">
                <a:latin typeface="Arial"/>
                <a:cs typeface="Arial"/>
              </a:rPr>
              <a:t>Common Gateway </a:t>
            </a:r>
            <a:r>
              <a:rPr sz="2800" dirty="0">
                <a:latin typeface="Arial"/>
                <a:cs typeface="Arial"/>
              </a:rPr>
              <a:t>Interface </a:t>
            </a:r>
            <a:r>
              <a:rPr sz="2800" spc="-5" dirty="0">
                <a:latin typeface="Arial"/>
                <a:cs typeface="Arial"/>
              </a:rPr>
              <a:t>(CGI) defines </a:t>
            </a:r>
            <a:r>
              <a:rPr sz="2800" spc="-765" dirty="0">
                <a:latin typeface="Arial"/>
                <a:cs typeface="Arial"/>
              </a:rPr>
              <a:t> </a:t>
            </a:r>
            <a:r>
              <a:rPr sz="2800" dirty="0">
                <a:latin typeface="Arial"/>
                <a:cs typeface="Arial"/>
              </a:rPr>
              <a:t>interfaces for a variety of operating system </a:t>
            </a:r>
            <a:r>
              <a:rPr sz="2800" spc="-765" dirty="0">
                <a:latin typeface="Arial"/>
                <a:cs typeface="Arial"/>
              </a:rPr>
              <a:t> </a:t>
            </a:r>
            <a:r>
              <a:rPr sz="2800" spc="-5" dirty="0">
                <a:latin typeface="Arial"/>
                <a:cs typeface="Arial"/>
              </a:rPr>
              <a:t>platforms.</a:t>
            </a:r>
            <a:endParaRPr sz="2800" dirty="0">
              <a:latin typeface="Arial"/>
              <a:cs typeface="Arial"/>
            </a:endParaRPr>
          </a:p>
          <a:p>
            <a:pPr marL="562610" algn="just">
              <a:lnSpc>
                <a:spcPct val="100000"/>
              </a:lnSpc>
              <a:spcBef>
                <a:spcPts val="600"/>
              </a:spcBef>
            </a:pPr>
            <a:r>
              <a:rPr sz="2400" spc="-5" dirty="0">
                <a:solidFill>
                  <a:srgbClr val="980098"/>
                </a:solidFill>
                <a:latin typeface="Arial"/>
                <a:cs typeface="Arial"/>
              </a:rPr>
              <a:t>Table</a:t>
            </a:r>
            <a:r>
              <a:rPr sz="2400" spc="-35" dirty="0">
                <a:solidFill>
                  <a:srgbClr val="980098"/>
                </a:solidFill>
                <a:latin typeface="Arial"/>
                <a:cs typeface="Arial"/>
              </a:rPr>
              <a:t> </a:t>
            </a:r>
            <a:r>
              <a:rPr sz="2400" spc="-5" dirty="0">
                <a:solidFill>
                  <a:srgbClr val="980098"/>
                </a:solidFill>
                <a:latin typeface="Arial"/>
                <a:cs typeface="Arial"/>
              </a:rPr>
              <a:t>4.1</a:t>
            </a:r>
            <a:endParaRPr sz="2400" dirty="0">
              <a:latin typeface="Arial"/>
              <a:cs typeface="Arial"/>
            </a:endParaRPr>
          </a:p>
        </p:txBody>
      </p:sp>
      <p:sp>
        <p:nvSpPr>
          <p:cNvPr id="6" name="object 6"/>
          <p:cNvSpPr/>
          <p:nvPr/>
        </p:nvSpPr>
        <p:spPr>
          <a:xfrm>
            <a:off x="711200" y="1219200"/>
            <a:ext cx="10972800" cy="0"/>
          </a:xfrm>
          <a:custGeom>
            <a:avLst/>
            <a:gdLst/>
            <a:ahLst/>
            <a:cxnLst/>
            <a:rect l="l" t="t" r="r" b="b"/>
            <a:pathLst>
              <a:path w="8229600">
                <a:moveTo>
                  <a:pt x="0" y="0"/>
                </a:moveTo>
                <a:lnTo>
                  <a:pt x="8229600" y="0"/>
                </a:lnTo>
              </a:path>
            </a:pathLst>
          </a:custGeom>
          <a:ln w="28393">
            <a:solidFill>
              <a:srgbClr val="000000"/>
            </a:solidFill>
          </a:ln>
        </p:spPr>
        <p:txBody>
          <a:bodyPr wrap="square" lIns="0" tIns="0" rIns="0" bIns="0" rtlCol="0"/>
          <a:lstStyle/>
          <a:p>
            <a:endParaRPr/>
          </a:p>
        </p:txBody>
      </p:sp>
      <p:sp>
        <p:nvSpPr>
          <p:cNvPr id="8" name="object 8"/>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134</a:t>
            </a:fld>
            <a:endParaRPr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6894" y="619759"/>
            <a:ext cx="7717367" cy="689932"/>
          </a:xfrm>
          <a:prstGeom prst="rect">
            <a:avLst/>
          </a:prstGeom>
        </p:spPr>
        <p:txBody>
          <a:bodyPr vert="horz" wrap="square" lIns="0" tIns="12700" rIns="0" bIns="0" rtlCol="0">
            <a:spAutoFit/>
          </a:bodyPr>
          <a:lstStyle/>
          <a:p>
            <a:pPr marL="12700">
              <a:lnSpc>
                <a:spcPct val="100000"/>
              </a:lnSpc>
              <a:spcBef>
                <a:spcPts val="100"/>
              </a:spcBef>
            </a:pPr>
            <a:r>
              <a:rPr dirty="0">
                <a:solidFill>
                  <a:srgbClr val="000000"/>
                </a:solidFill>
              </a:rPr>
              <a:t>Ta</a:t>
            </a:r>
            <a:r>
              <a:rPr spc="-15" dirty="0">
                <a:solidFill>
                  <a:srgbClr val="000000"/>
                </a:solidFill>
              </a:rPr>
              <a:t>b</a:t>
            </a:r>
            <a:r>
              <a:rPr dirty="0">
                <a:solidFill>
                  <a:srgbClr val="000000"/>
                </a:solidFill>
              </a:rPr>
              <a:t>le</a:t>
            </a:r>
            <a:r>
              <a:rPr spc="5" dirty="0">
                <a:solidFill>
                  <a:srgbClr val="000000"/>
                </a:solidFill>
              </a:rPr>
              <a:t> </a:t>
            </a:r>
            <a:r>
              <a:rPr dirty="0">
                <a:solidFill>
                  <a:srgbClr val="000000"/>
                </a:solidFill>
              </a:rPr>
              <a:t>4.1.</a:t>
            </a:r>
            <a:r>
              <a:rPr spc="-270" dirty="0">
                <a:solidFill>
                  <a:srgbClr val="000000"/>
                </a:solidFill>
              </a:rPr>
              <a:t> </a:t>
            </a:r>
            <a:r>
              <a:rPr sz="2000" b="0" spc="-5" dirty="0">
                <a:solidFill>
                  <a:srgbClr val="000000"/>
                </a:solidFill>
                <a:latin typeface="Arial"/>
                <a:cs typeface="Arial"/>
              </a:rPr>
              <a:t>E</a:t>
            </a:r>
            <a:r>
              <a:rPr sz="2000" b="0" spc="10" dirty="0">
                <a:solidFill>
                  <a:srgbClr val="000000"/>
                </a:solidFill>
                <a:latin typeface="Arial"/>
                <a:cs typeface="Arial"/>
              </a:rPr>
              <a:t>x</a:t>
            </a:r>
            <a:r>
              <a:rPr sz="2000" b="0" spc="-5" dirty="0">
                <a:solidFill>
                  <a:srgbClr val="000000"/>
                </a:solidFill>
                <a:latin typeface="Arial"/>
                <a:cs typeface="Arial"/>
              </a:rPr>
              <a:t>a</a:t>
            </a:r>
            <a:r>
              <a:rPr sz="2000" b="0" dirty="0">
                <a:solidFill>
                  <a:srgbClr val="000000"/>
                </a:solidFill>
                <a:latin typeface="Arial"/>
                <a:cs typeface="Arial"/>
              </a:rPr>
              <a:t>m</a:t>
            </a:r>
            <a:r>
              <a:rPr sz="2000" b="0" spc="5" dirty="0">
                <a:solidFill>
                  <a:srgbClr val="000000"/>
                </a:solidFill>
                <a:latin typeface="Arial"/>
                <a:cs typeface="Arial"/>
              </a:rPr>
              <a:t>p</a:t>
            </a:r>
            <a:r>
              <a:rPr sz="2000" b="0" spc="-5" dirty="0">
                <a:solidFill>
                  <a:srgbClr val="000000"/>
                </a:solidFill>
                <a:latin typeface="Arial"/>
                <a:cs typeface="Arial"/>
              </a:rPr>
              <a:t>l</a:t>
            </a:r>
            <a:r>
              <a:rPr sz="2000" b="0" dirty="0">
                <a:solidFill>
                  <a:srgbClr val="000000"/>
                </a:solidFill>
                <a:latin typeface="Arial"/>
                <a:cs typeface="Arial"/>
              </a:rPr>
              <a:t>e </a:t>
            </a:r>
            <a:r>
              <a:rPr sz="2000" b="0" spc="5" dirty="0">
                <a:solidFill>
                  <a:srgbClr val="000000"/>
                </a:solidFill>
                <a:latin typeface="Arial"/>
                <a:cs typeface="Arial"/>
              </a:rPr>
              <a:t>C</a:t>
            </a:r>
            <a:r>
              <a:rPr sz="2000" b="0" dirty="0">
                <a:solidFill>
                  <a:srgbClr val="000000"/>
                </a:solidFill>
                <a:latin typeface="Arial"/>
                <a:cs typeface="Arial"/>
              </a:rPr>
              <a:t>GI</a:t>
            </a:r>
            <a:r>
              <a:rPr sz="2000" b="0" spc="-15" dirty="0">
                <a:solidFill>
                  <a:srgbClr val="000000"/>
                </a:solidFill>
                <a:latin typeface="Arial"/>
                <a:cs typeface="Arial"/>
              </a:rPr>
              <a:t> </a:t>
            </a:r>
            <a:r>
              <a:rPr sz="2000" b="0" spc="5" dirty="0">
                <a:solidFill>
                  <a:srgbClr val="000000"/>
                </a:solidFill>
                <a:latin typeface="Arial"/>
                <a:cs typeface="Arial"/>
              </a:rPr>
              <a:t>en</a:t>
            </a:r>
            <a:r>
              <a:rPr sz="2000" b="0" dirty="0">
                <a:solidFill>
                  <a:srgbClr val="000000"/>
                </a:solidFill>
                <a:latin typeface="Arial"/>
                <a:cs typeface="Arial"/>
              </a:rPr>
              <a:t>v</a:t>
            </a:r>
            <a:r>
              <a:rPr sz="2000" b="0" spc="5" dirty="0">
                <a:solidFill>
                  <a:srgbClr val="000000"/>
                </a:solidFill>
                <a:latin typeface="Arial"/>
                <a:cs typeface="Arial"/>
              </a:rPr>
              <a:t>i</a:t>
            </a:r>
            <a:r>
              <a:rPr sz="2000" b="0" dirty="0">
                <a:solidFill>
                  <a:srgbClr val="000000"/>
                </a:solidFill>
                <a:latin typeface="Arial"/>
                <a:cs typeface="Arial"/>
              </a:rPr>
              <a:t>r</a:t>
            </a:r>
            <a:r>
              <a:rPr sz="2000" b="0" spc="5" dirty="0">
                <a:solidFill>
                  <a:srgbClr val="000000"/>
                </a:solidFill>
                <a:latin typeface="Arial"/>
                <a:cs typeface="Arial"/>
              </a:rPr>
              <a:t>o</a:t>
            </a:r>
            <a:r>
              <a:rPr sz="2000" b="0" spc="-5" dirty="0">
                <a:solidFill>
                  <a:srgbClr val="000000"/>
                </a:solidFill>
                <a:latin typeface="Arial"/>
                <a:cs typeface="Arial"/>
              </a:rPr>
              <a:t>n</a:t>
            </a:r>
            <a:r>
              <a:rPr sz="2000" b="0" dirty="0">
                <a:solidFill>
                  <a:srgbClr val="000000"/>
                </a:solidFill>
                <a:latin typeface="Arial"/>
                <a:cs typeface="Arial"/>
              </a:rPr>
              <a:t>m</a:t>
            </a:r>
            <a:r>
              <a:rPr sz="2000" b="0" spc="5" dirty="0">
                <a:solidFill>
                  <a:srgbClr val="000000"/>
                </a:solidFill>
                <a:latin typeface="Arial"/>
                <a:cs typeface="Arial"/>
              </a:rPr>
              <a:t>e</a:t>
            </a:r>
            <a:r>
              <a:rPr sz="2000" b="0" spc="-5" dirty="0">
                <a:solidFill>
                  <a:srgbClr val="000000"/>
                </a:solidFill>
                <a:latin typeface="Arial"/>
                <a:cs typeface="Arial"/>
              </a:rPr>
              <a:t>n</a:t>
            </a:r>
            <a:r>
              <a:rPr sz="2000" b="0" dirty="0">
                <a:solidFill>
                  <a:srgbClr val="000000"/>
                </a:solidFill>
                <a:latin typeface="Arial"/>
                <a:cs typeface="Arial"/>
              </a:rPr>
              <a:t>t</a:t>
            </a:r>
            <a:r>
              <a:rPr sz="2000" b="0" spc="-5" dirty="0">
                <a:solidFill>
                  <a:srgbClr val="000000"/>
                </a:solidFill>
                <a:latin typeface="Arial"/>
                <a:cs typeface="Arial"/>
              </a:rPr>
              <a:t> </a:t>
            </a:r>
            <a:r>
              <a:rPr sz="2000" b="0" dirty="0">
                <a:solidFill>
                  <a:srgbClr val="000000"/>
                </a:solidFill>
                <a:latin typeface="Arial"/>
                <a:cs typeface="Arial"/>
              </a:rPr>
              <a:t>v</a:t>
            </a:r>
            <a:r>
              <a:rPr sz="2000" b="0" spc="5" dirty="0">
                <a:solidFill>
                  <a:srgbClr val="000000"/>
                </a:solidFill>
                <a:latin typeface="Arial"/>
                <a:cs typeface="Arial"/>
              </a:rPr>
              <a:t>a</a:t>
            </a:r>
            <a:r>
              <a:rPr sz="2000" b="0" dirty="0">
                <a:solidFill>
                  <a:srgbClr val="000000"/>
                </a:solidFill>
                <a:latin typeface="Arial"/>
                <a:cs typeface="Arial"/>
              </a:rPr>
              <a:t>r</a:t>
            </a:r>
            <a:r>
              <a:rPr sz="2000" b="0" spc="5" dirty="0">
                <a:solidFill>
                  <a:srgbClr val="000000"/>
                </a:solidFill>
                <a:latin typeface="Arial"/>
                <a:cs typeface="Arial"/>
              </a:rPr>
              <a:t>i</a:t>
            </a:r>
            <a:r>
              <a:rPr sz="2000" b="0" spc="-5" dirty="0">
                <a:solidFill>
                  <a:srgbClr val="000000"/>
                </a:solidFill>
                <a:latin typeface="Arial"/>
                <a:cs typeface="Arial"/>
              </a:rPr>
              <a:t>a</a:t>
            </a:r>
            <a:r>
              <a:rPr sz="2000" b="0" spc="5" dirty="0">
                <a:solidFill>
                  <a:srgbClr val="000000"/>
                </a:solidFill>
                <a:latin typeface="Arial"/>
                <a:cs typeface="Arial"/>
              </a:rPr>
              <a:t>b</a:t>
            </a:r>
            <a:r>
              <a:rPr sz="2000" b="0" spc="-5" dirty="0">
                <a:solidFill>
                  <a:srgbClr val="000000"/>
                </a:solidFill>
                <a:latin typeface="Arial"/>
                <a:cs typeface="Arial"/>
              </a:rPr>
              <a:t>l</a:t>
            </a:r>
            <a:r>
              <a:rPr sz="2000" b="0" spc="5" dirty="0">
                <a:solidFill>
                  <a:srgbClr val="000000"/>
                </a:solidFill>
                <a:latin typeface="Arial"/>
                <a:cs typeface="Arial"/>
              </a:rPr>
              <a:t>e</a:t>
            </a:r>
            <a:r>
              <a:rPr sz="2000" b="0" dirty="0">
                <a:solidFill>
                  <a:srgbClr val="000000"/>
                </a:solidFill>
                <a:latin typeface="Arial"/>
                <a:cs typeface="Arial"/>
              </a:rPr>
              <a:t>s</a:t>
            </a:r>
            <a:endParaRPr sz="2000">
              <a:latin typeface="Arial"/>
              <a:cs typeface="Arial"/>
            </a:endParaRPr>
          </a:p>
        </p:txBody>
      </p:sp>
      <p:sp>
        <p:nvSpPr>
          <p:cNvPr id="4" name="object 4"/>
          <p:cNvSpPr txBox="1"/>
          <p:nvPr/>
        </p:nvSpPr>
        <p:spPr>
          <a:xfrm>
            <a:off x="10009293" y="185420"/>
            <a:ext cx="1794087" cy="228268"/>
          </a:xfrm>
          <a:prstGeom prst="rect">
            <a:avLst/>
          </a:prstGeom>
        </p:spPr>
        <p:txBody>
          <a:bodyPr vert="horz" wrap="square" lIns="0" tIns="12700" rIns="0" bIns="0" rtlCol="0">
            <a:spAutoFit/>
          </a:bodyPr>
          <a:lstStyle/>
          <a:p>
            <a:pPr marL="12700">
              <a:lnSpc>
                <a:spcPct val="100000"/>
              </a:lnSpc>
              <a:spcBef>
                <a:spcPts val="100"/>
              </a:spcBef>
            </a:pPr>
            <a:r>
              <a:rPr sz="1400" b="1" u="sng" dirty="0">
                <a:uFill>
                  <a:solidFill>
                    <a:srgbClr val="000000"/>
                  </a:solidFill>
                </a:uFill>
                <a:latin typeface="Arial"/>
                <a:cs typeface="Arial"/>
              </a:rPr>
              <a:t>WEB</a:t>
            </a:r>
            <a:r>
              <a:rPr sz="1400" b="1" u="sng" spc="-55" dirty="0">
                <a:uFill>
                  <a:solidFill>
                    <a:srgbClr val="000000"/>
                  </a:solidFill>
                </a:uFill>
                <a:latin typeface="Arial"/>
                <a:cs typeface="Arial"/>
              </a:rPr>
              <a:t> </a:t>
            </a:r>
            <a:r>
              <a:rPr sz="1400" b="1" u="sng" dirty="0">
                <a:uFill>
                  <a:solidFill>
                    <a:srgbClr val="000000"/>
                  </a:solidFill>
                </a:uFill>
                <a:latin typeface="Arial"/>
                <a:cs typeface="Arial"/>
              </a:rPr>
              <a:t>SERVERS</a:t>
            </a:r>
            <a:endParaRPr sz="1400">
              <a:latin typeface="Arial"/>
              <a:cs typeface="Arial"/>
            </a:endParaRPr>
          </a:p>
        </p:txBody>
      </p:sp>
      <p:sp>
        <p:nvSpPr>
          <p:cNvPr id="7" name="object 7"/>
          <p:cNvSpPr txBox="1">
            <a:spLocks noGrp="1"/>
          </p:cNvSpPr>
          <p:nvPr>
            <p:ph type="sldNum" sz="quarter" idx="4294967295"/>
          </p:nvPr>
        </p:nvSpPr>
        <p:spPr>
          <a:xfrm>
            <a:off x="679025" y="6295722"/>
            <a:ext cx="365760" cy="205184"/>
          </a:xfrm>
          <a:prstGeom prst="rect">
            <a:avLst/>
          </a:prstGeom>
        </p:spPr>
        <p:txBody>
          <a:bodyPr vert="horz" wrap="square" lIns="0" tIns="0" rIns="0" bIns="0" rtlCol="0">
            <a:spAutoFit/>
          </a:bodyPr>
          <a:lstStyle/>
          <a:p>
            <a:pPr marL="38100">
              <a:lnSpc>
                <a:spcPts val="1645"/>
              </a:lnSpc>
            </a:pPr>
            <a:fld id="{81D60167-4931-47E6-BA6A-407CBD079E47}" type="slidenum">
              <a:rPr dirty="0"/>
              <a:pPr marL="38100">
                <a:lnSpc>
                  <a:spcPts val="1645"/>
                </a:lnSpc>
              </a:pPr>
              <a:t>135</a:t>
            </a:fld>
            <a:endParaRPr dirty="0"/>
          </a:p>
        </p:txBody>
      </p:sp>
      <p:graphicFrame>
        <p:nvGraphicFramePr>
          <p:cNvPr id="5" name="object 5"/>
          <p:cNvGraphicFramePr>
            <a:graphicFrameLocks noGrp="1"/>
          </p:cNvGraphicFramePr>
          <p:nvPr/>
        </p:nvGraphicFramePr>
        <p:xfrm>
          <a:off x="590671" y="1128804"/>
          <a:ext cx="10972800" cy="4850129"/>
        </p:xfrm>
        <a:graphic>
          <a:graphicData uri="http://schemas.openxmlformats.org/drawingml/2006/table">
            <a:tbl>
              <a:tblPr firstRow="1" bandRow="1">
                <a:tableStyleId>{2D5ABB26-0587-4C30-8999-92F81FD0307C}</a:tableStyleId>
              </a:tblPr>
              <a:tblGrid>
                <a:gridCol w="2844800">
                  <a:extLst>
                    <a:ext uri="{9D8B030D-6E8A-4147-A177-3AD203B41FA5}">
                      <a16:colId xmlns:a16="http://schemas.microsoft.com/office/drawing/2014/main" val="20000"/>
                    </a:ext>
                  </a:extLst>
                </a:gridCol>
                <a:gridCol w="44704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1950">
                <a:tc>
                  <a:txBody>
                    <a:bodyPr/>
                    <a:lstStyle/>
                    <a:p>
                      <a:pPr algn="ctr">
                        <a:lnSpc>
                          <a:spcPct val="100000"/>
                        </a:lnSpc>
                        <a:spcBef>
                          <a:spcPts val="370"/>
                        </a:spcBef>
                      </a:pPr>
                      <a:r>
                        <a:rPr sz="1400" b="1" spc="-5" dirty="0">
                          <a:latin typeface="Arial"/>
                          <a:cs typeface="Arial"/>
                        </a:rPr>
                        <a:t>Type</a:t>
                      </a:r>
                      <a:endParaRPr sz="1400">
                        <a:latin typeface="Arial"/>
                        <a:cs typeface="Arial"/>
                      </a:endParaRPr>
                    </a:p>
                  </a:txBody>
                  <a:tcPr marL="0" marR="0" marT="4699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635" algn="ctr">
                        <a:lnSpc>
                          <a:spcPct val="100000"/>
                        </a:lnSpc>
                        <a:spcBef>
                          <a:spcPts val="370"/>
                        </a:spcBef>
                      </a:pPr>
                      <a:r>
                        <a:rPr sz="1400" b="1" dirty="0">
                          <a:latin typeface="Arial"/>
                          <a:cs typeface="Arial"/>
                        </a:rPr>
                        <a:t>Variable</a:t>
                      </a:r>
                      <a:endParaRPr sz="1400">
                        <a:latin typeface="Arial"/>
                        <a:cs typeface="Arial"/>
                      </a:endParaRPr>
                    </a:p>
                  </a:txBody>
                  <a:tcPr marL="0" marR="0" marT="4699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635" algn="ctr">
                        <a:lnSpc>
                          <a:spcPct val="100000"/>
                        </a:lnSpc>
                        <a:spcBef>
                          <a:spcPts val="370"/>
                        </a:spcBef>
                      </a:pPr>
                      <a:r>
                        <a:rPr sz="1400" b="1" dirty="0">
                          <a:latin typeface="Arial"/>
                          <a:cs typeface="Arial"/>
                        </a:rPr>
                        <a:t>Example</a:t>
                      </a:r>
                      <a:endParaRPr sz="1400">
                        <a:latin typeface="Arial"/>
                        <a:cs typeface="Arial"/>
                      </a:endParaRPr>
                    </a:p>
                  </a:txBody>
                  <a:tcPr marL="0" marR="0" marT="4699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091689">
                <a:tc>
                  <a:txBody>
                    <a:bodyPr/>
                    <a:lstStyle/>
                    <a:p>
                      <a:pPr marL="90170">
                        <a:lnSpc>
                          <a:spcPct val="100000"/>
                        </a:lnSpc>
                        <a:spcBef>
                          <a:spcPts val="370"/>
                        </a:spcBef>
                      </a:pPr>
                      <a:r>
                        <a:rPr sz="1400" b="1" dirty="0">
                          <a:latin typeface="Arial"/>
                          <a:cs typeface="Arial"/>
                        </a:rPr>
                        <a:t>Server</a:t>
                      </a:r>
                      <a:endParaRPr sz="1400">
                        <a:latin typeface="Arial"/>
                        <a:cs typeface="Arial"/>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marR="1221740">
                        <a:lnSpc>
                          <a:spcPct val="120600"/>
                        </a:lnSpc>
                        <a:spcBef>
                          <a:spcPts val="20"/>
                        </a:spcBef>
                      </a:pPr>
                      <a:r>
                        <a:rPr sz="1400" b="1" dirty="0">
                          <a:latin typeface="Arial"/>
                          <a:cs typeface="Arial"/>
                        </a:rPr>
                        <a:t>SERVER_NAME </a:t>
                      </a:r>
                      <a:r>
                        <a:rPr sz="1400" b="1" spc="5" dirty="0">
                          <a:latin typeface="Arial"/>
                          <a:cs typeface="Arial"/>
                        </a:rPr>
                        <a:t> </a:t>
                      </a:r>
                      <a:r>
                        <a:rPr sz="1400" b="1" dirty="0">
                          <a:latin typeface="Arial"/>
                          <a:cs typeface="Arial"/>
                        </a:rPr>
                        <a:t>SERVER_SOFTWARE </a:t>
                      </a:r>
                      <a:r>
                        <a:rPr sz="1400" b="1" spc="5" dirty="0">
                          <a:latin typeface="Arial"/>
                          <a:cs typeface="Arial"/>
                        </a:rPr>
                        <a:t> </a:t>
                      </a:r>
                      <a:r>
                        <a:rPr sz="1400" b="1" dirty="0">
                          <a:latin typeface="Arial"/>
                          <a:cs typeface="Arial"/>
                        </a:rPr>
                        <a:t>SERVER_PROTOCOL </a:t>
                      </a:r>
                      <a:r>
                        <a:rPr sz="1400" b="1" spc="5" dirty="0">
                          <a:latin typeface="Arial"/>
                          <a:cs typeface="Arial"/>
                        </a:rPr>
                        <a:t> </a:t>
                      </a:r>
                      <a:r>
                        <a:rPr sz="1400" b="1" dirty="0">
                          <a:latin typeface="Arial"/>
                          <a:cs typeface="Arial"/>
                        </a:rPr>
                        <a:t>SERVER_PORT </a:t>
                      </a:r>
                      <a:r>
                        <a:rPr sz="1400" b="1" spc="5" dirty="0">
                          <a:latin typeface="Arial"/>
                          <a:cs typeface="Arial"/>
                        </a:rPr>
                        <a:t> </a:t>
                      </a:r>
                      <a:r>
                        <a:rPr sz="1400" b="1" dirty="0">
                          <a:latin typeface="Arial"/>
                          <a:cs typeface="Arial"/>
                        </a:rPr>
                        <a:t>DOCUMENT_ROOT </a:t>
                      </a:r>
                      <a:r>
                        <a:rPr sz="1400" b="1" spc="5" dirty="0">
                          <a:latin typeface="Arial"/>
                          <a:cs typeface="Arial"/>
                        </a:rPr>
                        <a:t> </a:t>
                      </a:r>
                      <a:r>
                        <a:rPr sz="1400" b="1" dirty="0">
                          <a:latin typeface="Arial"/>
                          <a:cs typeface="Arial"/>
                        </a:rPr>
                        <a:t>G</a:t>
                      </a:r>
                      <a:r>
                        <a:rPr sz="1400" b="1" spc="5" dirty="0">
                          <a:latin typeface="Arial"/>
                          <a:cs typeface="Arial"/>
                        </a:rPr>
                        <a:t>A</a:t>
                      </a:r>
                      <a:r>
                        <a:rPr sz="1400" b="1" spc="-10" dirty="0">
                          <a:latin typeface="Arial"/>
                          <a:cs typeface="Arial"/>
                        </a:rPr>
                        <a:t>T</a:t>
                      </a:r>
                      <a:r>
                        <a:rPr sz="1400" b="1" spc="5" dirty="0">
                          <a:latin typeface="Arial"/>
                          <a:cs typeface="Arial"/>
                        </a:rPr>
                        <a:t>E</a:t>
                      </a:r>
                      <a:r>
                        <a:rPr sz="1400" b="1" spc="-5" dirty="0">
                          <a:latin typeface="Arial"/>
                          <a:cs typeface="Arial"/>
                        </a:rPr>
                        <a:t>W</a:t>
                      </a:r>
                      <a:r>
                        <a:rPr sz="1400" b="1" spc="5" dirty="0">
                          <a:latin typeface="Arial"/>
                          <a:cs typeface="Arial"/>
                        </a:rPr>
                        <a:t>AY</a:t>
                      </a:r>
                      <a:r>
                        <a:rPr sz="1400" b="1" dirty="0">
                          <a:latin typeface="Arial"/>
                          <a:cs typeface="Arial"/>
                        </a:rPr>
                        <a:t>_I</a:t>
                      </a:r>
                      <a:r>
                        <a:rPr sz="1400" b="1" spc="5" dirty="0">
                          <a:latin typeface="Arial"/>
                          <a:cs typeface="Arial"/>
                        </a:rPr>
                        <a:t>N</a:t>
                      </a:r>
                      <a:r>
                        <a:rPr sz="1400" b="1" spc="-10" dirty="0">
                          <a:latin typeface="Arial"/>
                          <a:cs typeface="Arial"/>
                        </a:rPr>
                        <a:t>T</a:t>
                      </a:r>
                      <a:r>
                        <a:rPr sz="1400" b="1" spc="5" dirty="0">
                          <a:latin typeface="Arial"/>
                          <a:cs typeface="Arial"/>
                        </a:rPr>
                        <a:t>ER</a:t>
                      </a:r>
                      <a:r>
                        <a:rPr sz="1400" b="1" spc="-10" dirty="0">
                          <a:latin typeface="Arial"/>
                          <a:cs typeface="Arial"/>
                        </a:rPr>
                        <a:t>F</a:t>
                      </a:r>
                      <a:r>
                        <a:rPr sz="1400" b="1" spc="5" dirty="0">
                          <a:latin typeface="Arial"/>
                          <a:cs typeface="Arial"/>
                        </a:rPr>
                        <a:t>AC</a:t>
                      </a:r>
                      <a:r>
                        <a:rPr sz="1400" b="1" dirty="0">
                          <a:latin typeface="Arial"/>
                          <a:cs typeface="Arial"/>
                        </a:rPr>
                        <a:t>E</a:t>
                      </a:r>
                      <a:endParaRPr sz="1400">
                        <a:latin typeface="Arial"/>
                        <a:cs typeface="Arial"/>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marR="1456690" algn="just">
                        <a:lnSpc>
                          <a:spcPct val="120500"/>
                        </a:lnSpc>
                        <a:spcBef>
                          <a:spcPts val="25"/>
                        </a:spcBef>
                      </a:pPr>
                      <a:r>
                        <a:rPr sz="1400" b="1" dirty="0">
                          <a:solidFill>
                            <a:srgbClr val="009898"/>
                          </a:solidFill>
                          <a:latin typeface="Arial"/>
                          <a:cs typeface="Arial"/>
                          <a:hlinkClick r:id="rId2"/>
                        </a:rPr>
                        <a:t>www.bar.com </a:t>
                      </a:r>
                      <a:r>
                        <a:rPr sz="1400" b="1" spc="-380" dirty="0">
                          <a:solidFill>
                            <a:srgbClr val="009898"/>
                          </a:solidFill>
                          <a:latin typeface="Arial"/>
                          <a:cs typeface="Arial"/>
                        </a:rPr>
                        <a:t> </a:t>
                      </a:r>
                      <a:r>
                        <a:rPr sz="1400" b="1" spc="5" dirty="0">
                          <a:latin typeface="Arial"/>
                          <a:cs typeface="Arial"/>
                        </a:rPr>
                        <a:t>A</a:t>
                      </a:r>
                      <a:r>
                        <a:rPr sz="1400" b="1" spc="-10" dirty="0">
                          <a:latin typeface="Arial"/>
                          <a:cs typeface="Arial"/>
                        </a:rPr>
                        <a:t>p</a:t>
                      </a:r>
                      <a:r>
                        <a:rPr sz="1400" b="1" dirty="0">
                          <a:latin typeface="Arial"/>
                          <a:cs typeface="Arial"/>
                        </a:rPr>
                        <a:t>ac</a:t>
                      </a:r>
                      <a:r>
                        <a:rPr sz="1400" b="1" spc="-10" dirty="0">
                          <a:latin typeface="Arial"/>
                          <a:cs typeface="Arial"/>
                        </a:rPr>
                        <a:t>h</a:t>
                      </a:r>
                      <a:r>
                        <a:rPr sz="1400" b="1" dirty="0">
                          <a:latin typeface="Arial"/>
                          <a:cs typeface="Arial"/>
                        </a:rPr>
                        <a:t>e</a:t>
                      </a:r>
                      <a:r>
                        <a:rPr sz="1400" b="1" spc="10" dirty="0">
                          <a:latin typeface="Arial"/>
                          <a:cs typeface="Arial"/>
                        </a:rPr>
                        <a:t>/</a:t>
                      </a:r>
                      <a:r>
                        <a:rPr sz="1400" b="1" dirty="0">
                          <a:latin typeface="Arial"/>
                          <a:cs typeface="Arial"/>
                        </a:rPr>
                        <a:t>10206  HTTP/1.0</a:t>
                      </a:r>
                      <a:endParaRPr sz="1400">
                        <a:latin typeface="Arial"/>
                        <a:cs typeface="Arial"/>
                      </a:endParaRPr>
                    </a:p>
                    <a:p>
                      <a:pPr marL="90170">
                        <a:lnSpc>
                          <a:spcPct val="100000"/>
                        </a:lnSpc>
                        <a:spcBef>
                          <a:spcPts val="350"/>
                        </a:spcBef>
                      </a:pPr>
                      <a:r>
                        <a:rPr sz="1400" b="1" dirty="0">
                          <a:latin typeface="Arial"/>
                          <a:cs typeface="Arial"/>
                        </a:rPr>
                        <a:t>80</a:t>
                      </a:r>
                      <a:endParaRPr sz="1400">
                        <a:latin typeface="Arial"/>
                        <a:cs typeface="Arial"/>
                      </a:endParaRPr>
                    </a:p>
                    <a:p>
                      <a:pPr marL="90170" marR="2027555">
                        <a:lnSpc>
                          <a:spcPct val="120200"/>
                        </a:lnSpc>
                        <a:spcBef>
                          <a:spcPts val="10"/>
                        </a:spcBef>
                      </a:pPr>
                      <a:r>
                        <a:rPr sz="1400" b="1" dirty="0">
                          <a:latin typeface="Arial"/>
                          <a:cs typeface="Arial"/>
                        </a:rPr>
                        <a:t>/www </a:t>
                      </a:r>
                      <a:r>
                        <a:rPr sz="1400" b="1" spc="5" dirty="0">
                          <a:latin typeface="Arial"/>
                          <a:cs typeface="Arial"/>
                        </a:rPr>
                        <a:t> C</a:t>
                      </a:r>
                      <a:r>
                        <a:rPr sz="1400" b="1" dirty="0">
                          <a:latin typeface="Arial"/>
                          <a:cs typeface="Arial"/>
                        </a:rPr>
                        <a:t>G</a:t>
                      </a:r>
                      <a:r>
                        <a:rPr sz="1400" b="1" spc="10" dirty="0">
                          <a:latin typeface="Arial"/>
                          <a:cs typeface="Arial"/>
                        </a:rPr>
                        <a:t>I</a:t>
                      </a:r>
                      <a:r>
                        <a:rPr sz="1400" b="1" dirty="0">
                          <a:latin typeface="Arial"/>
                          <a:cs typeface="Arial"/>
                        </a:rPr>
                        <a:t>/2</a:t>
                      </a:r>
                      <a:r>
                        <a:rPr sz="1400" b="1" spc="10" dirty="0">
                          <a:latin typeface="Arial"/>
                          <a:cs typeface="Arial"/>
                        </a:rPr>
                        <a:t>.</a:t>
                      </a:r>
                      <a:r>
                        <a:rPr sz="1400" b="1" dirty="0">
                          <a:latin typeface="Arial"/>
                          <a:cs typeface="Arial"/>
                        </a:rPr>
                        <a:t>0</a:t>
                      </a:r>
                      <a:endParaRPr sz="1400">
                        <a:latin typeface="Arial"/>
                        <a:cs typeface="Arial"/>
                      </a:endParaRPr>
                    </a:p>
                  </a:txBody>
                  <a:tcPr marL="0" marR="0" marT="317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15340">
                <a:tc>
                  <a:txBody>
                    <a:bodyPr/>
                    <a:lstStyle/>
                    <a:p>
                      <a:pPr marL="90170">
                        <a:lnSpc>
                          <a:spcPct val="100000"/>
                        </a:lnSpc>
                        <a:spcBef>
                          <a:spcPts val="370"/>
                        </a:spcBef>
                      </a:pPr>
                      <a:r>
                        <a:rPr sz="1400" b="1" dirty="0">
                          <a:latin typeface="Arial"/>
                          <a:cs typeface="Arial"/>
                        </a:rPr>
                        <a:t>Client</a:t>
                      </a:r>
                      <a:endParaRPr sz="1400">
                        <a:latin typeface="Arial"/>
                        <a:cs typeface="Arial"/>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9535" marR="1876425">
                        <a:lnSpc>
                          <a:spcPct val="120800"/>
                        </a:lnSpc>
                        <a:spcBef>
                          <a:spcPts val="20"/>
                        </a:spcBef>
                      </a:pPr>
                      <a:r>
                        <a:rPr sz="1400" b="1" spc="5" dirty="0">
                          <a:latin typeface="Arial"/>
                          <a:cs typeface="Arial"/>
                        </a:rPr>
                        <a:t>RE</a:t>
                      </a:r>
                      <a:r>
                        <a:rPr sz="1400" b="1" spc="-10" dirty="0">
                          <a:latin typeface="Arial"/>
                          <a:cs typeface="Arial"/>
                        </a:rPr>
                        <a:t>M</a:t>
                      </a:r>
                      <a:r>
                        <a:rPr sz="1400" b="1" dirty="0">
                          <a:latin typeface="Arial"/>
                          <a:cs typeface="Arial"/>
                        </a:rPr>
                        <a:t>O</a:t>
                      </a:r>
                      <a:r>
                        <a:rPr sz="1400" b="1" spc="-10" dirty="0">
                          <a:latin typeface="Arial"/>
                          <a:cs typeface="Arial"/>
                        </a:rPr>
                        <a:t>T</a:t>
                      </a:r>
                      <a:r>
                        <a:rPr sz="1400" b="1" spc="5" dirty="0">
                          <a:latin typeface="Arial"/>
                          <a:cs typeface="Arial"/>
                        </a:rPr>
                        <a:t>E</a:t>
                      </a:r>
                      <a:r>
                        <a:rPr sz="1400" b="1" dirty="0">
                          <a:latin typeface="Arial"/>
                          <a:cs typeface="Arial"/>
                        </a:rPr>
                        <a:t>_</a:t>
                      </a:r>
                      <a:r>
                        <a:rPr sz="1400" b="1" spc="5" dirty="0">
                          <a:latin typeface="Arial"/>
                          <a:cs typeface="Arial"/>
                        </a:rPr>
                        <a:t>ADD</a:t>
                      </a:r>
                      <a:r>
                        <a:rPr sz="1400" b="1" dirty="0">
                          <a:latin typeface="Arial"/>
                          <a:cs typeface="Arial"/>
                        </a:rPr>
                        <a:t>R  REMOTE_HOST</a:t>
                      </a:r>
                      <a:endParaRPr sz="1400">
                        <a:latin typeface="Arial"/>
                        <a:cs typeface="Arial"/>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170">
                        <a:lnSpc>
                          <a:spcPct val="100000"/>
                        </a:lnSpc>
                        <a:spcBef>
                          <a:spcPts val="370"/>
                        </a:spcBef>
                      </a:pPr>
                      <a:r>
                        <a:rPr sz="1400" b="1" dirty="0">
                          <a:latin typeface="Arial"/>
                          <a:cs typeface="Arial"/>
                        </a:rPr>
                        <a:t>10.9.57.188</a:t>
                      </a:r>
                      <a:endParaRPr sz="1400">
                        <a:latin typeface="Arial"/>
                        <a:cs typeface="Arial"/>
                      </a:endParaRPr>
                    </a:p>
                    <a:p>
                      <a:pPr marL="90170">
                        <a:lnSpc>
                          <a:spcPct val="100000"/>
                        </a:lnSpc>
                        <a:spcBef>
                          <a:spcPts val="350"/>
                        </a:spcBef>
                      </a:pPr>
                      <a:r>
                        <a:rPr sz="1400" b="1" dirty="0">
                          <a:latin typeface="Arial"/>
                          <a:cs typeface="Arial"/>
                        </a:rPr>
                        <a:t>users.berkeley.edu</a:t>
                      </a:r>
                      <a:endParaRPr sz="1400">
                        <a:latin typeface="Arial"/>
                        <a:cs typeface="Arial"/>
                      </a:endParaRPr>
                    </a:p>
                  </a:txBody>
                  <a:tcPr marL="0" marR="0" marT="4699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581150">
                <a:tc>
                  <a:txBody>
                    <a:bodyPr/>
                    <a:lstStyle/>
                    <a:p>
                      <a:pPr marL="90170">
                        <a:lnSpc>
                          <a:spcPct val="100000"/>
                        </a:lnSpc>
                        <a:spcBef>
                          <a:spcPts val="370"/>
                        </a:spcBef>
                      </a:pPr>
                      <a:r>
                        <a:rPr sz="1400" b="1" spc="-5" dirty="0">
                          <a:latin typeface="Arial"/>
                          <a:cs typeface="Arial"/>
                        </a:rPr>
                        <a:t>Request</a:t>
                      </a:r>
                      <a:endParaRPr sz="1400">
                        <a:latin typeface="Arial"/>
                        <a:cs typeface="Arial"/>
                      </a:endParaRPr>
                    </a:p>
                  </a:txBody>
                  <a:tcPr marL="0" marR="0" marT="4699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89535" marR="1398270">
                        <a:lnSpc>
                          <a:spcPct val="120600"/>
                        </a:lnSpc>
                        <a:spcBef>
                          <a:spcPts val="20"/>
                        </a:spcBef>
                      </a:pPr>
                      <a:r>
                        <a:rPr sz="1400" b="1" dirty="0">
                          <a:latin typeface="Arial"/>
                          <a:cs typeface="Arial"/>
                        </a:rPr>
                        <a:t>CONTENT_TYPE </a:t>
                      </a:r>
                      <a:r>
                        <a:rPr sz="1400" b="1" spc="5" dirty="0">
                          <a:latin typeface="Arial"/>
                          <a:cs typeface="Arial"/>
                        </a:rPr>
                        <a:t> </a:t>
                      </a:r>
                      <a:r>
                        <a:rPr sz="1400" b="1" spc="-5" dirty="0">
                          <a:latin typeface="Arial"/>
                          <a:cs typeface="Arial"/>
                        </a:rPr>
                        <a:t>CONTENT_LENGTH </a:t>
                      </a:r>
                      <a:r>
                        <a:rPr sz="1400" b="1" dirty="0">
                          <a:latin typeface="Arial"/>
                          <a:cs typeface="Arial"/>
                        </a:rPr>
                        <a:t> REQUEST_METHOD </a:t>
                      </a:r>
                      <a:r>
                        <a:rPr sz="1400" b="1" spc="5" dirty="0">
                          <a:latin typeface="Arial"/>
                          <a:cs typeface="Arial"/>
                        </a:rPr>
                        <a:t> </a:t>
                      </a:r>
                      <a:r>
                        <a:rPr sz="1400" b="1" dirty="0">
                          <a:latin typeface="Arial"/>
                          <a:cs typeface="Arial"/>
                        </a:rPr>
                        <a:t>QUERY_STRING </a:t>
                      </a:r>
                      <a:r>
                        <a:rPr sz="1400" b="1" spc="5" dirty="0">
                          <a:latin typeface="Arial"/>
                          <a:cs typeface="Arial"/>
                        </a:rPr>
                        <a:t> ACCE</a:t>
                      </a:r>
                      <a:r>
                        <a:rPr sz="1400" b="1" spc="-5" dirty="0">
                          <a:latin typeface="Arial"/>
                          <a:cs typeface="Arial"/>
                        </a:rPr>
                        <a:t>P</a:t>
                      </a:r>
                      <a:r>
                        <a:rPr sz="1400" b="1" spc="-10" dirty="0">
                          <a:latin typeface="Arial"/>
                          <a:cs typeface="Arial"/>
                        </a:rPr>
                        <a:t>T</a:t>
                      </a:r>
                      <a:r>
                        <a:rPr sz="1400" b="1" dirty="0">
                          <a:latin typeface="Arial"/>
                          <a:cs typeface="Arial"/>
                        </a:rPr>
                        <a:t>_L</a:t>
                      </a:r>
                      <a:r>
                        <a:rPr sz="1400" b="1" spc="5" dirty="0">
                          <a:latin typeface="Arial"/>
                          <a:cs typeface="Arial"/>
                        </a:rPr>
                        <a:t>AN</a:t>
                      </a:r>
                      <a:r>
                        <a:rPr sz="1400" b="1" dirty="0">
                          <a:latin typeface="Arial"/>
                          <a:cs typeface="Arial"/>
                        </a:rPr>
                        <a:t>G</a:t>
                      </a:r>
                      <a:r>
                        <a:rPr sz="1400" b="1" spc="5" dirty="0">
                          <a:latin typeface="Arial"/>
                          <a:cs typeface="Arial"/>
                        </a:rPr>
                        <a:t>UA</a:t>
                      </a:r>
                      <a:r>
                        <a:rPr sz="1400" b="1" dirty="0">
                          <a:latin typeface="Arial"/>
                          <a:cs typeface="Arial"/>
                        </a:rPr>
                        <a:t>GE  HTTP_USER_AGENT</a:t>
                      </a:r>
                      <a:endParaRPr sz="1400">
                        <a:latin typeface="Arial"/>
                        <a:cs typeface="Arial"/>
                      </a:endParaRPr>
                    </a:p>
                  </a:txBody>
                  <a:tcPr marL="0" marR="0" marT="254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0170" marR="1854200">
                        <a:lnSpc>
                          <a:spcPct val="120800"/>
                        </a:lnSpc>
                        <a:spcBef>
                          <a:spcPts val="20"/>
                        </a:spcBef>
                      </a:pPr>
                      <a:r>
                        <a:rPr sz="1400" b="1" spc="-10" dirty="0">
                          <a:latin typeface="Arial"/>
                          <a:cs typeface="Arial"/>
                        </a:rPr>
                        <a:t>T</a:t>
                      </a:r>
                      <a:r>
                        <a:rPr sz="1400" b="1" dirty="0">
                          <a:latin typeface="Arial"/>
                          <a:cs typeface="Arial"/>
                        </a:rPr>
                        <a:t>ext</a:t>
                      </a:r>
                      <a:r>
                        <a:rPr sz="1400" b="1" spc="10" dirty="0">
                          <a:latin typeface="Arial"/>
                          <a:cs typeface="Arial"/>
                        </a:rPr>
                        <a:t>/</a:t>
                      </a:r>
                      <a:r>
                        <a:rPr sz="1400" b="1" spc="-10" dirty="0">
                          <a:latin typeface="Arial"/>
                          <a:cs typeface="Arial"/>
                        </a:rPr>
                        <a:t>ht</a:t>
                      </a:r>
                      <a:r>
                        <a:rPr sz="1400" b="1" spc="5" dirty="0">
                          <a:latin typeface="Arial"/>
                          <a:cs typeface="Arial"/>
                        </a:rPr>
                        <a:t>m</a:t>
                      </a:r>
                      <a:r>
                        <a:rPr sz="1400" b="1" dirty="0">
                          <a:latin typeface="Arial"/>
                          <a:cs typeface="Arial"/>
                        </a:rPr>
                        <a:t>l  158</a:t>
                      </a:r>
                      <a:endParaRPr sz="1400">
                        <a:latin typeface="Arial"/>
                        <a:cs typeface="Arial"/>
                      </a:endParaRPr>
                    </a:p>
                    <a:p>
                      <a:pPr marL="90170">
                        <a:lnSpc>
                          <a:spcPct val="100000"/>
                        </a:lnSpc>
                        <a:spcBef>
                          <a:spcPts val="340"/>
                        </a:spcBef>
                      </a:pPr>
                      <a:r>
                        <a:rPr sz="1400" b="1" dirty="0">
                          <a:latin typeface="Arial"/>
                          <a:cs typeface="Arial"/>
                        </a:rPr>
                        <a:t>GET</a:t>
                      </a:r>
                      <a:endParaRPr sz="1400">
                        <a:latin typeface="Arial"/>
                        <a:cs typeface="Arial"/>
                      </a:endParaRPr>
                    </a:p>
                    <a:p>
                      <a:pPr marL="90170" marR="615315">
                        <a:lnSpc>
                          <a:spcPct val="120800"/>
                        </a:lnSpc>
                      </a:pPr>
                      <a:r>
                        <a:rPr sz="1400" b="1" spc="-5" dirty="0">
                          <a:latin typeface="Arial"/>
                          <a:cs typeface="Arial"/>
                        </a:rPr>
                        <a:t>NAME=Noam+Chomsky </a:t>
                      </a:r>
                      <a:r>
                        <a:rPr sz="1400" b="1" spc="-375" dirty="0">
                          <a:latin typeface="Arial"/>
                          <a:cs typeface="Arial"/>
                        </a:rPr>
                        <a:t> </a:t>
                      </a:r>
                      <a:r>
                        <a:rPr sz="1400" b="1" dirty="0">
                          <a:latin typeface="Arial"/>
                          <a:cs typeface="Arial"/>
                        </a:rPr>
                        <a:t>De-CH</a:t>
                      </a:r>
                      <a:endParaRPr sz="1400">
                        <a:latin typeface="Arial"/>
                        <a:cs typeface="Arial"/>
                      </a:endParaRPr>
                    </a:p>
                    <a:p>
                      <a:pPr marL="90170">
                        <a:lnSpc>
                          <a:spcPct val="100000"/>
                        </a:lnSpc>
                        <a:spcBef>
                          <a:spcPts val="340"/>
                        </a:spcBef>
                      </a:pPr>
                      <a:r>
                        <a:rPr sz="1400" b="1" dirty="0">
                          <a:latin typeface="Arial"/>
                          <a:cs typeface="Arial"/>
                        </a:rPr>
                        <a:t>Mozilla/2.0</a:t>
                      </a:r>
                      <a:endParaRPr sz="1400">
                        <a:latin typeface="Arial"/>
                        <a:cs typeface="Arial"/>
                      </a:endParaRPr>
                    </a:p>
                  </a:txBody>
                  <a:tcPr marL="0" marR="0" marT="254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0507DA-847A-44E0-8802-57EF10B0B2C1}"/>
              </a:ext>
            </a:extLst>
          </p:cNvPr>
          <p:cNvSpPr>
            <a:spLocks noGrp="1"/>
          </p:cNvSpPr>
          <p:nvPr>
            <p:ph type="title"/>
          </p:nvPr>
        </p:nvSpPr>
        <p:spPr>
          <a:xfrm>
            <a:off x="2918461" y="619760"/>
            <a:ext cx="6355079" cy="430887"/>
          </a:xfrm>
        </p:spPr>
        <p:txBody>
          <a:bodyPr>
            <a:normAutofit fontScale="90000"/>
          </a:bodyPr>
          <a:lstStyle/>
          <a:p>
            <a:pPr algn="ctr"/>
            <a:r>
              <a:rPr lang="es-ES" dirty="0"/>
              <a:t>WSGI vs. CGI</a:t>
            </a:r>
          </a:p>
        </p:txBody>
      </p:sp>
      <p:sp>
        <p:nvSpPr>
          <p:cNvPr id="3" name="Marcador de texto 2">
            <a:extLst>
              <a:ext uri="{FF2B5EF4-FFF2-40B4-BE49-F238E27FC236}">
                <a16:creationId xmlns:a16="http://schemas.microsoft.com/office/drawing/2014/main" id="{631923DD-40B1-4C8A-AD92-44FD728AF39C}"/>
              </a:ext>
            </a:extLst>
          </p:cNvPr>
          <p:cNvSpPr>
            <a:spLocks noGrp="1"/>
          </p:cNvSpPr>
          <p:nvPr>
            <p:ph type="body" idx="1"/>
          </p:nvPr>
        </p:nvSpPr>
        <p:spPr>
          <a:xfrm>
            <a:off x="285871" y="1586004"/>
            <a:ext cx="11538373" cy="2215991"/>
          </a:xfrm>
        </p:spPr>
        <p:txBody>
          <a:bodyPr>
            <a:normAutofit fontScale="70000" lnSpcReduction="20000"/>
          </a:bodyPr>
          <a:lstStyle/>
          <a:p>
            <a:pPr fontAlgn="base"/>
            <a:r>
              <a:rPr lang="es-ES" dirty="0"/>
              <a:t>CGI (</a:t>
            </a:r>
            <a:r>
              <a:rPr lang="es-ES" dirty="0" err="1"/>
              <a:t>Common</a:t>
            </a:r>
            <a:r>
              <a:rPr lang="es-ES" dirty="0"/>
              <a:t> Gateway Interface) ejecuta el script como un proceso separado para cada solicitud y usa variables de entorno, </a:t>
            </a:r>
            <a:r>
              <a:rPr lang="es-ES" dirty="0" err="1"/>
              <a:t>stdin</a:t>
            </a:r>
            <a:r>
              <a:rPr lang="es-ES" dirty="0"/>
              <a:t> y </a:t>
            </a:r>
            <a:r>
              <a:rPr lang="es-ES" dirty="0" err="1"/>
              <a:t>stdout</a:t>
            </a:r>
            <a:r>
              <a:rPr lang="es-ES" dirty="0"/>
              <a:t> para "comunicarse" con él.</a:t>
            </a:r>
          </a:p>
          <a:p>
            <a:pPr fontAlgn="base"/>
            <a:endParaRPr lang="es-ES" dirty="0"/>
          </a:p>
          <a:p>
            <a:pPr fontAlgn="base"/>
            <a:r>
              <a:rPr lang="es-ES" dirty="0"/>
              <a:t>WSGI (Web Server Gateway Interface) ejecuta el intérprete de Python en el inicio del servidor web, ya sea como parte del proceso del servidor web (modo integrado) o como un proceso separado (modo demonio), y carga el script en él. Cada solicitud da como resultado una función específica en el script que se llama, y el entorno de solicitud se pasa como argumentos a la función. Todos los </a:t>
            </a:r>
            <a:r>
              <a:rPr lang="es-ES" dirty="0" err="1"/>
              <a:t>Frameworks</a:t>
            </a:r>
            <a:r>
              <a:rPr lang="es-ES" dirty="0"/>
              <a:t> de Python usan WSGI.</a:t>
            </a:r>
          </a:p>
        </p:txBody>
      </p:sp>
    </p:spTree>
    <p:extLst>
      <p:ext uri="{BB962C8B-B14F-4D97-AF65-F5344CB8AC3E}">
        <p14:creationId xmlns:p14="http://schemas.microsoft.com/office/powerpoint/2010/main" val="825266251"/>
      </p:ext>
    </p:extLst>
  </p:cSld>
  <p:clrMapOvr>
    <a:masterClrMapping/>
  </p:clrMapOvr>
</p:sld>
</file>

<file path=ppt/theme/theme1.xml><?xml version="1.0" encoding="utf-8"?>
<a:theme xmlns:a="http://schemas.openxmlformats.org/drawingml/2006/main" name="TornVTI">
  <a:themeElements>
    <a:clrScheme name="Custom 1">
      <a:dk1>
        <a:sysClr val="windowText" lastClr="000000"/>
      </a:dk1>
      <a:lt1>
        <a:sysClr val="window" lastClr="FFFFFF"/>
      </a:lt1>
      <a:dk2>
        <a:srgbClr val="131523"/>
      </a:dk2>
      <a:lt2>
        <a:srgbClr val="E7E6E6"/>
      </a:lt2>
      <a:accent1>
        <a:srgbClr val="3FB96C"/>
      </a:accent1>
      <a:accent2>
        <a:srgbClr val="699EFA"/>
      </a:accent2>
      <a:accent3>
        <a:srgbClr val="8039C1"/>
      </a:accent3>
      <a:accent4>
        <a:srgbClr val="D1971A"/>
      </a:accent4>
      <a:accent5>
        <a:srgbClr val="E62B59"/>
      </a:accent5>
      <a:accent6>
        <a:srgbClr val="9CA2AB"/>
      </a:accent6>
      <a:hlink>
        <a:srgbClr val="FFFFFF"/>
      </a:hlink>
      <a:folHlink>
        <a:srgbClr val="57618E"/>
      </a:folHlink>
    </a:clrScheme>
    <a:fontScheme name="Torn">
      <a:majorFont>
        <a:latin typeface="Verdana Pro Cond SemiBold"/>
        <a:ea typeface=""/>
        <a:cs typeface=""/>
      </a:majorFont>
      <a:minorFont>
        <a:latin typeface="Verdan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ornVTI" id="{D93270A2-BAD7-4DCC-9D1D-3427EACCFA88}" vid="{1B17486C-9B79-43FC-98F9-5BF7AA5600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6510</Words>
  <Application>Microsoft Office PowerPoint</Application>
  <PresentationFormat>Widescreen</PresentationFormat>
  <Paragraphs>989</Paragraphs>
  <Slides>136</Slides>
  <Notes>29</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136</vt:i4>
      </vt:variant>
    </vt:vector>
  </HeadingPairs>
  <TitlesOfParts>
    <vt:vector size="157" baseType="lpstr">
      <vt:lpstr>Arial</vt:lpstr>
      <vt:lpstr>Arial Black</vt:lpstr>
      <vt:lpstr>Calibri</vt:lpstr>
      <vt:lpstr>Calisto MT</vt:lpstr>
      <vt:lpstr>Carlito</vt:lpstr>
      <vt:lpstr>Century Gothic</vt:lpstr>
      <vt:lpstr>Consolas</vt:lpstr>
      <vt:lpstr>Courier New</vt:lpstr>
      <vt:lpstr>Georgia</vt:lpstr>
      <vt:lpstr>Maven Pro</vt:lpstr>
      <vt:lpstr>Merriweather</vt:lpstr>
      <vt:lpstr>Montserrat</vt:lpstr>
      <vt:lpstr>Nunito</vt:lpstr>
      <vt:lpstr>Proxima Nova</vt:lpstr>
      <vt:lpstr>Roboto</vt:lpstr>
      <vt:lpstr>Times New Roman</vt:lpstr>
      <vt:lpstr>Trebuchet MS</vt:lpstr>
      <vt:lpstr>Verdana Pro</vt:lpstr>
      <vt:lpstr>Verdana Pro Cond SemiBold</vt:lpstr>
      <vt:lpstr>Wingdings</vt:lpstr>
      <vt:lpstr>TornVTI</vt:lpstr>
      <vt:lpstr>Backend Frameworks  </vt:lpstr>
      <vt:lpstr>Índice</vt:lpstr>
      <vt:lpstr>¿Qué es un framework?</vt:lpstr>
      <vt:lpstr>¿Por qué usar un framework?</vt:lpstr>
      <vt:lpstr>¿Cómo elegir un framework?</vt:lpstr>
      <vt:lpstr>Frameworks más usados</vt:lpstr>
      <vt:lpstr>Empecemos con Python Flask</vt:lpstr>
      <vt:lpstr>Python (usaremos para Flask y Django)</vt:lpstr>
      <vt:lpstr>Python </vt:lpstr>
      <vt:lpstr>Python</vt:lpstr>
      <vt:lpstr>Python</vt:lpstr>
      <vt:lpstr>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Django</vt:lpstr>
      <vt:lpstr>¿Qué es Django?</vt:lpstr>
      <vt:lpstr>Instalación</vt:lpstr>
      <vt:lpstr>DJango: estructura del proyecto </vt:lpstr>
      <vt:lpstr>Servidores</vt:lpstr>
      <vt:lpstr>Modelo - Vista - Controlador</vt:lpstr>
      <vt:lpstr>DJANGO</vt:lpstr>
      <vt:lpstr>MODELO VISTA CONTROLADOR</vt:lpstr>
      <vt:lpstr>servidores</vt:lpstr>
      <vt:lpstr>instalación</vt:lpstr>
      <vt:lpstr>ESTRUCTURA djanGO</vt:lpstr>
      <vt:lpstr>PowerPoint Presentation</vt:lpstr>
      <vt:lpstr>Comparación de frameworks</vt:lpstr>
      <vt:lpstr>Python DJANGO VS NodeJs EXPRESS</vt:lpstr>
      <vt:lpstr>Arquitectura y paradigma comunicación servidor aplicación</vt:lpstr>
      <vt:lpstr>Estructura de la aplicación DJANGO  </vt:lpstr>
      <vt:lpstr>Estructura de la aplicación EXPRESS </vt:lpstr>
      <vt:lpstr>Como crear un proyecto con django vs express</vt:lpstr>
      <vt:lpstr>FIN  - Express</vt:lpstr>
      <vt:lpstr>Django vs. Ruby on Rails</vt:lpstr>
      <vt:lpstr>Python vs Ruby: similitudes</vt:lpstr>
      <vt:lpstr>Python vs Ruby: diferencias </vt:lpstr>
      <vt:lpstr>Python vs Ruby: ejemplos</vt:lpstr>
      <vt:lpstr>Python vs Ruby: ejemplos</vt:lpstr>
      <vt:lpstr>Python vs Ruby: ejemplos</vt:lpstr>
      <vt:lpstr>Instalación</vt:lpstr>
      <vt:lpstr>Rails: estructura del proyecto</vt:lpstr>
      <vt:lpstr>DJango: estructura del proyecto </vt:lpstr>
      <vt:lpstr>Servidores</vt:lpstr>
      <vt:lpstr>Modelo - Vista - Controlador</vt:lpstr>
      <vt:lpstr>DJANGO</vt:lpstr>
      <vt:lpstr>RAILS</vt:lpstr>
      <vt:lpstr>MODELO VISTA CONTROLADOR</vt:lpstr>
      <vt:lpstr>ESTRUCTURA djanGO</vt:lpstr>
      <vt:lpstr>servidores</vt:lpstr>
      <vt:lpstr>instalación</vt:lpstr>
      <vt:lpstr>FIN  - Ruby on Rails</vt:lpstr>
      <vt:lpstr>¿Qué es PHP Laravel?</vt:lpstr>
      <vt:lpstr>Python vs PHP</vt:lpstr>
      <vt:lpstr>Python vs PHP</vt:lpstr>
      <vt:lpstr>Ranking TIOBE</vt:lpstr>
      <vt:lpstr>Usos del MVC - Laravel</vt:lpstr>
      <vt:lpstr>Usos del MVC - Django</vt:lpstr>
      <vt:lpstr> Instalar y crear un proyecto de Django</vt:lpstr>
      <vt:lpstr>Como crear un proyecto de Django</vt:lpstr>
      <vt:lpstr>Como crear una App</vt:lpstr>
      <vt:lpstr>Instalar y crear un proyecto de Laravel</vt:lpstr>
      <vt:lpstr>Instalar y crear un proyecto de Laravel</vt:lpstr>
      <vt:lpstr>Crear un proyecto de Laravel</vt:lpstr>
      <vt:lpstr>Comparación</vt:lpstr>
      <vt:lpstr>Servidor</vt:lpstr>
      <vt:lpstr>Paradigma de comunicación servidor-aplicación</vt:lpstr>
      <vt:lpstr>Estructura de la aplicación</vt:lpstr>
      <vt:lpstr>Modelo vista-controlador</vt:lpstr>
      <vt:lpstr>FIN  - Laravel</vt:lpstr>
      <vt:lpstr>Java - Spring</vt:lpstr>
      <vt:lpstr>PowerPoint Presentation</vt:lpstr>
      <vt:lpstr>C# .Net</vt:lpstr>
      <vt:lpstr>PowerPoint Presentation</vt:lpstr>
      <vt:lpstr>Comparación Spring - .Net</vt:lpstr>
      <vt:lpstr>FIN  - .Net</vt:lpstr>
      <vt:lpstr>INSTALACION NodeJS EXPRESS</vt:lpstr>
      <vt:lpstr>INSTALACION PHP CODEIGNITER</vt:lpstr>
      <vt:lpstr>SERVIDOR</vt:lpstr>
      <vt:lpstr>PARADIGMA DE COMUNICACIÓN SERVIDOR-APLICACION </vt:lpstr>
      <vt:lpstr>ESTRUCTURA DE LA APLICACIÓN (NodeJS CODEIGNITER)</vt:lpstr>
      <vt:lpstr>ESTRUCTURA DE LA APLICACIÓN (PHP EXPRESS)</vt:lpstr>
      <vt:lpstr>Frameworks:  DjaNGO-METEOR</vt:lpstr>
      <vt:lpstr>Comparación entre lenguajes</vt:lpstr>
      <vt:lpstr>servidor utilizado en cada  ejemplo</vt:lpstr>
      <vt:lpstr>paradigma de comunicación servidor-aplicación utilizado</vt:lpstr>
      <vt:lpstr>cómo INSTALAR CADA FRAMEWORK</vt:lpstr>
      <vt:lpstr>estructura de la aplicación: django</vt:lpstr>
      <vt:lpstr>estructura de la aplicación: meteor</vt:lpstr>
      <vt:lpstr>modelo-vista-controlador</vt:lpstr>
      <vt:lpstr>PowerPoint Presentation</vt:lpstr>
      <vt:lpstr>Comparación lenguajes</vt:lpstr>
      <vt:lpstr>Comparación lenguajes</vt:lpstr>
      <vt:lpstr>Servidor</vt:lpstr>
      <vt:lpstr>Paradigma de comunicación</vt:lpstr>
      <vt:lpstr>Estructura de la aplicación y modelo-vista-controlador </vt:lpstr>
      <vt:lpstr>Instalación</vt:lpstr>
      <vt:lpstr>COMPARACIÓN FRAMEWORKS</vt:lpstr>
      <vt:lpstr>EXPRESS</vt:lpstr>
      <vt:lpstr>CODEIGNITER</vt:lpstr>
      <vt:lpstr>CodeIgniter y sinatra</vt:lpstr>
      <vt:lpstr>codeigniter</vt:lpstr>
      <vt:lpstr>Sinatra</vt:lpstr>
      <vt:lpstr>Servidores</vt:lpstr>
      <vt:lpstr>Paradigmas</vt:lpstr>
      <vt:lpstr>Estructura</vt:lpstr>
      <vt:lpstr>MVC</vt:lpstr>
      <vt:lpstr>SERVIDORES</vt:lpstr>
      <vt:lpstr>Topics</vt:lpstr>
      <vt:lpstr>Web Server Definition</vt:lpstr>
      <vt:lpstr>Web Server Definition</vt:lpstr>
      <vt:lpstr>Web Site versus Web Server</vt:lpstr>
      <vt:lpstr>Steps in Handling a Client Request</vt:lpstr>
      <vt:lpstr>Access Control</vt:lpstr>
      <vt:lpstr>AUTHENTICATION</vt:lpstr>
      <vt:lpstr>AUTHORIZATION</vt:lpstr>
      <vt:lpstr>Dynamically Generated Responses</vt:lpstr>
      <vt:lpstr>Server-Side Include</vt:lpstr>
      <vt:lpstr>Server Script</vt:lpstr>
      <vt:lpstr>Server Script</vt:lpstr>
      <vt:lpstr>Passing Data to/from the Script</vt:lpstr>
      <vt:lpstr>Table 4.1. Example CGI environment variables</vt:lpstr>
      <vt:lpstr>WSGI vs. CGI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Frameworks Java-Spring y C#-.Net</dc:title>
  <dc:creator>Jaime</dc:creator>
  <cp:lastModifiedBy>Manoel Gadi</cp:lastModifiedBy>
  <cp:revision>44</cp:revision>
  <dcterms:created xsi:type="dcterms:W3CDTF">2021-03-01T10:06:55Z</dcterms:created>
  <dcterms:modified xsi:type="dcterms:W3CDTF">2025-09-22T08:03:28Z</dcterms:modified>
</cp:coreProperties>
</file>